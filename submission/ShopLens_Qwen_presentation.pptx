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c5e2d8b01f49b4" /><Relationship Type="http://schemas.openxmlformats.org/officeDocument/2006/relationships/extended-properties" Target="/docProps/app.xml" Id="R75d9fa345c0c4461" /><Relationship Type="http://schemas.openxmlformats.org/officeDocument/2006/relationships/officeDocument" Target="/ppt/presentation.xml" Id="R15c85aa10fb74604" /></Relationships>
</file>

<file path=ppt/presentation.xml><?xml version="1.0" encoding="utf-8"?>
<p:presentation xmlns:p="http://schemas.openxmlformats.org/presentationml/2006/main">
  <p:sldMasterIdLst>
    <p:sldMasterId xmlns:r="http://schemas.openxmlformats.org/officeDocument/2006/relationships" id="2147483648" r:id="R0f58c72287bf4ba5"/>
  </p:sldMasterIdLst>
  <p:notesMasterIdLst>
    <p:notesMasterId xmlns:r="http://schemas.openxmlformats.org/officeDocument/2006/relationships" r:id="Rfd68b68b9fef45b0"/>
  </p:notesMasterIdLst>
  <p:sldIdLst>
    <p:sldId xmlns:r="http://schemas.openxmlformats.org/officeDocument/2006/relationships" id="256" r:id="R32160e0742d24562"/>
    <p:sldId xmlns:r="http://schemas.openxmlformats.org/officeDocument/2006/relationships" id="257" r:id="R119373decd2146a6"/>
    <p:sldId xmlns:r="http://schemas.openxmlformats.org/officeDocument/2006/relationships" id="258" r:id="Rc8dfd29d54054981"/>
    <p:sldId xmlns:r="http://schemas.openxmlformats.org/officeDocument/2006/relationships" id="259" r:id="Re1c6f0a3e3aa4d01"/>
    <p:sldId xmlns:r="http://schemas.openxmlformats.org/officeDocument/2006/relationships" id="260" r:id="R6010dcda0402442f"/>
    <p:sldId xmlns:r="http://schemas.openxmlformats.org/officeDocument/2006/relationships" id="261" r:id="Rb8457e4a3b224e89"/>
    <p:sldId xmlns:r="http://schemas.openxmlformats.org/officeDocument/2006/relationships" id="262" r:id="R1f9ce5aa69924706"/>
    <p:sldId xmlns:r="http://schemas.openxmlformats.org/officeDocument/2006/relationships" id="263" r:id="R39a92d407d574ba3"/>
    <p:sldId xmlns:r="http://schemas.openxmlformats.org/officeDocument/2006/relationships" id="264" r:id="Rc759b998fefc4ae9"/>
    <p:sldId xmlns:r="http://schemas.openxmlformats.org/officeDocument/2006/relationships" id="265" r:id="R6c41bfc435ae4d1d"/>
    <p:sldId xmlns:r="http://schemas.openxmlformats.org/officeDocument/2006/relationships" id="266" r:id="R952c9c490cf74dbc"/>
    <p:sldId xmlns:r="http://schemas.openxmlformats.org/officeDocument/2006/relationships" id="267" r:id="R13d0d8094a024fea"/>
    <p:sldId xmlns:r="http://schemas.openxmlformats.org/officeDocument/2006/relationships" id="268" r:id="R2331d128e6f74171"/>
    <p:sldId xmlns:r="http://schemas.openxmlformats.org/officeDocument/2006/relationships" id="269" r:id="R8e5bca91da9744f6"/>
    <p:sldId xmlns:r="http://schemas.openxmlformats.org/officeDocument/2006/relationships" id="270" r:id="Rf5beab77da544e31"/>
    <p:sldId xmlns:r="http://schemas.openxmlformats.org/officeDocument/2006/relationships" id="271" r:id="R452f75a006ac444c"/>
    <p:sldId xmlns:r="http://schemas.openxmlformats.org/officeDocument/2006/relationships" id="272" r:id="R9b4b274e10b845c8"/>
    <p:sldId xmlns:r="http://schemas.openxmlformats.org/officeDocument/2006/relationships" id="273" r:id="R81b729b0eac54afc"/>
    <p:sldId xmlns:r="http://schemas.openxmlformats.org/officeDocument/2006/relationships" id="274" r:id="R25fcec436443470c"/>
    <p:sldId xmlns:r="http://schemas.openxmlformats.org/officeDocument/2006/relationships" id="275" r:id="R40101d1d1a7f42cf"/>
    <p:sldId xmlns:r="http://schemas.openxmlformats.org/officeDocument/2006/relationships" id="276" r:id="Rb3c859ba85dc46ec"/>
    <p:sldId xmlns:r="http://schemas.openxmlformats.org/officeDocument/2006/relationships" id="277" r:id="R04d0683d045a4191"/>
    <p:sldId xmlns:r="http://schemas.openxmlformats.org/officeDocument/2006/relationships" id="278" r:id="R3c4d42f353844ffe"/>
    <p:sldId xmlns:r="http://schemas.openxmlformats.org/officeDocument/2006/relationships" id="279" r:id="R0a39bb7bfb974329"/>
    <p:sldId xmlns:r="http://schemas.openxmlformats.org/officeDocument/2006/relationships" id="280" r:id="R96b0e305ca22460c"/>
    <p:sldId xmlns:r="http://schemas.openxmlformats.org/officeDocument/2006/relationships" id="281" r:id="R0c80dbd947e24a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2970ef1f604fd3" /><Relationship Type="http://schemas.openxmlformats.org/officeDocument/2006/relationships/slideMaster" Target="/ppt/slideMasters/slideMaster1.xml" Id="R0f58c72287bf4ba5" /><Relationship Type="http://schemas.openxmlformats.org/officeDocument/2006/relationships/notesMaster" Target="/ppt/notesMasters/notesMaster1.xml" Id="Rfd68b68b9fef45b0" /><Relationship Type="http://schemas.openxmlformats.org/officeDocument/2006/relationships/presProps" Target="/ppt/presProps.xml" Id="Rfece762dfe394aeb" /><Relationship Type="http://schemas.openxmlformats.org/officeDocument/2006/relationships/tableStyles" Target="/ppt/tableStyles.xml" Id="R83eb48e0d7e944d3" /><Relationship Type="http://schemas.openxmlformats.org/officeDocument/2006/relationships/slide" Target="/ppt/slides/slide1.xml" Id="R32160e0742d24562" /><Relationship Type="http://schemas.openxmlformats.org/officeDocument/2006/relationships/slide" Target="/ppt/slides/slide2.xml" Id="R119373decd2146a6" /><Relationship Type="http://schemas.openxmlformats.org/officeDocument/2006/relationships/slide" Target="/ppt/slides/slide3.xml" Id="Rc8dfd29d54054981" /><Relationship Type="http://schemas.openxmlformats.org/officeDocument/2006/relationships/slide" Target="/ppt/slides/slide4.xml" Id="Re1c6f0a3e3aa4d01" /><Relationship Type="http://schemas.openxmlformats.org/officeDocument/2006/relationships/slide" Target="/ppt/slides/slide5.xml" Id="R6010dcda0402442f" /><Relationship Type="http://schemas.openxmlformats.org/officeDocument/2006/relationships/slide" Target="/ppt/slides/slide6.xml" Id="Rb8457e4a3b224e89" /><Relationship Type="http://schemas.openxmlformats.org/officeDocument/2006/relationships/slide" Target="/ppt/slides/slide7.xml" Id="R1f9ce5aa69924706" /><Relationship Type="http://schemas.openxmlformats.org/officeDocument/2006/relationships/slide" Target="/ppt/slides/slide8.xml" Id="R39a92d407d574ba3" /><Relationship Type="http://schemas.openxmlformats.org/officeDocument/2006/relationships/slide" Target="/ppt/slides/slide9.xml" Id="Rc759b998fefc4ae9" /><Relationship Type="http://schemas.openxmlformats.org/officeDocument/2006/relationships/slide" Target="/ppt/slides/slide10.xml" Id="R6c41bfc435ae4d1d" /><Relationship Type="http://schemas.openxmlformats.org/officeDocument/2006/relationships/slide" Target="/ppt/slides/slide11.xml" Id="R952c9c490cf74dbc" /><Relationship Type="http://schemas.openxmlformats.org/officeDocument/2006/relationships/slide" Target="/ppt/slides/slide12.xml" Id="R13d0d8094a024fea" /><Relationship Type="http://schemas.openxmlformats.org/officeDocument/2006/relationships/slide" Target="/ppt/slides/slide13.xml" Id="R2331d128e6f74171" /><Relationship Type="http://schemas.openxmlformats.org/officeDocument/2006/relationships/slide" Target="/ppt/slides/slide14.xml" Id="R8e5bca91da9744f6" /><Relationship Type="http://schemas.openxmlformats.org/officeDocument/2006/relationships/slide" Target="/ppt/slides/slide15.xml" Id="Rf5beab77da544e31" /><Relationship Type="http://schemas.openxmlformats.org/officeDocument/2006/relationships/slide" Target="/ppt/slides/slide16.xml" Id="R452f75a006ac444c" /><Relationship Type="http://schemas.openxmlformats.org/officeDocument/2006/relationships/slide" Target="/ppt/slides/slide17.xml" Id="R9b4b274e10b845c8" /><Relationship Type="http://schemas.openxmlformats.org/officeDocument/2006/relationships/slide" Target="/ppt/slides/slide18.xml" Id="R81b729b0eac54afc" /><Relationship Type="http://schemas.openxmlformats.org/officeDocument/2006/relationships/slide" Target="/ppt/slides/slide19.xml" Id="R25fcec436443470c" /><Relationship Type="http://schemas.openxmlformats.org/officeDocument/2006/relationships/slide" Target="/ppt/slides/slide20.xml" Id="R40101d1d1a7f42cf" /><Relationship Type="http://schemas.openxmlformats.org/officeDocument/2006/relationships/slide" Target="/ppt/slides/slide21.xml" Id="Rb3c859ba85dc46ec" /><Relationship Type="http://schemas.openxmlformats.org/officeDocument/2006/relationships/slide" Target="/ppt/slides/slide22.xml" Id="R04d0683d045a4191" /><Relationship Type="http://schemas.openxmlformats.org/officeDocument/2006/relationships/slide" Target="/ppt/slides/slide23.xml" Id="R3c4d42f353844ffe" /><Relationship Type="http://schemas.openxmlformats.org/officeDocument/2006/relationships/slide" Target="/ppt/slides/slide24.xml" Id="R0a39bb7bfb974329" /><Relationship Type="http://schemas.openxmlformats.org/officeDocument/2006/relationships/slide" Target="/ppt/slides/slide25.xml" Id="R96b0e305ca22460c" /><Relationship Type="http://schemas.openxmlformats.org/officeDocument/2006/relationships/slide" Target="/ppt/slides/slide26.xml" Id="R0c80dbd947e24a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219b8e60db4f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baca69745b4deb" /><Relationship Type="http://schemas.openxmlformats.org/officeDocument/2006/relationships/notesMaster" Target="/ppt/notesMasters/notesMaster1.xml" Id="Rccd01253cd0847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5949d0c7444a38" /><Relationship Type="http://schemas.openxmlformats.org/officeDocument/2006/relationships/notesMaster" Target="/ppt/notesMasters/notesMaster1.xml" Id="R145f8702db9f4b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ca7461adb84195" /><Relationship Type="http://schemas.openxmlformats.org/officeDocument/2006/relationships/notesMaster" Target="/ppt/notesMasters/notesMaster1.xml" Id="R376e0eb956854c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51826acf334568" /><Relationship Type="http://schemas.openxmlformats.org/officeDocument/2006/relationships/notesMaster" Target="/ppt/notesMasters/notesMaster1.xml" Id="R441098fb94f14f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6a8ce539f5489c" /><Relationship Type="http://schemas.openxmlformats.org/officeDocument/2006/relationships/notesMaster" Target="/ppt/notesMasters/notesMaster1.xml" Id="R51f52d14f5bb46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01ec0616274728" /><Relationship Type="http://schemas.openxmlformats.org/officeDocument/2006/relationships/notesMaster" Target="/ppt/notesMasters/notesMaster1.xml" Id="R048c12db94c64d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b1275da7a84d7b" /><Relationship Type="http://schemas.openxmlformats.org/officeDocument/2006/relationships/notesMaster" Target="/ppt/notesMasters/notesMaster1.xml" Id="Rbb8bbf687b234b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fd66922bb348dd" /><Relationship Type="http://schemas.openxmlformats.org/officeDocument/2006/relationships/notesMaster" Target="/ppt/notesMasters/notesMaster1.xml" Id="Rd4f6a36a41f44a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0966e159234902" /><Relationship Type="http://schemas.openxmlformats.org/officeDocument/2006/relationships/notesMaster" Target="/ppt/notesMasters/notesMaster1.xml" Id="R4c48f0daccb846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9bbeb1f9044ee3" /><Relationship Type="http://schemas.openxmlformats.org/officeDocument/2006/relationships/notesMaster" Target="/ppt/notesMasters/notesMaster1.xml" Id="Rde8dcc40e43047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f243e7dc464b95" /><Relationship Type="http://schemas.openxmlformats.org/officeDocument/2006/relationships/notesMaster" Target="/ppt/notesMasters/notesMaster1.xml" Id="R7eacd26277654d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64d7a6b99b47a7" /><Relationship Type="http://schemas.openxmlformats.org/officeDocument/2006/relationships/notesMaster" Target="/ppt/notesMasters/notesMaster1.xml" Id="R45e68d707c744d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1ef6371cb44e68" /><Relationship Type="http://schemas.openxmlformats.org/officeDocument/2006/relationships/notesMaster" Target="/ppt/notesMasters/notesMaster1.xml" Id="R0950f88a841e4b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99d233757646ff" /><Relationship Type="http://schemas.openxmlformats.org/officeDocument/2006/relationships/notesMaster" Target="/ppt/notesMasters/notesMaster1.xml" Id="R6a5abc956d364a3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b89bda7065484f" /><Relationship Type="http://schemas.openxmlformats.org/officeDocument/2006/relationships/notesMaster" Target="/ppt/notesMasters/notesMaster1.xml" Id="R6455ebdbb161483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2f819cdd9b46ec" /><Relationship Type="http://schemas.openxmlformats.org/officeDocument/2006/relationships/notesMaster" Target="/ppt/notesMasters/notesMaster1.xml" Id="R2d54aa9339be45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3644621fd44a16" /><Relationship Type="http://schemas.openxmlformats.org/officeDocument/2006/relationships/notesMaster" Target="/ppt/notesMasters/notesMaster1.xml" Id="R888b7bdbf5724b0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0f39afadae451f" /><Relationship Type="http://schemas.openxmlformats.org/officeDocument/2006/relationships/notesMaster" Target="/ppt/notesMasters/notesMaster1.xml" Id="R90f6ffda8c584c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8d51fac99b443bc" /><Relationship Type="http://schemas.openxmlformats.org/officeDocument/2006/relationships/notesMaster" Target="/ppt/notesMasters/notesMaster1.xml" Id="Rdf5d4d66215b4d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b79919fed984f22" /><Relationship Type="http://schemas.openxmlformats.org/officeDocument/2006/relationships/notesMaster" Target="/ppt/notesMasters/notesMaster1.xml" Id="R55caee9d95564e2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72e677280bf4b1f" /><Relationship Type="http://schemas.openxmlformats.org/officeDocument/2006/relationships/notesMaster" Target="/ppt/notesMasters/notesMaster1.xml" Id="R1fccb4cac2ae40f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41fb04c684c4f12" /><Relationship Type="http://schemas.openxmlformats.org/officeDocument/2006/relationships/notesMaster" Target="/ppt/notesMasters/notesMaster1.xml" Id="R3228051ef3a648e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7b5f32bb5cb44b8" /><Relationship Type="http://schemas.openxmlformats.org/officeDocument/2006/relationships/notesMaster" Target="/ppt/notesMasters/notesMaster1.xml" Id="Rd5d381bef81d485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1d5de407f444a6" /><Relationship Type="http://schemas.openxmlformats.org/officeDocument/2006/relationships/notesMaster" Target="/ppt/notesMasters/notesMaster1.xml" Id="R1df11c7ce8594dc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808f8c80c224a21" /><Relationship Type="http://schemas.openxmlformats.org/officeDocument/2006/relationships/notesMaster" Target="/ppt/notesMasters/notesMaster1.xml" Id="R3b83d69b038c4db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edabd453c843df" /><Relationship Type="http://schemas.openxmlformats.org/officeDocument/2006/relationships/notesMaster" Target="/ppt/notesMasters/notesMaster1.xml" Id="R9ae7b08b0ffd43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ShopLens combines a controlled recommendation study with an interactive shopping interface. We compare frozen Qwen with semantic alignment and user preference LoRA. I will show the actual offline results, then a complete local workflow from a written request to a saved decision.</a:t>
            </a:r>
          </a:p>
          <a:p xmlns:a="http://schemas.openxmlformats.org/drawingml/2006/main">
            <a:r>
              <a:t/>
            </a:r>
          </a:p>
          <a:p xmlns:a="http://schemas.openxmlformats.org/drawingml/2006/main">
            <a:r>
              <a:t>Sources</a:t>
            </a:r>
          </a:p>
          <a:p xmlns:a="http://schemas.openxmlformats.org/drawingml/2006/main">
            <a:r>
              <a:t>Source path convention: Resolve src/..., submission/..., data/..., and artifacts/... from the repository root. Resolve assets/... relative to submission/. Runtime data and artifacts require a separate runtime asset installation.</a:t>
            </a:r>
          </a:p>
          <a:p xmlns:a="http://schemas.openxmlformats.org/drawingml/2006/main">
            <a:r>
              <a:t>https://huggingface.co/Qwen/Qwen3-Embedding-0.6B/tree/97b0c614be4d77ee51c0cef4e5f07c00f9eb65b3</a:t>
            </a:r>
          </a:p>
          <a:p xmlns:a="http://schemas.openxmlformats.org/drawingml/2006/main">
            <a:r>
              <a:t>https://arxiv.org/abs/2106.09685</a:t>
            </a:r>
          </a:p>
          <a:p xmlns:a="http://schemas.openxmlformats.org/drawingml/2006/main">
            <a:r>
              <a:t>https://proceedings.mlr.press/v139/radford21a.html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question separates semantic matching from preference learning. Semantic LoRA matches training reviews with product descriptions. Preference LoRA learns directly from ranking loss. Every arm trains its recommendation head, including Frozen. The image encoder stays fixed, so the controlled comparison concerns the language objective.</a:t>
            </a:r>
          </a:p>
          <a:p xmlns:a="http://schemas.openxmlformats.org/drawingml/2006/main">
            <a:r>
              <a:t/>
            </a:r>
          </a:p>
          <a:p xmlns:a="http://schemas.openxmlformats.org/drawingml/2006/main">
            <a:r>
              <a:t>Discussion notes</a:t>
            </a:r>
          </a:p>
          <a:p xmlns:a="http://schemas.openxmlformats.org/drawingml/2006/main">
            <a:r>
              <a:t>Semantic InfoNCE uses frozen base-Qwen training-review anchors and live candidate descriptions, with multiple positives for the same item. Its BPR text input is detached. Preference training never uses the target review as its recommendation query.</a:t>
            </a:r>
          </a:p>
          <a:p xmlns:a="http://schemas.openxmlformats.org/drawingml/2006/main">
            <a:r>
              <a:t/>
            </a:r>
          </a:p>
          <a:p xmlns:a="http://schemas.openxmlformats.org/drawingml/2006/main">
            <a:r>
              <a:t>Sources</a:t>
            </a:r>
          </a:p>
          <a:p xmlns:a="http://schemas.openxmlformats.org/drawingml/2006/main">
            <a:r>
              <a:t>src/shoplens/qwen_pipeline.py</a:t>
            </a:r>
          </a:p>
          <a:p xmlns:a="http://schemas.openxmlformats.org/drawingml/2006/main">
            <a:r>
              <a:t>src/shoplens/qwen_models.py</a:t>
            </a:r>
          </a:p>
          <a:p xmlns:a="http://schemas.openxmlformats.org/drawingml/2006/main">
            <a:r>
              <a:t>https://arxiv.org/abs/1205.2618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contains real product text, reviews and photographs across Baby, Sports and Clothing. We split chronologically and use only strictly earlier positive history. Ranking covers the full prepared catalogue, excluding previous positives. Metrics first average targets within users. These are three domains from one Amazon source, which limits evidence about cross-source generalization.</a:t>
            </a:r>
          </a:p>
          <a:p xmlns:a="http://schemas.openxmlformats.org/drawingml/2006/main">
            <a:r>
              <a:t/>
            </a:r>
          </a:p>
          <a:p xmlns:a="http://schemas.openxmlformats.org/drawingml/2006/main">
            <a:r>
              <a:t>Discussion notes</a:t>
            </a:r>
          </a:p>
          <a:p xmlns:a="http://schemas.openxmlformats.org/drawingml/2006/main">
            <a:r>
              <a:t>Global timestamp quantiles retain ties in the earlier split. Evaluation is prequential: earlier held-out observations may enter later histories while weights remain fixed. Repeated targets already in history do not enter evaluation. A stable item-ID rule breaks score ties. Positive interactions have ratings of four or five stars.</a:t>
            </a:r>
          </a:p>
          <a:p xmlns:a="http://schemas.openxmlformats.org/drawingml/2006/main">
            <a:r>
              <a:t/>
            </a:r>
          </a:p>
          <a:p xmlns:a="http://schemas.openxmlformats.org/drawingml/2006/main">
            <a:r>
              <a:t>Sources</a:t>
            </a:r>
          </a:p>
          <a:p xmlns:a="http://schemas.openxmlformats.org/drawingml/2006/main">
            <a:r>
              <a:t>https://mcauleylab.ucsd.edu/public_datasets/data/amazon/datasets.html</a:t>
            </a:r>
          </a:p>
          <a:p xmlns:a="http://schemas.openxmlformats.org/drawingml/2006/main">
            <a:r>
              <a:t>src/shoplens/qwen_evaluate.py</a:t>
            </a:r>
          </a:p>
          <a:p xmlns:a="http://schemas.openxmlformats.org/drawingml/2006/main">
            <a:r>
              <a:t>data/processed/baby/audit.json</a:t>
            </a:r>
          </a:p>
          <a:p xmlns:a="http://schemas.openxmlformats.org/drawingml/2006/main">
            <a:r>
              <a:t>data/processed/sports/audit.json</a:t>
            </a:r>
          </a:p>
          <a:p xmlns:a="http://schemas.openxmlformats.org/drawingml/2006/main">
            <a:r>
              <a:t>data/processed/clothing/audit.json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formal model uses an asymmetric architecture. Histories always enter through frozen base text and fixed images. Candidate text changes across objectives. Separate towers produce compact vectors. A user network pools history and scores candidates by a dot product. Adapted candidate vectors must never replace the frozen history inputs.</a:t>
            </a:r>
          </a:p>
          <a:p xmlns:a="http://schemas.openxmlformats.org/drawingml/2006/main">
            <a:r>
              <a:t/>
            </a:r>
          </a:p>
          <a:p xmlns:a="http://schemas.openxmlformats.org/drawingml/2006/main">
            <a:r>
              <a:t>Sources</a:t>
            </a:r>
          </a:p>
          <a:p xmlns:a="http://schemas.openxmlformats.org/drawingml/2006/main">
            <a:r>
              <a:t>src/shoplens/qwen_models.py</a:t>
            </a:r>
          </a:p>
          <a:p xmlns:a="http://schemas.openxmlformats.org/drawingml/2006/main">
            <a:r>
              <a:t>src/shoplens/qwen_inference.py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domain and seed first selects a common warmup head. The three arms then share thirty thousand matched training cases, their order and sampled negatives for two adaptation epochs. Validation selects epoch one or two. Three complete pipeline seeds give twenty-seven formal test records. Test scores never choose the checkpoint.</a:t>
            </a:r>
          </a:p>
          <a:p xmlns:a="http://schemas.openxmlformats.org/drawingml/2006/main">
            <a:r>
              <a:t/>
            </a:r>
          </a:p>
          <a:p xmlns:a="http://schemas.openxmlformats.org/drawingml/2006/main">
            <a:r>
              <a:t>Discussion notes</a:t>
            </a:r>
          </a:p>
          <a:p xmlns:a="http://schemas.openxmlformats.org/drawingml/2006/main">
            <a:r>
              <a:t>Warmup uses all eligible cases, at most 20 epochs and validation early stopping. Adaptation batch size is 32. Head learning rate is 1e-4 and LoRA learning rate is 2e-5. LoRA rank 8, alpha 16, dropout 0.05, q_proj/v_proj. Epoch 0 cannot replace a poor adaptation checkpoint.</a:t>
            </a:r>
          </a:p>
          <a:p xmlns:a="http://schemas.openxmlformats.org/drawingml/2006/main">
            <a:r>
              <a:t/>
            </a:r>
          </a:p>
          <a:p xmlns:a="http://schemas.openxmlformats.org/drawingml/2006/main">
            <a:r>
              <a:t>Sources</a:t>
            </a:r>
          </a:p>
          <a:p xmlns:a="http://schemas.openxmlformats.org/drawingml/2006/main">
            <a:r>
              <a:t>src/shoplens/qwen_data.py</a:t>
            </a:r>
          </a:p>
          <a:p xmlns:a="http://schemas.openxmlformats.org/drawingml/2006/main">
            <a:r>
              <a:t>src/shoplens/qwen_pipeline.py</a:t>
            </a:r>
          </a:p>
          <a:p xmlns:a="http://schemas.openxmlformats.org/drawingml/2006/main">
            <a:r>
              <a:t>submission/results_qwen_summary.json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bars come from all twenty-seven audited test records after validation-only selection. Frozen has the highest observed mean in each domain. Semantic alignment loses to Frozen in seven of nine matched comparisons. Preference LoRA loses in six of nine. The experiment does not support a general improvement from adaptation under this budget.</a:t>
            </a:r>
          </a:p>
          <a:p xmlns:a="http://schemas.openxmlformats.org/drawingml/2006/main">
            <a:r>
              <a:t/>
            </a:r>
          </a:p>
          <a:p xmlns:a="http://schemas.openxmlformats.org/drawingml/2006/main">
            <a:r>
              <a:t>Discussion notes</a:t>
            </a:r>
          </a:p>
          <a:p xmlns:a="http://schemas.openxmlformats.org/drawingml/2006/main">
            <a:r>
              <a:t>Means and sample standard deviations appear in Appendix 1. A matched win is a positive difference for the same domain and seed. These measurements describe the declared offline protocol, not purchasing conversion.</a:t>
            </a:r>
          </a:p>
          <a:p xmlns:a="http://schemas.openxmlformats.org/drawingml/2006/main">
            <a:r>
              <a:t/>
            </a:r>
          </a:p>
          <a:p xmlns:a="http://schemas.openxmlformats.org/drawingml/2006/main">
            <a:r>
              <a:t>Sources</a:t>
            </a:r>
          </a:p>
          <a:p xmlns:a="http://schemas.openxmlformats.org/drawingml/2006/main">
            <a:r>
              <a:t>submission/results_qwen_summary.json</a:t>
            </a:r>
          </a:p>
          <a:p xmlns:a="http://schemas.openxmlformats.org/drawingml/2006/main">
            <a:r>
              <a:t>artifacts/qwen/baby/results.json</a:t>
            </a:r>
          </a:p>
          <a:p xmlns:a="http://schemas.openxmlformats.org/drawingml/2006/main">
            <a:r>
              <a:t>artifacts/qwen/sports/results.json</a:t>
            </a:r>
          </a:p>
          <a:p xmlns:a="http://schemas.openxmlformats.org/drawingml/2006/main">
            <a:r>
              <a:t>artifacts/qwen/clothing/results.json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gallery exposes the original twenty-seven evaluations through metric, paired-seed and training views. This matrix contains eighteen same-seed differences against Frozen, including losses. The three columns show all recorded seeds. The gallery adds inspection and export, while the evidence remains the same controlled study.</a:t>
            </a:r>
          </a:p>
          <a:p xmlns:a="http://schemas.openxmlformats.org/drawingml/2006/main">
            <a:r>
              <a:t/>
            </a:r>
          </a:p>
          <a:p xmlns:a="http://schemas.openxmlformats.org/drawingml/2006/main">
            <a:r>
              <a:t>Discussion notes</a:t>
            </a:r>
          </a:p>
          <a:p xmlns:a="http://schemas.openxmlformats.org/drawingml/2006/main">
            <a:r>
              <a:t>Each cell subtracts the Frozen test NDCG@10 for the same domain and seed. Semantic alignment wins 2 of 9 pairs and user preference wins 3 of 9. Three seeds, sample standard deviation and observed signs do not establish statistical significance. This feature displays existing runs and does not add a new experiment.</a:t>
            </a:r>
          </a:p>
          <a:p xmlns:a="http://schemas.openxmlformats.org/drawingml/2006/main">
            <a:r>
              <a:t/>
            </a:r>
          </a:p>
          <a:p xmlns:a="http://schemas.openxmlformats.org/drawingml/2006/main">
            <a:r>
              <a:t>Sources</a:t>
            </a:r>
          </a:p>
          <a:p xmlns:a="http://schemas.openxmlformats.org/drawingml/2006/main">
            <a:r>
              <a:t>assets/experiment_paired_matrix.png</a:t>
            </a:r>
          </a:p>
          <a:p xmlns:a="http://schemas.openxmlformats.org/drawingml/2006/main">
            <a:r>
              <a:t>src/shoplens/experiment_ui.py</a:t>
            </a:r>
          </a:p>
          <a:p xmlns:a="http://schemas.openxmlformats.org/drawingml/2006/main">
            <a:r>
              <a:t>src/shoplens/experiment_data.py</a:t>
            </a:r>
          </a:p>
          <a:p xmlns:a="http://schemas.openxmlformats.org/drawingml/2006/main">
            <a:r>
              <a:t>src/shoplens/experiment_charts.py</a:t>
            </a:r>
          </a:p>
          <a:p xmlns:a="http://schemas.openxmlformats.org/drawingml/2006/main">
            <a:r>
              <a:t>submission/results_qwen_summary.json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Studio starts with a written request, here a compact stroller for everyday outings. Interpretation uses transparent rules and leaves editable fields. The user reviews omitted nuance before searching. Qwen retrieves products after Find products. Positive feedback is optional.</a:t>
            </a:r>
          </a:p>
          <a:p xmlns:a="http://schemas.openxmlformats.org/drawingml/2006/main">
            <a:r>
              <a:t/>
            </a:r>
          </a:p>
          <a:p xmlns:a="http://schemas.openxmlformats.org/drawingml/2006/main">
            <a:r>
              <a:t>Sources</a:t>
            </a:r>
          </a:p>
          <a:p xmlns:a="http://schemas.openxmlformats.org/drawingml/2006/main">
            <a:r>
              <a:t>assets/studio_brief.png</a:t>
            </a:r>
          </a:p>
          <a:p xmlns:a="http://schemas.openxmlformats.org/drawingml/2006/main">
            <a:r>
              <a:t>src/shoplens/studio_ui.py</a:t>
            </a:r>
          </a:p>
          <a:p xmlns:a="http://schemas.openxmlformats.org/drawingml/2006/main">
            <a:r>
              <a:t>src/shoplens/studio.py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arena follows one actual stroller across the three request lists. Frozen places it fifth, Semantic first and Preference sixth. Each query matches its candidate space, without positive feedback. The three Top-twelve lists contain twenty-four unique products. These differences reveal disagreement, with no relevance labels to establish which model is better.</a:t>
            </a:r>
          </a:p>
          <a:p xmlns:a="http://schemas.openxmlformats.org/drawingml/2006/main">
            <a:r>
              <a:t/>
            </a:r>
          </a:p>
          <a:p xmlns:a="http://schemas.openxmlformats.org/drawingml/2006/main">
            <a:r>
              <a:t>Discussion notes</a:t>
            </a:r>
          </a:p>
          <a:p xmlns:a="http://schemas.openxmlformats.org/drawingml/2006/main">
            <a:r>
              <a:t>The actual query is Find a stroller for everyday outings. Dream On Me / Mia Moda Veloce Stroller, Mint Java is ASIN B002UHJ0HK. The observed union contains 24 unique items, with 2 in all three lists, 8 in exactly two and 14 in exactly one. Each model retrieves its own top 200 text-similar candidates, including boundary ties. This application example is exploratory request retrieval, separate from the formal history-to-item test. A missing Top-K position remains unknown. Raw scores are not compared across models.</a:t>
            </a:r>
          </a:p>
          <a:p xmlns:a="http://schemas.openxmlformats.org/drawingml/2006/main">
            <a:r>
              <a:t/>
            </a:r>
          </a:p>
          <a:p xmlns:a="http://schemas.openxmlformats.org/drawingml/2006/main">
            <a:r>
              <a:t>Sources</a:t>
            </a:r>
          </a:p>
          <a:p xmlns:a="http://schemas.openxmlformats.org/drawingml/2006/main">
            <a:r>
              <a:t>assets/studio_model_arena.png</a:t>
            </a:r>
          </a:p>
          <a:p xmlns:a="http://schemas.openxmlformats.org/drawingml/2006/main">
            <a:r>
              <a:t>src/shoplens/studio_encoders.py</a:t>
            </a:r>
          </a:p>
          <a:p xmlns:a="http://schemas.openxmlformats.org/drawingml/2006/main">
            <a:r>
              <a:t>src/shoplens/studio_models.py</a:t>
            </a:r>
          </a:p>
          <a:p xmlns:a="http://schemas.openxmlformats.org/drawingml/2006/main">
            <a:r>
              <a:t>src/shoplens/studio_ui.py</a:t>
            </a:r>
          </a:p>
          <a:p xmlns:a="http://schemas.openxmlformats.org/drawingml/2006/main">
            <a:r>
              <a:t>src/shoplens/studio_charts.py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later state adds a catalogue photo, soft avoidance of bulky products and a historical price ceiling of one hundred and fifty dollars. Frozen CLIP supplies the image signal. Uploads stay in local memory. Filters can leave fewer results without expanding the retrieved pool.</a:t>
            </a:r>
          </a:p>
          <a:p xmlns:a="http://schemas.openxmlformats.org/drawingml/2006/main">
            <a:r>
              <a:t/>
            </a:r>
          </a:p>
          <a:p xmlns:a="http://schemas.openxmlformats.org/drawingml/2006/main">
            <a:r>
              <a:t>Discussion notes</a:t>
            </a:r>
          </a:p>
          <a:p xmlns:a="http://schemas.openxmlformats.org/drawingml/2006/main">
            <a:r>
              <a:t>This screenshot shows a separate, later refined Baby state from the Model arena capture. Actual selected reference is Capri Stroller - Red Tech and text weight is 0.65. The image source is Use catalog example, not an uploaded file. Current UI limits uploads to single JPG/PNG/WebP, 8 MB and 16 megapixels. Budget filtering excludes unknown prices. Source metadata categories are not verified product types. An avoid penalty does not guarantee perfect semantic exclusion.</a:t>
            </a:r>
          </a:p>
          <a:p xmlns:a="http://schemas.openxmlformats.org/drawingml/2006/main">
            <a:r>
              <a:t/>
            </a:r>
          </a:p>
          <a:p xmlns:a="http://schemas.openxmlformats.org/drawingml/2006/main">
            <a:r>
              <a:t>Sources</a:t>
            </a:r>
          </a:p>
          <a:p xmlns:a="http://schemas.openxmlformats.org/drawingml/2006/main">
            <a:r>
              <a:t>assets/studio_visual_filters.png</a:t>
            </a:r>
          </a:p>
          <a:p xmlns:a="http://schemas.openxmlformats.org/drawingml/2006/main">
            <a:r>
              <a:t>src/shoplens/studio_encoders.py</a:t>
            </a:r>
          </a:p>
          <a:p xmlns:a="http://schemas.openxmlformats.org/drawingml/2006/main">
            <a:r>
              <a:t>src/shoplens/studio.py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More like this adds positive evidence and activates the selected model’s trained history recommender. Less like this penalizes similar products. Hide removes an exact product. All reference products leave subsequent suggestions. The feedback manager exposes the current state and Undo. These actions rerank products using cached request vectors rather than retraining a model.</a:t>
            </a:r>
          </a:p>
          <a:p xmlns:a="http://schemas.openxmlformats.org/drawingml/2006/main">
            <a:r>
              <a:t/>
            </a:r>
          </a:p>
          <a:p xmlns:a="http://schemas.openxmlformats.org/drawingml/2006/main">
            <a:r>
              <a:t>Discussion notes</a:t>
            </a:r>
          </a:p>
          <a:p xmlns:a="http://schemas.openxmlformats.org/drawingml/2006/main">
            <a:r>
              <a:t>At most the latest 20 distinct positive products enter the history network. Shortlisting alone gives no training feedback. Feedback and query percentiles follow a disclosed application policy rather than the formal evaluation score.</a:t>
            </a:r>
          </a:p>
          <a:p xmlns:a="http://schemas.openxmlformats.org/drawingml/2006/main">
            <a:r>
              <a:t/>
            </a:r>
          </a:p>
          <a:p xmlns:a="http://schemas.openxmlformats.org/drawingml/2006/main">
            <a:r>
              <a:t>Sources</a:t>
            </a:r>
          </a:p>
          <a:p xmlns:a="http://schemas.openxmlformats.org/drawingml/2006/main">
            <a:r>
              <a:t>assets/studio_feedback.png</a:t>
            </a:r>
          </a:p>
          <a:p xmlns:a="http://schemas.openxmlformats.org/drawingml/2006/main">
            <a:r>
              <a:t>src/shoplens/studio_ui.py</a:t>
            </a:r>
          </a:p>
          <a:p xmlns:a="http://schemas.openxmlformats.org/drawingml/2006/main">
            <a:r>
              <a:t>src/shoplens/studio.py</a:t>
            </a:r>
          </a:p>
          <a:p xmlns:a="http://schemas.openxmlformats.org/drawingml/2006/main">
            <a:r>
              <a:t>src/shoplens/studio_models.py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shortlist compares a few real candidates through photographs, historical prices, categories and original descriptions. Source details can reveal information that embeddings miss. The user makes the final choice. Saving a shortlist item supplies no preference feedback.</a:t>
            </a:r>
          </a:p>
          <a:p xmlns:a="http://schemas.openxmlformats.org/drawingml/2006/main">
            <a:r>
              <a:t/>
            </a:r>
          </a:p>
          <a:p xmlns:a="http://schemas.openxmlformats.org/drawingml/2006/main">
            <a:r>
              <a:t>Sources</a:t>
            </a:r>
          </a:p>
          <a:p xmlns:a="http://schemas.openxmlformats.org/drawingml/2006/main">
            <a:r>
              <a:t>assets/studio_shortlist.png</a:t>
            </a:r>
          </a:p>
          <a:p xmlns:a="http://schemas.openxmlformats.org/drawingml/2006/main">
            <a:r>
              <a:t>src/shoplens/studio_ui.py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confirming a final choice, the user downloads the decision. JSON retains context and model provenance. CSV provides a simple shortlist. HTML includes catalogue photos in a standalone card. Exporting preserves the record after the session ends. The app places no order.</a:t>
            </a:r>
          </a:p>
          <a:p xmlns:a="http://schemas.openxmlformats.org/drawingml/2006/main">
            <a:r>
              <a:t/>
            </a:r>
          </a:p>
          <a:p xmlns:a="http://schemas.openxmlformats.org/drawingml/2006/main">
            <a:r>
              <a:t>Sources</a:t>
            </a:r>
          </a:p>
          <a:p xmlns:a="http://schemas.openxmlformats.org/drawingml/2006/main">
            <a:r>
              <a:t>assets/studio_export.png</a:t>
            </a:r>
          </a:p>
          <a:p xmlns:a="http://schemas.openxmlformats.org/drawingml/2006/main">
            <a:r>
              <a:t>src/shoplens/studio.py</a:t>
            </a:r>
          </a:p>
          <a:p xmlns:a="http://schemas.openxmlformats.org/drawingml/2006/main">
            <a:r>
              <a:t>src/shoplens/studio_ui.py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atlas places catalogue products, selected preferences and recommendations on one fixed PCA map. Clicking a point opens its photo, title and product ID and can add a preference. Switching models changes highlights while keeping coordinates fixed. The two-dimensional view loses information.</a:t>
            </a:r>
          </a:p>
          <a:p xmlns:a="http://schemas.openxmlformats.org/drawingml/2006/main">
            <a:r>
              <a:t/>
            </a:r>
          </a:p>
          <a:p xmlns:a="http://schemas.openxmlformats.org/drawingml/2006/main">
            <a:r>
              <a:t>Discussion notes</a:t>
            </a:r>
          </a:p>
          <a:p xmlns:a="http://schemas.openxmlformats.org/drawingml/2006/main">
            <a:r>
              <a:t>This earlier actual Baby capture shows the complete map and inspector together. The displayed capture does not identify all history items, so it is not treated as the same session as the fresh Research figures. The fixed PCA uses the Frozen candidate tower. The plotted sample is not the ranking candidate set. Ranking still uses the full eligible catalogue. The 2D variance fraction is shown, and proximity is a lossy projection rather than a causal explanation.</a:t>
            </a:r>
          </a:p>
          <a:p xmlns:a="http://schemas.openxmlformats.org/drawingml/2006/main">
            <a:r>
              <a:t/>
            </a:r>
          </a:p>
          <a:p xmlns:a="http://schemas.openxmlformats.org/drawingml/2006/main">
            <a:r>
              <a:t>Sources</a:t>
            </a:r>
          </a:p>
          <a:p xmlns:a="http://schemas.openxmlformats.org/drawingml/2006/main">
            <a:r>
              <a:t>assets/research_atlas_complete.jpg</a:t>
            </a:r>
          </a:p>
          <a:p xmlns:a="http://schemas.openxmlformats.org/drawingml/2006/main">
            <a:r>
              <a:t>src/shoplens/visual_data.py</a:t>
            </a:r>
          </a:p>
          <a:p xmlns:a="http://schemas.openxmlformats.org/drawingml/2006/main">
            <a:r>
              <a:t>src/shoplens/visual_ui.py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Preference lab shows how selected history products relate to recommended candidates in the actual one-hundred-and-twenty-eight-dimensional towers. The network retains positive and negative cosine links. A heatmap provides the same numerical relationship in a different form. These links are neither attention weights nor causal contributions to the final ranking.</a:t>
            </a:r>
          </a:p>
          <a:p xmlns:a="http://schemas.openxmlformats.org/drawingml/2006/main">
            <a:r>
              <a:t/>
            </a:r>
          </a:p>
          <a:p xmlns:a="http://schemas.openxmlformats.org/drawingml/2006/main">
            <a:r>
              <a:t>Sources</a:t>
            </a:r>
          </a:p>
          <a:p xmlns:a="http://schemas.openxmlformats.org/drawingml/2006/main">
            <a:r>
              <a:t>assets/research_network.png</a:t>
            </a:r>
          </a:p>
          <a:p xmlns:a="http://schemas.openxmlformats.org/drawingml/2006/main">
            <a:r>
              <a:t>src/shoplens/visual_ui.py</a:t>
            </a:r>
          </a:p>
          <a:p xmlns:a="http://schemas.openxmlformats.org/drawingml/2006/main">
            <a:r>
              <a:t>src/shoplens/visual_charts.py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Rank flow follows products across the three model lists for a fixed history. The adjacent view reports Top-K Jaccard overlap. Lines break when products leave the displayed list. We never invent their missing ranks. These views describe disagreement, rather than which list is correct.</a:t>
            </a:r>
          </a:p>
          <a:p xmlns:a="http://schemas.openxmlformats.org/drawingml/2006/main">
            <a:r>
              <a:t/>
            </a:r>
          </a:p>
          <a:p xmlns:a="http://schemas.openxmlformats.org/drawingml/2006/main">
            <a:r>
              <a:t>Sources</a:t>
            </a:r>
          </a:p>
          <a:p xmlns:a="http://schemas.openxmlformats.org/drawingml/2006/main">
            <a:r>
              <a:t>assets/research_rankflow.png</a:t>
            </a:r>
          </a:p>
          <a:p xmlns:a="http://schemas.openxmlformats.org/drawingml/2006/main">
            <a:r>
              <a:t>src/shoplens/visual_charts.py</a:t>
            </a:r>
          </a:p>
          <a:p xmlns:a="http://schemas.openxmlformats.org/drawingml/2006/main">
            <a:r>
              <a:t>src/shoplens/ui.py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removal experiment drops one active history item at a time and reruns the recommender. It measures score changes and retention of the original Top-K. It never backfills older history. Original selected products stay excluded. This is session sensitivity, rather than causal attribution.</a:t>
            </a:r>
          </a:p>
          <a:p xmlns:a="http://schemas.openxmlformats.org/drawingml/2006/main">
            <a:r>
              <a:t/>
            </a:r>
          </a:p>
          <a:p xmlns:a="http://schemas.openxmlformats.org/drawingml/2006/main">
            <a:r>
              <a:t>Discussion notes</a:t>
            </a:r>
          </a:p>
          <a:p xmlns:a="http://schemas.openxmlformats.org/drawingml/2006/main">
            <a:r>
              <a:t>This earlier actual Baby capture names Peg Perego Aria Twin, Capri Stroller Red Tech and Prince Lionheart Stroller Connectors. The model selector lies outside the capture. No numeric comparison with another capture or model is inferred. The result is conditional on its current history and selected seed42 model. It is neither a formal held-out metric nor a causal attribution. Empty and single-item histories do not invent a removal experiment.</a:t>
            </a:r>
          </a:p>
          <a:p xmlns:a="http://schemas.openxmlformats.org/drawingml/2006/main">
            <a:r>
              <a:t/>
            </a:r>
          </a:p>
          <a:p xmlns:a="http://schemas.openxmlformats.org/drawingml/2006/main">
            <a:r>
              <a:t>Sources</a:t>
            </a:r>
          </a:p>
          <a:p xmlns:a="http://schemas.openxmlformats.org/drawingml/2006/main">
            <a:r>
              <a:t>assets/research_removal_complete.jpg</a:t>
            </a:r>
          </a:p>
          <a:p xmlns:a="http://schemas.openxmlformats.org/drawingml/2006/main">
            <a:r>
              <a:t>src/shoplens/visual_data.py</a:t>
            </a:r>
          </a:p>
          <a:p xmlns:a="http://schemas.openxmlformats.org/drawingml/2006/main">
            <a:r>
              <a:t>src/shoplens/visual_ui.py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main finding is negative: neither adaptation objective improves average NDCG at ten in any domain under this budget. The interface makes the trained models inspectable and supports a complete decision workflow, but attractive examples cannot replace relevance evaluation. Three seeds, one Amazon source and static metadata limit the evidence. The references are the original Amazon archive, official Qwen documentation, LoRA, CLIP and BPR.</a:t>
            </a:r>
          </a:p>
          <a:p xmlns:a="http://schemas.openxmlformats.org/drawingml/2006/main">
            <a:r>
              <a:t/>
            </a:r>
          </a:p>
          <a:p xmlns:a="http://schemas.openxmlformats.org/drawingml/2006/main">
            <a:r>
              <a:t>Discussion notes</a:t>
            </a:r>
          </a:p>
          <a:p xmlns:a="http://schemas.openxmlformats.org/drawingml/2006/main">
            <a:r>
              <a:t>Earlier MiniLM baselines remain separate because their architecture and training budget differ. Clothing live CUDA LoRA training used MATH SDPA after a reproduced gradient failure, while earlier completed runs retained automatic dispatch. No specific fused-kernel cause or bitwise trajectory identity is established.</a:t>
            </a:r>
          </a:p>
          <a:p xmlns:a="http://schemas.openxmlformats.org/drawingml/2006/main">
            <a:r>
              <a:t/>
            </a:r>
          </a:p>
          <a:p xmlns:a="http://schemas.openxmlformats.org/drawingml/2006/main">
            <a:r>
              <a:t>Sources</a:t>
            </a:r>
          </a:p>
          <a:p xmlns:a="http://schemas.openxmlformats.org/drawingml/2006/main">
            <a:r>
              <a:t>submission/results_qwen_summary.json</a:t>
            </a:r>
          </a:p>
          <a:p xmlns:a="http://schemas.openxmlformats.org/drawingml/2006/main">
            <a:r>
              <a:t>https://mcauleylab.ucsd.edu/public_datasets/data/amazon/datasets.html</a:t>
            </a:r>
          </a:p>
          <a:p xmlns:a="http://schemas.openxmlformats.org/drawingml/2006/main">
            <a:r>
              <a:t>https://huggingface.co/Qwen/Qwen3-Embedding-0.6B/tree/97b0c614be4d77ee51c0cef4e5f07c00f9eb65b3</a:t>
            </a:r>
          </a:p>
          <a:p xmlns:a="http://schemas.openxmlformats.org/drawingml/2006/main">
            <a:r>
              <a:t>https://arxiv.org/abs/2106.09685</a:t>
            </a:r>
          </a:p>
          <a:p xmlns:a="http://schemas.openxmlformats.org/drawingml/2006/main">
            <a:r>
              <a:t>https://proceedings.mlr.press/v139/radford21a.html</a:t>
            </a:r>
          </a:p>
          <a:p xmlns:a="http://schemas.openxmlformats.org/drawingml/2006/main">
            <a:r>
              <a:t>https://arxiv.org/abs/1205.2618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every cell uses the three actual complete pipeline seeds. Variation is a sample standard deviation, not a population confidence interval. Matched win counts pair the same domain and seed.</a:t>
            </a:r>
          </a:p>
          <a:p xmlns:a="http://schemas.openxmlformats.org/drawingml/2006/main">
            <a:r>
              <a:t/>
            </a:r>
          </a:p>
          <a:p xmlns:a="http://schemas.openxmlformats.org/drawingml/2006/main">
            <a:r>
              <a:t>Discussion notes</a:t>
            </a:r>
          </a:p>
          <a:p xmlns:a="http://schemas.openxmlformats.org/drawingml/2006/main">
            <a:r>
              <a:t>All 27 raw records passed the declared artifact and protocol audit. No diagnostic or synthetic run supplies these values.</a:t>
            </a:r>
          </a:p>
          <a:p xmlns:a="http://schemas.openxmlformats.org/drawingml/2006/main">
            <a:r>
              <a:t/>
            </a:r>
          </a:p>
          <a:p xmlns:a="http://schemas.openxmlformats.org/drawingml/2006/main">
            <a:r>
              <a:t>Sources</a:t>
            </a:r>
          </a:p>
          <a:p xmlns:a="http://schemas.openxmlformats.org/drawingml/2006/main">
            <a:r>
              <a:t>submission/results_qwen_summary.json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sparse-item results remain close to zero, including zero in Baby. The cohort combines unseen items with low-interaction items, so it does not establish strict cold start. Clothing LoRA training used the MATH attention backend after same-state nonfinite-gradient diagnostics. That recovery does not identify a particular fused-kernel cause or establish bitwise-equivalent training.</a:t>
            </a:r>
          </a:p>
          <a:p xmlns:a="http://schemas.openxmlformats.org/drawingml/2006/main">
            <a:r>
              <a:t/>
            </a:r>
          </a:p>
          <a:p xmlns:a="http://schemas.openxmlformats.org/drawingml/2006/main">
            <a:r>
              <a:t>Discussion notes</a:t>
            </a:r>
          </a:p>
          <a:p xmlns:a="http://schemas.openxmlformats.org/drawingml/2006/main">
            <a:r>
              <a:t>Candidate cache numerical checks cover only the first min(4,N) live-Qwen candidates and one validation history. CPU serving replay checks a different layer of correctness.</a:t>
            </a:r>
          </a:p>
          <a:p xmlns:a="http://schemas.openxmlformats.org/drawingml/2006/main">
            <a:r>
              <a:t/>
            </a:r>
          </a:p>
          <a:p xmlns:a="http://schemas.openxmlformats.org/drawingml/2006/main">
            <a:r>
              <a:t>Sources</a:t>
            </a:r>
          </a:p>
          <a:p xmlns:a="http://schemas.openxmlformats.org/drawingml/2006/main">
            <a:r>
              <a:t>submission/results_qwen_summary.json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the application and the formal experiment answer different questions. Studio uses a matching query encoder for each candidate space and retrieves a model-specific pool before applying constraints and feedback. The formal test instead begins with actual earlier history and ranks the complete eligible catalogue. Studio scores and examples cannot be substituted for those metrics.</a:t>
            </a:r>
          </a:p>
          <a:p xmlns:a="http://schemas.openxmlformats.org/drawingml/2006/main">
            <a:r>
              <a:t/>
            </a:r>
          </a:p>
          <a:p xmlns:a="http://schemas.openxmlformats.org/drawingml/2006/main">
            <a:r>
              <a:t>Discussion notes</a:t>
            </a:r>
          </a:p>
          <a:p xmlns:a="http://schemas.openxmlformats.org/drawingml/2006/main">
            <a:r>
              <a:t>All query arms share the shopping instruction, left padding, last-valid-token pooling, maximum 256 tokens and L2 normalization. Image-only requests can produce identical base retrieval lists. The trained head activates with positive history, which always uses frozen base history inputs.</a:t>
            </a:r>
          </a:p>
          <a:p xmlns:a="http://schemas.openxmlformats.org/drawingml/2006/main">
            <a:r>
              <a:t/>
            </a:r>
          </a:p>
          <a:p xmlns:a="http://schemas.openxmlformats.org/drawingml/2006/main">
            <a:r>
              <a:t>Sources</a:t>
            </a:r>
          </a:p>
          <a:p xmlns:a="http://schemas.openxmlformats.org/drawingml/2006/main">
            <a:r>
              <a:t>src/shoplens/studio_encoders.py</a:t>
            </a:r>
          </a:p>
          <a:p xmlns:a="http://schemas.openxmlformats.org/drawingml/2006/main">
            <a:r>
              <a:t>src/shoplens/studio_models.py</a:t>
            </a:r>
          </a:p>
          <a:p xmlns:a="http://schemas.openxmlformats.org/drawingml/2006/main">
            <a:r>
              <a:t>src/shoplens/studio.py</a:t>
            </a:r>
          </a:p>
          <a:p xmlns:a="http://schemas.openxmlformats.org/drawingml/2006/main">
            <a:r>
              <a:t>src/shoplens/qwen_evaluate.py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a result card exposes its original title, source category, historical price and computed text and image signals. The disclosed retrieval pool and penalty policy help the user inspect the current result. These signals do not establish suitability or explain the score causally.</a:t>
            </a:r>
          </a:p>
          <a:p xmlns:a="http://schemas.openxmlformats.org/drawingml/2006/main">
            <a:r>
              <a:t/>
            </a:r>
          </a:p>
          <a:p xmlns:a="http://schemas.openxmlformats.org/drawingml/2006/main">
            <a:r>
              <a:t>Discussion notes</a:t>
            </a:r>
          </a:p>
          <a:p xmlns:a="http://schemas.openxmlformats.org/drawingml/2006/main">
            <a:r>
              <a:t>This is the later Baby state with a reference photo, a 150 USD historical budget, soft avoid bulky and optional positive/negative/hidden feedback. The screenshot concerns Baby Trend Snap N Go Stroller, not the final chosen Aprica. Its observed text-query cosine is 0.7240 and image-query cosine is 0.9293 in this state.</a:t>
            </a:r>
          </a:p>
          <a:p xmlns:a="http://schemas.openxmlformats.org/drawingml/2006/main">
            <a:r>
              <a:t/>
            </a:r>
          </a:p>
          <a:p xmlns:a="http://schemas.openxmlformats.org/drawingml/2006/main">
            <a:r>
              <a:t>Sources</a:t>
            </a:r>
          </a:p>
          <a:p xmlns:a="http://schemas.openxmlformats.org/drawingml/2006/main">
            <a:r>
              <a:t>assets/studio_evidence.png</a:t>
            </a:r>
          </a:p>
          <a:p xmlns:a="http://schemas.openxmlformats.org/drawingml/2006/main">
            <a:r>
              <a:t>src/shoplens/studio_ui.py</a:t>
            </a:r>
          </a:p>
          <a:p xmlns:a="http://schemas.openxmlformats.org/drawingml/2006/main">
            <a:r>
              <a:t>src/shoplens/studio.py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Research recommendation evidence combines the product record with the selected history and model. It exposes cross-tower similarities and structured inference evidence. This page supports inspection of an individual recommendation, while the experiment dashboard provides the held-out quality measurements.</a:t>
            </a:r>
          </a:p>
          <a:p xmlns:a="http://schemas.openxmlformats.org/drawingml/2006/main">
            <a:r>
              <a:t/>
            </a:r>
          </a:p>
          <a:p xmlns:a="http://schemas.openxmlformats.org/drawingml/2006/main">
            <a:r>
              <a:t>Discussion notes</a:t>
            </a:r>
          </a:p>
          <a:p xmlns:a="http://schemas.openxmlformats.org/drawingml/2006/main">
            <a:r>
              <a:t>The actual Baby example selects Frozen and Fisher-Price Booster Seat, Blue/Green/Gray (B0000DEW8N), with the three displayed preset history items. This slide retains the original candidate description. The full inference evidence view exposes the actual scoring and provenance fields. Similarities remain diagnostics rather than causal score contributions.</a:t>
            </a:r>
          </a:p>
          <a:p xmlns:a="http://schemas.openxmlformats.org/drawingml/2006/main">
            <a:r>
              <a:t/>
            </a:r>
          </a:p>
          <a:p xmlns:a="http://schemas.openxmlformats.org/drawingml/2006/main">
            <a:r>
              <a:t>Sources</a:t>
            </a:r>
          </a:p>
          <a:p xmlns:a="http://schemas.openxmlformats.org/drawingml/2006/main">
            <a:r>
              <a:t>assets/research_evidence_product.png</a:t>
            </a:r>
          </a:p>
          <a:p xmlns:a="http://schemas.openxmlformats.org/drawingml/2006/main">
            <a:r>
              <a:t>src/shoplens/ui.py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the original three-column product view gives photographic evidence for each model’s first visible recommendation. The catalogue contains 7,037 Baby products. Top-twelve and Top-three views show subsets of results. Three refers to the model alternatives rather than the catalogue size.</a:t>
            </a:r>
          </a:p>
          <a:p xmlns:a="http://schemas.openxmlformats.org/drawingml/2006/main">
            <a:r>
              <a:t/>
            </a:r>
          </a:p>
          <a:p xmlns:a="http://schemas.openxmlformats.org/drawingml/2006/main">
            <a:r>
              <a:t>Discussion notes</a:t>
            </a:r>
          </a:p>
          <a:p xmlns:a="http://schemas.openxmlformats.org/drawingml/2006/main">
            <a:r>
              <a:t>This earlier actual Baby request screenshot is independent of the Model arena capture. It shows the first visible recommendation in each column, not every row of the Top 3. Each request uses the matching query and candidate encoder. The respective retrieved pools can differ. Product examples do not replace held-out relevance evaluation.</a:t>
            </a:r>
          </a:p>
          <a:p xmlns:a="http://schemas.openxmlformats.org/drawingml/2006/main">
            <a:r>
              <a:t/>
            </a:r>
          </a:p>
          <a:p xmlns:a="http://schemas.openxmlformats.org/drawingml/2006/main">
            <a:r>
              <a:t>Sources</a:t>
            </a:r>
          </a:p>
          <a:p xmlns:a="http://schemas.openxmlformats.org/drawingml/2006/main">
            <a:r>
              <a:t>assets/studio_models.jpg</a:t>
            </a:r>
          </a:p>
          <a:p xmlns:a="http://schemas.openxmlformats.org/drawingml/2006/main">
            <a:r>
              <a:t>src/shoplens/studio_ui.py</a:t>
            </a:r>
          </a:p>
          <a:p xmlns:a="http://schemas.openxmlformats.org/drawingml/2006/main">
            <a:r>
              <a:t>src/shoplens/studio_encoders.py</a:t>
            </a:r>
          </a:p>
          <a:p xmlns:a="http://schemas.openxmlformats.org/drawingml/2006/main">
            <a:r>
              <a:t>src/shoplens/studio_models.py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Experiment gallery displays the two recorded adaptation-epoch validation results for each arm. In Sports seed forty-four, all three models select epoch one. The rings mark those choices. Lines connect actual saved observations and do not show unrecorded optimization steps. Test results never choose the epoch.</a:t>
            </a:r>
          </a:p>
          <a:p xmlns:a="http://schemas.openxmlformats.org/drawingml/2006/main">
            <a:r>
              <a:t/>
            </a:r>
          </a:p>
          <a:p xmlns:a="http://schemas.openxmlformats.org/drawingml/2006/main">
            <a:r>
              <a:t>Discussion notes</a:t>
            </a:r>
          </a:p>
          <a:p xmlns:a="http://schemas.openxmlformats.org/drawingml/2006/main">
            <a:r>
              <a:t>Actual validation NDCG@10: Frozen epoch1 0.01039775584130691, epoch2 0.00887591995099229. Semantic epoch1 0.008968238048314637, epoch2 0.008466524502734576. Preference epoch1 0.010366837105701692, epoch2 0.008324549533718625. All select epoch1. Across the formal study, full-catalogue validation selects epoch1 or2. Frozen keeps its text encoder fixed while its recommendation head still trains. This Sports seed44 example differs from Studio’s selected seed42 serving models. dist/experiment-gallery is an optional separately generated or downloaded offline export folder, not a claim that generated files belong to the Git source tree.</a:t>
            </a:r>
          </a:p>
          <a:p xmlns:a="http://schemas.openxmlformats.org/drawingml/2006/main">
            <a:r>
              <a:t/>
            </a:r>
          </a:p>
          <a:p xmlns:a="http://schemas.openxmlformats.org/drawingml/2006/main">
            <a:r>
              <a:t>Sources</a:t>
            </a:r>
          </a:p>
          <a:p xmlns:a="http://schemas.openxmlformats.org/drawingml/2006/main">
            <a:r>
              <a:t>assets/experiment_training_sports_seed44.png</a:t>
            </a:r>
          </a:p>
          <a:p xmlns:a="http://schemas.openxmlformats.org/drawingml/2006/main">
            <a:r>
              <a:t>src/shoplens/experiment_charts.py</a:t>
            </a:r>
          </a:p>
          <a:p xmlns:a="http://schemas.openxmlformats.org/drawingml/2006/main">
            <a:r>
              <a:t>submission/results_qwen_summary.json</a:t>
            </a:r>
          </a:p>
          <a:p xmlns:a="http://schemas.openxmlformats.org/drawingml/2006/main">
            <a:r>
              <a:t>scripts/export_experiment_gallery.py</a:t>
            </a:r>
          </a:p>
          <a:p xmlns:a="http://schemas.openxmlformats.org/drawingml/2006/main">
            <a:r>
              <a:t>dist/experiment-gallery/training_curves.csv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primary sources establish the data and model methods. The English experiment report and audited summary describe the formal study. Source code exposes the application and gallery calculations. The export script produces a standalone offline gallery with seven interactive figures, the plotted CSV values and structured evidence JSON.</a:t>
            </a:r>
          </a:p>
          <a:p xmlns:a="http://schemas.openxmlformats.org/drawingml/2006/main">
            <a:r>
              <a:t/>
            </a:r>
          </a:p>
          <a:p xmlns:a="http://schemas.openxmlformats.org/drawingml/2006/main">
            <a:r>
              <a:t>Discussion notes</a:t>
            </a:r>
          </a:p>
          <a:p xmlns:a="http://schemas.openxmlformats.org/drawingml/2006/main">
            <a:r>
              <a:t>Resolve src/..., scripts/..., submission/..., data/..., artifacts/... and dist/... from the repository root. Resolve assets/... relative to submission/. Runtime data and model artifacts require a separate runtime installation. The optional dist/experiment-gallery folder is generated by the export script or supplied as a separate offline export package. Its seven figures are four performance metrics, the paired seed matrix, paired effect summary and validation dynamics. The HTML embeds Plotly locally. This is presentation and export of the existing 27 evaluations, without retraining or new relevance measurements.</a:t>
            </a:r>
          </a:p>
          <a:p xmlns:a="http://schemas.openxmlformats.org/drawingml/2006/main">
            <a:r>
              <a:t/>
            </a:r>
          </a:p>
          <a:p xmlns:a="http://schemas.openxmlformats.org/drawingml/2006/main">
            <a:r>
              <a:t>Sources</a:t>
            </a:r>
          </a:p>
          <a:p xmlns:a="http://schemas.openxmlformats.org/drawingml/2006/main">
            <a:r>
              <a:t>https://mcauleylab.ucsd.edu/public_datasets/data/amazon/datasets.html</a:t>
            </a:r>
          </a:p>
          <a:p xmlns:a="http://schemas.openxmlformats.org/drawingml/2006/main">
            <a:r>
              <a:t>https://huggingface.co/Qwen/Qwen3-Embedding-0.6B/tree/97b0c614be4d77ee51c0cef4e5f07c00f9eb65b3</a:t>
            </a:r>
          </a:p>
          <a:p xmlns:a="http://schemas.openxmlformats.org/drawingml/2006/main">
            <a:r>
              <a:t>https://arxiv.org/abs/2106.09685</a:t>
            </a:r>
          </a:p>
          <a:p xmlns:a="http://schemas.openxmlformats.org/drawingml/2006/main">
            <a:r>
              <a:t>https://proceedings.mlr.press/v139/radford21a.html</a:t>
            </a:r>
          </a:p>
          <a:p xmlns:a="http://schemas.openxmlformats.org/drawingml/2006/main">
            <a:r>
              <a:t>https://arxiv.org/abs/1205.2618</a:t>
            </a:r>
          </a:p>
          <a:p xmlns:a="http://schemas.openxmlformats.org/drawingml/2006/main">
            <a:r>
              <a:t>submission/ShopLens_Qwen_report_en.md</a:t>
            </a:r>
          </a:p>
          <a:p xmlns:a="http://schemas.openxmlformats.org/drawingml/2006/main">
            <a:r>
              <a:t>submission/results_qwen_summary.json</a:t>
            </a:r>
          </a:p>
          <a:p xmlns:a="http://schemas.openxmlformats.org/drawingml/2006/main">
            <a:r>
              <a:t>src/shoplens/experiment_data.py</a:t>
            </a:r>
          </a:p>
          <a:p xmlns:a="http://schemas.openxmlformats.org/drawingml/2006/main">
            <a:r>
              <a:t>src/shoplens/experiment_charts.py</a:t>
            </a:r>
          </a:p>
          <a:p xmlns:a="http://schemas.openxmlformats.org/drawingml/2006/main">
            <a:r>
              <a:t>scripts/export_experiment_gallery.py</a:t>
            </a:r>
          </a:p>
          <a:p xmlns:a="http://schemas.openxmlformats.org/drawingml/2006/main">
            <a:r>
              <a:t>dist/experiment-gallery/index.html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8a7f051ff949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c9434827f146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24917a630641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a9e07fe58741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14bcfc8bb84a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9b1f3b4da746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48ECD0-A4D7-4DD3-89BF-40071956BA3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DE7CF3F-0AD1-43A6-8399-E6791FAA13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032540-E5AA-4EC1-A78E-4B768849DBE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6B5DE1-C0D0-4B6D-9E8A-C365342706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F7E264-986A-4980-BEF2-7293FAFF94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E07E6F-00D9-40E6-9ECD-E1E3F4EFA9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93756C-244B-4F8A-91F1-5A7706FE2A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1516230-6C9D-4E76-8276-A1EFDD81F25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FD5B6C-D9AB-4705-B4AB-57A498CB1E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88A69F-73A5-4A73-B17E-6D250B68F3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280b775c7e402e" /><Relationship Type="http://schemas.openxmlformats.org/officeDocument/2006/relationships/slideLayout" Target="/ppt/slideLayouts/slideLayout1.xml" Id="R026c77d6f67b4d33" /><Relationship Type="http://schemas.openxmlformats.org/officeDocument/2006/relationships/slideLayout" Target="/ppt/slideLayouts/slideLayout2.xml" Id="R6fffd011119d4441" /><Relationship Type="http://schemas.openxmlformats.org/officeDocument/2006/relationships/slideLayout" Target="/ppt/slideLayouts/slideLayout3.xml" Id="R5a2a484315354c7f" /><Relationship Type="http://schemas.openxmlformats.org/officeDocument/2006/relationships/slideLayout" Target="/ppt/slideLayouts/slideLayout4.xml" Id="R13646d388d524504" /><Relationship Type="http://schemas.openxmlformats.org/officeDocument/2006/relationships/slideLayout" Target="/ppt/slideLayouts/slideLayout5.xml" Id="R6733c2a6958f43e1" /><Relationship Type="http://schemas.openxmlformats.org/officeDocument/2006/relationships/slideLayout" Target="/ppt/slideLayouts/slideLayout6.xml" Id="R4d99b7ae89794c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6c77d6f67b4d33"/>
    <p:sldLayoutId xmlns:r="http://schemas.openxmlformats.org/officeDocument/2006/relationships" id="2147483650" r:id="R6fffd011119d4441"/>
    <p:sldLayoutId xmlns:r="http://schemas.openxmlformats.org/officeDocument/2006/relationships" id="2147483651" r:id="R5a2a484315354c7f"/>
    <p:sldLayoutId xmlns:r="http://schemas.openxmlformats.org/officeDocument/2006/relationships" id="2147483652" r:id="R13646d388d524504"/>
    <p:sldLayoutId xmlns:r="http://schemas.openxmlformats.org/officeDocument/2006/relationships" id="2147483653" r:id="R6733c2a6958f43e1"/>
    <p:sldLayoutId xmlns:r="http://schemas.openxmlformats.org/officeDocument/2006/relationships" id="2147483654" r:id="R4d99b7ae89794c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cb505ffa744189" /><Relationship Type="http://schemas.openxmlformats.org/officeDocument/2006/relationships/notesSlide" Target="/ppt/notesSlides/notesSlide1.xml" Id="R5e5adda574c746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547e5432834f5d" /><Relationship Type="http://schemas.openxmlformats.org/officeDocument/2006/relationships/notesSlide" Target="/ppt/notesSlides/notesSlide2.xml" Id="Rf3a3ce4aae514f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605418a2b9466d" /><Relationship Type="http://schemas.openxmlformats.org/officeDocument/2006/relationships/notesSlide" Target="/ppt/notesSlides/notesSlide3.xml" Id="Ra7ddd48e5e7a49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206048482f04f5a" /><Relationship Type="http://schemas.openxmlformats.org/officeDocument/2006/relationships/notesSlide" Target="/ppt/notesSlides/notesSlide4.xml" Id="Rbcf9243f4f954a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d6423fcb554756" /><Relationship Type="http://schemas.openxmlformats.org/officeDocument/2006/relationships/notesSlide" Target="/ppt/notesSlides/notesSlide5.xml" Id="R93eb73d9a5a649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62e8ce33424d0d" /><Relationship Type="http://schemas.openxmlformats.org/officeDocument/2006/relationships/chart" Target="/ppt/slides/charts/chart1.xml" Id="Refcced936e3d4ff3" /><Relationship Type="http://schemas.openxmlformats.org/officeDocument/2006/relationships/notesSlide" Target="/ppt/notesSlides/notesSlide6.xml" Id="Rb5533db75c434f19" /></Relationships>
</file>

<file path=ppt/slides/_rels/slide7.xml.rels><?xml version='1.0' encoding='utf-8'?>
<Relationships xmlns="http://schemas.openxmlformats.org/package/2006/relationships"><Relationship Type="http://schemas.openxmlformats.org/officeDocument/2006/relationships/slideLayout" Target="/ppt/slideLayouts/slideLayout6.xml" Id="R47b523dbfcc04f8e" /><Relationship Type="http://schemas.openxmlformats.org/officeDocument/2006/relationships/image" Target="../media/showcase-slide-07.jpeg" Id="Ra7b4c9cee9d64b37" /><Relationship Type="http://schemas.openxmlformats.org/officeDocument/2006/relationships/notesSlide" Target="/ppt/notesSlides/notesSlide7.xml" Id="Rc6babdab1bd148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d26de2f97344c05" /><Relationship Type="http://schemas.openxmlformats.org/officeDocument/2006/relationships/image" Target="/ppt/media/image2.jpeg" Id="R55b8df90b9324f04" /><Relationship Type="http://schemas.openxmlformats.org/officeDocument/2006/relationships/notesSlide" Target="/ppt/notesSlides/notesSlide8.xml" Id="R084a0e7d78d147e1" /></Relationships>
</file>

<file path=ppt/slides/_rels/slide9.xml.rels><?xml version='1.0' encoding='utf-8'?>
<Relationships xmlns="http://schemas.openxmlformats.org/package/2006/relationships"><Relationship Type="http://schemas.openxmlformats.org/officeDocument/2006/relationships/slideLayout" Target="/ppt/slideLayouts/slideLayout6.xml" Id="Rc71d400197a644cb" /><Relationship Type="http://schemas.openxmlformats.org/officeDocument/2006/relationships/image" Target="../media/showcase-slide-09.jpeg" Id="Rf2070ad7ae6644be" /><Relationship Type="http://schemas.openxmlformats.org/officeDocument/2006/relationships/notesSlide" Target="/ppt/notesSlides/notesSlide9.xml" Id="R00dcf546dfba40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d88ef0608444d6e" /><Relationship Type="http://schemas.openxmlformats.org/officeDocument/2006/relationships/image" Target="/ppt/media/image4.jpeg" Id="R0352df0bf5b443a0" /><Relationship Type="http://schemas.openxmlformats.org/officeDocument/2006/relationships/notesSlide" Target="/ppt/notesSlides/notesSlide10.xml" Id="Re1fca14940704e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8c4a7fb619149a2" /><Relationship Type="http://schemas.openxmlformats.org/officeDocument/2006/relationships/image" Target="/ppt/media/image5.jpeg" Id="Rcacd0b6798a6423a" /><Relationship Type="http://schemas.openxmlformats.org/officeDocument/2006/relationships/notesSlide" Target="/ppt/notesSlides/notesSlide11.xml" Id="Rb29f62fc64fb45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ea5366c427a467d" /><Relationship Type="http://schemas.openxmlformats.org/officeDocument/2006/relationships/image" Target="/ppt/media/image6.jpeg" Id="R5b4e0f588d4d407f" /><Relationship Type="http://schemas.openxmlformats.org/officeDocument/2006/relationships/notesSlide" Target="/ppt/notesSlides/notesSlide12.xml" Id="R4e3515c4db824e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aefe8847f1346d2" /><Relationship Type="http://schemas.openxmlformats.org/officeDocument/2006/relationships/image" Target="/ppt/media/image7.jpeg" Id="R63e1c46883b949c3" /><Relationship Type="http://schemas.openxmlformats.org/officeDocument/2006/relationships/notesSlide" Target="/ppt/notesSlides/notesSlide13.xml" Id="R63079bddb68747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237b8d9f0a14ab3" /><Relationship Type="http://schemas.openxmlformats.org/officeDocument/2006/relationships/image" Target="/ppt/media/image8.jpeg" Id="R72e80405d7e6456b" /><Relationship Type="http://schemas.openxmlformats.org/officeDocument/2006/relationships/notesSlide" Target="/ppt/notesSlides/notesSlide14.xml" Id="Rc6978f3c246e4a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013ec551d440a3" /><Relationship Type="http://schemas.openxmlformats.org/officeDocument/2006/relationships/image" Target="/ppt/media/image9.jpeg" Id="R21b9058f6d794abf" /><Relationship Type="http://schemas.openxmlformats.org/officeDocument/2006/relationships/notesSlide" Target="/ppt/notesSlides/notesSlide15.xml" Id="Rc5a6a0ed65c9480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f0e48a798e84762" /><Relationship Type="http://schemas.openxmlformats.org/officeDocument/2006/relationships/image" Target="/ppt/media/image10.jpeg" Id="Rd08e2d9bfbc34019" /><Relationship Type="http://schemas.openxmlformats.org/officeDocument/2006/relationships/notesSlide" Target="/ppt/notesSlides/notesSlide16.xml" Id="Red2915a4431c49e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4efc058c502424a" /><Relationship Type="http://schemas.openxmlformats.org/officeDocument/2006/relationships/image" Target="/ppt/media/image11.jpeg" Id="R58eff986c72f472c" /><Relationship Type="http://schemas.openxmlformats.org/officeDocument/2006/relationships/notesSlide" Target="/ppt/notesSlides/notesSlide17.xml" Id="R209c564ffab2493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573dd22f07d424b" /><Relationship Type="http://schemas.openxmlformats.org/officeDocument/2006/relationships/notesSlide" Target="/ppt/notesSlides/notesSlide18.xml" Id="R9ad3e5c09a2946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69a3ff1274b42fb" /><Relationship Type="http://schemas.openxmlformats.org/officeDocument/2006/relationships/notesSlide" Target="/ppt/notesSlides/notesSlide19.xml" Id="R19ae69e313dc460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9a725e702cd41cc" /><Relationship Type="http://schemas.openxmlformats.org/officeDocument/2006/relationships/chart" Target="/ppt/slides/charts/chart2.xml" Id="Rd7b74bba829a4861" /><Relationship Type="http://schemas.openxmlformats.org/officeDocument/2006/relationships/notesSlide" Target="/ppt/notesSlides/notesSlide20.xml" Id="R71479a2005e047e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909a7739b0e4434" /><Relationship Type="http://schemas.openxmlformats.org/officeDocument/2006/relationships/notesSlide" Target="/ppt/notesSlides/notesSlide21.xml" Id="R16f034a6d4b34f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04b2301d27c4b44" /><Relationship Type="http://schemas.openxmlformats.org/officeDocument/2006/relationships/image" Target="/ppt/media/image12.jpeg" Id="R76af7bc233434b67" /><Relationship Type="http://schemas.openxmlformats.org/officeDocument/2006/relationships/notesSlide" Target="/ppt/notesSlides/notesSlide22.xml" Id="R45656f0e22024cd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e97c1c5b7c74df8" /><Relationship Type="http://schemas.openxmlformats.org/officeDocument/2006/relationships/image" Target="/ppt/media/image13.jpeg" Id="R87fc7596b0224029" /><Relationship Type="http://schemas.openxmlformats.org/officeDocument/2006/relationships/notesSlide" Target="/ppt/notesSlides/notesSlide23.xml" Id="Rab57537587d241df" /></Relationships>
</file>

<file path=ppt/slides/_rels/slide24.xml.rels><?xml version='1.0' encoding='utf-8'?>
<Relationships xmlns="http://schemas.openxmlformats.org/package/2006/relationships"><Relationship Type="http://schemas.openxmlformats.org/officeDocument/2006/relationships/slideLayout" Target="/ppt/slideLayouts/slideLayout6.xml" Id="R1e8e69e6d5934825" /><Relationship Type="http://schemas.openxmlformats.org/officeDocument/2006/relationships/image" Target="../media/image3.jpeg" Id="Rab5ede6cc47f4092" /><Relationship Type="http://schemas.openxmlformats.org/officeDocument/2006/relationships/notesSlide" Target="/ppt/notesSlides/notesSlide24.xml" Id="Rb0dabe086dae4a2e" /></Relationships>
</file>

<file path=ppt/slides/_rels/slide25.xml.rels><?xml version='1.0' encoding='utf-8'?>
<Relationships xmlns="http://schemas.openxmlformats.org/package/2006/relationships"><Relationship Type="http://schemas.openxmlformats.org/officeDocument/2006/relationships/slideLayout" Target="/ppt/slideLayouts/slideLayout6.xml" Id="Rc2a092aa92004bbc" /><Relationship Type="http://schemas.openxmlformats.org/officeDocument/2006/relationships/image" Target="../media/showcase-slide-25.jpeg" Id="R70a7acd6c90b4041" /><Relationship Type="http://schemas.openxmlformats.org/officeDocument/2006/relationships/notesSlide" Target="/ppt/notesSlides/notesSlide25.xml" Id="Rce0c9be7cd824b7f" /></Relationships>
</file>

<file path=ppt/slides/_rels/slide26.xml.rels><?xml version='1.0' encoding='utf-8'?>
<Relationships xmlns="http://schemas.openxmlformats.org/package/2006/relationships"><Relationship Type="http://schemas.openxmlformats.org/officeDocument/2006/relationships/slideLayout" Target="/ppt/slideLayouts/slideLayout6.xml" Id="R75b567a23fe04d7a" /><Relationship Type="http://schemas.openxmlformats.org/officeDocument/2006/relationships/notesSlide" Target="/ppt/notesSlides/notesSlide26.xml" Id="R496c084c8f404e8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Frozen</c:v>
          </c:tx>
          <c:spPr>
            <a:solidFill xmlns:a="http://schemas.openxmlformats.org/drawingml/2006/main">
              <a:srgbClr val="546982"/>
            </a:solidFill>
          </c:spPr>
          <c:invertIfNegative val="0"/>
          <c:cat>
            <c:strRef>
              <c:f>'Chart Data'!$A$2:$A$4</c:f>
              <c:strCache>
                <c:ptCount val="3"/>
                <c:pt idx="0">
                  <c:v>Baby</c:v>
                </c:pt>
                <c:pt idx="1">
                  <c:v>Sports</c:v>
                </c:pt>
                <c:pt idx="2">
                  <c:v>Clothing</c:v>
                </c:pt>
              </c:strCache>
            </c:strRef>
          </c:cat>
          <c:val>
            <c:numRef>
              <c:f>'Chart Data'!$B$2:$B$4</c:f>
              <c:numCache>
                <c:formatCode>0.000</c:formatCode>
                <c:ptCount val="3"/>
                <c:pt idx="0">
                  <c:v>0.0127964302</c:v>
                </c:pt>
                <c:pt idx="1">
                  <c:v>0.0071156648</c:v>
                </c:pt>
                <c:pt idx="2">
                  <c:v>0.0051863724</c:v>
                </c:pt>
              </c:numCache>
            </c:numRef>
          </c:val>
        </c:ser>
        <c:ser>
          <c:idx val="1"/>
          <c:order val="1"/>
          <c:tx>
            <c:v>Semantic alignment</c:v>
          </c:tx>
          <c:spPr>
            <a:solidFill xmlns:a="http://schemas.openxmlformats.org/drawingml/2006/main">
              <a:srgbClr val="347CDB"/>
            </a:solidFill>
          </c:spPr>
          <c:invertIfNegative val="0"/>
          <c:cat>
            <c:strRef>
              <c:f>'Chart Data'!$C$2:$C$4</c:f>
              <c:strCache>
                <c:ptCount val="3"/>
                <c:pt idx="0">
                  <c:v>Baby</c:v>
                </c:pt>
                <c:pt idx="1">
                  <c:v>Sports</c:v>
                </c:pt>
                <c:pt idx="2">
                  <c:v>Clothing</c:v>
                </c:pt>
              </c:strCache>
            </c:strRef>
          </c:cat>
          <c:val>
            <c:numRef>
              <c:f>'Chart Data'!$D$2:$D$4</c:f>
              <c:numCache>
                <c:formatCode>0.000</c:formatCode>
                <c:ptCount val="3"/>
                <c:pt idx="0">
                  <c:v>0.0099300728</c:v>
                </c:pt>
                <c:pt idx="1">
                  <c:v>0.0068715516</c:v>
                </c:pt>
                <c:pt idx="2">
                  <c:v>0.0044603394</c:v>
                </c:pt>
              </c:numCache>
            </c:numRef>
          </c:val>
        </c:ser>
        <c:ser>
          <c:idx val="2"/>
          <c:order val="2"/>
          <c:tx>
            <c:v>User preference</c:v>
          </c:tx>
          <c:spPr>
            <a:solidFill xmlns:a="http://schemas.openxmlformats.org/drawingml/2006/main">
              <a:srgbClr val="1A967B"/>
            </a:solidFill>
          </c:spPr>
          <c:invertIfNegative val="0"/>
          <c:cat>
            <c:strRef>
              <c:f>'Chart Data'!$E$2:$E$4</c:f>
              <c:strCache>
                <c:ptCount val="3"/>
                <c:pt idx="0">
                  <c:v>Baby</c:v>
                </c:pt>
                <c:pt idx="1">
                  <c:v>Sports</c:v>
                </c:pt>
                <c:pt idx="2">
                  <c:v>Clothing</c:v>
                </c:pt>
              </c:strCache>
            </c:strRef>
          </c:cat>
          <c:val>
            <c:numRef>
              <c:f>'Chart Data'!$F$2:$F$4</c:f>
              <c:numCache>
                <c:formatCode>0.000</c:formatCode>
                <c:ptCount val="3"/>
                <c:pt idx="0">
                  <c:v>0.0124748482</c:v>
                </c:pt>
                <c:pt idx="1">
                  <c:v>0.0070393446</c:v>
                </c:pt>
                <c:pt idx="2">
                  <c:v>0.0051244196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7243C"/>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DCE5E8"/>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C7C"/>
                </a:solidFill>
                <a:latin typeface="Helvetica Neue"/>
                <a:ea typeface="Helvetica Neue"/>
                <a:cs typeface="Helvetica Neue"/>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Frozen</c:v>
          </c:tx>
          <c:spPr>
            <a:solidFill xmlns:a="http://schemas.openxmlformats.org/drawingml/2006/main">
              <a:srgbClr val="546982"/>
            </a:solidFill>
          </c:spPr>
          <c:invertIfNegative val="0"/>
          <c:cat>
            <c:strRef>
              <c:f>'Chart Data'!$A$2:$A$4</c:f>
              <c:strCache>
                <c:ptCount val="3"/>
                <c:pt idx="0">
                  <c:v>Baby</c:v>
                </c:pt>
                <c:pt idx="1">
                  <c:v>Sports</c:v>
                </c:pt>
                <c:pt idx="2">
                  <c:v>Clothing</c:v>
                </c:pt>
              </c:strCache>
            </c:strRef>
          </c:cat>
          <c:val>
            <c:numRef>
              <c:f>'Chart Data'!$B$2:$B$4</c:f>
              <c:numCache>
                <c:formatCode>0.00000</c:formatCode>
                <c:ptCount val="3"/>
                <c:pt idx="0">
                  <c:v>0</c:v>
                </c:pt>
                <c:pt idx="1">
                  <c:v>0.0001612229</c:v>
                </c:pt>
                <c:pt idx="2">
                  <c:v>0.0002634379</c:v>
                </c:pt>
              </c:numCache>
            </c:numRef>
          </c:val>
        </c:ser>
        <c:ser>
          <c:idx val="1"/>
          <c:order val="1"/>
          <c:tx>
            <c:v>Semantic alignment</c:v>
          </c:tx>
          <c:spPr>
            <a:solidFill xmlns:a="http://schemas.openxmlformats.org/drawingml/2006/main">
              <a:srgbClr val="347CDB"/>
            </a:solidFill>
          </c:spPr>
          <c:invertIfNegative val="0"/>
          <c:cat>
            <c:strRef>
              <c:f>'Chart Data'!$C$2:$C$4</c:f>
              <c:strCache>
                <c:ptCount val="3"/>
                <c:pt idx="0">
                  <c:v>Baby</c:v>
                </c:pt>
                <c:pt idx="1">
                  <c:v>Sports</c:v>
                </c:pt>
                <c:pt idx="2">
                  <c:v>Clothing</c:v>
                </c:pt>
              </c:strCache>
            </c:strRef>
          </c:cat>
          <c:val>
            <c:numRef>
              <c:f>'Chart Data'!$D$2:$D$4</c:f>
              <c:numCache>
                <c:formatCode>0.00000</c:formatCode>
                <c:ptCount val="3"/>
                <c:pt idx="0">
                  <c:v>0</c:v>
                </c:pt>
                <c:pt idx="1">
                  <c:v>6.23348E-05</c:v>
                </c:pt>
                <c:pt idx="2">
                  <c:v>0.0002552829</c:v>
                </c:pt>
              </c:numCache>
            </c:numRef>
          </c:val>
        </c:ser>
        <c:ser>
          <c:idx val="2"/>
          <c:order val="2"/>
          <c:tx>
            <c:v>User preference</c:v>
          </c:tx>
          <c:spPr>
            <a:solidFill xmlns:a="http://schemas.openxmlformats.org/drawingml/2006/main">
              <a:srgbClr val="1A967B"/>
            </a:solidFill>
          </c:spPr>
          <c:invertIfNegative val="0"/>
          <c:cat>
            <c:strRef>
              <c:f>'Chart Data'!$E$2:$E$4</c:f>
              <c:strCache>
                <c:ptCount val="3"/>
                <c:pt idx="0">
                  <c:v>Baby</c:v>
                </c:pt>
                <c:pt idx="1">
                  <c:v>Sports</c:v>
                </c:pt>
                <c:pt idx="2">
                  <c:v>Clothing</c:v>
                </c:pt>
              </c:strCache>
            </c:strRef>
          </c:cat>
          <c:val>
            <c:numRef>
              <c:f>'Chart Data'!$F$2:$F$4</c:f>
              <c:numCache>
                <c:formatCode>0.00000</c:formatCode>
                <c:ptCount val="3"/>
                <c:pt idx="0">
                  <c:v>0</c:v>
                </c:pt>
                <c:pt idx="1">
                  <c:v>0.0001534777</c:v>
                </c:pt>
                <c:pt idx="2">
                  <c:v>0.0002257925</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7243C"/>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DCE5E8"/>
              </a:solidFill>
            </a:ln>
          </c:spPr>
        </c:majorGridlines>
        <c:numFmt formatCode="0.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C7C"/>
                </a:solidFill>
                <a:latin typeface="Helvetica Neue"/>
                <a:ea typeface="Helvetica Neue"/>
                <a:cs typeface="Helvetica Neue"/>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43C"/>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0CB9E2A7-4DF9-48D4-9213-57ECE68C96E6}"/>
              </a:ext>
            </a:extLst>
          </p:cNvPr>
          <p:cNvSpPr>
            <a:spLocks xmlns:a="http://schemas.openxmlformats.org/drawingml/2006/main" noGrp="1"/>
          </p:cNvSpPr>
          <p:nvPr/>
        </p:nvSpPr>
        <p:spPr>
          <a:xfrm xmlns:a="http://schemas.openxmlformats.org/drawingml/2006/main">
            <a:off x="685800" y="8953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150" b="1">
                <a:solidFill>
                  <a:srgbClr val="FFFFFF"/>
                </a:solidFill>
                <a:latin typeface="Helvetica Neue"/>
                <a:ea typeface="Helvetica Neue"/>
                <a:cs typeface="Helvetica Neue"/>
              </a:defRPr>
            </a:defPPr>
            <a:lvl1pPr>
              <a:defRPr sz="6150" b="1">
                <a:solidFill>
                  <a:srgbClr val="FFFFFF"/>
                </a:solidFill>
                <a:latin typeface="Helvetica Neue"/>
                <a:ea typeface="Helvetica Neue"/>
                <a:cs typeface="Helvetica Neue"/>
              </a:defRPr>
            </a:lvl1pPr>
            <a:lvl2pPr>
              <a:defRPr sz="6150" b="1">
                <a:solidFill>
                  <a:srgbClr val="FFFFFF"/>
                </a:solidFill>
                <a:latin typeface="Helvetica Neue"/>
                <a:ea typeface="Helvetica Neue"/>
                <a:cs typeface="Helvetica Neue"/>
              </a:defRPr>
            </a:lvl2pPr>
            <a:lvl3pPr>
              <a:defRPr sz="6150" b="1">
                <a:solidFill>
                  <a:srgbClr val="FFFFFF"/>
                </a:solidFill>
                <a:latin typeface="Helvetica Neue"/>
                <a:ea typeface="Helvetica Neue"/>
                <a:cs typeface="Helvetica Neue"/>
              </a:defRPr>
            </a:lvl3pPr>
            <a:lvl4pPr>
              <a:defRPr sz="6150" b="1">
                <a:solidFill>
                  <a:srgbClr val="FFFFFF"/>
                </a:solidFill>
                <a:latin typeface="Helvetica Neue"/>
                <a:ea typeface="Helvetica Neue"/>
                <a:cs typeface="Helvetica Neue"/>
              </a:defRPr>
            </a:lvl4pPr>
            <a:lvl5pPr>
              <a:defRPr sz="6150" b="1">
                <a:solidFill>
                  <a:srgbClr val="FFFFFF"/>
                </a:solidFill>
                <a:latin typeface="Helvetica Neue"/>
                <a:ea typeface="Helvetica Neue"/>
                <a:cs typeface="Helvetica Neue"/>
              </a:defRPr>
            </a:lvl5pPr>
            <a:lvl6pPr>
              <a:defRPr sz="6150" b="1">
                <a:solidFill>
                  <a:srgbClr val="FFFFFF"/>
                </a:solidFill>
                <a:latin typeface="Helvetica Neue"/>
                <a:ea typeface="Helvetica Neue"/>
                <a:cs typeface="Helvetica Neue"/>
              </a:defRPr>
            </a:lvl6pPr>
            <a:lvl7pPr>
              <a:defRPr sz="6150" b="1">
                <a:solidFill>
                  <a:srgbClr val="FFFFFF"/>
                </a:solidFill>
                <a:latin typeface="Helvetica Neue"/>
                <a:ea typeface="Helvetica Neue"/>
                <a:cs typeface="Helvetica Neue"/>
              </a:defRPr>
            </a:lvl7pPr>
            <a:lvl8pPr>
              <a:defRPr sz="6150" b="1">
                <a:solidFill>
                  <a:srgbClr val="FFFFFF"/>
                </a:solidFill>
                <a:latin typeface="Helvetica Neue"/>
                <a:ea typeface="Helvetica Neue"/>
                <a:cs typeface="Helvetica Neue"/>
              </a:defRPr>
            </a:lvl8pPr>
            <a:lvl9pPr>
              <a:defRPr sz="6150" b="1">
                <a:solidFill>
                  <a:srgbClr val="FFFFFF"/>
                </a:solidFill>
                <a:latin typeface="Helvetica Neue"/>
                <a:ea typeface="Helvetica Neue"/>
                <a:cs typeface="Helvetica Neue"/>
              </a:defRPr>
            </a:lvl9pPr>
          </a:lstStyle>
          <a:p xmlns:a="http://schemas.openxmlformats.org/drawingml/2006/main">
            <a:pPr>
              <a:defRPr sz="6150" b="1">
                <a:solidFill>
                  <a:srgbClr val="FFFFFF"/>
                </a:solidFill>
                <a:latin typeface="Helvetica Neue"/>
                <a:ea typeface="Helvetica Neue"/>
                <a:cs typeface="Helvetica Neue"/>
              </a:defRPr>
            </a:pPr>
            <a:r>
              <a:rPr sz="6150" b="1">
                <a:solidFill>
                  <a:srgbClr val="FFFFFF"/>
                </a:solidFill>
                <a:latin typeface="Helvetica Neue"/>
                <a:ea typeface="Helvetica Neue"/>
                <a:cs typeface="Helvetica Neue"/>
              </a:rPr>
              <a:t>ShopLens</a:t>
            </a:r>
          </a:p>
        </p:txBody>
      </p:sp>
      <p:sp>
        <p:nvSpPr>
          <p:cNvPr id="2" name="text-2">
            <a:extLst xmlns:a="http://schemas.openxmlformats.org/drawingml/2006/main">
              <a:ext uri="{FF2B5EF4-FFF2-40B4-BE49-F238E27FC236}">
                <a16:creationId xmlns:a16="http://schemas.microsoft.com/office/drawing/2014/main" id="{AED3676D-FFC8-4A6B-AB79-FA516C5EDB4D}"/>
              </a:ext>
            </a:extLst>
          </p:cNvPr>
          <p:cNvSpPr>
            <a:spLocks xmlns:a="http://schemas.openxmlformats.org/drawingml/2006/main" noGrp="1"/>
          </p:cNvSpPr>
          <p:nvPr/>
        </p:nvSpPr>
        <p:spPr>
          <a:xfrm xmlns:a="http://schemas.openxmlformats.org/drawingml/2006/main">
            <a:off x="704850" y="246697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0">
                <a:solidFill>
                  <a:srgbClr val="FFFFFF"/>
                </a:solidFill>
                <a:latin typeface="Helvetica Neue"/>
                <a:ea typeface="Helvetica Neue"/>
                <a:cs typeface="Helvetica Neue"/>
              </a:defRPr>
            </a:defPPr>
            <a:lvl1pPr>
              <a:defRPr sz="3675" b="0">
                <a:solidFill>
                  <a:srgbClr val="FFFFFF"/>
                </a:solidFill>
                <a:latin typeface="Helvetica Neue"/>
                <a:ea typeface="Helvetica Neue"/>
                <a:cs typeface="Helvetica Neue"/>
              </a:defRPr>
            </a:lvl1pPr>
            <a:lvl2pPr>
              <a:defRPr sz="3675" b="0">
                <a:solidFill>
                  <a:srgbClr val="FFFFFF"/>
                </a:solidFill>
                <a:latin typeface="Helvetica Neue"/>
                <a:ea typeface="Helvetica Neue"/>
                <a:cs typeface="Helvetica Neue"/>
              </a:defRPr>
            </a:lvl2pPr>
            <a:lvl3pPr>
              <a:defRPr sz="3675" b="0">
                <a:solidFill>
                  <a:srgbClr val="FFFFFF"/>
                </a:solidFill>
                <a:latin typeface="Helvetica Neue"/>
                <a:ea typeface="Helvetica Neue"/>
                <a:cs typeface="Helvetica Neue"/>
              </a:defRPr>
            </a:lvl3pPr>
            <a:lvl4pPr>
              <a:defRPr sz="3675" b="0">
                <a:solidFill>
                  <a:srgbClr val="FFFFFF"/>
                </a:solidFill>
                <a:latin typeface="Helvetica Neue"/>
                <a:ea typeface="Helvetica Neue"/>
                <a:cs typeface="Helvetica Neue"/>
              </a:defRPr>
            </a:lvl4pPr>
            <a:lvl5pPr>
              <a:defRPr sz="3675" b="0">
                <a:solidFill>
                  <a:srgbClr val="FFFFFF"/>
                </a:solidFill>
                <a:latin typeface="Helvetica Neue"/>
                <a:ea typeface="Helvetica Neue"/>
                <a:cs typeface="Helvetica Neue"/>
              </a:defRPr>
            </a:lvl5pPr>
            <a:lvl6pPr>
              <a:defRPr sz="3675" b="0">
                <a:solidFill>
                  <a:srgbClr val="FFFFFF"/>
                </a:solidFill>
                <a:latin typeface="Helvetica Neue"/>
                <a:ea typeface="Helvetica Neue"/>
                <a:cs typeface="Helvetica Neue"/>
              </a:defRPr>
            </a:lvl6pPr>
            <a:lvl7pPr>
              <a:defRPr sz="3675" b="0">
                <a:solidFill>
                  <a:srgbClr val="FFFFFF"/>
                </a:solidFill>
                <a:latin typeface="Helvetica Neue"/>
                <a:ea typeface="Helvetica Neue"/>
                <a:cs typeface="Helvetica Neue"/>
              </a:defRPr>
            </a:lvl7pPr>
            <a:lvl8pPr>
              <a:defRPr sz="3675" b="0">
                <a:solidFill>
                  <a:srgbClr val="FFFFFF"/>
                </a:solidFill>
                <a:latin typeface="Helvetica Neue"/>
                <a:ea typeface="Helvetica Neue"/>
                <a:cs typeface="Helvetica Neue"/>
              </a:defRPr>
            </a:lvl8pPr>
            <a:lvl9pPr>
              <a:defRPr sz="3675" b="0">
                <a:solidFill>
                  <a:srgbClr val="FFFFFF"/>
                </a:solidFill>
                <a:latin typeface="Helvetica Neue"/>
                <a:ea typeface="Helvetica Neue"/>
                <a:cs typeface="Helvetica Neue"/>
              </a:defRPr>
            </a:lvl9pPr>
          </a:lstStyle>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Language adaptation for</a:t>
            </a:r>
          </a:p>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multimodal recommendation</a:t>
            </a:r>
          </a:p>
        </p:txBody>
      </p:sp>
      <p:sp>
        <p:nvSpPr>
          <p:cNvPr id="3" name="text-3">
            <a:extLst xmlns:a="http://schemas.openxmlformats.org/drawingml/2006/main">
              <a:ext uri="{FF2B5EF4-FFF2-40B4-BE49-F238E27FC236}">
                <a16:creationId xmlns:a16="http://schemas.microsoft.com/office/drawing/2014/main" id="{11AEA620-EADF-4DA0-A447-6C31D39EDAE9}"/>
              </a:ext>
            </a:extLst>
          </p:cNvPr>
          <p:cNvSpPr>
            <a:spLocks xmlns:a="http://schemas.openxmlformats.org/drawingml/2006/main" noGrp="1"/>
          </p:cNvSpPr>
          <p:nvPr/>
        </p:nvSpPr>
        <p:spPr>
          <a:xfrm xmlns:a="http://schemas.openxmlformats.org/drawingml/2006/main">
            <a:off x="723900" y="47244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A4E0D9"/>
                </a:solidFill>
                <a:latin typeface="Helvetica Neue"/>
                <a:ea typeface="Helvetica Neue"/>
                <a:cs typeface="Helvetica Neue"/>
              </a:defRPr>
            </a:defPPr>
            <a:lvl1pPr>
              <a:defRPr sz="2250" b="0">
                <a:solidFill>
                  <a:srgbClr val="A4E0D9"/>
                </a:solidFill>
                <a:latin typeface="Helvetica Neue"/>
                <a:ea typeface="Helvetica Neue"/>
                <a:cs typeface="Helvetica Neue"/>
              </a:defRPr>
            </a:lvl1pPr>
            <a:lvl2pPr>
              <a:defRPr sz="2250" b="0">
                <a:solidFill>
                  <a:srgbClr val="A4E0D9"/>
                </a:solidFill>
                <a:latin typeface="Helvetica Neue"/>
                <a:ea typeface="Helvetica Neue"/>
                <a:cs typeface="Helvetica Neue"/>
              </a:defRPr>
            </a:lvl2pPr>
            <a:lvl3pPr>
              <a:defRPr sz="2250" b="0">
                <a:solidFill>
                  <a:srgbClr val="A4E0D9"/>
                </a:solidFill>
                <a:latin typeface="Helvetica Neue"/>
                <a:ea typeface="Helvetica Neue"/>
                <a:cs typeface="Helvetica Neue"/>
              </a:defRPr>
            </a:lvl3pPr>
            <a:lvl4pPr>
              <a:defRPr sz="2250" b="0">
                <a:solidFill>
                  <a:srgbClr val="A4E0D9"/>
                </a:solidFill>
                <a:latin typeface="Helvetica Neue"/>
                <a:ea typeface="Helvetica Neue"/>
                <a:cs typeface="Helvetica Neue"/>
              </a:defRPr>
            </a:lvl4pPr>
            <a:lvl5pPr>
              <a:defRPr sz="2250" b="0">
                <a:solidFill>
                  <a:srgbClr val="A4E0D9"/>
                </a:solidFill>
                <a:latin typeface="Helvetica Neue"/>
                <a:ea typeface="Helvetica Neue"/>
                <a:cs typeface="Helvetica Neue"/>
              </a:defRPr>
            </a:lvl5pPr>
            <a:lvl6pPr>
              <a:defRPr sz="2250" b="0">
                <a:solidFill>
                  <a:srgbClr val="A4E0D9"/>
                </a:solidFill>
                <a:latin typeface="Helvetica Neue"/>
                <a:ea typeface="Helvetica Neue"/>
                <a:cs typeface="Helvetica Neue"/>
              </a:defRPr>
            </a:lvl6pPr>
            <a:lvl7pPr>
              <a:defRPr sz="2250" b="0">
                <a:solidFill>
                  <a:srgbClr val="A4E0D9"/>
                </a:solidFill>
                <a:latin typeface="Helvetica Neue"/>
                <a:ea typeface="Helvetica Neue"/>
                <a:cs typeface="Helvetica Neue"/>
              </a:defRPr>
            </a:lvl7pPr>
            <a:lvl8pPr>
              <a:defRPr sz="2250" b="0">
                <a:solidFill>
                  <a:srgbClr val="A4E0D9"/>
                </a:solidFill>
                <a:latin typeface="Helvetica Neue"/>
                <a:ea typeface="Helvetica Neue"/>
                <a:cs typeface="Helvetica Neue"/>
              </a:defRPr>
            </a:lvl8pPr>
            <a:lvl9pPr>
              <a:defRPr sz="2250" b="0">
                <a:solidFill>
                  <a:srgbClr val="A4E0D9"/>
                </a:solidFill>
                <a:latin typeface="Helvetica Neue"/>
                <a:ea typeface="Helvetica Neue"/>
                <a:cs typeface="Helvetica Neue"/>
              </a:defRPr>
            </a:lvl9pPr>
          </a:lstStyle>
          <a:p xmlns:a="http://schemas.openxmlformats.org/drawingml/2006/main">
            <a:pPr>
              <a:defRPr sz="2250" b="0">
                <a:solidFill>
                  <a:srgbClr val="A4E0D9"/>
                </a:solidFill>
                <a:latin typeface="Helvetica Neue"/>
                <a:ea typeface="Helvetica Neue"/>
                <a:cs typeface="Helvetica Neue"/>
              </a:defRPr>
            </a:pPr>
            <a:r>
              <a:rPr sz="2250" b="0">
                <a:solidFill>
                  <a:srgbClr val="A4E0D9"/>
                </a:solidFill>
                <a:latin typeface="Helvetica Neue"/>
                <a:ea typeface="Helvetica Neue"/>
                <a:cs typeface="Helvetica Neue"/>
              </a:rPr>
              <a:t>Qwen3-Embedding-0.6B with LoRA</a:t>
            </a:r>
          </a:p>
        </p:txBody>
      </p:sp>
      <p:sp>
        <p:nvSpPr>
          <p:cNvPr id="4" name="text-4">
            <a:extLst xmlns:a="http://schemas.openxmlformats.org/drawingml/2006/main">
              <a:ext uri="{FF2B5EF4-FFF2-40B4-BE49-F238E27FC236}">
                <a16:creationId xmlns:a16="http://schemas.microsoft.com/office/drawing/2014/main" id="{46D0C880-5367-42C9-B2CE-63AEC82AB452}"/>
              </a:ext>
            </a:extLst>
          </p:cNvPr>
          <p:cNvSpPr>
            <a:spLocks xmlns:a="http://schemas.openxmlformats.org/drawingml/2006/main" noGrp="1"/>
          </p:cNvSpPr>
          <p:nvPr/>
        </p:nvSpPr>
        <p:spPr>
          <a:xfrm xmlns:a="http://schemas.openxmlformats.org/drawingml/2006/main">
            <a:off x="723900" y="5724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CBD9E1"/>
                </a:solidFill>
                <a:latin typeface="Helvetica Neue"/>
                <a:ea typeface="Helvetica Neue"/>
                <a:cs typeface="Helvetica Neue"/>
              </a:defRPr>
            </a:defPPr>
            <a:lvl1pPr>
              <a:defRPr sz="1800" b="0">
                <a:solidFill>
                  <a:srgbClr val="CBD9E1"/>
                </a:solidFill>
                <a:latin typeface="Helvetica Neue"/>
                <a:ea typeface="Helvetica Neue"/>
                <a:cs typeface="Helvetica Neue"/>
              </a:defRPr>
            </a:lvl1pPr>
            <a:lvl2pPr>
              <a:defRPr sz="1800" b="0">
                <a:solidFill>
                  <a:srgbClr val="CBD9E1"/>
                </a:solidFill>
                <a:latin typeface="Helvetica Neue"/>
                <a:ea typeface="Helvetica Neue"/>
                <a:cs typeface="Helvetica Neue"/>
              </a:defRPr>
            </a:lvl2pPr>
            <a:lvl3pPr>
              <a:defRPr sz="1800" b="0">
                <a:solidFill>
                  <a:srgbClr val="CBD9E1"/>
                </a:solidFill>
                <a:latin typeface="Helvetica Neue"/>
                <a:ea typeface="Helvetica Neue"/>
                <a:cs typeface="Helvetica Neue"/>
              </a:defRPr>
            </a:lvl3pPr>
            <a:lvl4pPr>
              <a:defRPr sz="1800" b="0">
                <a:solidFill>
                  <a:srgbClr val="CBD9E1"/>
                </a:solidFill>
                <a:latin typeface="Helvetica Neue"/>
                <a:ea typeface="Helvetica Neue"/>
                <a:cs typeface="Helvetica Neue"/>
              </a:defRPr>
            </a:lvl4pPr>
            <a:lvl5pPr>
              <a:defRPr sz="1800" b="0">
                <a:solidFill>
                  <a:srgbClr val="CBD9E1"/>
                </a:solidFill>
                <a:latin typeface="Helvetica Neue"/>
                <a:ea typeface="Helvetica Neue"/>
                <a:cs typeface="Helvetica Neue"/>
              </a:defRPr>
            </a:lvl5pPr>
            <a:lvl6pPr>
              <a:defRPr sz="1800" b="0">
                <a:solidFill>
                  <a:srgbClr val="CBD9E1"/>
                </a:solidFill>
                <a:latin typeface="Helvetica Neue"/>
                <a:ea typeface="Helvetica Neue"/>
                <a:cs typeface="Helvetica Neue"/>
              </a:defRPr>
            </a:lvl6pPr>
            <a:lvl7pPr>
              <a:defRPr sz="1800" b="0">
                <a:solidFill>
                  <a:srgbClr val="CBD9E1"/>
                </a:solidFill>
                <a:latin typeface="Helvetica Neue"/>
                <a:ea typeface="Helvetica Neue"/>
                <a:cs typeface="Helvetica Neue"/>
              </a:defRPr>
            </a:lvl7pPr>
            <a:lvl8pPr>
              <a:defRPr sz="1800" b="0">
                <a:solidFill>
                  <a:srgbClr val="CBD9E1"/>
                </a:solidFill>
                <a:latin typeface="Helvetica Neue"/>
                <a:ea typeface="Helvetica Neue"/>
                <a:cs typeface="Helvetica Neue"/>
              </a:defRPr>
            </a:lvl8pPr>
            <a:lvl9pPr>
              <a:defRPr sz="1800" b="0">
                <a:solidFill>
                  <a:srgbClr val="CBD9E1"/>
                </a:solidFill>
                <a:latin typeface="Helvetica Neue"/>
                <a:ea typeface="Helvetica Neue"/>
                <a:cs typeface="Helvetica Neue"/>
              </a:defRPr>
            </a:lvl9pPr>
          </a:lstStyle>
          <a:p xmlns:a="http://schemas.openxmlformats.org/drawingml/2006/main">
            <a:pPr>
              <a:defRPr sz="1800" b="0">
                <a:solidFill>
                  <a:srgbClr val="CBD9E1"/>
                </a:solidFill>
                <a:latin typeface="Helvetica Neue"/>
                <a:ea typeface="Helvetica Neue"/>
                <a:cs typeface="Helvetica Neue"/>
              </a:defRPr>
            </a:pPr>
            <a:r>
              <a:rPr sz="1800" b="0">
                <a:solidFill>
                  <a:srgbClr val="CBD9E1"/>
                </a:solidFill>
                <a:latin typeface="Helvetica Neue"/>
                <a:ea typeface="Helvetica Neue"/>
                <a:cs typeface="Helvetica Neue"/>
              </a:rPr>
              <a:t>EE6405 Natural Language Processing</a:t>
            </a:r>
          </a:p>
        </p:txBody>
      </p:sp>
    </p:spTree>
    <p:extLst>
      <p:ext uri="{BB962C8B-B14F-4D97-AF65-F5344CB8AC3E}">
        <p14:creationId xmlns:p14="http://schemas.microsoft.com/office/powerpoint/2010/main" val="1005957843"/>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text-5">
            <a:extLst xmlns:a="http://schemas.openxmlformats.org/drawingml/2006/main">
              <a:ext uri="{FF2B5EF4-FFF2-40B4-BE49-F238E27FC236}">
                <a16:creationId xmlns:a16="http://schemas.microsoft.com/office/drawing/2014/main" id="{BD5B3CAE-04A0-45BD-8C63-BCDB466CDD5E}"/>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Semantic alignment and user preference</a:t>
            </a:r>
          </a:p>
        </p:txBody>
      </p:sp>
      <p:sp>
        <p:nvSpPr>
          <p:cNvPr id="2" name="text-6">
            <a:extLst xmlns:a="http://schemas.openxmlformats.org/drawingml/2006/main">
              <a:ext uri="{FF2B5EF4-FFF2-40B4-BE49-F238E27FC236}">
                <a16:creationId xmlns:a16="http://schemas.microsoft.com/office/drawing/2014/main" id="{EE9EA9A9-53DB-477B-91B0-63B14E388E2A}"/>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Does learning what a review describes improve what a user receives next?</a:t>
            </a:r>
          </a:p>
        </p:txBody>
      </p:sp>
      <p:sp>
        <p:nvSpPr>
          <p:cNvPr id="3" name="text-7">
            <a:extLst xmlns:a="http://schemas.openxmlformats.org/drawingml/2006/main">
              <a:ext uri="{FF2B5EF4-FFF2-40B4-BE49-F238E27FC236}">
                <a16:creationId xmlns:a16="http://schemas.microsoft.com/office/drawing/2014/main" id="{CDBFF340-A70B-4A18-A3CB-3F5200EF3E19}"/>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02</a:t>
            </a:r>
          </a:p>
        </p:txBody>
      </p:sp>
      <p:graphicFrame>
        <p:nvGraphicFramePr>
          <p:cNvPr id="4" name="">
            <a:extLst xmlns:a="http://schemas.openxmlformats.org/drawingml/2006/main">
              <a:ext uri="{FF2B5EF4-FFF2-40B4-BE49-F238E27FC236}">
                <a16:creationId xmlns:a16="http://schemas.microsoft.com/office/drawing/2014/main" id="{569593EC-FFCD-4737-9C60-1A9AFDE82918}"/>
              </a:ext>
            </a:extLst>
          </p:cNvPr>
          <p:cNvGraphicFramePr/>
          <p:nvPr/>
        </p:nvGraphicFramePr>
        <p:xfrm>
          <a:off xmlns:a="http://schemas.openxmlformats.org/drawingml/2006/main" x="609600" y="1895475"/>
          <a:ext xmlns:a="http://schemas.openxmlformats.org/drawingml/2006/main" cx="10972800" cy="3019425"/>
        </p:xfrm>
        <a:graphic xmlns:a="http://schemas.openxmlformats.org/drawingml/2006/main">
          <a:graphicData uri="http://schemas.openxmlformats.org/drawingml/2006/table">
            <a:tbl>
              <a:tblPr firstRow="1" bandRow="0"/>
              <a:tblGrid>
                <a:gridCol w="3009900"/>
                <a:gridCol w="3886200"/>
                <a:gridCol w="4076700"/>
              </a:tblGrid>
              <a:tr h="754856">
                <a:tc>
                  <a:txBody>
                    <a:bodyPr/>
                    <a:lstStyle/>
                    <a:p>
                      <a:r>
                        <a:rPr sz="1875" b="1">
                          <a:solidFill>
                            <a:srgbClr val="FFFFFF"/>
                          </a:solidFill>
                          <a:latin typeface="Helvetica Neue"/>
                          <a:ea typeface="Helvetica Neue"/>
                          <a:cs typeface="Helvetica Neue"/>
                        </a:rPr>
                        <a:t>Arm</a:t>
                      </a:r>
                    </a:p>
                  </a:txBody>
                  <a:tcPr marL="142875" marR="104775" marT="95250" marB="85725">
                    <a:lnL w="9525">
                      <a:solidFill>
                        <a:srgbClr val="DCE5E8"/>
                      </a:solidFill>
                      <a:prstDash val="solid"/>
                    </a:lnL>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75" b="1">
                          <a:solidFill>
                            <a:srgbClr val="FFFFFF"/>
                          </a:solidFill>
                          <a:latin typeface="Helvetica Neue"/>
                          <a:ea typeface="Helvetica Neue"/>
                          <a:cs typeface="Helvetica Neue"/>
                        </a:rPr>
                        <a:t>Recommendation head</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75" b="1">
                          <a:solidFill>
                            <a:srgbClr val="FFFFFF"/>
                          </a:solidFill>
                          <a:latin typeface="Helvetica Neue"/>
                          <a:ea typeface="Helvetica Neue"/>
                          <a:cs typeface="Helvetica Neue"/>
                        </a:rPr>
                        <a:t>Qwen update</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r>
              <a:tr h="754856">
                <a:tc>
                  <a:txBody>
                    <a:bodyPr/>
                    <a:lstStyle/>
                    <a:p>
                      <a:r>
                        <a:rPr sz="1875">
                          <a:solidFill>
                            <a:srgbClr val="17243C"/>
                          </a:solidFill>
                          <a:latin typeface="Helvetica Neue"/>
                          <a:ea typeface="Helvetica Neue"/>
                          <a:cs typeface="Helvetica Neue"/>
                        </a:rPr>
                        <a:t>Frozen</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BPR ranking loss</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Encoder stays fixed</a:t>
                      </a:r>
                    </a:p>
                  </a:txBody>
                  <a:tcPr marL="142875" marR="104775" marT="95250" marB="85725">
                    <a:lnR w="9525">
                      <a:solidFill>
                        <a:srgbClr val="DCE5E8"/>
                      </a:solidFill>
                      <a:prstDash val="solid"/>
                    </a:lnR>
                    <a:lnB w="9525">
                      <a:solidFill>
                        <a:srgbClr val="DCE5E8"/>
                      </a:solidFill>
                      <a:prstDash val="solid"/>
                    </a:lnB>
                    <a:solidFill>
                      <a:srgbClr val="FFFFFF"/>
                    </a:solidFill>
                  </a:tcPr>
                </a:tc>
              </a:tr>
              <a:tr h="754856">
                <a:tc>
                  <a:txBody>
                    <a:bodyPr/>
                    <a:lstStyle/>
                    <a:p>
                      <a:r>
                        <a:rPr sz="1875">
                          <a:solidFill>
                            <a:srgbClr val="17243C"/>
                          </a:solidFill>
                          <a:latin typeface="Helvetica Neue"/>
                          <a:ea typeface="Helvetica Neue"/>
                          <a:cs typeface="Helvetica Neue"/>
                        </a:rPr>
                        <a:t>Semantic alignment</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BPR on detached text</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Review–description InfoNCE</a:t>
                      </a:r>
                    </a:p>
                  </a:txBody>
                  <a:tcPr marL="142875" marR="104775" marT="95250" marB="85725">
                    <a:lnR w="9525">
                      <a:solidFill>
                        <a:srgbClr val="DCE5E8"/>
                      </a:solidFill>
                      <a:prstDash val="solid"/>
                    </a:lnR>
                    <a:lnB w="9525">
                      <a:solidFill>
                        <a:srgbClr val="DCE5E8"/>
                      </a:solidFill>
                      <a:prstDash val="solid"/>
                    </a:lnB>
                    <a:solidFill>
                      <a:srgbClr val="FFFFFF"/>
                    </a:solidFill>
                  </a:tcPr>
                </a:tc>
              </a:tr>
              <a:tr h="754856">
                <a:tc>
                  <a:txBody>
                    <a:bodyPr/>
                    <a:lstStyle/>
                    <a:p>
                      <a:r>
                        <a:rPr sz="1875">
                          <a:solidFill>
                            <a:srgbClr val="17243C"/>
                          </a:solidFill>
                          <a:latin typeface="Helvetica Neue"/>
                          <a:ea typeface="Helvetica Neue"/>
                          <a:cs typeface="Helvetica Neue"/>
                        </a:rPr>
                        <a:t>User preference</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BPR ranking loss</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Same BPR gradient</a:t>
                      </a:r>
                    </a:p>
                  </a:txBody>
                  <a:tcPr marL="142875" marR="104775" marT="95250" marB="85725">
                    <a:lnR w="9525">
                      <a:solidFill>
                        <a:srgbClr val="DCE5E8"/>
                      </a:solidFill>
                      <a:prstDash val="solid"/>
                    </a:lnR>
                    <a:lnB w="9525">
                      <a:solidFill>
                        <a:srgbClr val="DCE5E8"/>
                      </a:solidFill>
                      <a:prstDash val="solid"/>
                    </a:lnB>
                    <a:solidFill>
                      <a:srgbClr val="FFFFFF"/>
                    </a:solidFill>
                  </a:tcPr>
                </a:tc>
              </a:tr>
            </a:tbl>
          </a:graphicData>
        </a:graphic>
      </p:graphicFrame>
      <p:sp>
        <p:nvSpPr>
          <p:cNvPr id="5" name="text-8">
            <a:extLst xmlns:a="http://schemas.openxmlformats.org/drawingml/2006/main">
              <a:ext uri="{FF2B5EF4-FFF2-40B4-BE49-F238E27FC236}">
                <a16:creationId xmlns:a16="http://schemas.microsoft.com/office/drawing/2014/main" id="{3E1A644E-CC01-4CE7-B352-152E4100F60F}"/>
              </a:ext>
            </a:extLst>
          </p:cNvPr>
          <p:cNvSpPr>
            <a:spLocks xmlns:a="http://schemas.openxmlformats.org/drawingml/2006/main" noGrp="1"/>
          </p:cNvSpPr>
          <p:nvPr/>
        </p:nvSpPr>
        <p:spPr>
          <a:xfrm xmlns:a="http://schemas.openxmlformats.org/drawingml/2006/main">
            <a:off x="647700" y="5248275"/>
            <a:ext cx="10877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43C"/>
                </a:solidFill>
                <a:latin typeface="Helvetica Neue"/>
                <a:ea typeface="Helvetica Neue"/>
                <a:cs typeface="Helvetica Neue"/>
              </a:defRPr>
            </a:defPPr>
            <a:lvl1pPr>
              <a:defRPr sz="2325" b="1">
                <a:solidFill>
                  <a:srgbClr val="17243C"/>
                </a:solidFill>
                <a:latin typeface="Helvetica Neue"/>
                <a:ea typeface="Helvetica Neue"/>
                <a:cs typeface="Helvetica Neue"/>
              </a:defRPr>
            </a:lvl1pPr>
            <a:lvl2pPr>
              <a:defRPr sz="2325" b="1">
                <a:solidFill>
                  <a:srgbClr val="17243C"/>
                </a:solidFill>
                <a:latin typeface="Helvetica Neue"/>
                <a:ea typeface="Helvetica Neue"/>
                <a:cs typeface="Helvetica Neue"/>
              </a:defRPr>
            </a:lvl2pPr>
            <a:lvl3pPr>
              <a:defRPr sz="2325" b="1">
                <a:solidFill>
                  <a:srgbClr val="17243C"/>
                </a:solidFill>
                <a:latin typeface="Helvetica Neue"/>
                <a:ea typeface="Helvetica Neue"/>
                <a:cs typeface="Helvetica Neue"/>
              </a:defRPr>
            </a:lvl3pPr>
            <a:lvl4pPr>
              <a:defRPr sz="2325" b="1">
                <a:solidFill>
                  <a:srgbClr val="17243C"/>
                </a:solidFill>
                <a:latin typeface="Helvetica Neue"/>
                <a:ea typeface="Helvetica Neue"/>
                <a:cs typeface="Helvetica Neue"/>
              </a:defRPr>
            </a:lvl4pPr>
            <a:lvl5pPr>
              <a:defRPr sz="2325" b="1">
                <a:solidFill>
                  <a:srgbClr val="17243C"/>
                </a:solidFill>
                <a:latin typeface="Helvetica Neue"/>
                <a:ea typeface="Helvetica Neue"/>
                <a:cs typeface="Helvetica Neue"/>
              </a:defRPr>
            </a:lvl5pPr>
            <a:lvl6pPr>
              <a:defRPr sz="2325" b="1">
                <a:solidFill>
                  <a:srgbClr val="17243C"/>
                </a:solidFill>
                <a:latin typeface="Helvetica Neue"/>
                <a:ea typeface="Helvetica Neue"/>
                <a:cs typeface="Helvetica Neue"/>
              </a:defRPr>
            </a:lvl6pPr>
            <a:lvl7pPr>
              <a:defRPr sz="2325" b="1">
                <a:solidFill>
                  <a:srgbClr val="17243C"/>
                </a:solidFill>
                <a:latin typeface="Helvetica Neue"/>
                <a:ea typeface="Helvetica Neue"/>
                <a:cs typeface="Helvetica Neue"/>
              </a:defRPr>
            </a:lvl7pPr>
            <a:lvl8pPr>
              <a:defRPr sz="2325" b="1">
                <a:solidFill>
                  <a:srgbClr val="17243C"/>
                </a:solidFill>
                <a:latin typeface="Helvetica Neue"/>
                <a:ea typeface="Helvetica Neue"/>
                <a:cs typeface="Helvetica Neue"/>
              </a:defRPr>
            </a:lvl8pPr>
            <a:lvl9pPr>
              <a:defRPr sz="2325" b="1">
                <a:solidFill>
                  <a:srgbClr val="17243C"/>
                </a:solidFill>
                <a:latin typeface="Helvetica Neue"/>
                <a:ea typeface="Helvetica Neue"/>
                <a:cs typeface="Helvetica Neue"/>
              </a:defRPr>
            </a:lvl9pPr>
          </a:lstStyle>
          <a:p xmlns:a="http://schemas.openxmlformats.org/drawingml/2006/main">
            <a:pPr>
              <a:defRPr sz="2325" b="1">
                <a:solidFill>
                  <a:srgbClr val="17243C"/>
                </a:solidFill>
                <a:latin typeface="Helvetica Neue"/>
                <a:ea typeface="Helvetica Neue"/>
                <a:cs typeface="Helvetica Neue"/>
              </a:defRPr>
            </a:pPr>
            <a:r>
              <a:rPr sz="2325" b="1">
                <a:solidFill>
                  <a:srgbClr val="17243C"/>
                </a:solidFill>
                <a:latin typeface="Helvetica Neue"/>
                <a:ea typeface="Helvetica Neue"/>
                <a:cs typeface="Helvetica Neue"/>
              </a:rPr>
              <a:t>Frozen still trains a recommendation head.</a:t>
            </a:r>
          </a:p>
        </p:txBody>
      </p:sp>
      <p:sp>
        <p:nvSpPr>
          <p:cNvPr id="6" name="text-9">
            <a:extLst xmlns:a="http://schemas.openxmlformats.org/drawingml/2006/main">
              <a:ext uri="{FF2B5EF4-FFF2-40B4-BE49-F238E27FC236}">
                <a16:creationId xmlns:a16="http://schemas.microsoft.com/office/drawing/2014/main" id="{434C8DAE-AB08-4313-BE19-1A6FF310BC6E}"/>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Same Qwen family and frozen CLIP image features across all arms.</a:t>
            </a:r>
          </a:p>
        </p:txBody>
      </p:sp>
    </p:spTree>
    <p:extLst>
      <p:ext uri="{BB962C8B-B14F-4D97-AF65-F5344CB8AC3E}">
        <p14:creationId xmlns:p14="http://schemas.microsoft.com/office/powerpoint/2010/main" val="1542007626"/>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text-10">
            <a:extLst xmlns:a="http://schemas.openxmlformats.org/drawingml/2006/main">
              <a:ext uri="{FF2B5EF4-FFF2-40B4-BE49-F238E27FC236}">
                <a16:creationId xmlns:a16="http://schemas.microsoft.com/office/drawing/2014/main" id="{CBB53CEF-4B22-4441-BB7A-BADBE897B58F}"/>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Three Amazon domains and one ranking protocol</a:t>
            </a:r>
          </a:p>
        </p:txBody>
      </p:sp>
      <p:sp>
        <p:nvSpPr>
          <p:cNvPr id="2" name="text-11">
            <a:extLst xmlns:a="http://schemas.openxmlformats.org/drawingml/2006/main">
              <a:ext uri="{FF2B5EF4-FFF2-40B4-BE49-F238E27FC236}">
                <a16:creationId xmlns:a16="http://schemas.microsoft.com/office/drawing/2014/main" id="{E4C610AB-12C9-42BF-BEE4-A433B5922161}"/>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03</a:t>
            </a:r>
          </a:p>
        </p:txBody>
      </p:sp>
      <p:graphicFrame>
        <p:nvGraphicFramePr>
          <p:cNvPr id="3" name="">
            <a:extLst xmlns:a="http://schemas.openxmlformats.org/drawingml/2006/main">
              <a:ext uri="{FF2B5EF4-FFF2-40B4-BE49-F238E27FC236}">
                <a16:creationId xmlns:a16="http://schemas.microsoft.com/office/drawing/2014/main" id="{5B3B75F1-BDEE-4BF8-B0D9-F7FEC4532151}"/>
              </a:ext>
            </a:extLst>
          </p:cNvPr>
          <p:cNvGraphicFramePr/>
          <p:nvPr/>
        </p:nvGraphicFramePr>
        <p:xfrm>
          <a:off xmlns:a="http://schemas.openxmlformats.org/drawingml/2006/main" x="609600" y="1562100"/>
          <a:ext xmlns:a="http://schemas.openxmlformats.org/drawingml/2006/main" cx="10972800" cy="2419350"/>
        </p:xfrm>
        <a:graphic xmlns:a="http://schemas.openxmlformats.org/drawingml/2006/main">
          <a:graphicData uri="http://schemas.openxmlformats.org/drawingml/2006/table">
            <a:tbl>
              <a:tblPr firstRow="1" bandRow="0"/>
              <a:tblGrid>
                <a:gridCol w="3257550"/>
                <a:gridCol w="2343150"/>
                <a:gridCol w="2552700"/>
                <a:gridCol w="2819400"/>
              </a:tblGrid>
              <a:tr h="604838">
                <a:tc>
                  <a:txBody>
                    <a:bodyPr/>
                    <a:lstStyle/>
                    <a:p>
                      <a:r>
                        <a:rPr sz="1950" b="1">
                          <a:solidFill>
                            <a:srgbClr val="FFFFFF"/>
                          </a:solidFill>
                          <a:latin typeface="Helvetica Neue"/>
                          <a:ea typeface="Helvetica Neue"/>
                          <a:cs typeface="Helvetica Neue"/>
                        </a:rPr>
                        <a:t>Domain</a:t>
                      </a:r>
                    </a:p>
                  </a:txBody>
                  <a:tcPr marL="142875" marR="104775" marT="95250" marB="85725">
                    <a:lnL w="9525">
                      <a:solidFill>
                        <a:srgbClr val="DCE5E8"/>
                      </a:solidFill>
                      <a:prstDash val="solid"/>
                    </a:lnL>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950" b="1">
                          <a:solidFill>
                            <a:srgbClr val="FFFFFF"/>
                          </a:solidFill>
                          <a:latin typeface="Helvetica Neue"/>
                          <a:ea typeface="Helvetica Neue"/>
                          <a:cs typeface="Helvetica Neue"/>
                        </a:rPr>
                        <a:t>Products</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950" b="1">
                          <a:solidFill>
                            <a:srgbClr val="FFFFFF"/>
                          </a:solidFill>
                          <a:latin typeface="Helvetica Neue"/>
                          <a:ea typeface="Helvetica Neue"/>
                          <a:cs typeface="Helvetica Neue"/>
                        </a:rPr>
                        <a:t>Users</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950" b="1">
                          <a:solidFill>
                            <a:srgbClr val="FFFFFF"/>
                          </a:solidFill>
                          <a:latin typeface="Helvetica Neue"/>
                          <a:ea typeface="Helvetica Neue"/>
                          <a:cs typeface="Helvetica Neue"/>
                        </a:rPr>
                        <a:t>Interactions</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r>
              <a:tr h="604838">
                <a:tc>
                  <a:txBody>
                    <a:bodyPr/>
                    <a:lstStyle/>
                    <a:p>
                      <a:r>
                        <a:rPr sz="1950">
                          <a:solidFill>
                            <a:srgbClr val="17243C"/>
                          </a:solidFill>
                          <a:latin typeface="Helvetica Neue"/>
                          <a:ea typeface="Helvetica Neue"/>
                          <a:cs typeface="Helvetica Neue"/>
                        </a:rPr>
                        <a:t>Baby</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7,037</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18,479</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155,180</a:t>
                      </a:r>
                    </a:p>
                  </a:txBody>
                  <a:tcPr marL="142875" marR="104775" marT="95250" marB="85725">
                    <a:lnR w="9525">
                      <a:solidFill>
                        <a:srgbClr val="DCE5E8"/>
                      </a:solidFill>
                      <a:prstDash val="solid"/>
                    </a:lnR>
                    <a:lnB w="9525">
                      <a:solidFill>
                        <a:srgbClr val="DCE5E8"/>
                      </a:solidFill>
                      <a:prstDash val="solid"/>
                    </a:lnB>
                    <a:solidFill>
                      <a:srgbClr val="FFFFFF"/>
                    </a:solidFill>
                  </a:tcPr>
                </a:tc>
              </a:tr>
              <a:tr h="604838">
                <a:tc>
                  <a:txBody>
                    <a:bodyPr/>
                    <a:lstStyle/>
                    <a:p>
                      <a:r>
                        <a:rPr sz="1950">
                          <a:solidFill>
                            <a:srgbClr val="17243C"/>
                          </a:solidFill>
                          <a:latin typeface="Helvetica Neue"/>
                          <a:ea typeface="Helvetica Neue"/>
                          <a:cs typeface="Helvetica Neue"/>
                        </a:rPr>
                        <a:t>Sports</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18,273</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34,555</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289,579</a:t>
                      </a:r>
                    </a:p>
                  </a:txBody>
                  <a:tcPr marL="142875" marR="104775" marT="95250" marB="85725">
                    <a:lnR w="9525">
                      <a:solidFill>
                        <a:srgbClr val="DCE5E8"/>
                      </a:solidFill>
                      <a:prstDash val="solid"/>
                    </a:lnR>
                    <a:lnB w="9525">
                      <a:solidFill>
                        <a:srgbClr val="DCE5E8"/>
                      </a:solidFill>
                      <a:prstDash val="solid"/>
                    </a:lnB>
                    <a:solidFill>
                      <a:srgbClr val="FFFFFF"/>
                    </a:solidFill>
                  </a:tcPr>
                </a:tc>
              </a:tr>
              <a:tr h="604838">
                <a:tc>
                  <a:txBody>
                    <a:bodyPr/>
                    <a:lstStyle/>
                    <a:p>
                      <a:r>
                        <a:rPr sz="1950">
                          <a:solidFill>
                            <a:srgbClr val="17243C"/>
                          </a:solidFill>
                          <a:latin typeface="Helvetica Neue"/>
                          <a:ea typeface="Helvetica Neue"/>
                          <a:cs typeface="Helvetica Neue"/>
                        </a:rPr>
                        <a:t>Clothing</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22,491</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36,437</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255,681</a:t>
                      </a:r>
                    </a:p>
                  </a:txBody>
                  <a:tcPr marL="142875" marR="104775" marT="95250" marB="85725">
                    <a:lnR w="9525">
                      <a:solidFill>
                        <a:srgbClr val="DCE5E8"/>
                      </a:solidFill>
                      <a:prstDash val="solid"/>
                    </a:lnR>
                    <a:lnB w="9525">
                      <a:solidFill>
                        <a:srgbClr val="DCE5E8"/>
                      </a:solidFill>
                      <a:prstDash val="solid"/>
                    </a:lnB>
                    <a:solidFill>
                      <a:srgbClr val="FFFFFF"/>
                    </a:solidFill>
                  </a:tcPr>
                </a:tc>
              </a:tr>
            </a:tbl>
          </a:graphicData>
        </a:graphic>
      </p:graphicFrame>
      <p:sp>
        <p:nvSpPr>
          <p:cNvPr id="4" name="text-12">
            <a:extLst xmlns:a="http://schemas.openxmlformats.org/drawingml/2006/main">
              <a:ext uri="{FF2B5EF4-FFF2-40B4-BE49-F238E27FC236}">
                <a16:creationId xmlns:a16="http://schemas.microsoft.com/office/drawing/2014/main" id="{B8BE19D7-8258-4FDA-8C41-B6501E7C4203}"/>
              </a:ext>
            </a:extLst>
          </p:cNvPr>
          <p:cNvSpPr>
            <a:spLocks xmlns:a="http://schemas.openxmlformats.org/drawingml/2006/main" noGrp="1"/>
          </p:cNvSpPr>
          <p:nvPr/>
        </p:nvSpPr>
        <p:spPr>
          <a:xfrm xmlns:a="http://schemas.openxmlformats.org/drawingml/2006/main">
            <a:off x="647700" y="41624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43C"/>
                </a:solidFill>
                <a:latin typeface="Helvetica Neue"/>
                <a:ea typeface="Helvetica Neue"/>
                <a:cs typeface="Helvetica Neue"/>
              </a:defRPr>
            </a:defPPr>
            <a:lvl1pPr>
              <a:defRPr sz="2025" b="1">
                <a:solidFill>
                  <a:srgbClr val="17243C"/>
                </a:solidFill>
                <a:latin typeface="Helvetica Neue"/>
                <a:ea typeface="Helvetica Neue"/>
                <a:cs typeface="Helvetica Neue"/>
              </a:defRPr>
            </a:lvl1pPr>
            <a:lvl2pPr>
              <a:defRPr sz="2025" b="1">
                <a:solidFill>
                  <a:srgbClr val="17243C"/>
                </a:solidFill>
                <a:latin typeface="Helvetica Neue"/>
                <a:ea typeface="Helvetica Neue"/>
                <a:cs typeface="Helvetica Neue"/>
              </a:defRPr>
            </a:lvl2pPr>
            <a:lvl3pPr>
              <a:defRPr sz="2025" b="1">
                <a:solidFill>
                  <a:srgbClr val="17243C"/>
                </a:solidFill>
                <a:latin typeface="Helvetica Neue"/>
                <a:ea typeface="Helvetica Neue"/>
                <a:cs typeface="Helvetica Neue"/>
              </a:defRPr>
            </a:lvl3pPr>
            <a:lvl4pPr>
              <a:defRPr sz="2025" b="1">
                <a:solidFill>
                  <a:srgbClr val="17243C"/>
                </a:solidFill>
                <a:latin typeface="Helvetica Neue"/>
                <a:ea typeface="Helvetica Neue"/>
                <a:cs typeface="Helvetica Neue"/>
              </a:defRPr>
            </a:lvl4pPr>
            <a:lvl5pPr>
              <a:defRPr sz="2025" b="1">
                <a:solidFill>
                  <a:srgbClr val="17243C"/>
                </a:solidFill>
                <a:latin typeface="Helvetica Neue"/>
                <a:ea typeface="Helvetica Neue"/>
                <a:cs typeface="Helvetica Neue"/>
              </a:defRPr>
            </a:lvl5pPr>
            <a:lvl6pPr>
              <a:defRPr sz="2025" b="1">
                <a:solidFill>
                  <a:srgbClr val="17243C"/>
                </a:solidFill>
                <a:latin typeface="Helvetica Neue"/>
                <a:ea typeface="Helvetica Neue"/>
                <a:cs typeface="Helvetica Neue"/>
              </a:defRPr>
            </a:lvl6pPr>
            <a:lvl7pPr>
              <a:defRPr sz="2025" b="1">
                <a:solidFill>
                  <a:srgbClr val="17243C"/>
                </a:solidFill>
                <a:latin typeface="Helvetica Neue"/>
                <a:ea typeface="Helvetica Neue"/>
                <a:cs typeface="Helvetica Neue"/>
              </a:defRPr>
            </a:lvl7pPr>
            <a:lvl8pPr>
              <a:defRPr sz="2025" b="1">
                <a:solidFill>
                  <a:srgbClr val="17243C"/>
                </a:solidFill>
                <a:latin typeface="Helvetica Neue"/>
                <a:ea typeface="Helvetica Neue"/>
                <a:cs typeface="Helvetica Neue"/>
              </a:defRPr>
            </a:lvl8pPr>
            <a:lvl9pPr>
              <a:defRPr sz="2025" b="1">
                <a:solidFill>
                  <a:srgbClr val="17243C"/>
                </a:solidFill>
                <a:latin typeface="Helvetica Neue"/>
                <a:ea typeface="Helvetica Neue"/>
                <a:cs typeface="Helvetica Neue"/>
              </a:defRPr>
            </a:lvl9pPr>
          </a:lstStyle>
          <a:p xmlns:a="http://schemas.openxmlformats.org/drawingml/2006/main">
            <a:pPr>
              <a:defRPr sz="2025" b="1">
                <a:solidFill>
                  <a:srgbClr val="17243C"/>
                </a:solidFill>
                <a:latin typeface="Helvetica Neue"/>
                <a:ea typeface="Helvetica Neue"/>
                <a:cs typeface="Helvetica Neue"/>
              </a:defRPr>
            </a:pPr>
            <a:r>
              <a:rPr sz="2025" b="1">
                <a:solidFill>
                  <a:srgbClr val="17243C"/>
                </a:solidFill>
                <a:latin typeface="Helvetica Neue"/>
                <a:ea typeface="Helvetica Neue"/>
                <a:cs typeface="Helvetica Neue"/>
              </a:rPr>
              <a:t>47,801 catalogued products. Top 3 and Top 12 are display subsets.</a:t>
            </a:r>
          </a:p>
        </p:txBody>
      </p:sp>
      <p:sp>
        <p:nvSpPr>
          <p:cNvPr id="5" name="text-13">
            <a:extLst xmlns:a="http://schemas.openxmlformats.org/drawingml/2006/main">
              <a:ext uri="{FF2B5EF4-FFF2-40B4-BE49-F238E27FC236}">
                <a16:creationId xmlns:a16="http://schemas.microsoft.com/office/drawing/2014/main" id="{F8BC8D26-2EBA-4D2A-8A02-8F7763D1813C}"/>
              </a:ext>
            </a:extLst>
          </p:cNvPr>
          <p:cNvSpPr>
            <a:spLocks xmlns:a="http://schemas.openxmlformats.org/drawingml/2006/main" noGrp="1"/>
          </p:cNvSpPr>
          <p:nvPr/>
        </p:nvSpPr>
        <p:spPr>
          <a:xfrm xmlns:a="http://schemas.openxmlformats.org/drawingml/2006/main">
            <a:off x="647700" y="46958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43C"/>
                </a:solidFill>
                <a:latin typeface="Helvetica Neue"/>
                <a:ea typeface="Helvetica Neue"/>
                <a:cs typeface="Helvetica Neue"/>
              </a:defRPr>
            </a:defPPr>
            <a:lvl1pPr>
              <a:defRPr sz="2325" b="1">
                <a:solidFill>
                  <a:srgbClr val="17243C"/>
                </a:solidFill>
                <a:latin typeface="Helvetica Neue"/>
                <a:ea typeface="Helvetica Neue"/>
                <a:cs typeface="Helvetica Neue"/>
              </a:defRPr>
            </a:lvl1pPr>
            <a:lvl2pPr>
              <a:defRPr sz="2325" b="1">
                <a:solidFill>
                  <a:srgbClr val="17243C"/>
                </a:solidFill>
                <a:latin typeface="Helvetica Neue"/>
                <a:ea typeface="Helvetica Neue"/>
                <a:cs typeface="Helvetica Neue"/>
              </a:defRPr>
            </a:lvl2pPr>
            <a:lvl3pPr>
              <a:defRPr sz="2325" b="1">
                <a:solidFill>
                  <a:srgbClr val="17243C"/>
                </a:solidFill>
                <a:latin typeface="Helvetica Neue"/>
                <a:ea typeface="Helvetica Neue"/>
                <a:cs typeface="Helvetica Neue"/>
              </a:defRPr>
            </a:lvl3pPr>
            <a:lvl4pPr>
              <a:defRPr sz="2325" b="1">
                <a:solidFill>
                  <a:srgbClr val="17243C"/>
                </a:solidFill>
                <a:latin typeface="Helvetica Neue"/>
                <a:ea typeface="Helvetica Neue"/>
                <a:cs typeface="Helvetica Neue"/>
              </a:defRPr>
            </a:lvl4pPr>
            <a:lvl5pPr>
              <a:defRPr sz="2325" b="1">
                <a:solidFill>
                  <a:srgbClr val="17243C"/>
                </a:solidFill>
                <a:latin typeface="Helvetica Neue"/>
                <a:ea typeface="Helvetica Neue"/>
                <a:cs typeface="Helvetica Neue"/>
              </a:defRPr>
            </a:lvl5pPr>
            <a:lvl6pPr>
              <a:defRPr sz="2325" b="1">
                <a:solidFill>
                  <a:srgbClr val="17243C"/>
                </a:solidFill>
                <a:latin typeface="Helvetica Neue"/>
                <a:ea typeface="Helvetica Neue"/>
                <a:cs typeface="Helvetica Neue"/>
              </a:defRPr>
            </a:lvl6pPr>
            <a:lvl7pPr>
              <a:defRPr sz="2325" b="1">
                <a:solidFill>
                  <a:srgbClr val="17243C"/>
                </a:solidFill>
                <a:latin typeface="Helvetica Neue"/>
                <a:ea typeface="Helvetica Neue"/>
                <a:cs typeface="Helvetica Neue"/>
              </a:defRPr>
            </a:lvl7pPr>
            <a:lvl8pPr>
              <a:defRPr sz="2325" b="1">
                <a:solidFill>
                  <a:srgbClr val="17243C"/>
                </a:solidFill>
                <a:latin typeface="Helvetica Neue"/>
                <a:ea typeface="Helvetica Neue"/>
                <a:cs typeface="Helvetica Neue"/>
              </a:defRPr>
            </a:lvl8pPr>
            <a:lvl9pPr>
              <a:defRPr sz="2325" b="1">
                <a:solidFill>
                  <a:srgbClr val="17243C"/>
                </a:solidFill>
                <a:latin typeface="Helvetica Neue"/>
                <a:ea typeface="Helvetica Neue"/>
                <a:cs typeface="Helvetica Neue"/>
              </a:defRPr>
            </a:lvl9pPr>
          </a:lstStyle>
          <a:p xmlns:a="http://schemas.openxmlformats.org/drawingml/2006/main">
            <a:pPr>
              <a:defRPr sz="2325" b="1">
                <a:solidFill>
                  <a:srgbClr val="17243C"/>
                </a:solidFill>
                <a:latin typeface="Helvetica Neue"/>
                <a:ea typeface="Helvetica Neue"/>
                <a:cs typeface="Helvetica Neue"/>
              </a:defRPr>
            </a:pPr>
            <a:r>
              <a:rPr sz="2325" b="1">
                <a:solidFill>
                  <a:srgbClr val="17243C"/>
                </a:solidFill>
                <a:latin typeface="Helvetica Neue"/>
                <a:ea typeface="Helvetica Neue"/>
                <a:cs typeface="Helvetica Neue"/>
              </a:rPr>
              <a:t>Chronological 80% / 10% / 10% split</a:t>
            </a:r>
          </a:p>
        </p:txBody>
      </p:sp>
      <p:sp>
        <p:nvSpPr>
          <p:cNvPr id="6" name="text-14">
            <a:extLst xmlns:a="http://schemas.openxmlformats.org/drawingml/2006/main">
              <a:ext uri="{FF2B5EF4-FFF2-40B4-BE49-F238E27FC236}">
                <a16:creationId xmlns:a16="http://schemas.microsoft.com/office/drawing/2014/main" id="{A361442D-3636-4D2F-AADE-860C6CAA36EB}"/>
              </a:ext>
            </a:extLst>
          </p:cNvPr>
          <p:cNvSpPr>
            <a:spLocks xmlns:a="http://schemas.openxmlformats.org/drawingml/2006/main" noGrp="1"/>
          </p:cNvSpPr>
          <p:nvPr/>
        </p:nvSpPr>
        <p:spPr>
          <a:xfrm xmlns:a="http://schemas.openxmlformats.org/drawingml/2006/main">
            <a:off x="647700" y="5248275"/>
            <a:ext cx="10725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Strictly earlier positives. Latest 20 distinct products.</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Full catalogue ranking, excluding previous positives. User-macro metrics.</a:t>
            </a:r>
          </a:p>
        </p:txBody>
      </p:sp>
      <p:sp>
        <p:nvSpPr>
          <p:cNvPr id="7" name="text-15">
            <a:extLst xmlns:a="http://schemas.openxmlformats.org/drawingml/2006/main">
              <a:ext uri="{FF2B5EF4-FFF2-40B4-BE49-F238E27FC236}">
                <a16:creationId xmlns:a16="http://schemas.microsoft.com/office/drawing/2014/main" id="{9B231847-56A1-4417-AA8A-B21F59A65B62}"/>
              </a:ext>
            </a:extLst>
          </p:cNvPr>
          <p:cNvSpPr>
            <a:spLocks xmlns:a="http://schemas.openxmlformats.org/drawingml/2006/main" noGrp="1"/>
          </p:cNvSpPr>
          <p:nvPr/>
        </p:nvSpPr>
        <p:spPr>
          <a:xfrm xmlns:a="http://schemas.openxmlformats.org/drawingml/2006/main">
            <a:off x="628650" y="607695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Three domains from one Amazon source limit evidence about cross-source generalization.</a:t>
            </a:r>
          </a:p>
        </p:txBody>
      </p:sp>
    </p:spTree>
    <p:extLst>
      <p:ext uri="{BB962C8B-B14F-4D97-AF65-F5344CB8AC3E}">
        <p14:creationId xmlns:p14="http://schemas.microsoft.com/office/powerpoint/2010/main" val="969373619"/>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text-16">
            <a:extLst xmlns:a="http://schemas.openxmlformats.org/drawingml/2006/main">
              <a:ext uri="{FF2B5EF4-FFF2-40B4-BE49-F238E27FC236}">
                <a16:creationId xmlns:a16="http://schemas.microsoft.com/office/drawing/2014/main" id="{AE3DB864-534D-4A45-9839-812442D46742}"/>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History and candidate representations</a:t>
            </a:r>
          </a:p>
        </p:txBody>
      </p:sp>
      <p:sp>
        <p:nvSpPr>
          <p:cNvPr id="2" name="text-17">
            <a:extLst xmlns:a="http://schemas.openxmlformats.org/drawingml/2006/main">
              <a:ext uri="{FF2B5EF4-FFF2-40B4-BE49-F238E27FC236}">
                <a16:creationId xmlns:a16="http://schemas.microsoft.com/office/drawing/2014/main" id="{79B66AFB-AD96-44F2-983F-DDD08EB3793C}"/>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04</a:t>
            </a:r>
          </a:p>
        </p:txBody>
      </p:sp>
      <p:graphicFrame>
        <p:nvGraphicFramePr>
          <p:cNvPr id="3" name="">
            <a:extLst xmlns:a="http://schemas.openxmlformats.org/drawingml/2006/main">
              <a:ext uri="{FF2B5EF4-FFF2-40B4-BE49-F238E27FC236}">
                <a16:creationId xmlns:a16="http://schemas.microsoft.com/office/drawing/2014/main" id="{1285AF5D-83B1-4078-8AD9-B5FC5C8678B9}"/>
              </a:ext>
            </a:extLst>
          </p:cNvPr>
          <p:cNvGraphicFramePr/>
          <p:nvPr/>
        </p:nvGraphicFramePr>
        <p:xfrm>
          <a:off xmlns:a="http://schemas.openxmlformats.org/drawingml/2006/main" x="609600" y="1695450"/>
          <a:ext xmlns:a="http://schemas.openxmlformats.org/drawingml/2006/main" cx="10972800" cy="2324100"/>
        </p:xfrm>
        <a:graphic xmlns:a="http://schemas.openxmlformats.org/drawingml/2006/main">
          <a:graphicData uri="http://schemas.openxmlformats.org/drawingml/2006/table">
            <a:tbl>
              <a:tblPr firstRow="1" bandRow="0"/>
              <a:tblGrid>
                <a:gridCol w="3238500"/>
                <a:gridCol w="4533900"/>
                <a:gridCol w="3200400"/>
              </a:tblGrid>
              <a:tr h="774700">
                <a:tc>
                  <a:txBody>
                    <a:bodyPr/>
                    <a:lstStyle/>
                    <a:p>
                      <a:r>
                        <a:rPr sz="1950" b="1">
                          <a:solidFill>
                            <a:srgbClr val="FFFFFF"/>
                          </a:solidFill>
                          <a:latin typeface="Helvetica Neue"/>
                          <a:ea typeface="Helvetica Neue"/>
                          <a:cs typeface="Helvetica Neue"/>
                        </a:rPr>
                        <a:t>Path</a:t>
                      </a:r>
                    </a:p>
                  </a:txBody>
                  <a:tcPr marL="142875" marR="104775" marT="95250" marB="85725">
                    <a:lnL w="9525">
                      <a:solidFill>
                        <a:srgbClr val="DCE5E8"/>
                      </a:solidFill>
                      <a:prstDash val="solid"/>
                    </a:lnL>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950" b="1">
                          <a:solidFill>
                            <a:srgbClr val="FFFFFF"/>
                          </a:solidFill>
                          <a:latin typeface="Helvetica Neue"/>
                          <a:ea typeface="Helvetica Neue"/>
                          <a:cs typeface="Helvetica Neue"/>
                        </a:rPr>
                        <a:t>Text input</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950" b="1">
                          <a:solidFill>
                            <a:srgbClr val="FFFFFF"/>
                          </a:solidFill>
                          <a:latin typeface="Helvetica Neue"/>
                          <a:ea typeface="Helvetica Neue"/>
                          <a:cs typeface="Helvetica Neue"/>
                        </a:rPr>
                        <a:t>Image input</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r>
              <a:tr h="774700">
                <a:tc>
                  <a:txBody>
                    <a:bodyPr/>
                    <a:lstStyle/>
                    <a:p>
                      <a:r>
                        <a:rPr sz="1950">
                          <a:solidFill>
                            <a:srgbClr val="17243C"/>
                          </a:solidFill>
                          <a:latin typeface="Helvetica Neue"/>
                          <a:ea typeface="Helvetica Neue"/>
                          <a:cs typeface="Helvetica Neue"/>
                        </a:rPr>
                        <a:t>Liked-product history</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Frozen base Qwen, 1024d</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Frozen CLIP, 512d</a:t>
                      </a:r>
                    </a:p>
                  </a:txBody>
                  <a:tcPr marL="142875" marR="104775" marT="95250" marB="85725">
                    <a:lnR w="9525">
                      <a:solidFill>
                        <a:srgbClr val="DCE5E8"/>
                      </a:solidFill>
                      <a:prstDash val="solid"/>
                    </a:lnR>
                    <a:lnB w="9525">
                      <a:solidFill>
                        <a:srgbClr val="DCE5E8"/>
                      </a:solidFill>
                      <a:prstDash val="solid"/>
                    </a:lnB>
                    <a:solidFill>
                      <a:srgbClr val="FFFFFF"/>
                    </a:solidFill>
                  </a:tcPr>
                </a:tc>
              </a:tr>
              <a:tr h="774700">
                <a:tc>
                  <a:txBody>
                    <a:bodyPr/>
                    <a:lstStyle/>
                    <a:p>
                      <a:r>
                        <a:rPr sz="1950">
                          <a:solidFill>
                            <a:srgbClr val="17243C"/>
                          </a:solidFill>
                          <a:latin typeface="Helvetica Neue"/>
                          <a:ea typeface="Helvetica Neue"/>
                          <a:cs typeface="Helvetica Neue"/>
                        </a:rPr>
                        <a:t>Candidate products</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Base or selected LoRA, 1024d</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Same CLIP, 512d</a:t>
                      </a:r>
                    </a:p>
                  </a:txBody>
                  <a:tcPr marL="142875" marR="104775" marT="95250" marB="85725">
                    <a:lnR w="9525">
                      <a:solidFill>
                        <a:srgbClr val="DCE5E8"/>
                      </a:solidFill>
                      <a:prstDash val="solid"/>
                    </a:lnR>
                    <a:lnB w="9525">
                      <a:solidFill>
                        <a:srgbClr val="DCE5E8"/>
                      </a:solidFill>
                      <a:prstDash val="solid"/>
                    </a:lnB>
                    <a:solidFill>
                      <a:srgbClr val="FFFFFF"/>
                    </a:solidFill>
                  </a:tcPr>
                </a:tc>
              </a:tr>
            </a:tbl>
          </a:graphicData>
        </a:graphic>
      </p:graphicFrame>
      <p:sp>
        <p:nvSpPr>
          <p:cNvPr id="4" name="text-18">
            <a:extLst xmlns:a="http://schemas.openxmlformats.org/drawingml/2006/main">
              <a:ext uri="{FF2B5EF4-FFF2-40B4-BE49-F238E27FC236}">
                <a16:creationId xmlns:a16="http://schemas.microsoft.com/office/drawing/2014/main" id="{26DD0F29-405A-4CD4-9633-C4E377F0EC96}"/>
              </a:ext>
            </a:extLst>
          </p:cNvPr>
          <p:cNvSpPr>
            <a:spLocks xmlns:a="http://schemas.openxmlformats.org/drawingml/2006/main" noGrp="1"/>
          </p:cNvSpPr>
          <p:nvPr/>
        </p:nvSpPr>
        <p:spPr>
          <a:xfrm xmlns:a="http://schemas.openxmlformats.org/drawingml/2006/main">
            <a:off x="647700" y="447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43C"/>
                </a:solidFill>
                <a:latin typeface="Helvetica Neue"/>
                <a:ea typeface="Helvetica Neue"/>
                <a:cs typeface="Helvetica Neue"/>
              </a:defRPr>
            </a:defPPr>
            <a:lvl1pPr>
              <a:defRPr sz="2250" b="1">
                <a:solidFill>
                  <a:srgbClr val="17243C"/>
                </a:solidFill>
                <a:latin typeface="Helvetica Neue"/>
                <a:ea typeface="Helvetica Neue"/>
                <a:cs typeface="Helvetica Neue"/>
              </a:defRPr>
            </a:lvl1pPr>
            <a:lvl2pPr>
              <a:defRPr sz="2250" b="1">
                <a:solidFill>
                  <a:srgbClr val="17243C"/>
                </a:solidFill>
                <a:latin typeface="Helvetica Neue"/>
                <a:ea typeface="Helvetica Neue"/>
                <a:cs typeface="Helvetica Neue"/>
              </a:defRPr>
            </a:lvl2pPr>
            <a:lvl3pPr>
              <a:defRPr sz="2250" b="1">
                <a:solidFill>
                  <a:srgbClr val="17243C"/>
                </a:solidFill>
                <a:latin typeface="Helvetica Neue"/>
                <a:ea typeface="Helvetica Neue"/>
                <a:cs typeface="Helvetica Neue"/>
              </a:defRPr>
            </a:lvl3pPr>
            <a:lvl4pPr>
              <a:defRPr sz="2250" b="1">
                <a:solidFill>
                  <a:srgbClr val="17243C"/>
                </a:solidFill>
                <a:latin typeface="Helvetica Neue"/>
                <a:ea typeface="Helvetica Neue"/>
                <a:cs typeface="Helvetica Neue"/>
              </a:defRPr>
            </a:lvl4pPr>
            <a:lvl5pPr>
              <a:defRPr sz="2250" b="1">
                <a:solidFill>
                  <a:srgbClr val="17243C"/>
                </a:solidFill>
                <a:latin typeface="Helvetica Neue"/>
                <a:ea typeface="Helvetica Neue"/>
                <a:cs typeface="Helvetica Neue"/>
              </a:defRPr>
            </a:lvl5pPr>
            <a:lvl6pPr>
              <a:defRPr sz="2250" b="1">
                <a:solidFill>
                  <a:srgbClr val="17243C"/>
                </a:solidFill>
                <a:latin typeface="Helvetica Neue"/>
                <a:ea typeface="Helvetica Neue"/>
                <a:cs typeface="Helvetica Neue"/>
              </a:defRPr>
            </a:lvl6pPr>
            <a:lvl7pPr>
              <a:defRPr sz="2250" b="1">
                <a:solidFill>
                  <a:srgbClr val="17243C"/>
                </a:solidFill>
                <a:latin typeface="Helvetica Neue"/>
                <a:ea typeface="Helvetica Neue"/>
                <a:cs typeface="Helvetica Neue"/>
              </a:defRPr>
            </a:lvl7pPr>
            <a:lvl8pPr>
              <a:defRPr sz="2250" b="1">
                <a:solidFill>
                  <a:srgbClr val="17243C"/>
                </a:solidFill>
                <a:latin typeface="Helvetica Neue"/>
                <a:ea typeface="Helvetica Neue"/>
                <a:cs typeface="Helvetica Neue"/>
              </a:defRPr>
            </a:lvl8pPr>
            <a:lvl9pPr>
              <a:defRPr sz="2250" b="1">
                <a:solidFill>
                  <a:srgbClr val="17243C"/>
                </a:solidFill>
                <a:latin typeface="Helvetica Neue"/>
                <a:ea typeface="Helvetica Neue"/>
                <a:cs typeface="Helvetica Neue"/>
              </a:defRPr>
            </a:lvl9pPr>
          </a:lstStyle>
          <a:p xmlns:a="http://schemas.openxmlformats.org/drawingml/2006/main">
            <a:pPr>
              <a:defRPr sz="2250" b="1">
                <a:solidFill>
                  <a:srgbClr val="17243C"/>
                </a:solidFill>
                <a:latin typeface="Helvetica Neue"/>
                <a:ea typeface="Helvetica Neue"/>
                <a:cs typeface="Helvetica Neue"/>
              </a:defRPr>
            </a:pPr>
            <a:r>
              <a:rPr sz="2250" b="1">
                <a:solidFill>
                  <a:srgbClr val="17243C"/>
                </a:solidFill>
                <a:latin typeface="Helvetica Neue"/>
                <a:ea typeface="Helvetica Neue"/>
                <a:cs typeface="Helvetica Neue"/>
              </a:rPr>
              <a:t>Separate history and candidate towers produce 128d vectors.</a:t>
            </a:r>
          </a:p>
        </p:txBody>
      </p:sp>
      <p:sp>
        <p:nvSpPr>
          <p:cNvPr id="5" name="text-19">
            <a:extLst xmlns:a="http://schemas.openxmlformats.org/drawingml/2006/main">
              <a:ext uri="{FF2B5EF4-FFF2-40B4-BE49-F238E27FC236}">
                <a16:creationId xmlns:a16="http://schemas.microsoft.com/office/drawing/2014/main" id="{64E20523-6570-47AF-92E0-531B1ED4CCD0}"/>
              </a:ext>
            </a:extLst>
          </p:cNvPr>
          <p:cNvSpPr>
            <a:spLocks xmlns:a="http://schemas.openxmlformats.org/drawingml/2006/main" noGrp="1"/>
          </p:cNvSpPr>
          <p:nvPr/>
        </p:nvSpPr>
        <p:spPr>
          <a:xfrm xmlns:a="http://schemas.openxmlformats.org/drawingml/2006/main">
            <a:off x="647700" y="5276850"/>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86C7C"/>
                </a:solidFill>
                <a:latin typeface="Helvetica Neue"/>
                <a:ea typeface="Helvetica Neue"/>
                <a:cs typeface="Helvetica Neue"/>
              </a:defRPr>
            </a:defPPr>
            <a:lvl1pPr>
              <a:defRPr sz="2175" b="0">
                <a:solidFill>
                  <a:srgbClr val="586C7C"/>
                </a:solidFill>
                <a:latin typeface="Helvetica Neue"/>
                <a:ea typeface="Helvetica Neue"/>
                <a:cs typeface="Helvetica Neue"/>
              </a:defRPr>
            </a:lvl1pPr>
            <a:lvl2pPr>
              <a:defRPr sz="2175" b="0">
                <a:solidFill>
                  <a:srgbClr val="586C7C"/>
                </a:solidFill>
                <a:latin typeface="Helvetica Neue"/>
                <a:ea typeface="Helvetica Neue"/>
                <a:cs typeface="Helvetica Neue"/>
              </a:defRPr>
            </a:lvl2pPr>
            <a:lvl3pPr>
              <a:defRPr sz="2175" b="0">
                <a:solidFill>
                  <a:srgbClr val="586C7C"/>
                </a:solidFill>
                <a:latin typeface="Helvetica Neue"/>
                <a:ea typeface="Helvetica Neue"/>
                <a:cs typeface="Helvetica Neue"/>
              </a:defRPr>
            </a:lvl3pPr>
            <a:lvl4pPr>
              <a:defRPr sz="2175" b="0">
                <a:solidFill>
                  <a:srgbClr val="586C7C"/>
                </a:solidFill>
                <a:latin typeface="Helvetica Neue"/>
                <a:ea typeface="Helvetica Neue"/>
                <a:cs typeface="Helvetica Neue"/>
              </a:defRPr>
            </a:lvl4pPr>
            <a:lvl5pPr>
              <a:defRPr sz="2175" b="0">
                <a:solidFill>
                  <a:srgbClr val="586C7C"/>
                </a:solidFill>
                <a:latin typeface="Helvetica Neue"/>
                <a:ea typeface="Helvetica Neue"/>
                <a:cs typeface="Helvetica Neue"/>
              </a:defRPr>
            </a:lvl5pPr>
            <a:lvl6pPr>
              <a:defRPr sz="2175" b="0">
                <a:solidFill>
                  <a:srgbClr val="586C7C"/>
                </a:solidFill>
                <a:latin typeface="Helvetica Neue"/>
                <a:ea typeface="Helvetica Neue"/>
                <a:cs typeface="Helvetica Neue"/>
              </a:defRPr>
            </a:lvl6pPr>
            <a:lvl7pPr>
              <a:defRPr sz="2175" b="0">
                <a:solidFill>
                  <a:srgbClr val="586C7C"/>
                </a:solidFill>
                <a:latin typeface="Helvetica Neue"/>
                <a:ea typeface="Helvetica Neue"/>
                <a:cs typeface="Helvetica Neue"/>
              </a:defRPr>
            </a:lvl7pPr>
            <a:lvl8pPr>
              <a:defRPr sz="2175" b="0">
                <a:solidFill>
                  <a:srgbClr val="586C7C"/>
                </a:solidFill>
                <a:latin typeface="Helvetica Neue"/>
                <a:ea typeface="Helvetica Neue"/>
                <a:cs typeface="Helvetica Neue"/>
              </a:defRPr>
            </a:lvl8pPr>
            <a:lvl9pPr>
              <a:defRPr sz="2175" b="0">
                <a:solidFill>
                  <a:srgbClr val="586C7C"/>
                </a:solidFill>
                <a:latin typeface="Helvetica Neue"/>
                <a:ea typeface="Helvetica Neue"/>
                <a:cs typeface="Helvetica Neue"/>
              </a:defRPr>
            </a:lvl9pPr>
          </a:lstStyle>
          <a:p xmlns:a="http://schemas.openxmlformats.org/drawingml/2006/main">
            <a:pPr>
              <a:defRPr sz="2175" b="0">
                <a:solidFill>
                  <a:srgbClr val="586C7C"/>
                </a:solidFill>
                <a:latin typeface="Helvetica Neue"/>
                <a:ea typeface="Helvetica Neue"/>
                <a:cs typeface="Helvetica Neue"/>
              </a:defRPr>
            </a:pPr>
            <a:r>
              <a:rPr sz="2175" b="0">
                <a:solidFill>
                  <a:srgbClr val="586C7C"/>
                </a:solidFill>
                <a:latin typeface="Helvetica Neue"/>
                <a:ea typeface="Helvetica Neue"/>
                <a:cs typeface="Helvetica Neue"/>
              </a:rPr>
              <a:t>User vector = normalize(MLP(mean(history vectors)))</a:t>
            </a:r>
          </a:p>
          <a:p xmlns:a="http://schemas.openxmlformats.org/drawingml/2006/main">
            <a:pPr>
              <a:defRPr sz="2175" b="0">
                <a:solidFill>
                  <a:srgbClr val="586C7C"/>
                </a:solidFill>
                <a:latin typeface="Helvetica Neue"/>
                <a:ea typeface="Helvetica Neue"/>
                <a:cs typeface="Helvetica Neue"/>
              </a:defRPr>
            </a:pPr>
            <a:r>
              <a:rPr sz="2175" b="0">
                <a:solidFill>
                  <a:srgbClr val="586C7C"/>
                </a:solidFill>
                <a:latin typeface="Helvetica Neue"/>
                <a:ea typeface="Helvetica Neue"/>
                <a:cs typeface="Helvetica Neue"/>
              </a:rPr>
              <a:t>Score = user vector · candidate vector</a:t>
            </a:r>
          </a:p>
        </p:txBody>
      </p:sp>
    </p:spTree>
    <p:extLst>
      <p:ext uri="{BB962C8B-B14F-4D97-AF65-F5344CB8AC3E}">
        <p14:creationId xmlns:p14="http://schemas.microsoft.com/office/powerpoint/2010/main" val="748027037"/>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text-20">
            <a:extLst xmlns:a="http://schemas.openxmlformats.org/drawingml/2006/main">
              <a:ext uri="{FF2B5EF4-FFF2-40B4-BE49-F238E27FC236}">
                <a16:creationId xmlns:a16="http://schemas.microsoft.com/office/drawing/2014/main" id="{734100C6-D265-4DA2-904C-00472771D345}"/>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Shared initialization and adaptation budget</a:t>
            </a:r>
          </a:p>
        </p:txBody>
      </p:sp>
      <p:sp>
        <p:nvSpPr>
          <p:cNvPr id="2" name="text-21">
            <a:extLst xmlns:a="http://schemas.openxmlformats.org/drawingml/2006/main">
              <a:ext uri="{FF2B5EF4-FFF2-40B4-BE49-F238E27FC236}">
                <a16:creationId xmlns:a16="http://schemas.microsoft.com/office/drawing/2014/main" id="{06A5DDD9-E5D1-4840-AE65-6EFDD74BABD7}"/>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05</a:t>
            </a:r>
          </a:p>
        </p:txBody>
      </p:sp>
      <p:sp>
        <p:nvSpPr>
          <p:cNvPr id="3" name="text-22">
            <a:extLst xmlns:a="http://schemas.openxmlformats.org/drawingml/2006/main">
              <a:ext uri="{FF2B5EF4-FFF2-40B4-BE49-F238E27FC236}">
                <a16:creationId xmlns:a16="http://schemas.microsoft.com/office/drawing/2014/main" id="{70706326-7817-40E3-9B12-2A5B3F89038A}"/>
              </a:ext>
            </a:extLst>
          </p:cNvPr>
          <p:cNvSpPr>
            <a:spLocks xmlns:a="http://schemas.openxmlformats.org/drawingml/2006/main" noGrp="1"/>
          </p:cNvSpPr>
          <p:nvPr/>
        </p:nvSpPr>
        <p:spPr>
          <a:xfrm xmlns:a="http://schemas.openxmlformats.org/drawingml/2006/main">
            <a:off x="647700" y="15811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347CDB"/>
                </a:solidFill>
                <a:latin typeface="Helvetica Neue"/>
                <a:ea typeface="Helvetica Neue"/>
                <a:cs typeface="Helvetica Neue"/>
              </a:defRPr>
            </a:defPPr>
            <a:lvl1pPr>
              <a:defRPr sz="2400" b="1">
                <a:solidFill>
                  <a:srgbClr val="347CDB"/>
                </a:solidFill>
                <a:latin typeface="Helvetica Neue"/>
                <a:ea typeface="Helvetica Neue"/>
                <a:cs typeface="Helvetica Neue"/>
              </a:defRPr>
            </a:lvl1pPr>
            <a:lvl2pPr>
              <a:defRPr sz="2400" b="1">
                <a:solidFill>
                  <a:srgbClr val="347CDB"/>
                </a:solidFill>
                <a:latin typeface="Helvetica Neue"/>
                <a:ea typeface="Helvetica Neue"/>
                <a:cs typeface="Helvetica Neue"/>
              </a:defRPr>
            </a:lvl2pPr>
            <a:lvl3pPr>
              <a:defRPr sz="2400" b="1">
                <a:solidFill>
                  <a:srgbClr val="347CDB"/>
                </a:solidFill>
                <a:latin typeface="Helvetica Neue"/>
                <a:ea typeface="Helvetica Neue"/>
                <a:cs typeface="Helvetica Neue"/>
              </a:defRPr>
            </a:lvl3pPr>
            <a:lvl4pPr>
              <a:defRPr sz="2400" b="1">
                <a:solidFill>
                  <a:srgbClr val="347CDB"/>
                </a:solidFill>
                <a:latin typeface="Helvetica Neue"/>
                <a:ea typeface="Helvetica Neue"/>
                <a:cs typeface="Helvetica Neue"/>
              </a:defRPr>
            </a:lvl4pPr>
            <a:lvl5pPr>
              <a:defRPr sz="2400" b="1">
                <a:solidFill>
                  <a:srgbClr val="347CDB"/>
                </a:solidFill>
                <a:latin typeface="Helvetica Neue"/>
                <a:ea typeface="Helvetica Neue"/>
                <a:cs typeface="Helvetica Neue"/>
              </a:defRPr>
            </a:lvl5pPr>
            <a:lvl6pPr>
              <a:defRPr sz="2400" b="1">
                <a:solidFill>
                  <a:srgbClr val="347CDB"/>
                </a:solidFill>
                <a:latin typeface="Helvetica Neue"/>
                <a:ea typeface="Helvetica Neue"/>
                <a:cs typeface="Helvetica Neue"/>
              </a:defRPr>
            </a:lvl6pPr>
            <a:lvl7pPr>
              <a:defRPr sz="2400" b="1">
                <a:solidFill>
                  <a:srgbClr val="347CDB"/>
                </a:solidFill>
                <a:latin typeface="Helvetica Neue"/>
                <a:ea typeface="Helvetica Neue"/>
                <a:cs typeface="Helvetica Neue"/>
              </a:defRPr>
            </a:lvl7pPr>
            <a:lvl8pPr>
              <a:defRPr sz="2400" b="1">
                <a:solidFill>
                  <a:srgbClr val="347CDB"/>
                </a:solidFill>
                <a:latin typeface="Helvetica Neue"/>
                <a:ea typeface="Helvetica Neue"/>
                <a:cs typeface="Helvetica Neue"/>
              </a:defRPr>
            </a:lvl8pPr>
            <a:lvl9pPr>
              <a:defRPr sz="2400" b="1">
                <a:solidFill>
                  <a:srgbClr val="347CDB"/>
                </a:solidFill>
                <a:latin typeface="Helvetica Neue"/>
                <a:ea typeface="Helvetica Neue"/>
                <a:cs typeface="Helvetica Neue"/>
              </a:defRPr>
            </a:lvl9pPr>
          </a:lstStyle>
          <a:p xmlns:a="http://schemas.openxmlformats.org/drawingml/2006/main">
            <a:pPr>
              <a:defRPr sz="2400" b="1">
                <a:solidFill>
                  <a:srgbClr val="347CDB"/>
                </a:solidFill>
                <a:latin typeface="Helvetica Neue"/>
                <a:ea typeface="Helvetica Neue"/>
                <a:cs typeface="Helvetica Neue"/>
              </a:defRPr>
            </a:pPr>
            <a:r>
              <a:rPr sz="2400" b="1">
                <a:solidFill>
                  <a:srgbClr val="347CDB"/>
                </a:solidFill>
                <a:latin typeface="Helvetica Neue"/>
                <a:ea typeface="Helvetica Neue"/>
                <a:cs typeface="Helvetica Neue"/>
              </a:rPr>
              <a:t>Common warmup</a:t>
            </a:r>
          </a:p>
        </p:txBody>
      </p:sp>
      <p:sp>
        <p:nvSpPr>
          <p:cNvPr id="4" name="text-23">
            <a:extLst xmlns:a="http://schemas.openxmlformats.org/drawingml/2006/main">
              <a:ext uri="{FF2B5EF4-FFF2-40B4-BE49-F238E27FC236}">
                <a16:creationId xmlns:a16="http://schemas.microsoft.com/office/drawing/2014/main" id="{6ED4E986-4887-40D0-9B43-C1162DB6C320}"/>
              </a:ext>
            </a:extLst>
          </p:cNvPr>
          <p:cNvSpPr>
            <a:spLocks xmlns:a="http://schemas.openxmlformats.org/drawingml/2006/main" noGrp="1"/>
          </p:cNvSpPr>
          <p:nvPr/>
        </p:nvSpPr>
        <p:spPr>
          <a:xfrm xmlns:a="http://schemas.openxmlformats.org/drawingml/2006/main">
            <a:off x="647700" y="2181225"/>
            <a:ext cx="10801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43C"/>
                </a:solidFill>
                <a:latin typeface="Helvetica Neue"/>
                <a:ea typeface="Helvetica Neue"/>
                <a:cs typeface="Helvetica Neue"/>
              </a:defRPr>
            </a:defPPr>
            <a:lvl1pPr>
              <a:defRPr sz="2175" b="0">
                <a:solidFill>
                  <a:srgbClr val="17243C"/>
                </a:solidFill>
                <a:latin typeface="Helvetica Neue"/>
                <a:ea typeface="Helvetica Neue"/>
                <a:cs typeface="Helvetica Neue"/>
              </a:defRPr>
            </a:lvl1pPr>
            <a:lvl2pPr>
              <a:defRPr sz="2175" b="0">
                <a:solidFill>
                  <a:srgbClr val="17243C"/>
                </a:solidFill>
                <a:latin typeface="Helvetica Neue"/>
                <a:ea typeface="Helvetica Neue"/>
                <a:cs typeface="Helvetica Neue"/>
              </a:defRPr>
            </a:lvl2pPr>
            <a:lvl3pPr>
              <a:defRPr sz="2175" b="0">
                <a:solidFill>
                  <a:srgbClr val="17243C"/>
                </a:solidFill>
                <a:latin typeface="Helvetica Neue"/>
                <a:ea typeface="Helvetica Neue"/>
                <a:cs typeface="Helvetica Neue"/>
              </a:defRPr>
            </a:lvl3pPr>
            <a:lvl4pPr>
              <a:defRPr sz="2175" b="0">
                <a:solidFill>
                  <a:srgbClr val="17243C"/>
                </a:solidFill>
                <a:latin typeface="Helvetica Neue"/>
                <a:ea typeface="Helvetica Neue"/>
                <a:cs typeface="Helvetica Neue"/>
              </a:defRPr>
            </a:lvl4pPr>
            <a:lvl5pPr>
              <a:defRPr sz="2175" b="0">
                <a:solidFill>
                  <a:srgbClr val="17243C"/>
                </a:solidFill>
                <a:latin typeface="Helvetica Neue"/>
                <a:ea typeface="Helvetica Neue"/>
                <a:cs typeface="Helvetica Neue"/>
              </a:defRPr>
            </a:lvl5pPr>
            <a:lvl6pPr>
              <a:defRPr sz="2175" b="0">
                <a:solidFill>
                  <a:srgbClr val="17243C"/>
                </a:solidFill>
                <a:latin typeface="Helvetica Neue"/>
                <a:ea typeface="Helvetica Neue"/>
                <a:cs typeface="Helvetica Neue"/>
              </a:defRPr>
            </a:lvl6pPr>
            <a:lvl7pPr>
              <a:defRPr sz="2175" b="0">
                <a:solidFill>
                  <a:srgbClr val="17243C"/>
                </a:solidFill>
                <a:latin typeface="Helvetica Neue"/>
                <a:ea typeface="Helvetica Neue"/>
                <a:cs typeface="Helvetica Neue"/>
              </a:defRPr>
            </a:lvl7pPr>
            <a:lvl8pPr>
              <a:defRPr sz="2175" b="0">
                <a:solidFill>
                  <a:srgbClr val="17243C"/>
                </a:solidFill>
                <a:latin typeface="Helvetica Neue"/>
                <a:ea typeface="Helvetica Neue"/>
                <a:cs typeface="Helvetica Neue"/>
              </a:defRPr>
            </a:lvl8pPr>
            <a:lvl9pPr>
              <a:defRPr sz="2175" b="0">
                <a:solidFill>
                  <a:srgbClr val="17243C"/>
                </a:solidFill>
                <a:latin typeface="Helvetica Neue"/>
                <a:ea typeface="Helvetica Neue"/>
                <a:cs typeface="Helvetica Neue"/>
              </a:defRPr>
            </a:lvl9pPr>
          </a:lstStyle>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All eligible training cases. Validation selects one shared head</a:t>
            </a:r>
          </a:p>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for each domain and seed.</a:t>
            </a:r>
          </a:p>
        </p:txBody>
      </p:sp>
      <p:sp>
        <p:nvSpPr>
          <p:cNvPr id="5" name="text-24">
            <a:extLst xmlns:a="http://schemas.openxmlformats.org/drawingml/2006/main">
              <a:ext uri="{FF2B5EF4-FFF2-40B4-BE49-F238E27FC236}">
                <a16:creationId xmlns:a16="http://schemas.microsoft.com/office/drawing/2014/main" id="{A42BD488-02EE-487C-BF9A-DD5F5C4DA245}"/>
              </a:ext>
            </a:extLst>
          </p:cNvPr>
          <p:cNvSpPr>
            <a:spLocks xmlns:a="http://schemas.openxmlformats.org/drawingml/2006/main" noGrp="1"/>
          </p:cNvSpPr>
          <p:nvPr/>
        </p:nvSpPr>
        <p:spPr>
          <a:xfrm xmlns:a="http://schemas.openxmlformats.org/drawingml/2006/main">
            <a:off x="647700" y="35052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A967B"/>
                </a:solidFill>
                <a:latin typeface="Helvetica Neue"/>
                <a:ea typeface="Helvetica Neue"/>
                <a:cs typeface="Helvetica Neue"/>
              </a:defRPr>
            </a:defPPr>
            <a:lvl1pPr>
              <a:defRPr sz="2400" b="1">
                <a:solidFill>
                  <a:srgbClr val="1A967B"/>
                </a:solidFill>
                <a:latin typeface="Helvetica Neue"/>
                <a:ea typeface="Helvetica Neue"/>
                <a:cs typeface="Helvetica Neue"/>
              </a:defRPr>
            </a:lvl1pPr>
            <a:lvl2pPr>
              <a:defRPr sz="2400" b="1">
                <a:solidFill>
                  <a:srgbClr val="1A967B"/>
                </a:solidFill>
                <a:latin typeface="Helvetica Neue"/>
                <a:ea typeface="Helvetica Neue"/>
                <a:cs typeface="Helvetica Neue"/>
              </a:defRPr>
            </a:lvl2pPr>
            <a:lvl3pPr>
              <a:defRPr sz="2400" b="1">
                <a:solidFill>
                  <a:srgbClr val="1A967B"/>
                </a:solidFill>
                <a:latin typeface="Helvetica Neue"/>
                <a:ea typeface="Helvetica Neue"/>
                <a:cs typeface="Helvetica Neue"/>
              </a:defRPr>
            </a:lvl3pPr>
            <a:lvl4pPr>
              <a:defRPr sz="2400" b="1">
                <a:solidFill>
                  <a:srgbClr val="1A967B"/>
                </a:solidFill>
                <a:latin typeface="Helvetica Neue"/>
                <a:ea typeface="Helvetica Neue"/>
                <a:cs typeface="Helvetica Neue"/>
              </a:defRPr>
            </a:lvl4pPr>
            <a:lvl5pPr>
              <a:defRPr sz="2400" b="1">
                <a:solidFill>
                  <a:srgbClr val="1A967B"/>
                </a:solidFill>
                <a:latin typeface="Helvetica Neue"/>
                <a:ea typeface="Helvetica Neue"/>
                <a:cs typeface="Helvetica Neue"/>
              </a:defRPr>
            </a:lvl5pPr>
            <a:lvl6pPr>
              <a:defRPr sz="2400" b="1">
                <a:solidFill>
                  <a:srgbClr val="1A967B"/>
                </a:solidFill>
                <a:latin typeface="Helvetica Neue"/>
                <a:ea typeface="Helvetica Neue"/>
                <a:cs typeface="Helvetica Neue"/>
              </a:defRPr>
            </a:lvl6pPr>
            <a:lvl7pPr>
              <a:defRPr sz="2400" b="1">
                <a:solidFill>
                  <a:srgbClr val="1A967B"/>
                </a:solidFill>
                <a:latin typeface="Helvetica Neue"/>
                <a:ea typeface="Helvetica Neue"/>
                <a:cs typeface="Helvetica Neue"/>
              </a:defRPr>
            </a:lvl7pPr>
            <a:lvl8pPr>
              <a:defRPr sz="2400" b="1">
                <a:solidFill>
                  <a:srgbClr val="1A967B"/>
                </a:solidFill>
                <a:latin typeface="Helvetica Neue"/>
                <a:ea typeface="Helvetica Neue"/>
                <a:cs typeface="Helvetica Neue"/>
              </a:defRPr>
            </a:lvl8pPr>
            <a:lvl9pPr>
              <a:defRPr sz="2400" b="1">
                <a:solidFill>
                  <a:srgbClr val="1A967B"/>
                </a:solidFill>
                <a:latin typeface="Helvetica Neue"/>
                <a:ea typeface="Helvetica Neue"/>
                <a:cs typeface="Helvetica Neue"/>
              </a:defRPr>
            </a:lvl9pPr>
          </a:lstStyle>
          <a:p xmlns:a="http://schemas.openxmlformats.org/drawingml/2006/main">
            <a:pPr>
              <a:defRPr sz="2400" b="1">
                <a:solidFill>
                  <a:srgbClr val="1A967B"/>
                </a:solidFill>
                <a:latin typeface="Helvetica Neue"/>
                <a:ea typeface="Helvetica Neue"/>
                <a:cs typeface="Helvetica Neue"/>
              </a:defRPr>
            </a:pPr>
            <a:r>
              <a:rPr sz="2400" b="1">
                <a:solidFill>
                  <a:srgbClr val="1A967B"/>
                </a:solidFill>
                <a:latin typeface="Helvetica Neue"/>
                <a:ea typeface="Helvetica Neue"/>
                <a:cs typeface="Helvetica Neue"/>
              </a:rPr>
              <a:t>Controlled adaptation</a:t>
            </a:r>
          </a:p>
        </p:txBody>
      </p:sp>
      <p:sp>
        <p:nvSpPr>
          <p:cNvPr id="6" name="text-25">
            <a:extLst xmlns:a="http://schemas.openxmlformats.org/drawingml/2006/main">
              <a:ext uri="{FF2B5EF4-FFF2-40B4-BE49-F238E27FC236}">
                <a16:creationId xmlns:a16="http://schemas.microsoft.com/office/drawing/2014/main" id="{21FE6164-A8AF-4F2D-96DB-917B9F5CA47C}"/>
              </a:ext>
            </a:extLst>
          </p:cNvPr>
          <p:cNvSpPr>
            <a:spLocks xmlns:a="http://schemas.openxmlformats.org/drawingml/2006/main" noGrp="1"/>
          </p:cNvSpPr>
          <p:nvPr/>
        </p:nvSpPr>
        <p:spPr>
          <a:xfrm xmlns:a="http://schemas.openxmlformats.org/drawingml/2006/main">
            <a:off x="647700" y="41052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43C"/>
                </a:solidFill>
                <a:latin typeface="Helvetica Neue"/>
                <a:ea typeface="Helvetica Neue"/>
                <a:cs typeface="Helvetica Neue"/>
              </a:defRPr>
            </a:defPPr>
            <a:lvl1pPr>
              <a:defRPr sz="2175" b="0">
                <a:solidFill>
                  <a:srgbClr val="17243C"/>
                </a:solidFill>
                <a:latin typeface="Helvetica Neue"/>
                <a:ea typeface="Helvetica Neue"/>
                <a:cs typeface="Helvetica Neue"/>
              </a:defRPr>
            </a:lvl1pPr>
            <a:lvl2pPr>
              <a:defRPr sz="2175" b="0">
                <a:solidFill>
                  <a:srgbClr val="17243C"/>
                </a:solidFill>
                <a:latin typeface="Helvetica Neue"/>
                <a:ea typeface="Helvetica Neue"/>
                <a:cs typeface="Helvetica Neue"/>
              </a:defRPr>
            </a:lvl2pPr>
            <a:lvl3pPr>
              <a:defRPr sz="2175" b="0">
                <a:solidFill>
                  <a:srgbClr val="17243C"/>
                </a:solidFill>
                <a:latin typeface="Helvetica Neue"/>
                <a:ea typeface="Helvetica Neue"/>
                <a:cs typeface="Helvetica Neue"/>
              </a:defRPr>
            </a:lvl3pPr>
            <a:lvl4pPr>
              <a:defRPr sz="2175" b="0">
                <a:solidFill>
                  <a:srgbClr val="17243C"/>
                </a:solidFill>
                <a:latin typeface="Helvetica Neue"/>
                <a:ea typeface="Helvetica Neue"/>
                <a:cs typeface="Helvetica Neue"/>
              </a:defRPr>
            </a:lvl4pPr>
            <a:lvl5pPr>
              <a:defRPr sz="2175" b="0">
                <a:solidFill>
                  <a:srgbClr val="17243C"/>
                </a:solidFill>
                <a:latin typeface="Helvetica Neue"/>
                <a:ea typeface="Helvetica Neue"/>
                <a:cs typeface="Helvetica Neue"/>
              </a:defRPr>
            </a:lvl5pPr>
            <a:lvl6pPr>
              <a:defRPr sz="2175" b="0">
                <a:solidFill>
                  <a:srgbClr val="17243C"/>
                </a:solidFill>
                <a:latin typeface="Helvetica Neue"/>
                <a:ea typeface="Helvetica Neue"/>
                <a:cs typeface="Helvetica Neue"/>
              </a:defRPr>
            </a:lvl6pPr>
            <a:lvl7pPr>
              <a:defRPr sz="2175" b="0">
                <a:solidFill>
                  <a:srgbClr val="17243C"/>
                </a:solidFill>
                <a:latin typeface="Helvetica Neue"/>
                <a:ea typeface="Helvetica Neue"/>
                <a:cs typeface="Helvetica Neue"/>
              </a:defRPr>
            </a:lvl7pPr>
            <a:lvl8pPr>
              <a:defRPr sz="2175" b="0">
                <a:solidFill>
                  <a:srgbClr val="17243C"/>
                </a:solidFill>
                <a:latin typeface="Helvetica Neue"/>
                <a:ea typeface="Helvetica Neue"/>
                <a:cs typeface="Helvetica Neue"/>
              </a:defRPr>
            </a:lvl8pPr>
            <a:lvl9pPr>
              <a:defRPr sz="2175" b="0">
                <a:solidFill>
                  <a:srgbClr val="17243C"/>
                </a:solidFill>
                <a:latin typeface="Helvetica Neue"/>
                <a:ea typeface="Helvetica Neue"/>
                <a:cs typeface="Helvetica Neue"/>
              </a:defRPr>
            </a:lvl9pPr>
          </a:lstStyle>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30,000 matched cases per domain and seed, over two epochs.</a:t>
            </a:r>
          </a:p>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Identical case order and sampled negatives across the arms.</a:t>
            </a:r>
          </a:p>
        </p:txBody>
      </p:sp>
      <p:sp>
        <p:nvSpPr>
          <p:cNvPr id="7" name="text-26">
            <a:extLst xmlns:a="http://schemas.openxmlformats.org/drawingml/2006/main">
              <a:ext uri="{FF2B5EF4-FFF2-40B4-BE49-F238E27FC236}">
                <a16:creationId xmlns:a16="http://schemas.microsoft.com/office/drawing/2014/main" id="{D2B6FB5C-059E-44F0-AD0D-9B8D315E1612}"/>
              </a:ext>
            </a:extLst>
          </p:cNvPr>
          <p:cNvSpPr>
            <a:spLocks xmlns:a="http://schemas.openxmlformats.org/drawingml/2006/main" noGrp="1"/>
          </p:cNvSpPr>
          <p:nvPr/>
        </p:nvSpPr>
        <p:spPr>
          <a:xfrm xmlns:a="http://schemas.openxmlformats.org/drawingml/2006/main">
            <a:off x="647700" y="5524500"/>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86C7C"/>
                </a:solidFill>
                <a:latin typeface="Helvetica Neue"/>
                <a:ea typeface="Helvetica Neue"/>
                <a:cs typeface="Helvetica Neue"/>
              </a:defRPr>
            </a:defPPr>
            <a:lvl1pPr>
              <a:defRPr sz="2100" b="0">
                <a:solidFill>
                  <a:srgbClr val="586C7C"/>
                </a:solidFill>
                <a:latin typeface="Helvetica Neue"/>
                <a:ea typeface="Helvetica Neue"/>
                <a:cs typeface="Helvetica Neue"/>
              </a:defRPr>
            </a:lvl1pPr>
            <a:lvl2pPr>
              <a:defRPr sz="2100" b="0">
                <a:solidFill>
                  <a:srgbClr val="586C7C"/>
                </a:solidFill>
                <a:latin typeface="Helvetica Neue"/>
                <a:ea typeface="Helvetica Neue"/>
                <a:cs typeface="Helvetica Neue"/>
              </a:defRPr>
            </a:lvl2pPr>
            <a:lvl3pPr>
              <a:defRPr sz="2100" b="0">
                <a:solidFill>
                  <a:srgbClr val="586C7C"/>
                </a:solidFill>
                <a:latin typeface="Helvetica Neue"/>
                <a:ea typeface="Helvetica Neue"/>
                <a:cs typeface="Helvetica Neue"/>
              </a:defRPr>
            </a:lvl3pPr>
            <a:lvl4pPr>
              <a:defRPr sz="2100" b="0">
                <a:solidFill>
                  <a:srgbClr val="586C7C"/>
                </a:solidFill>
                <a:latin typeface="Helvetica Neue"/>
                <a:ea typeface="Helvetica Neue"/>
                <a:cs typeface="Helvetica Neue"/>
              </a:defRPr>
            </a:lvl4pPr>
            <a:lvl5pPr>
              <a:defRPr sz="2100" b="0">
                <a:solidFill>
                  <a:srgbClr val="586C7C"/>
                </a:solidFill>
                <a:latin typeface="Helvetica Neue"/>
                <a:ea typeface="Helvetica Neue"/>
                <a:cs typeface="Helvetica Neue"/>
              </a:defRPr>
            </a:lvl5pPr>
            <a:lvl6pPr>
              <a:defRPr sz="2100" b="0">
                <a:solidFill>
                  <a:srgbClr val="586C7C"/>
                </a:solidFill>
                <a:latin typeface="Helvetica Neue"/>
                <a:ea typeface="Helvetica Neue"/>
                <a:cs typeface="Helvetica Neue"/>
              </a:defRPr>
            </a:lvl6pPr>
            <a:lvl7pPr>
              <a:defRPr sz="2100" b="0">
                <a:solidFill>
                  <a:srgbClr val="586C7C"/>
                </a:solidFill>
                <a:latin typeface="Helvetica Neue"/>
                <a:ea typeface="Helvetica Neue"/>
                <a:cs typeface="Helvetica Neue"/>
              </a:defRPr>
            </a:lvl7pPr>
            <a:lvl8pPr>
              <a:defRPr sz="2100" b="0">
                <a:solidFill>
                  <a:srgbClr val="586C7C"/>
                </a:solidFill>
                <a:latin typeface="Helvetica Neue"/>
                <a:ea typeface="Helvetica Neue"/>
                <a:cs typeface="Helvetica Neue"/>
              </a:defRPr>
            </a:lvl8pPr>
            <a:lvl9pPr>
              <a:defRPr sz="2100" b="0">
                <a:solidFill>
                  <a:srgbClr val="586C7C"/>
                </a:solidFill>
                <a:latin typeface="Helvetica Neue"/>
                <a:ea typeface="Helvetica Neue"/>
                <a:cs typeface="Helvetica Neue"/>
              </a:defRPr>
            </a:lvl9pPr>
          </a:lstStyle>
          <a:p xmlns:a="http://schemas.openxmlformats.org/drawingml/2006/main">
            <a:pPr>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Validation selects epoch 1 or 2. Seeds 42, 43 and 44 repeat the full pipeline.</a:t>
            </a:r>
          </a:p>
        </p:txBody>
      </p:sp>
    </p:spTree>
    <p:extLst>
      <p:ext uri="{BB962C8B-B14F-4D97-AF65-F5344CB8AC3E}">
        <p14:creationId xmlns:p14="http://schemas.microsoft.com/office/powerpoint/2010/main" val="707695230"/>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text-27">
            <a:extLst xmlns:a="http://schemas.openxmlformats.org/drawingml/2006/main">
              <a:ext uri="{FF2B5EF4-FFF2-40B4-BE49-F238E27FC236}">
                <a16:creationId xmlns:a16="http://schemas.microsoft.com/office/drawing/2014/main" id="{963A85B7-0E55-4BC7-997F-ED3FAC3832AD}"/>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Formal test results</a:t>
            </a:r>
          </a:p>
        </p:txBody>
      </p:sp>
      <p:sp>
        <p:nvSpPr>
          <p:cNvPr id="2" name="text-28">
            <a:extLst xmlns:a="http://schemas.openxmlformats.org/drawingml/2006/main">
              <a:ext uri="{FF2B5EF4-FFF2-40B4-BE49-F238E27FC236}">
                <a16:creationId xmlns:a16="http://schemas.microsoft.com/office/drawing/2014/main" id="{528F8180-C1C8-4916-8985-89AF1B1E7242}"/>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User-macro NDCG@10. Mean across three complete pipeline seeds.</a:t>
            </a:r>
          </a:p>
        </p:txBody>
      </p:sp>
      <p:sp>
        <p:nvSpPr>
          <p:cNvPr id="3" name="text-29">
            <a:extLst xmlns:a="http://schemas.openxmlformats.org/drawingml/2006/main">
              <a:ext uri="{FF2B5EF4-FFF2-40B4-BE49-F238E27FC236}">
                <a16:creationId xmlns:a16="http://schemas.microsoft.com/office/drawing/2014/main" id="{FC9541FB-BDF3-4C8C-A007-31E32132E250}"/>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06</a:t>
            </a:r>
          </a:p>
        </p:txBody>
      </p:sp>
      <p:graphicFrame>
        <p:nvGraphicFramePr>
          <p:cNvPr id="4" name="Chart">
            <a:extLst xmlns:a="http://schemas.openxmlformats.org/drawingml/2006/main">
              <a:ext uri="{FF2B5EF4-FFF2-40B4-BE49-F238E27FC236}">
                <a16:creationId xmlns:a16="http://schemas.microsoft.com/office/drawing/2014/main" id="{C3078677-978A-4795-B11D-D2F0A3904FF9}"/>
              </a:ext>
            </a:extLst>
          </p:cNvPr>
          <p:cNvGraphicFramePr/>
          <p:nvPr/>
        </p:nvGraphicFramePr>
        <p:xfrm>
          <a:off xmlns:a="http://schemas.openxmlformats.org/drawingml/2006/main" x="609600" y="18669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efcced936e3d4ff3"/>
          </a:graphicData>
        </a:graphic>
      </p:graphicFrame>
      <p:sp>
        <p:nvSpPr>
          <p:cNvPr id="5" name="text-30">
            <a:extLst xmlns:a="http://schemas.openxmlformats.org/drawingml/2006/main">
              <a:ext uri="{FF2B5EF4-FFF2-40B4-BE49-F238E27FC236}">
                <a16:creationId xmlns:a16="http://schemas.microsoft.com/office/drawing/2014/main" id="{61E22C4B-2FED-4149-9A5E-F22B2E5EC7D2}"/>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Frozen has the highest observed mean in all three domains.</a:t>
            </a:r>
          </a:p>
        </p:txBody>
      </p:sp>
    </p:spTree>
    <p:extLst>
      <p:ext uri="{BB962C8B-B14F-4D97-AF65-F5344CB8AC3E}">
        <p14:creationId xmlns:p14="http://schemas.microsoft.com/office/powerpoint/2010/main" val="706777176"/>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text-31">
            <a:extLst xmlns:a="http://schemas.openxmlformats.org/drawingml/2006/main">
              <a:ext uri="{FF2B5EF4-FFF2-40B4-BE49-F238E27FC236}">
                <a16:creationId xmlns:a16="http://schemas.microsoft.com/office/drawing/2014/main" id="{AD514C8B-C9A1-41F6-907D-E90F2411D693}"/>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buNone/>
              <a:defRPr sz="3075" b="1">
                <a:solidFill>
                  <a:srgbClr val="17243C"/>
                </a:solidFill>
                <a:latin typeface="Helvetica Neue"/>
                <a:ea typeface="Helvetica Neue"/>
                <a:cs typeface="Helvetica Neue"/>
              </a:defRPr>
            </a:lvl1pPr>
            <a:lvl2pPr>
              <a:buNone/>
              <a:defRPr sz="3075" b="1">
                <a:solidFill>
                  <a:srgbClr val="17243C"/>
                </a:solidFill>
                <a:latin typeface="Helvetica Neue"/>
                <a:ea typeface="Helvetica Neue"/>
                <a:cs typeface="Helvetica Neue"/>
              </a:defRPr>
            </a:lvl2pPr>
            <a:lvl3pPr>
              <a:buNone/>
              <a:defRPr sz="3075" b="1">
                <a:solidFill>
                  <a:srgbClr val="17243C"/>
                </a:solidFill>
                <a:latin typeface="Helvetica Neue"/>
                <a:ea typeface="Helvetica Neue"/>
                <a:cs typeface="Helvetica Neue"/>
              </a:defRPr>
            </a:lvl3pPr>
            <a:lvl4pPr>
              <a:buNone/>
              <a:defRPr sz="3075" b="1">
                <a:solidFill>
                  <a:srgbClr val="17243C"/>
                </a:solidFill>
                <a:latin typeface="Helvetica Neue"/>
                <a:ea typeface="Helvetica Neue"/>
                <a:cs typeface="Helvetica Neue"/>
              </a:defRPr>
            </a:lvl4pPr>
            <a:lvl5pPr>
              <a:buNone/>
              <a:defRPr sz="3075" b="1">
                <a:solidFill>
                  <a:srgbClr val="17243C"/>
                </a:solidFill>
                <a:latin typeface="Helvetica Neue"/>
                <a:ea typeface="Helvetica Neue"/>
                <a:cs typeface="Helvetica Neue"/>
              </a:defRPr>
            </a:lvl5pPr>
            <a:lvl6pPr>
              <a:buNone/>
              <a:defRPr sz="3075" b="1">
                <a:solidFill>
                  <a:srgbClr val="17243C"/>
                </a:solidFill>
                <a:latin typeface="Helvetica Neue"/>
                <a:ea typeface="Helvetica Neue"/>
                <a:cs typeface="Helvetica Neue"/>
              </a:defRPr>
            </a:lvl6pPr>
            <a:lvl7pPr>
              <a:buNone/>
              <a:defRPr sz="3075" b="1">
                <a:solidFill>
                  <a:srgbClr val="17243C"/>
                </a:solidFill>
                <a:latin typeface="Helvetica Neue"/>
                <a:ea typeface="Helvetica Neue"/>
                <a:cs typeface="Helvetica Neue"/>
              </a:defRPr>
            </a:lvl7pPr>
            <a:lvl8pPr>
              <a:buNone/>
              <a:defRPr sz="3075" b="1">
                <a:solidFill>
                  <a:srgbClr val="17243C"/>
                </a:solidFill>
                <a:latin typeface="Helvetica Neue"/>
                <a:ea typeface="Helvetica Neue"/>
                <a:cs typeface="Helvetica Neue"/>
              </a:defRPr>
            </a:lvl8pPr>
            <a:lvl9pPr>
              <a:buNone/>
              <a:defRPr sz="3075" b="1">
                <a:solidFill>
                  <a:srgbClr val="17243C"/>
                </a:solidFill>
                <a:latin typeface="Helvetica Neue"/>
                <a:ea typeface="Helvetica Neue"/>
                <a:cs typeface="Helvetica Neue"/>
              </a:defRPr>
            </a:lvl9pPr>
          </a:lstStyle>
          <a:p xmlns:a="http://schemas.openxmlformats.org/drawingml/2006/main">
            <a:pPr>
              <a:buNone/>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Experiment gallery: every recorded seed</a:t>
            </a:r>
          </a:p>
        </p:txBody>
      </p:sp>
      <p:sp>
        <p:nvSpPr>
          <p:cNvPr id="2" name="text-32">
            <a:extLst xmlns:a="http://schemas.openxmlformats.org/drawingml/2006/main">
              <a:ext uri="{FF2B5EF4-FFF2-40B4-BE49-F238E27FC236}">
                <a16:creationId xmlns:a16="http://schemas.microsoft.com/office/drawing/2014/main" id="{D7E14D7A-900C-4F8E-8A82-9CDDA03DDD0B}"/>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buNone/>
              <a:defRPr sz="1800" b="0">
                <a:solidFill>
                  <a:srgbClr val="586C7C"/>
                </a:solidFill>
                <a:latin typeface="Helvetica Neue"/>
                <a:ea typeface="Helvetica Neue"/>
                <a:cs typeface="Helvetica Neue"/>
              </a:defRPr>
            </a:lvl1pPr>
            <a:lvl2pPr>
              <a:buNone/>
              <a:defRPr sz="1800" b="0">
                <a:solidFill>
                  <a:srgbClr val="586C7C"/>
                </a:solidFill>
                <a:latin typeface="Helvetica Neue"/>
                <a:ea typeface="Helvetica Neue"/>
                <a:cs typeface="Helvetica Neue"/>
              </a:defRPr>
            </a:lvl2pPr>
            <a:lvl3pPr>
              <a:buNone/>
              <a:defRPr sz="1800" b="0">
                <a:solidFill>
                  <a:srgbClr val="586C7C"/>
                </a:solidFill>
                <a:latin typeface="Helvetica Neue"/>
                <a:ea typeface="Helvetica Neue"/>
                <a:cs typeface="Helvetica Neue"/>
              </a:defRPr>
            </a:lvl3pPr>
            <a:lvl4pPr>
              <a:buNone/>
              <a:defRPr sz="1800" b="0">
                <a:solidFill>
                  <a:srgbClr val="586C7C"/>
                </a:solidFill>
                <a:latin typeface="Helvetica Neue"/>
                <a:ea typeface="Helvetica Neue"/>
                <a:cs typeface="Helvetica Neue"/>
              </a:defRPr>
            </a:lvl4pPr>
            <a:lvl5pPr>
              <a:buNone/>
              <a:defRPr sz="1800" b="0">
                <a:solidFill>
                  <a:srgbClr val="586C7C"/>
                </a:solidFill>
                <a:latin typeface="Helvetica Neue"/>
                <a:ea typeface="Helvetica Neue"/>
                <a:cs typeface="Helvetica Neue"/>
              </a:defRPr>
            </a:lvl5pPr>
            <a:lvl6pPr>
              <a:buNone/>
              <a:defRPr sz="1800" b="0">
                <a:solidFill>
                  <a:srgbClr val="586C7C"/>
                </a:solidFill>
                <a:latin typeface="Helvetica Neue"/>
                <a:ea typeface="Helvetica Neue"/>
                <a:cs typeface="Helvetica Neue"/>
              </a:defRPr>
            </a:lvl6pPr>
            <a:lvl7pPr>
              <a:buNone/>
              <a:defRPr sz="1800" b="0">
                <a:solidFill>
                  <a:srgbClr val="586C7C"/>
                </a:solidFill>
                <a:latin typeface="Helvetica Neue"/>
                <a:ea typeface="Helvetica Neue"/>
                <a:cs typeface="Helvetica Neue"/>
              </a:defRPr>
            </a:lvl7pPr>
            <a:lvl8pPr>
              <a:buNone/>
              <a:defRPr sz="1800" b="0">
                <a:solidFill>
                  <a:srgbClr val="586C7C"/>
                </a:solidFill>
                <a:latin typeface="Helvetica Neue"/>
                <a:ea typeface="Helvetica Neue"/>
                <a:cs typeface="Helvetica Neue"/>
              </a:defRPr>
            </a:lvl8pPr>
            <a:lvl9pPr>
              <a:buNone/>
              <a:defRPr sz="1800" b="0">
                <a:solidFill>
                  <a:srgbClr val="586C7C"/>
                </a:solidFill>
                <a:latin typeface="Helvetica Neue"/>
                <a:ea typeface="Helvetica Neue"/>
                <a:cs typeface="Helvetica Neue"/>
              </a:defRPr>
            </a:lvl9pPr>
          </a:lstStyle>
          <a:p xmlns:a="http://schemas.openxmlformats.org/drawingml/2006/main">
            <a:pPr>
              <a:buNone/>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18 matched comparisons against Frozen, from the original 27 formal test records</a:t>
            </a:r>
          </a:p>
        </p:txBody>
      </p:sp>
      <p:sp>
        <p:nvSpPr>
          <p:cNvPr id="3" name="text-33">
            <a:extLst xmlns:a="http://schemas.openxmlformats.org/drawingml/2006/main">
              <a:ext uri="{FF2B5EF4-FFF2-40B4-BE49-F238E27FC236}">
                <a16:creationId xmlns:a16="http://schemas.microsoft.com/office/drawing/2014/main" id="{ACE8D662-31BE-4BD4-BD2A-A4BA4489E234}"/>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buNone/>
              <a:defRPr sz="1275" b="0">
                <a:solidFill>
                  <a:srgbClr val="586C7C"/>
                </a:solidFill>
                <a:latin typeface="Helvetica Neue"/>
                <a:ea typeface="Helvetica Neue"/>
                <a:cs typeface="Helvetica Neue"/>
              </a:defRPr>
            </a:lvl1pPr>
            <a:lvl2pPr algn="r">
              <a:buNone/>
              <a:defRPr sz="1275" b="0">
                <a:solidFill>
                  <a:srgbClr val="586C7C"/>
                </a:solidFill>
                <a:latin typeface="Helvetica Neue"/>
                <a:ea typeface="Helvetica Neue"/>
                <a:cs typeface="Helvetica Neue"/>
              </a:defRPr>
            </a:lvl2pPr>
            <a:lvl3pPr algn="r">
              <a:buNone/>
              <a:defRPr sz="1275" b="0">
                <a:solidFill>
                  <a:srgbClr val="586C7C"/>
                </a:solidFill>
                <a:latin typeface="Helvetica Neue"/>
                <a:ea typeface="Helvetica Neue"/>
                <a:cs typeface="Helvetica Neue"/>
              </a:defRPr>
            </a:lvl3pPr>
            <a:lvl4pPr algn="r">
              <a:buNone/>
              <a:defRPr sz="1275" b="0">
                <a:solidFill>
                  <a:srgbClr val="586C7C"/>
                </a:solidFill>
                <a:latin typeface="Helvetica Neue"/>
                <a:ea typeface="Helvetica Neue"/>
                <a:cs typeface="Helvetica Neue"/>
              </a:defRPr>
            </a:lvl4pPr>
            <a:lvl5pPr algn="r">
              <a:buNone/>
              <a:defRPr sz="1275" b="0">
                <a:solidFill>
                  <a:srgbClr val="586C7C"/>
                </a:solidFill>
                <a:latin typeface="Helvetica Neue"/>
                <a:ea typeface="Helvetica Neue"/>
                <a:cs typeface="Helvetica Neue"/>
              </a:defRPr>
            </a:lvl5pPr>
            <a:lvl6pPr algn="r">
              <a:buNone/>
              <a:defRPr sz="1275" b="0">
                <a:solidFill>
                  <a:srgbClr val="586C7C"/>
                </a:solidFill>
                <a:latin typeface="Helvetica Neue"/>
                <a:ea typeface="Helvetica Neue"/>
                <a:cs typeface="Helvetica Neue"/>
              </a:defRPr>
            </a:lvl6pPr>
            <a:lvl7pPr algn="r">
              <a:buNone/>
              <a:defRPr sz="1275" b="0">
                <a:solidFill>
                  <a:srgbClr val="586C7C"/>
                </a:solidFill>
                <a:latin typeface="Helvetica Neue"/>
                <a:ea typeface="Helvetica Neue"/>
                <a:cs typeface="Helvetica Neue"/>
              </a:defRPr>
            </a:lvl7pPr>
            <a:lvl8pPr algn="r">
              <a:buNone/>
              <a:defRPr sz="1275" b="0">
                <a:solidFill>
                  <a:srgbClr val="586C7C"/>
                </a:solidFill>
                <a:latin typeface="Helvetica Neue"/>
                <a:ea typeface="Helvetica Neue"/>
                <a:cs typeface="Helvetica Neue"/>
              </a:defRPr>
            </a:lvl8pPr>
            <a:lvl9pPr algn="r">
              <a:buNone/>
              <a:defRPr sz="1275" b="0">
                <a:solidFill>
                  <a:srgbClr val="586C7C"/>
                </a:solidFill>
                <a:latin typeface="Helvetica Neue"/>
                <a:ea typeface="Helvetica Neue"/>
                <a:cs typeface="Helvetica Neue"/>
              </a:defRPr>
            </a:lvl9pPr>
          </a:lstStyle>
          <a:p xmlns:a="http://schemas.openxmlformats.org/drawingml/2006/main">
            <a:pPr algn="r">
              <a:buNone/>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07</a:t>
            </a:r>
          </a:p>
        </p:txBody>
      </p:sp>
      <p:pic>
        <p:nvPicPr>
          <p:cNvPr id="4" name="">
            <a:extLst xmlns:a="http://schemas.openxmlformats.org/drawingml/2006/main">
              <a:ext uri="{FF2B5EF4-FFF2-40B4-BE49-F238E27FC236}">
                <a16:creationId xmlns:a16="http://schemas.microsoft.com/office/drawing/2014/main" id="{CF63EF3F-14E0-405F-996B-2B43DE5E45C0}"/>
              </a:ext>
            </a:extLst>
          </p:cNvPr>
          <p:cNvPicPr>
            <a:picLocks xmlns:a="http://schemas.openxmlformats.org/drawingml/2006/main" noChangeAspect="1"/>
          </p:cNvPicPr>
          <p:nvPr/>
        </p:nvPicPr>
        <p:blipFill>
          <a:blip xmlns:r="http://schemas.openxmlformats.org/officeDocument/2006/relationships" xmlns:a="http://schemas.openxmlformats.org/drawingml/2006/main" r:embed="Ra7b4c9cee9d64b37"/>
          <a:srcRect xmlns:a="http://schemas.openxmlformats.org/drawingml/2006/main" l="6250" t="20139" r="6250" b="833"/>
          <a:stretch xmlns:a="http://schemas.openxmlformats.org/drawingml/2006/main"/>
        </p:blipFill>
        <p:spPr>
          <a:xfrm xmlns:a="http://schemas.openxmlformats.org/drawingml/2006/main">
            <a:off x="1708499" y="1485900"/>
            <a:ext cx="8775097" cy="4457700"/>
          </a:xfrm>
          <a:prstGeom xmlns:a="http://schemas.openxmlformats.org/drawingml/2006/main" prst="rect">
            <a:avLst/>
          </a:prstGeom>
        </p:spPr>
      </p:pic>
      <p:sp>
        <p:nvSpPr>
          <p:cNvPr id="5" name="text-34">
            <a:extLst xmlns:a="http://schemas.openxmlformats.org/drawingml/2006/main">
              <a:ext uri="{FF2B5EF4-FFF2-40B4-BE49-F238E27FC236}">
                <a16:creationId xmlns:a16="http://schemas.microsoft.com/office/drawing/2014/main" id="{297493FD-6C1D-4039-9616-84F6F1D0CDAB}"/>
              </a:ext>
            </a:extLst>
          </p:cNvPr>
          <p:cNvSpPr>
            <a:spLocks xmlns:a="http://schemas.openxmlformats.org/drawingml/2006/main" noGrp="1"/>
          </p:cNvSpPr>
          <p:nvPr/>
        </p:nvSpPr>
        <p:spPr>
          <a:xfrm xmlns:a="http://schemas.openxmlformats.org/drawingml/2006/main">
            <a:off x="628650" y="60007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buNone/>
              <a:defRPr sz="1650" b="0">
                <a:solidFill>
                  <a:srgbClr val="586C7C"/>
                </a:solidFill>
                <a:latin typeface="Helvetica Neue"/>
                <a:ea typeface="Helvetica Neue"/>
                <a:cs typeface="Helvetica Neue"/>
              </a:defRPr>
            </a:lvl1pPr>
            <a:lvl2pPr>
              <a:buNone/>
              <a:defRPr sz="1650" b="0">
                <a:solidFill>
                  <a:srgbClr val="586C7C"/>
                </a:solidFill>
                <a:latin typeface="Helvetica Neue"/>
                <a:ea typeface="Helvetica Neue"/>
                <a:cs typeface="Helvetica Neue"/>
              </a:defRPr>
            </a:lvl2pPr>
            <a:lvl3pPr>
              <a:buNone/>
              <a:defRPr sz="1650" b="0">
                <a:solidFill>
                  <a:srgbClr val="586C7C"/>
                </a:solidFill>
                <a:latin typeface="Helvetica Neue"/>
                <a:ea typeface="Helvetica Neue"/>
                <a:cs typeface="Helvetica Neue"/>
              </a:defRPr>
            </a:lvl3pPr>
            <a:lvl4pPr>
              <a:buNone/>
              <a:defRPr sz="1650" b="0">
                <a:solidFill>
                  <a:srgbClr val="586C7C"/>
                </a:solidFill>
                <a:latin typeface="Helvetica Neue"/>
                <a:ea typeface="Helvetica Neue"/>
                <a:cs typeface="Helvetica Neue"/>
              </a:defRPr>
            </a:lvl4pPr>
            <a:lvl5pPr>
              <a:buNone/>
              <a:defRPr sz="1650" b="0">
                <a:solidFill>
                  <a:srgbClr val="586C7C"/>
                </a:solidFill>
                <a:latin typeface="Helvetica Neue"/>
                <a:ea typeface="Helvetica Neue"/>
                <a:cs typeface="Helvetica Neue"/>
              </a:defRPr>
            </a:lvl5pPr>
            <a:lvl6pPr>
              <a:buNone/>
              <a:defRPr sz="1650" b="0">
                <a:solidFill>
                  <a:srgbClr val="586C7C"/>
                </a:solidFill>
                <a:latin typeface="Helvetica Neue"/>
                <a:ea typeface="Helvetica Neue"/>
                <a:cs typeface="Helvetica Neue"/>
              </a:defRPr>
            </a:lvl6pPr>
            <a:lvl7pPr>
              <a:buNone/>
              <a:defRPr sz="1650" b="0">
                <a:solidFill>
                  <a:srgbClr val="586C7C"/>
                </a:solidFill>
                <a:latin typeface="Helvetica Neue"/>
                <a:ea typeface="Helvetica Neue"/>
                <a:cs typeface="Helvetica Neue"/>
              </a:defRPr>
            </a:lvl7pPr>
            <a:lvl8pPr>
              <a:buNone/>
              <a:defRPr sz="1650" b="0">
                <a:solidFill>
                  <a:srgbClr val="586C7C"/>
                </a:solidFill>
                <a:latin typeface="Helvetica Neue"/>
                <a:ea typeface="Helvetica Neue"/>
                <a:cs typeface="Helvetica Neue"/>
              </a:defRPr>
            </a:lvl8pPr>
            <a:lvl9pPr>
              <a:buNone/>
              <a:defRPr sz="1650" b="0">
                <a:solidFill>
                  <a:srgbClr val="586C7C"/>
                </a:solidFill>
                <a:latin typeface="Helvetica Neue"/>
                <a:ea typeface="Helvetica Neue"/>
                <a:cs typeface="Helvetica Neue"/>
              </a:defRPr>
            </a:lvl9pPr>
          </a:lstStyle>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Columns: seeds 42, 43 and 44. Cells: actual Δ NDCG@10.</a:t>
            </a:r>
          </a:p>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Coral falls below Frozen. Teal exceeds Frozen. Three seeds do not establish significance.</a:t>
            </a:r>
          </a:p>
        </p:txBody>
      </p:sp>
    </p:spTree>
    <p:extLst>
      <p:ext uri="{BB962C8B-B14F-4D97-AF65-F5344CB8AC3E}">
        <p14:creationId xmlns:p14="http://schemas.microsoft.com/office/powerpoint/2010/main" val="1469052078"/>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35">
            <a:extLst xmlns:a="http://schemas.openxmlformats.org/drawingml/2006/main">
              <a:ext uri="{FF2B5EF4-FFF2-40B4-BE49-F238E27FC236}">
                <a16:creationId xmlns:a16="http://schemas.microsoft.com/office/drawing/2014/main" id="{F13DFD18-8AF7-45BE-A9C4-4CBEE0D08DBC}"/>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 shopping request without a liked-product history</a:t>
            </a:r>
          </a:p>
        </p:txBody>
      </p:sp>
      <p:sp>
        <p:nvSpPr>
          <p:cNvPr id="2" name="text-36">
            <a:extLst xmlns:a="http://schemas.openxmlformats.org/drawingml/2006/main">
              <a:ext uri="{FF2B5EF4-FFF2-40B4-BE49-F238E27FC236}">
                <a16:creationId xmlns:a16="http://schemas.microsoft.com/office/drawing/2014/main" id="{041FE262-9C7B-4BC6-944F-9DB03035A749}"/>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08</a:t>
            </a:r>
          </a:p>
        </p:txBody>
      </p:sp>
      <p:pic>
        <p:nvPicPr>
          <p:cNvPr id="3" name="">
            <a:extLst xmlns:a="http://schemas.openxmlformats.org/drawingml/2006/main">
              <a:ext uri="{FF2B5EF4-FFF2-40B4-BE49-F238E27FC236}">
                <a16:creationId xmlns:a16="http://schemas.microsoft.com/office/drawing/2014/main" id="{F7B16C4F-F546-4A8C-8FCD-0B0D84724B46}"/>
              </a:ext>
            </a:extLst>
          </p:cNvPr>
          <p:cNvPicPr>
            <a:picLocks xmlns:a="http://schemas.openxmlformats.org/drawingml/2006/main" noChangeAspect="1"/>
          </p:cNvPicPr>
          <p:nvPr/>
        </p:nvPicPr>
        <p:blipFill>
          <a:blip xmlns:r="http://schemas.openxmlformats.org/officeDocument/2006/relationships" xmlns:a="http://schemas.openxmlformats.org/drawingml/2006/main" r:embed="R55b8df90b9324f04"/>
          <a:srcRect xmlns:a="http://schemas.openxmlformats.org/drawingml/2006/main" l="0" t="37000" r="0" b="5500"/>
          <a:stretch xmlns:a="http://schemas.openxmlformats.org/drawingml/2006/main"/>
        </p:blipFill>
        <p:spPr>
          <a:xfrm xmlns:a="http://schemas.openxmlformats.org/drawingml/2006/main">
            <a:off x="1967406" y="1485900"/>
            <a:ext cx="8257187" cy="4457700"/>
          </a:xfrm>
          <a:prstGeom xmlns:a="http://schemas.openxmlformats.org/drawingml/2006/main" prst="rect">
            <a:avLst/>
          </a:prstGeom>
        </p:spPr>
      </p:pic>
      <p:sp>
        <p:nvSpPr>
          <p:cNvPr id="4" name="text-37">
            <a:extLst xmlns:a="http://schemas.openxmlformats.org/drawingml/2006/main">
              <a:ext uri="{FF2B5EF4-FFF2-40B4-BE49-F238E27FC236}">
                <a16:creationId xmlns:a16="http://schemas.microsoft.com/office/drawing/2014/main" id="{FA465FDA-678B-41C3-9050-4CC9282B369A}"/>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Interpretation uses transparent keyword rules. Qwen supplies the retrieval embeddings.</a:t>
            </a:r>
          </a:p>
        </p:txBody>
      </p:sp>
    </p:spTree>
    <p:extLst>
      <p:ext uri="{BB962C8B-B14F-4D97-AF65-F5344CB8AC3E}">
        <p14:creationId xmlns:p14="http://schemas.microsoft.com/office/powerpoint/2010/main" val="375153367"/>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text-38">
            <a:extLst xmlns:a="http://schemas.openxmlformats.org/drawingml/2006/main">
              <a:ext uri="{FF2B5EF4-FFF2-40B4-BE49-F238E27FC236}">
                <a16:creationId xmlns:a16="http://schemas.microsoft.com/office/drawing/2014/main" id="{847B1E31-7AEA-40D3-B14C-F17C9065DF78}"/>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buNone/>
              <a:defRPr sz="3075" b="1">
                <a:solidFill>
                  <a:srgbClr val="17243C"/>
                </a:solidFill>
                <a:latin typeface="Helvetica Neue"/>
                <a:ea typeface="Helvetica Neue"/>
                <a:cs typeface="Helvetica Neue"/>
              </a:defRPr>
            </a:lvl1pPr>
            <a:lvl2pPr>
              <a:buNone/>
              <a:defRPr sz="3075" b="1">
                <a:solidFill>
                  <a:srgbClr val="17243C"/>
                </a:solidFill>
                <a:latin typeface="Helvetica Neue"/>
                <a:ea typeface="Helvetica Neue"/>
                <a:cs typeface="Helvetica Neue"/>
              </a:defRPr>
            </a:lvl2pPr>
            <a:lvl3pPr>
              <a:buNone/>
              <a:defRPr sz="3075" b="1">
                <a:solidFill>
                  <a:srgbClr val="17243C"/>
                </a:solidFill>
                <a:latin typeface="Helvetica Neue"/>
                <a:ea typeface="Helvetica Neue"/>
                <a:cs typeface="Helvetica Neue"/>
              </a:defRPr>
            </a:lvl3pPr>
            <a:lvl4pPr>
              <a:buNone/>
              <a:defRPr sz="3075" b="1">
                <a:solidFill>
                  <a:srgbClr val="17243C"/>
                </a:solidFill>
                <a:latin typeface="Helvetica Neue"/>
                <a:ea typeface="Helvetica Neue"/>
                <a:cs typeface="Helvetica Neue"/>
              </a:defRPr>
            </a:lvl4pPr>
            <a:lvl5pPr>
              <a:buNone/>
              <a:defRPr sz="3075" b="1">
                <a:solidFill>
                  <a:srgbClr val="17243C"/>
                </a:solidFill>
                <a:latin typeface="Helvetica Neue"/>
                <a:ea typeface="Helvetica Neue"/>
                <a:cs typeface="Helvetica Neue"/>
              </a:defRPr>
            </a:lvl5pPr>
            <a:lvl6pPr>
              <a:buNone/>
              <a:defRPr sz="3075" b="1">
                <a:solidFill>
                  <a:srgbClr val="17243C"/>
                </a:solidFill>
                <a:latin typeface="Helvetica Neue"/>
                <a:ea typeface="Helvetica Neue"/>
                <a:cs typeface="Helvetica Neue"/>
              </a:defRPr>
            </a:lvl6pPr>
            <a:lvl7pPr>
              <a:buNone/>
              <a:defRPr sz="3075" b="1">
                <a:solidFill>
                  <a:srgbClr val="17243C"/>
                </a:solidFill>
                <a:latin typeface="Helvetica Neue"/>
                <a:ea typeface="Helvetica Neue"/>
                <a:cs typeface="Helvetica Neue"/>
              </a:defRPr>
            </a:lvl7pPr>
            <a:lvl8pPr>
              <a:buNone/>
              <a:defRPr sz="3075" b="1">
                <a:solidFill>
                  <a:srgbClr val="17243C"/>
                </a:solidFill>
                <a:latin typeface="Helvetica Neue"/>
                <a:ea typeface="Helvetica Neue"/>
                <a:cs typeface="Helvetica Neue"/>
              </a:defRPr>
            </a:lvl8pPr>
            <a:lvl9pPr>
              <a:buNone/>
              <a:defRPr sz="3075" b="1">
                <a:solidFill>
                  <a:srgbClr val="17243C"/>
                </a:solidFill>
                <a:latin typeface="Helvetica Neue"/>
                <a:ea typeface="Helvetica Neue"/>
                <a:cs typeface="Helvetica Neue"/>
              </a:defRPr>
            </a:lvl9pPr>
          </a:lstStyle>
          <a:p xmlns:a="http://schemas.openxmlformats.org/drawingml/2006/main">
            <a:pPr>
              <a:buNone/>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Model arena: one product across three models</a:t>
            </a:r>
          </a:p>
        </p:txBody>
      </p:sp>
      <p:sp>
        <p:nvSpPr>
          <p:cNvPr id="2" name="text-39">
            <a:extLst xmlns:a="http://schemas.openxmlformats.org/drawingml/2006/main">
              <a:ext uri="{FF2B5EF4-FFF2-40B4-BE49-F238E27FC236}">
                <a16:creationId xmlns:a16="http://schemas.microsoft.com/office/drawing/2014/main" id="{5FC7D5BA-1AE2-4666-917F-5AB0592219FB}"/>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buNone/>
              <a:defRPr sz="1800" b="0">
                <a:solidFill>
                  <a:srgbClr val="586C7C"/>
                </a:solidFill>
                <a:latin typeface="Helvetica Neue"/>
                <a:ea typeface="Helvetica Neue"/>
                <a:cs typeface="Helvetica Neue"/>
              </a:defRPr>
            </a:lvl1pPr>
            <a:lvl2pPr>
              <a:buNone/>
              <a:defRPr sz="1800" b="0">
                <a:solidFill>
                  <a:srgbClr val="586C7C"/>
                </a:solidFill>
                <a:latin typeface="Helvetica Neue"/>
                <a:ea typeface="Helvetica Neue"/>
                <a:cs typeface="Helvetica Neue"/>
              </a:defRPr>
            </a:lvl2pPr>
            <a:lvl3pPr>
              <a:buNone/>
              <a:defRPr sz="1800" b="0">
                <a:solidFill>
                  <a:srgbClr val="586C7C"/>
                </a:solidFill>
                <a:latin typeface="Helvetica Neue"/>
                <a:ea typeface="Helvetica Neue"/>
                <a:cs typeface="Helvetica Neue"/>
              </a:defRPr>
            </a:lvl3pPr>
            <a:lvl4pPr>
              <a:buNone/>
              <a:defRPr sz="1800" b="0">
                <a:solidFill>
                  <a:srgbClr val="586C7C"/>
                </a:solidFill>
                <a:latin typeface="Helvetica Neue"/>
                <a:ea typeface="Helvetica Neue"/>
                <a:cs typeface="Helvetica Neue"/>
              </a:defRPr>
            </a:lvl4pPr>
            <a:lvl5pPr>
              <a:buNone/>
              <a:defRPr sz="1800" b="0">
                <a:solidFill>
                  <a:srgbClr val="586C7C"/>
                </a:solidFill>
                <a:latin typeface="Helvetica Neue"/>
                <a:ea typeface="Helvetica Neue"/>
                <a:cs typeface="Helvetica Neue"/>
              </a:defRPr>
            </a:lvl5pPr>
            <a:lvl6pPr>
              <a:buNone/>
              <a:defRPr sz="1800" b="0">
                <a:solidFill>
                  <a:srgbClr val="586C7C"/>
                </a:solidFill>
                <a:latin typeface="Helvetica Neue"/>
                <a:ea typeface="Helvetica Neue"/>
                <a:cs typeface="Helvetica Neue"/>
              </a:defRPr>
            </a:lvl6pPr>
            <a:lvl7pPr>
              <a:buNone/>
              <a:defRPr sz="1800" b="0">
                <a:solidFill>
                  <a:srgbClr val="586C7C"/>
                </a:solidFill>
                <a:latin typeface="Helvetica Neue"/>
                <a:ea typeface="Helvetica Neue"/>
                <a:cs typeface="Helvetica Neue"/>
              </a:defRPr>
            </a:lvl7pPr>
            <a:lvl8pPr>
              <a:buNone/>
              <a:defRPr sz="1800" b="0">
                <a:solidFill>
                  <a:srgbClr val="586C7C"/>
                </a:solidFill>
                <a:latin typeface="Helvetica Neue"/>
                <a:ea typeface="Helvetica Neue"/>
                <a:cs typeface="Helvetica Neue"/>
              </a:defRPr>
            </a:lvl8pPr>
            <a:lvl9pPr>
              <a:buNone/>
              <a:defRPr sz="1800" b="0">
                <a:solidFill>
                  <a:srgbClr val="586C7C"/>
                </a:solidFill>
                <a:latin typeface="Helvetica Neue"/>
                <a:ea typeface="Helvetica Neue"/>
                <a:cs typeface="Helvetica Neue"/>
              </a:defRPr>
            </a:lvl9pPr>
          </a:lstStyle>
          <a:p xmlns:a="http://schemas.openxmlformats.org/drawingml/2006/main">
            <a:pPr>
              <a:buNone/>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“Find a stroller for everyday outings” in Baby, with no positive feedback</a:t>
            </a:r>
          </a:p>
        </p:txBody>
      </p:sp>
      <p:sp>
        <p:nvSpPr>
          <p:cNvPr id="3" name="text-40">
            <a:extLst xmlns:a="http://schemas.openxmlformats.org/drawingml/2006/main">
              <a:ext uri="{FF2B5EF4-FFF2-40B4-BE49-F238E27FC236}">
                <a16:creationId xmlns:a16="http://schemas.microsoft.com/office/drawing/2014/main" id="{C472A480-4693-44C0-9346-4659118A060B}"/>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buNone/>
              <a:defRPr sz="1275" b="0">
                <a:solidFill>
                  <a:srgbClr val="586C7C"/>
                </a:solidFill>
                <a:latin typeface="Helvetica Neue"/>
                <a:ea typeface="Helvetica Neue"/>
                <a:cs typeface="Helvetica Neue"/>
              </a:defRPr>
            </a:lvl1pPr>
            <a:lvl2pPr algn="r">
              <a:buNone/>
              <a:defRPr sz="1275" b="0">
                <a:solidFill>
                  <a:srgbClr val="586C7C"/>
                </a:solidFill>
                <a:latin typeface="Helvetica Neue"/>
                <a:ea typeface="Helvetica Neue"/>
                <a:cs typeface="Helvetica Neue"/>
              </a:defRPr>
            </a:lvl2pPr>
            <a:lvl3pPr algn="r">
              <a:buNone/>
              <a:defRPr sz="1275" b="0">
                <a:solidFill>
                  <a:srgbClr val="586C7C"/>
                </a:solidFill>
                <a:latin typeface="Helvetica Neue"/>
                <a:ea typeface="Helvetica Neue"/>
                <a:cs typeface="Helvetica Neue"/>
              </a:defRPr>
            </a:lvl3pPr>
            <a:lvl4pPr algn="r">
              <a:buNone/>
              <a:defRPr sz="1275" b="0">
                <a:solidFill>
                  <a:srgbClr val="586C7C"/>
                </a:solidFill>
                <a:latin typeface="Helvetica Neue"/>
                <a:ea typeface="Helvetica Neue"/>
                <a:cs typeface="Helvetica Neue"/>
              </a:defRPr>
            </a:lvl4pPr>
            <a:lvl5pPr algn="r">
              <a:buNone/>
              <a:defRPr sz="1275" b="0">
                <a:solidFill>
                  <a:srgbClr val="586C7C"/>
                </a:solidFill>
                <a:latin typeface="Helvetica Neue"/>
                <a:ea typeface="Helvetica Neue"/>
                <a:cs typeface="Helvetica Neue"/>
              </a:defRPr>
            </a:lvl5pPr>
            <a:lvl6pPr algn="r">
              <a:buNone/>
              <a:defRPr sz="1275" b="0">
                <a:solidFill>
                  <a:srgbClr val="586C7C"/>
                </a:solidFill>
                <a:latin typeface="Helvetica Neue"/>
                <a:ea typeface="Helvetica Neue"/>
                <a:cs typeface="Helvetica Neue"/>
              </a:defRPr>
            </a:lvl6pPr>
            <a:lvl7pPr algn="r">
              <a:buNone/>
              <a:defRPr sz="1275" b="0">
                <a:solidFill>
                  <a:srgbClr val="586C7C"/>
                </a:solidFill>
                <a:latin typeface="Helvetica Neue"/>
                <a:ea typeface="Helvetica Neue"/>
                <a:cs typeface="Helvetica Neue"/>
              </a:defRPr>
            </a:lvl7pPr>
            <a:lvl8pPr algn="r">
              <a:buNone/>
              <a:defRPr sz="1275" b="0">
                <a:solidFill>
                  <a:srgbClr val="586C7C"/>
                </a:solidFill>
                <a:latin typeface="Helvetica Neue"/>
                <a:ea typeface="Helvetica Neue"/>
                <a:cs typeface="Helvetica Neue"/>
              </a:defRPr>
            </a:lvl8pPr>
            <a:lvl9pPr algn="r">
              <a:buNone/>
              <a:defRPr sz="1275" b="0">
                <a:solidFill>
                  <a:srgbClr val="586C7C"/>
                </a:solidFill>
                <a:latin typeface="Helvetica Neue"/>
                <a:ea typeface="Helvetica Neue"/>
                <a:cs typeface="Helvetica Neue"/>
              </a:defRPr>
            </a:lvl9pPr>
          </a:lstStyle>
          <a:p xmlns:a="http://schemas.openxmlformats.org/drawingml/2006/main">
            <a:pPr algn="r">
              <a:buNone/>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09</a:t>
            </a:r>
          </a:p>
        </p:txBody>
      </p:sp>
      <p:pic>
        <p:nvPicPr>
          <p:cNvPr id="4" name="">
            <a:extLst xmlns:a="http://schemas.openxmlformats.org/drawingml/2006/main">
              <a:ext uri="{FF2B5EF4-FFF2-40B4-BE49-F238E27FC236}">
                <a16:creationId xmlns:a16="http://schemas.microsoft.com/office/drawing/2014/main" id="{B7BF1262-8997-40E7-A82F-177945EAFCF7}"/>
              </a:ext>
            </a:extLst>
          </p:cNvPr>
          <p:cNvPicPr>
            <a:picLocks xmlns:a="http://schemas.openxmlformats.org/drawingml/2006/main" noChangeAspect="1"/>
          </p:cNvPicPr>
          <p:nvPr/>
        </p:nvPicPr>
        <p:blipFill>
          <a:blip xmlns:r="http://schemas.openxmlformats.org/officeDocument/2006/relationships" xmlns:a="http://schemas.openxmlformats.org/drawingml/2006/main" r:embed="Rf2070ad7ae6644be"/>
          <a:srcRect xmlns:a="http://schemas.openxmlformats.org/drawingml/2006/main" l="6250" t="8472" r="30625" b="833"/>
          <a:stretch xmlns:a="http://schemas.openxmlformats.org/drawingml/2006/main"/>
        </p:blipFill>
        <p:spPr>
          <a:xfrm xmlns:a="http://schemas.openxmlformats.org/drawingml/2006/main">
            <a:off x="609600" y="1485900"/>
            <a:ext cx="5516689" cy="4457700"/>
          </a:xfrm>
          <a:prstGeom xmlns:a="http://schemas.openxmlformats.org/drawingml/2006/main" prst="rect">
            <a:avLst/>
          </a:prstGeom>
        </p:spPr>
      </p:pic>
      <p:sp>
        <p:nvSpPr>
          <p:cNvPr id="5" name="text-41">
            <a:extLst xmlns:a="http://schemas.openxmlformats.org/drawingml/2006/main">
              <a:ext uri="{FF2B5EF4-FFF2-40B4-BE49-F238E27FC236}">
                <a16:creationId xmlns:a16="http://schemas.microsoft.com/office/drawing/2014/main" id="{63A467AA-96A6-4FA7-8E4E-3EBF1DD0CB87}"/>
              </a:ext>
            </a:extLst>
          </p:cNvPr>
          <p:cNvSpPr>
            <a:spLocks xmlns:a="http://schemas.openxmlformats.org/drawingml/2006/main" noGrp="1"/>
          </p:cNvSpPr>
          <p:nvPr/>
        </p:nvSpPr>
        <p:spPr>
          <a:xfrm xmlns:a="http://schemas.openxmlformats.org/drawingml/2006/main">
            <a:off x="628650" y="60007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buNone/>
              <a:defRPr sz="1650" b="0">
                <a:solidFill>
                  <a:srgbClr val="586C7C"/>
                </a:solidFill>
                <a:latin typeface="Helvetica Neue"/>
                <a:ea typeface="Helvetica Neue"/>
                <a:cs typeface="Helvetica Neue"/>
              </a:defRPr>
            </a:lvl1pPr>
            <a:lvl2pPr>
              <a:buNone/>
              <a:defRPr sz="1650" b="0">
                <a:solidFill>
                  <a:srgbClr val="586C7C"/>
                </a:solidFill>
                <a:latin typeface="Helvetica Neue"/>
                <a:ea typeface="Helvetica Neue"/>
                <a:cs typeface="Helvetica Neue"/>
              </a:defRPr>
            </a:lvl2pPr>
            <a:lvl3pPr>
              <a:buNone/>
              <a:defRPr sz="1650" b="0">
                <a:solidFill>
                  <a:srgbClr val="586C7C"/>
                </a:solidFill>
                <a:latin typeface="Helvetica Neue"/>
                <a:ea typeface="Helvetica Neue"/>
                <a:cs typeface="Helvetica Neue"/>
              </a:defRPr>
            </a:lvl3pPr>
            <a:lvl4pPr>
              <a:buNone/>
              <a:defRPr sz="1650" b="0">
                <a:solidFill>
                  <a:srgbClr val="586C7C"/>
                </a:solidFill>
                <a:latin typeface="Helvetica Neue"/>
                <a:ea typeface="Helvetica Neue"/>
                <a:cs typeface="Helvetica Neue"/>
              </a:defRPr>
            </a:lvl4pPr>
            <a:lvl5pPr>
              <a:buNone/>
              <a:defRPr sz="1650" b="0">
                <a:solidFill>
                  <a:srgbClr val="586C7C"/>
                </a:solidFill>
                <a:latin typeface="Helvetica Neue"/>
                <a:ea typeface="Helvetica Neue"/>
                <a:cs typeface="Helvetica Neue"/>
              </a:defRPr>
            </a:lvl5pPr>
            <a:lvl6pPr>
              <a:buNone/>
              <a:defRPr sz="1650" b="0">
                <a:solidFill>
                  <a:srgbClr val="586C7C"/>
                </a:solidFill>
                <a:latin typeface="Helvetica Neue"/>
                <a:ea typeface="Helvetica Neue"/>
                <a:cs typeface="Helvetica Neue"/>
              </a:defRPr>
            </a:lvl6pPr>
            <a:lvl7pPr>
              <a:buNone/>
              <a:defRPr sz="1650" b="0">
                <a:solidFill>
                  <a:srgbClr val="586C7C"/>
                </a:solidFill>
                <a:latin typeface="Helvetica Neue"/>
                <a:ea typeface="Helvetica Neue"/>
                <a:cs typeface="Helvetica Neue"/>
              </a:defRPr>
            </a:lvl7pPr>
            <a:lvl8pPr>
              <a:buNone/>
              <a:defRPr sz="1650" b="0">
                <a:solidFill>
                  <a:srgbClr val="586C7C"/>
                </a:solidFill>
                <a:latin typeface="Helvetica Neue"/>
                <a:ea typeface="Helvetica Neue"/>
                <a:cs typeface="Helvetica Neue"/>
              </a:defRPr>
            </a:lvl8pPr>
            <a:lvl9pPr>
              <a:buNone/>
              <a:defRPr sz="1650" b="0">
                <a:solidFill>
                  <a:srgbClr val="586C7C"/>
                </a:solidFill>
                <a:latin typeface="Helvetica Neue"/>
                <a:ea typeface="Helvetica Neue"/>
                <a:cs typeface="Helvetica Neue"/>
              </a:defRPr>
            </a:lvl9pPr>
          </a:lstStyle>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Each query matches its model’s candidate space. Missing Top-K positions stay unknown.</a:t>
            </a:r>
          </a:p>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These observed rank differences describe disagreement, without relevance labels.</a:t>
            </a:r>
          </a:p>
        </p:txBody>
      </p:sp>
      <p:sp>
        <p:nvSpPr>
          <p:cNvPr id="7" name="">
            <a:extLst xmlns:a="http://schemas.openxmlformats.org/drawingml/2006/main">
              <a:ext uri="{FF2B5EF4-FFF2-40B4-BE49-F238E27FC236}">
                <a16:creationId xmlns:a16="http://schemas.microsoft.com/office/drawing/2014/main" id="{87879BD7-F47C-4EF1-B401-92A9FB01ACD3}"/>
              </a:ext>
            </a:extLst>
          </p:cNvPr>
          <p:cNvSpPr>
            <a:spLocks xmlns:a="http://schemas.openxmlformats.org/drawingml/2006/main" noGrp="1"/>
          </p:cNvSpPr>
          <p:nvPr/>
        </p:nvSpPr>
        <p:spPr>
          <a:xfrm xmlns:a="http://schemas.openxmlformats.org/drawingml/2006/main">
            <a:off x="6667500" y="1704975"/>
            <a:ext cx="4724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86C7C"/>
                </a:solidFill>
                <a:latin typeface="Helvetica Neue"/>
                <a:ea typeface="Helvetica Neue"/>
                <a:cs typeface="Helvetica Neue"/>
              </a:defRPr>
            </a:defPPr>
            <a:lvl1pPr>
              <a:defRPr sz="1950" b="0">
                <a:solidFill>
                  <a:srgbClr val="586C7C"/>
                </a:solidFill>
                <a:latin typeface="Helvetica Neue"/>
                <a:ea typeface="Helvetica Neue"/>
                <a:cs typeface="Helvetica Neue"/>
              </a:defRPr>
            </a:lvl1pPr>
            <a:lvl2pPr>
              <a:defRPr sz="1950" b="0">
                <a:solidFill>
                  <a:srgbClr val="586C7C"/>
                </a:solidFill>
                <a:latin typeface="Helvetica Neue"/>
                <a:ea typeface="Helvetica Neue"/>
                <a:cs typeface="Helvetica Neue"/>
              </a:defRPr>
            </a:lvl2pPr>
            <a:lvl3pPr>
              <a:defRPr sz="1950" b="0">
                <a:solidFill>
                  <a:srgbClr val="586C7C"/>
                </a:solidFill>
                <a:latin typeface="Helvetica Neue"/>
                <a:ea typeface="Helvetica Neue"/>
                <a:cs typeface="Helvetica Neue"/>
              </a:defRPr>
            </a:lvl3pPr>
            <a:lvl4pPr>
              <a:defRPr sz="1950" b="0">
                <a:solidFill>
                  <a:srgbClr val="586C7C"/>
                </a:solidFill>
                <a:latin typeface="Helvetica Neue"/>
                <a:ea typeface="Helvetica Neue"/>
                <a:cs typeface="Helvetica Neue"/>
              </a:defRPr>
            </a:lvl4pPr>
            <a:lvl5pPr>
              <a:defRPr sz="1950" b="0">
                <a:solidFill>
                  <a:srgbClr val="586C7C"/>
                </a:solidFill>
                <a:latin typeface="Helvetica Neue"/>
                <a:ea typeface="Helvetica Neue"/>
                <a:cs typeface="Helvetica Neue"/>
              </a:defRPr>
            </a:lvl5pPr>
            <a:lvl6pPr>
              <a:defRPr sz="1950" b="0">
                <a:solidFill>
                  <a:srgbClr val="586C7C"/>
                </a:solidFill>
                <a:latin typeface="Helvetica Neue"/>
                <a:ea typeface="Helvetica Neue"/>
                <a:cs typeface="Helvetica Neue"/>
              </a:defRPr>
            </a:lvl6pPr>
            <a:lvl7pPr>
              <a:defRPr sz="1950" b="0">
                <a:solidFill>
                  <a:srgbClr val="586C7C"/>
                </a:solidFill>
                <a:latin typeface="Helvetica Neue"/>
                <a:ea typeface="Helvetica Neue"/>
                <a:cs typeface="Helvetica Neue"/>
              </a:defRPr>
            </a:lvl7pPr>
            <a:lvl8pPr>
              <a:defRPr sz="1950" b="0">
                <a:solidFill>
                  <a:srgbClr val="586C7C"/>
                </a:solidFill>
                <a:latin typeface="Helvetica Neue"/>
                <a:ea typeface="Helvetica Neue"/>
                <a:cs typeface="Helvetica Neue"/>
              </a:defRPr>
            </a:lvl8pPr>
            <a:lvl9pPr>
              <a:defRPr sz="1950" b="0">
                <a:solidFill>
                  <a:srgbClr val="586C7C"/>
                </a:solidFill>
                <a:latin typeface="Helvetica Neue"/>
                <a:ea typeface="Helvetica Neue"/>
                <a:cs typeface="Helvetica Neue"/>
              </a:defRPr>
            </a:lvl9pPr>
          </a:lstStyle>
          <a:p xmlns:a="http://schemas.openxmlformats.org/drawingml/2006/main">
            <a:pPr>
              <a:defRPr sz="1950" b="0">
                <a:solidFill>
                  <a:srgbClr val="586C7C"/>
                </a:solidFill>
                <a:latin typeface="Helvetica Neue"/>
                <a:ea typeface="Helvetica Neue"/>
                <a:cs typeface="Helvetica Neue"/>
              </a:defRPr>
            </a:pPr>
            <a:r>
              <a:rPr sz="1950" b="0">
                <a:solidFill>
                  <a:srgbClr val="586C7C"/>
                </a:solidFill>
                <a:latin typeface="Helvetica Neue"/>
                <a:ea typeface="Helvetica Neue"/>
                <a:cs typeface="Helvetica Neue"/>
              </a:rPr>
              <a:t>Dream On Me / Mia Moda Veloce</a:t>
            </a:r>
          </a:p>
          <a:p xmlns:a="http://schemas.openxmlformats.org/drawingml/2006/main">
            <a:pPr>
              <a:defRPr sz="1950" b="0">
                <a:solidFill>
                  <a:srgbClr val="586C7C"/>
                </a:solidFill>
                <a:latin typeface="Helvetica Neue"/>
                <a:ea typeface="Helvetica Neue"/>
                <a:cs typeface="Helvetica Neue"/>
              </a:defRPr>
            </a:pPr>
            <a:r>
              <a:rPr sz="1950" b="0">
                <a:solidFill>
                  <a:srgbClr val="586C7C"/>
                </a:solidFill>
                <a:latin typeface="Helvetica Neue"/>
                <a:ea typeface="Helvetica Neue"/>
                <a:cs typeface="Helvetica Neue"/>
              </a:rPr>
              <a:t>ASIN B002UHJ0HK</a:t>
            </a:r>
          </a:p>
        </p:txBody>
      </p:sp>
      <p:sp>
        <p:nvSpPr>
          <p:cNvPr id="8" name="">
            <a:extLst xmlns:a="http://schemas.openxmlformats.org/drawingml/2006/main">
              <a:ext uri="{FF2B5EF4-FFF2-40B4-BE49-F238E27FC236}">
                <a16:creationId xmlns:a16="http://schemas.microsoft.com/office/drawing/2014/main" id="{B68F966E-E035-414F-A917-7A5A51A14353}"/>
              </a:ext>
            </a:extLst>
          </p:cNvPr>
          <p:cNvSpPr>
            <a:spLocks xmlns:a="http://schemas.openxmlformats.org/drawingml/2006/main" noGrp="1"/>
          </p:cNvSpPr>
          <p:nvPr/>
        </p:nvSpPr>
        <p:spPr>
          <a:xfrm xmlns:a="http://schemas.openxmlformats.org/drawingml/2006/main">
            <a:off x="6667500" y="2686050"/>
            <a:ext cx="4724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546982"/>
                </a:solidFill>
                <a:latin typeface="Helvetica Neue"/>
                <a:ea typeface="Helvetica Neue"/>
                <a:cs typeface="Helvetica Neue"/>
              </a:defRPr>
            </a:defPPr>
            <a:lvl1pPr>
              <a:defRPr sz="2400" b="1">
                <a:solidFill>
                  <a:srgbClr val="546982"/>
                </a:solidFill>
                <a:latin typeface="Helvetica Neue"/>
                <a:ea typeface="Helvetica Neue"/>
                <a:cs typeface="Helvetica Neue"/>
              </a:defRPr>
            </a:lvl1pPr>
            <a:lvl2pPr>
              <a:defRPr sz="2400" b="1">
                <a:solidFill>
                  <a:srgbClr val="546982"/>
                </a:solidFill>
                <a:latin typeface="Helvetica Neue"/>
                <a:ea typeface="Helvetica Neue"/>
                <a:cs typeface="Helvetica Neue"/>
              </a:defRPr>
            </a:lvl2pPr>
            <a:lvl3pPr>
              <a:defRPr sz="2400" b="1">
                <a:solidFill>
                  <a:srgbClr val="546982"/>
                </a:solidFill>
                <a:latin typeface="Helvetica Neue"/>
                <a:ea typeface="Helvetica Neue"/>
                <a:cs typeface="Helvetica Neue"/>
              </a:defRPr>
            </a:lvl3pPr>
            <a:lvl4pPr>
              <a:defRPr sz="2400" b="1">
                <a:solidFill>
                  <a:srgbClr val="546982"/>
                </a:solidFill>
                <a:latin typeface="Helvetica Neue"/>
                <a:ea typeface="Helvetica Neue"/>
                <a:cs typeface="Helvetica Neue"/>
              </a:defRPr>
            </a:lvl4pPr>
            <a:lvl5pPr>
              <a:defRPr sz="2400" b="1">
                <a:solidFill>
                  <a:srgbClr val="546982"/>
                </a:solidFill>
                <a:latin typeface="Helvetica Neue"/>
                <a:ea typeface="Helvetica Neue"/>
                <a:cs typeface="Helvetica Neue"/>
              </a:defRPr>
            </a:lvl5pPr>
            <a:lvl6pPr>
              <a:defRPr sz="2400" b="1">
                <a:solidFill>
                  <a:srgbClr val="546982"/>
                </a:solidFill>
                <a:latin typeface="Helvetica Neue"/>
                <a:ea typeface="Helvetica Neue"/>
                <a:cs typeface="Helvetica Neue"/>
              </a:defRPr>
            </a:lvl6pPr>
            <a:lvl7pPr>
              <a:defRPr sz="2400" b="1">
                <a:solidFill>
                  <a:srgbClr val="546982"/>
                </a:solidFill>
                <a:latin typeface="Helvetica Neue"/>
                <a:ea typeface="Helvetica Neue"/>
                <a:cs typeface="Helvetica Neue"/>
              </a:defRPr>
            </a:lvl7pPr>
            <a:lvl8pPr>
              <a:defRPr sz="2400" b="1">
                <a:solidFill>
                  <a:srgbClr val="546982"/>
                </a:solidFill>
                <a:latin typeface="Helvetica Neue"/>
                <a:ea typeface="Helvetica Neue"/>
                <a:cs typeface="Helvetica Neue"/>
              </a:defRPr>
            </a:lvl8pPr>
            <a:lvl9pPr>
              <a:defRPr sz="2400" b="1">
                <a:solidFill>
                  <a:srgbClr val="546982"/>
                </a:solidFill>
                <a:latin typeface="Helvetica Neue"/>
                <a:ea typeface="Helvetica Neue"/>
                <a:cs typeface="Helvetica Neue"/>
              </a:defRPr>
            </a:lvl9pPr>
          </a:lstStyle>
          <a:p xmlns:a="http://schemas.openxmlformats.org/drawingml/2006/main">
            <a:pPr>
              <a:defRPr sz="2400" b="1">
                <a:solidFill>
                  <a:srgbClr val="546982"/>
                </a:solidFill>
                <a:latin typeface="Helvetica Neue"/>
                <a:ea typeface="Helvetica Neue"/>
                <a:cs typeface="Helvetica Neue"/>
              </a:defRPr>
            </a:pPr>
            <a:r>
              <a:rPr sz="2400" b="1">
                <a:solidFill>
                  <a:srgbClr val="546982"/>
                </a:solidFill>
                <a:latin typeface="Helvetica Neue"/>
                <a:ea typeface="Helvetica Neue"/>
                <a:cs typeface="Helvetica Neue"/>
              </a:rPr>
              <a:t>Frozen #5</a:t>
            </a:r>
          </a:p>
        </p:txBody>
      </p:sp>
      <p:sp>
        <p:nvSpPr>
          <p:cNvPr id="9" name="">
            <a:extLst xmlns:a="http://schemas.openxmlformats.org/drawingml/2006/main">
              <a:ext uri="{FF2B5EF4-FFF2-40B4-BE49-F238E27FC236}">
                <a16:creationId xmlns:a16="http://schemas.microsoft.com/office/drawing/2014/main" id="{36A5894D-7699-4274-9E7A-7E8D92E63301}"/>
              </a:ext>
            </a:extLst>
          </p:cNvPr>
          <p:cNvSpPr>
            <a:spLocks xmlns:a="http://schemas.openxmlformats.org/drawingml/2006/main" noGrp="1"/>
          </p:cNvSpPr>
          <p:nvPr/>
        </p:nvSpPr>
        <p:spPr>
          <a:xfrm xmlns:a="http://schemas.openxmlformats.org/drawingml/2006/main">
            <a:off x="6667500" y="3162300"/>
            <a:ext cx="4724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347CDB"/>
                </a:solidFill>
                <a:latin typeface="Helvetica Neue"/>
                <a:ea typeface="Helvetica Neue"/>
                <a:cs typeface="Helvetica Neue"/>
              </a:defRPr>
            </a:defPPr>
            <a:lvl1pPr>
              <a:defRPr sz="2400" b="1">
                <a:solidFill>
                  <a:srgbClr val="347CDB"/>
                </a:solidFill>
                <a:latin typeface="Helvetica Neue"/>
                <a:ea typeface="Helvetica Neue"/>
                <a:cs typeface="Helvetica Neue"/>
              </a:defRPr>
            </a:lvl1pPr>
            <a:lvl2pPr>
              <a:defRPr sz="2400" b="1">
                <a:solidFill>
                  <a:srgbClr val="347CDB"/>
                </a:solidFill>
                <a:latin typeface="Helvetica Neue"/>
                <a:ea typeface="Helvetica Neue"/>
                <a:cs typeface="Helvetica Neue"/>
              </a:defRPr>
            </a:lvl2pPr>
            <a:lvl3pPr>
              <a:defRPr sz="2400" b="1">
                <a:solidFill>
                  <a:srgbClr val="347CDB"/>
                </a:solidFill>
                <a:latin typeface="Helvetica Neue"/>
                <a:ea typeface="Helvetica Neue"/>
                <a:cs typeface="Helvetica Neue"/>
              </a:defRPr>
            </a:lvl3pPr>
            <a:lvl4pPr>
              <a:defRPr sz="2400" b="1">
                <a:solidFill>
                  <a:srgbClr val="347CDB"/>
                </a:solidFill>
                <a:latin typeface="Helvetica Neue"/>
                <a:ea typeface="Helvetica Neue"/>
                <a:cs typeface="Helvetica Neue"/>
              </a:defRPr>
            </a:lvl4pPr>
            <a:lvl5pPr>
              <a:defRPr sz="2400" b="1">
                <a:solidFill>
                  <a:srgbClr val="347CDB"/>
                </a:solidFill>
                <a:latin typeface="Helvetica Neue"/>
                <a:ea typeface="Helvetica Neue"/>
                <a:cs typeface="Helvetica Neue"/>
              </a:defRPr>
            </a:lvl5pPr>
            <a:lvl6pPr>
              <a:defRPr sz="2400" b="1">
                <a:solidFill>
                  <a:srgbClr val="347CDB"/>
                </a:solidFill>
                <a:latin typeface="Helvetica Neue"/>
                <a:ea typeface="Helvetica Neue"/>
                <a:cs typeface="Helvetica Neue"/>
              </a:defRPr>
            </a:lvl6pPr>
            <a:lvl7pPr>
              <a:defRPr sz="2400" b="1">
                <a:solidFill>
                  <a:srgbClr val="347CDB"/>
                </a:solidFill>
                <a:latin typeface="Helvetica Neue"/>
                <a:ea typeface="Helvetica Neue"/>
                <a:cs typeface="Helvetica Neue"/>
              </a:defRPr>
            </a:lvl7pPr>
            <a:lvl8pPr>
              <a:defRPr sz="2400" b="1">
                <a:solidFill>
                  <a:srgbClr val="347CDB"/>
                </a:solidFill>
                <a:latin typeface="Helvetica Neue"/>
                <a:ea typeface="Helvetica Neue"/>
                <a:cs typeface="Helvetica Neue"/>
              </a:defRPr>
            </a:lvl8pPr>
            <a:lvl9pPr>
              <a:defRPr sz="2400" b="1">
                <a:solidFill>
                  <a:srgbClr val="347CDB"/>
                </a:solidFill>
                <a:latin typeface="Helvetica Neue"/>
                <a:ea typeface="Helvetica Neue"/>
                <a:cs typeface="Helvetica Neue"/>
              </a:defRPr>
            </a:lvl9pPr>
          </a:lstStyle>
          <a:p xmlns:a="http://schemas.openxmlformats.org/drawingml/2006/main">
            <a:pPr>
              <a:defRPr sz="2400" b="1">
                <a:solidFill>
                  <a:srgbClr val="347CDB"/>
                </a:solidFill>
                <a:latin typeface="Helvetica Neue"/>
                <a:ea typeface="Helvetica Neue"/>
                <a:cs typeface="Helvetica Neue"/>
              </a:defRPr>
            </a:pPr>
            <a:r>
              <a:rPr sz="2400" b="1">
                <a:solidFill>
                  <a:srgbClr val="347CDB"/>
                </a:solidFill>
                <a:latin typeface="Helvetica Neue"/>
                <a:ea typeface="Helvetica Neue"/>
                <a:cs typeface="Helvetica Neue"/>
              </a:rPr>
              <a:t>Semantic #1</a:t>
            </a:r>
          </a:p>
        </p:txBody>
      </p:sp>
      <p:sp>
        <p:nvSpPr>
          <p:cNvPr id="10" name="">
            <a:extLst xmlns:a="http://schemas.openxmlformats.org/drawingml/2006/main">
              <a:ext uri="{FF2B5EF4-FFF2-40B4-BE49-F238E27FC236}">
                <a16:creationId xmlns:a16="http://schemas.microsoft.com/office/drawing/2014/main" id="{B52A09F1-D017-4C36-99E8-E3E943CF2F55}"/>
              </a:ext>
            </a:extLst>
          </p:cNvPr>
          <p:cNvSpPr>
            <a:spLocks xmlns:a="http://schemas.openxmlformats.org/drawingml/2006/main" noGrp="1"/>
          </p:cNvSpPr>
          <p:nvPr/>
        </p:nvSpPr>
        <p:spPr>
          <a:xfrm xmlns:a="http://schemas.openxmlformats.org/drawingml/2006/main">
            <a:off x="6667500" y="3638550"/>
            <a:ext cx="4724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A967B"/>
                </a:solidFill>
                <a:latin typeface="Helvetica Neue"/>
                <a:ea typeface="Helvetica Neue"/>
                <a:cs typeface="Helvetica Neue"/>
              </a:defRPr>
            </a:defPPr>
            <a:lvl1pPr>
              <a:defRPr sz="2400" b="1">
                <a:solidFill>
                  <a:srgbClr val="1A967B"/>
                </a:solidFill>
                <a:latin typeface="Helvetica Neue"/>
                <a:ea typeface="Helvetica Neue"/>
                <a:cs typeface="Helvetica Neue"/>
              </a:defRPr>
            </a:lvl1pPr>
            <a:lvl2pPr>
              <a:defRPr sz="2400" b="1">
                <a:solidFill>
                  <a:srgbClr val="1A967B"/>
                </a:solidFill>
                <a:latin typeface="Helvetica Neue"/>
                <a:ea typeface="Helvetica Neue"/>
                <a:cs typeface="Helvetica Neue"/>
              </a:defRPr>
            </a:lvl2pPr>
            <a:lvl3pPr>
              <a:defRPr sz="2400" b="1">
                <a:solidFill>
                  <a:srgbClr val="1A967B"/>
                </a:solidFill>
                <a:latin typeface="Helvetica Neue"/>
                <a:ea typeface="Helvetica Neue"/>
                <a:cs typeface="Helvetica Neue"/>
              </a:defRPr>
            </a:lvl3pPr>
            <a:lvl4pPr>
              <a:defRPr sz="2400" b="1">
                <a:solidFill>
                  <a:srgbClr val="1A967B"/>
                </a:solidFill>
                <a:latin typeface="Helvetica Neue"/>
                <a:ea typeface="Helvetica Neue"/>
                <a:cs typeface="Helvetica Neue"/>
              </a:defRPr>
            </a:lvl4pPr>
            <a:lvl5pPr>
              <a:defRPr sz="2400" b="1">
                <a:solidFill>
                  <a:srgbClr val="1A967B"/>
                </a:solidFill>
                <a:latin typeface="Helvetica Neue"/>
                <a:ea typeface="Helvetica Neue"/>
                <a:cs typeface="Helvetica Neue"/>
              </a:defRPr>
            </a:lvl5pPr>
            <a:lvl6pPr>
              <a:defRPr sz="2400" b="1">
                <a:solidFill>
                  <a:srgbClr val="1A967B"/>
                </a:solidFill>
                <a:latin typeface="Helvetica Neue"/>
                <a:ea typeface="Helvetica Neue"/>
                <a:cs typeface="Helvetica Neue"/>
              </a:defRPr>
            </a:lvl6pPr>
            <a:lvl7pPr>
              <a:defRPr sz="2400" b="1">
                <a:solidFill>
                  <a:srgbClr val="1A967B"/>
                </a:solidFill>
                <a:latin typeface="Helvetica Neue"/>
                <a:ea typeface="Helvetica Neue"/>
                <a:cs typeface="Helvetica Neue"/>
              </a:defRPr>
            </a:lvl7pPr>
            <a:lvl8pPr>
              <a:defRPr sz="2400" b="1">
                <a:solidFill>
                  <a:srgbClr val="1A967B"/>
                </a:solidFill>
                <a:latin typeface="Helvetica Neue"/>
                <a:ea typeface="Helvetica Neue"/>
                <a:cs typeface="Helvetica Neue"/>
              </a:defRPr>
            </a:lvl8pPr>
            <a:lvl9pPr>
              <a:defRPr sz="2400" b="1">
                <a:solidFill>
                  <a:srgbClr val="1A967B"/>
                </a:solidFill>
                <a:latin typeface="Helvetica Neue"/>
                <a:ea typeface="Helvetica Neue"/>
                <a:cs typeface="Helvetica Neue"/>
              </a:defRPr>
            </a:lvl9pPr>
          </a:lstStyle>
          <a:p xmlns:a="http://schemas.openxmlformats.org/drawingml/2006/main">
            <a:pPr>
              <a:defRPr sz="2400" b="1">
                <a:solidFill>
                  <a:srgbClr val="1A967B"/>
                </a:solidFill>
                <a:latin typeface="Helvetica Neue"/>
                <a:ea typeface="Helvetica Neue"/>
                <a:cs typeface="Helvetica Neue"/>
              </a:defRPr>
            </a:pPr>
            <a:r>
              <a:rPr sz="2400" b="1">
                <a:solidFill>
                  <a:srgbClr val="1A967B"/>
                </a:solidFill>
                <a:latin typeface="Helvetica Neue"/>
                <a:ea typeface="Helvetica Neue"/>
                <a:cs typeface="Helvetica Neue"/>
              </a:rPr>
              <a:t>Preference #6</a:t>
            </a:r>
          </a:p>
        </p:txBody>
      </p:sp>
      <p:sp>
        <p:nvSpPr>
          <p:cNvPr id="11" name="">
            <a:extLst xmlns:a="http://schemas.openxmlformats.org/drawingml/2006/main">
              <a:ext uri="{FF2B5EF4-FFF2-40B4-BE49-F238E27FC236}">
                <a16:creationId xmlns:a16="http://schemas.microsoft.com/office/drawing/2014/main" id="{EB92D1E5-FCE5-4A94-8AD3-B118B86B6454}"/>
              </a:ext>
            </a:extLst>
          </p:cNvPr>
          <p:cNvSpPr>
            <a:spLocks xmlns:a="http://schemas.openxmlformats.org/drawingml/2006/main" noGrp="1"/>
          </p:cNvSpPr>
          <p:nvPr/>
        </p:nvSpPr>
        <p:spPr>
          <a:xfrm xmlns:a="http://schemas.openxmlformats.org/drawingml/2006/main">
            <a:off x="6667500" y="4410075"/>
            <a:ext cx="4724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Observed Top 12 per model</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24 unique products</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2 in all three lists</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14 in exactly one list</a:t>
            </a:r>
          </a:p>
        </p:txBody>
      </p:sp>
    </p:spTree>
    <p:extLst>
      <p:ext uri="{BB962C8B-B14F-4D97-AF65-F5344CB8AC3E}">
        <p14:creationId xmlns:p14="http://schemas.microsoft.com/office/powerpoint/2010/main" val="11284866"/>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text-42">
            <a:extLst xmlns:a="http://schemas.openxmlformats.org/drawingml/2006/main">
              <a:ext uri="{FF2B5EF4-FFF2-40B4-BE49-F238E27FC236}">
                <a16:creationId xmlns:a16="http://schemas.microsoft.com/office/drawing/2014/main" id="{A44B3448-3C51-4E30-9E6D-AA9D59D00970}"/>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Visual reference and explicit constraints</a:t>
            </a:r>
          </a:p>
        </p:txBody>
      </p:sp>
      <p:sp>
        <p:nvSpPr>
          <p:cNvPr id="2" name="text-43">
            <a:extLst xmlns:a="http://schemas.openxmlformats.org/drawingml/2006/main">
              <a:ext uri="{FF2B5EF4-FFF2-40B4-BE49-F238E27FC236}">
                <a16:creationId xmlns:a16="http://schemas.microsoft.com/office/drawing/2014/main" id="{77F5E563-67D7-4D1F-97A6-120F107CFEA5}"/>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10</a:t>
            </a:r>
          </a:p>
        </p:txBody>
      </p:sp>
      <p:sp>
        <p:nvSpPr>
          <p:cNvPr id="3" name="text-44">
            <a:extLst xmlns:a="http://schemas.openxmlformats.org/drawingml/2006/main">
              <a:ext uri="{FF2B5EF4-FFF2-40B4-BE49-F238E27FC236}">
                <a16:creationId xmlns:a16="http://schemas.microsoft.com/office/drawing/2014/main" id="{F4A5CCE5-CA75-4ED6-81A1-B533CE5A8D89}"/>
              </a:ext>
            </a:extLst>
          </p:cNvPr>
          <p:cNvSpPr>
            <a:spLocks xmlns:a="http://schemas.openxmlformats.org/drawingml/2006/main" noGrp="1"/>
          </p:cNvSpPr>
          <p:nvPr/>
        </p:nvSpPr>
        <p:spPr>
          <a:xfrm xmlns:a="http://schemas.openxmlformats.org/drawingml/2006/main">
            <a:off x="647700" y="1762125"/>
            <a:ext cx="3105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Historical price ceiling</a:t>
            </a:r>
          </a:p>
        </p:txBody>
      </p:sp>
      <p:sp>
        <p:nvSpPr>
          <p:cNvPr id="4" name="text-45">
            <a:extLst xmlns:a="http://schemas.openxmlformats.org/drawingml/2006/main">
              <a:ext uri="{FF2B5EF4-FFF2-40B4-BE49-F238E27FC236}">
                <a16:creationId xmlns:a16="http://schemas.microsoft.com/office/drawing/2014/main" id="{6B28D1D6-EA2E-4F86-B22A-9C8AF88A5162}"/>
              </a:ext>
            </a:extLst>
          </p:cNvPr>
          <p:cNvSpPr>
            <a:spLocks xmlns:a="http://schemas.openxmlformats.org/drawingml/2006/main" noGrp="1"/>
          </p:cNvSpPr>
          <p:nvPr/>
        </p:nvSpPr>
        <p:spPr>
          <a:xfrm xmlns:a="http://schemas.openxmlformats.org/drawingml/2006/main">
            <a:off x="647700" y="2362200"/>
            <a:ext cx="310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17243C"/>
                </a:solidFill>
                <a:latin typeface="Helvetica Neue"/>
                <a:ea typeface="Helvetica Neue"/>
                <a:cs typeface="Helvetica Neue"/>
              </a:defRPr>
            </a:defPPr>
            <a:lvl1pPr>
              <a:defRPr sz="2925" b="1">
                <a:solidFill>
                  <a:srgbClr val="17243C"/>
                </a:solidFill>
                <a:latin typeface="Helvetica Neue"/>
                <a:ea typeface="Helvetica Neue"/>
                <a:cs typeface="Helvetica Neue"/>
              </a:defRPr>
            </a:lvl1pPr>
            <a:lvl2pPr>
              <a:defRPr sz="2925" b="1">
                <a:solidFill>
                  <a:srgbClr val="17243C"/>
                </a:solidFill>
                <a:latin typeface="Helvetica Neue"/>
                <a:ea typeface="Helvetica Neue"/>
                <a:cs typeface="Helvetica Neue"/>
              </a:defRPr>
            </a:lvl2pPr>
            <a:lvl3pPr>
              <a:defRPr sz="2925" b="1">
                <a:solidFill>
                  <a:srgbClr val="17243C"/>
                </a:solidFill>
                <a:latin typeface="Helvetica Neue"/>
                <a:ea typeface="Helvetica Neue"/>
                <a:cs typeface="Helvetica Neue"/>
              </a:defRPr>
            </a:lvl3pPr>
            <a:lvl4pPr>
              <a:defRPr sz="2925" b="1">
                <a:solidFill>
                  <a:srgbClr val="17243C"/>
                </a:solidFill>
                <a:latin typeface="Helvetica Neue"/>
                <a:ea typeface="Helvetica Neue"/>
                <a:cs typeface="Helvetica Neue"/>
              </a:defRPr>
            </a:lvl4pPr>
            <a:lvl5pPr>
              <a:defRPr sz="2925" b="1">
                <a:solidFill>
                  <a:srgbClr val="17243C"/>
                </a:solidFill>
                <a:latin typeface="Helvetica Neue"/>
                <a:ea typeface="Helvetica Neue"/>
                <a:cs typeface="Helvetica Neue"/>
              </a:defRPr>
            </a:lvl5pPr>
            <a:lvl6pPr>
              <a:defRPr sz="2925" b="1">
                <a:solidFill>
                  <a:srgbClr val="17243C"/>
                </a:solidFill>
                <a:latin typeface="Helvetica Neue"/>
                <a:ea typeface="Helvetica Neue"/>
                <a:cs typeface="Helvetica Neue"/>
              </a:defRPr>
            </a:lvl6pPr>
            <a:lvl7pPr>
              <a:defRPr sz="2925" b="1">
                <a:solidFill>
                  <a:srgbClr val="17243C"/>
                </a:solidFill>
                <a:latin typeface="Helvetica Neue"/>
                <a:ea typeface="Helvetica Neue"/>
                <a:cs typeface="Helvetica Neue"/>
              </a:defRPr>
            </a:lvl7pPr>
            <a:lvl8pPr>
              <a:defRPr sz="2925" b="1">
                <a:solidFill>
                  <a:srgbClr val="17243C"/>
                </a:solidFill>
                <a:latin typeface="Helvetica Neue"/>
                <a:ea typeface="Helvetica Neue"/>
                <a:cs typeface="Helvetica Neue"/>
              </a:defRPr>
            </a:lvl8pPr>
            <a:lvl9pPr>
              <a:defRPr sz="2925" b="1">
                <a:solidFill>
                  <a:srgbClr val="17243C"/>
                </a:solidFill>
                <a:latin typeface="Helvetica Neue"/>
                <a:ea typeface="Helvetica Neue"/>
                <a:cs typeface="Helvetica Neue"/>
              </a:defRPr>
            </a:lvl9pPr>
          </a:lstStyle>
          <a:p xmlns:a="http://schemas.openxmlformats.org/drawingml/2006/main">
            <a:pPr>
              <a:defRPr sz="2925" b="1">
                <a:solidFill>
                  <a:srgbClr val="17243C"/>
                </a:solidFill>
                <a:latin typeface="Helvetica Neue"/>
                <a:ea typeface="Helvetica Neue"/>
                <a:cs typeface="Helvetica Neue"/>
              </a:defRPr>
            </a:pPr>
            <a:r>
              <a:rPr sz="2925" b="1">
                <a:solidFill>
                  <a:srgbClr val="17243C"/>
                </a:solidFill>
                <a:latin typeface="Helvetica Neue"/>
                <a:ea typeface="Helvetica Neue"/>
                <a:cs typeface="Helvetica Neue"/>
              </a:rPr>
              <a:t>$150</a:t>
            </a:r>
          </a:p>
        </p:txBody>
      </p:sp>
      <p:sp>
        <p:nvSpPr>
          <p:cNvPr id="5" name="text-46">
            <a:extLst xmlns:a="http://schemas.openxmlformats.org/drawingml/2006/main">
              <a:ext uri="{FF2B5EF4-FFF2-40B4-BE49-F238E27FC236}">
                <a16:creationId xmlns:a16="http://schemas.microsoft.com/office/drawing/2014/main" id="{4B90A00B-374D-4003-AEDA-2EFA067AA250}"/>
              </a:ext>
            </a:extLst>
          </p:cNvPr>
          <p:cNvSpPr>
            <a:spLocks xmlns:a="http://schemas.openxmlformats.org/drawingml/2006/main" noGrp="1"/>
          </p:cNvSpPr>
          <p:nvPr/>
        </p:nvSpPr>
        <p:spPr>
          <a:xfrm xmlns:a="http://schemas.openxmlformats.org/drawingml/2006/main">
            <a:off x="647700" y="3324225"/>
            <a:ext cx="3105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243C"/>
                </a:solidFill>
                <a:latin typeface="Helvetica Neue"/>
                <a:ea typeface="Helvetica Neue"/>
                <a:cs typeface="Helvetica Neue"/>
              </a:defRPr>
            </a:defPPr>
            <a:lvl1pPr>
              <a:defRPr sz="2175" b="1">
                <a:solidFill>
                  <a:srgbClr val="17243C"/>
                </a:solidFill>
                <a:latin typeface="Helvetica Neue"/>
                <a:ea typeface="Helvetica Neue"/>
                <a:cs typeface="Helvetica Neue"/>
              </a:defRPr>
            </a:lvl1pPr>
            <a:lvl2pPr>
              <a:defRPr sz="2175" b="1">
                <a:solidFill>
                  <a:srgbClr val="17243C"/>
                </a:solidFill>
                <a:latin typeface="Helvetica Neue"/>
                <a:ea typeface="Helvetica Neue"/>
                <a:cs typeface="Helvetica Neue"/>
              </a:defRPr>
            </a:lvl2pPr>
            <a:lvl3pPr>
              <a:defRPr sz="2175" b="1">
                <a:solidFill>
                  <a:srgbClr val="17243C"/>
                </a:solidFill>
                <a:latin typeface="Helvetica Neue"/>
                <a:ea typeface="Helvetica Neue"/>
                <a:cs typeface="Helvetica Neue"/>
              </a:defRPr>
            </a:lvl3pPr>
            <a:lvl4pPr>
              <a:defRPr sz="2175" b="1">
                <a:solidFill>
                  <a:srgbClr val="17243C"/>
                </a:solidFill>
                <a:latin typeface="Helvetica Neue"/>
                <a:ea typeface="Helvetica Neue"/>
                <a:cs typeface="Helvetica Neue"/>
              </a:defRPr>
            </a:lvl4pPr>
            <a:lvl5pPr>
              <a:defRPr sz="2175" b="1">
                <a:solidFill>
                  <a:srgbClr val="17243C"/>
                </a:solidFill>
                <a:latin typeface="Helvetica Neue"/>
                <a:ea typeface="Helvetica Neue"/>
                <a:cs typeface="Helvetica Neue"/>
              </a:defRPr>
            </a:lvl5pPr>
            <a:lvl6pPr>
              <a:defRPr sz="2175" b="1">
                <a:solidFill>
                  <a:srgbClr val="17243C"/>
                </a:solidFill>
                <a:latin typeface="Helvetica Neue"/>
                <a:ea typeface="Helvetica Neue"/>
                <a:cs typeface="Helvetica Neue"/>
              </a:defRPr>
            </a:lvl6pPr>
            <a:lvl7pPr>
              <a:defRPr sz="2175" b="1">
                <a:solidFill>
                  <a:srgbClr val="17243C"/>
                </a:solidFill>
                <a:latin typeface="Helvetica Neue"/>
                <a:ea typeface="Helvetica Neue"/>
                <a:cs typeface="Helvetica Neue"/>
              </a:defRPr>
            </a:lvl7pPr>
            <a:lvl8pPr>
              <a:defRPr sz="2175" b="1">
                <a:solidFill>
                  <a:srgbClr val="17243C"/>
                </a:solidFill>
                <a:latin typeface="Helvetica Neue"/>
                <a:ea typeface="Helvetica Neue"/>
                <a:cs typeface="Helvetica Neue"/>
              </a:defRPr>
            </a:lvl8pPr>
            <a:lvl9pPr>
              <a:defRPr sz="2175" b="1">
                <a:solidFill>
                  <a:srgbClr val="17243C"/>
                </a:solidFill>
                <a:latin typeface="Helvetica Neue"/>
                <a:ea typeface="Helvetica Neue"/>
                <a:cs typeface="Helvetica Neue"/>
              </a:defRPr>
            </a:lvl9pPr>
          </a:lstStyle>
          <a:p xmlns:a="http://schemas.openxmlformats.org/drawingml/2006/main">
            <a:pPr>
              <a:defRPr sz="2175" b="1">
                <a:solidFill>
                  <a:srgbClr val="17243C"/>
                </a:solidFill>
                <a:latin typeface="Helvetica Neue"/>
                <a:ea typeface="Helvetica Neue"/>
                <a:cs typeface="Helvetica Neue"/>
              </a:defRPr>
            </a:pPr>
            <a:r>
              <a:rPr sz="2175" b="1">
                <a:solidFill>
                  <a:srgbClr val="17243C"/>
                </a:solidFill>
                <a:latin typeface="Helvetica Neue"/>
                <a:ea typeface="Helvetica Neue"/>
                <a:cs typeface="Helvetica Neue"/>
              </a:rPr>
              <a:t>Soft avoid: bulky</a:t>
            </a:r>
          </a:p>
        </p:txBody>
      </p:sp>
      <p:sp>
        <p:nvSpPr>
          <p:cNvPr id="6" name="text-47">
            <a:extLst xmlns:a="http://schemas.openxmlformats.org/drawingml/2006/main">
              <a:ext uri="{FF2B5EF4-FFF2-40B4-BE49-F238E27FC236}">
                <a16:creationId xmlns:a16="http://schemas.microsoft.com/office/drawing/2014/main" id="{664A67F1-05D0-4033-A794-E400A82009E7}"/>
              </a:ext>
            </a:extLst>
          </p:cNvPr>
          <p:cNvSpPr>
            <a:spLocks xmlns:a="http://schemas.openxmlformats.org/drawingml/2006/main" noGrp="1"/>
          </p:cNvSpPr>
          <p:nvPr/>
        </p:nvSpPr>
        <p:spPr>
          <a:xfrm xmlns:a="http://schemas.openxmlformats.org/drawingml/2006/main">
            <a:off x="647700" y="4181475"/>
            <a:ext cx="3105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243C"/>
                </a:solidFill>
                <a:latin typeface="Helvetica Neue"/>
                <a:ea typeface="Helvetica Neue"/>
                <a:cs typeface="Helvetica Neue"/>
              </a:defRPr>
            </a:defPPr>
            <a:lvl1pPr>
              <a:defRPr sz="2175" b="1">
                <a:solidFill>
                  <a:srgbClr val="17243C"/>
                </a:solidFill>
                <a:latin typeface="Helvetica Neue"/>
                <a:ea typeface="Helvetica Neue"/>
                <a:cs typeface="Helvetica Neue"/>
              </a:defRPr>
            </a:lvl1pPr>
            <a:lvl2pPr>
              <a:defRPr sz="2175" b="1">
                <a:solidFill>
                  <a:srgbClr val="17243C"/>
                </a:solidFill>
                <a:latin typeface="Helvetica Neue"/>
                <a:ea typeface="Helvetica Neue"/>
                <a:cs typeface="Helvetica Neue"/>
              </a:defRPr>
            </a:lvl2pPr>
            <a:lvl3pPr>
              <a:defRPr sz="2175" b="1">
                <a:solidFill>
                  <a:srgbClr val="17243C"/>
                </a:solidFill>
                <a:latin typeface="Helvetica Neue"/>
                <a:ea typeface="Helvetica Neue"/>
                <a:cs typeface="Helvetica Neue"/>
              </a:defRPr>
            </a:lvl3pPr>
            <a:lvl4pPr>
              <a:defRPr sz="2175" b="1">
                <a:solidFill>
                  <a:srgbClr val="17243C"/>
                </a:solidFill>
                <a:latin typeface="Helvetica Neue"/>
                <a:ea typeface="Helvetica Neue"/>
                <a:cs typeface="Helvetica Neue"/>
              </a:defRPr>
            </a:lvl4pPr>
            <a:lvl5pPr>
              <a:defRPr sz="2175" b="1">
                <a:solidFill>
                  <a:srgbClr val="17243C"/>
                </a:solidFill>
                <a:latin typeface="Helvetica Neue"/>
                <a:ea typeface="Helvetica Neue"/>
                <a:cs typeface="Helvetica Neue"/>
              </a:defRPr>
            </a:lvl5pPr>
            <a:lvl6pPr>
              <a:defRPr sz="2175" b="1">
                <a:solidFill>
                  <a:srgbClr val="17243C"/>
                </a:solidFill>
                <a:latin typeface="Helvetica Neue"/>
                <a:ea typeface="Helvetica Neue"/>
                <a:cs typeface="Helvetica Neue"/>
              </a:defRPr>
            </a:lvl6pPr>
            <a:lvl7pPr>
              <a:defRPr sz="2175" b="1">
                <a:solidFill>
                  <a:srgbClr val="17243C"/>
                </a:solidFill>
                <a:latin typeface="Helvetica Neue"/>
                <a:ea typeface="Helvetica Neue"/>
                <a:cs typeface="Helvetica Neue"/>
              </a:defRPr>
            </a:lvl7pPr>
            <a:lvl8pPr>
              <a:defRPr sz="2175" b="1">
                <a:solidFill>
                  <a:srgbClr val="17243C"/>
                </a:solidFill>
                <a:latin typeface="Helvetica Neue"/>
                <a:ea typeface="Helvetica Neue"/>
                <a:cs typeface="Helvetica Neue"/>
              </a:defRPr>
            </a:lvl8pPr>
            <a:lvl9pPr>
              <a:defRPr sz="2175" b="1">
                <a:solidFill>
                  <a:srgbClr val="17243C"/>
                </a:solidFill>
                <a:latin typeface="Helvetica Neue"/>
                <a:ea typeface="Helvetica Neue"/>
                <a:cs typeface="Helvetica Neue"/>
              </a:defRPr>
            </a:lvl9pPr>
          </a:lstStyle>
          <a:p xmlns:a="http://schemas.openxmlformats.org/drawingml/2006/main">
            <a:pPr>
              <a:defRPr sz="2175" b="1">
                <a:solidFill>
                  <a:srgbClr val="17243C"/>
                </a:solidFill>
                <a:latin typeface="Helvetica Neue"/>
                <a:ea typeface="Helvetica Neue"/>
                <a:cs typeface="Helvetica Neue"/>
              </a:defRPr>
            </a:pPr>
            <a:r>
              <a:rPr sz="2175" b="1">
                <a:solidFill>
                  <a:srgbClr val="17243C"/>
                </a:solidFill>
                <a:latin typeface="Helvetica Neue"/>
                <a:ea typeface="Helvetica Neue"/>
                <a:cs typeface="Helvetica Neue"/>
              </a:rPr>
              <a:t>Text weight: 0.65</a:t>
            </a:r>
          </a:p>
        </p:txBody>
      </p:sp>
      <p:sp>
        <p:nvSpPr>
          <p:cNvPr id="7" name="text-48">
            <a:extLst xmlns:a="http://schemas.openxmlformats.org/drawingml/2006/main">
              <a:ext uri="{FF2B5EF4-FFF2-40B4-BE49-F238E27FC236}">
                <a16:creationId xmlns:a16="http://schemas.microsoft.com/office/drawing/2014/main" id="{881BB52E-B6A5-44FB-B218-0AAC6890678A}"/>
              </a:ext>
            </a:extLst>
          </p:cNvPr>
          <p:cNvSpPr>
            <a:spLocks xmlns:a="http://schemas.openxmlformats.org/drawingml/2006/main" noGrp="1"/>
          </p:cNvSpPr>
          <p:nvPr/>
        </p:nvSpPr>
        <p:spPr>
          <a:xfrm xmlns:a="http://schemas.openxmlformats.org/drawingml/2006/main">
            <a:off x="647700" y="5048250"/>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Local catalog reference</a:t>
            </a:r>
          </a:p>
        </p:txBody>
      </p:sp>
      <p:pic>
        <p:nvPicPr>
          <p:cNvPr id="8" name="">
            <a:extLst xmlns:a="http://schemas.openxmlformats.org/drawingml/2006/main">
              <a:ext uri="{FF2B5EF4-FFF2-40B4-BE49-F238E27FC236}">
                <a16:creationId xmlns:a16="http://schemas.microsoft.com/office/drawing/2014/main" id="{3F81484F-5F01-4BA7-B40C-770B16641EF7}"/>
              </a:ext>
            </a:extLst>
          </p:cNvPr>
          <p:cNvPicPr>
            <a:picLocks xmlns:a="http://schemas.openxmlformats.org/drawingml/2006/main" noChangeAspect="1"/>
          </p:cNvPicPr>
          <p:nvPr/>
        </p:nvPicPr>
        <p:blipFill>
          <a:blip xmlns:r="http://schemas.openxmlformats.org/officeDocument/2006/relationships" xmlns:a="http://schemas.openxmlformats.org/drawingml/2006/main" r:embed="R0352df0bf5b443a0"/>
          <a:srcRect xmlns:a="http://schemas.openxmlformats.org/drawingml/2006/main" l="0" t="40000" r="0" b="500"/>
          <a:stretch xmlns:a="http://schemas.openxmlformats.org/drawingml/2006/main"/>
        </p:blipFill>
        <p:spPr>
          <a:xfrm xmlns:a="http://schemas.openxmlformats.org/drawingml/2006/main">
            <a:off x="4000500" y="1625569"/>
            <a:ext cx="7581900" cy="4235512"/>
          </a:xfrm>
          <a:prstGeom xmlns:a="http://schemas.openxmlformats.org/drawingml/2006/main" prst="rect">
            <a:avLst/>
          </a:prstGeom>
        </p:spPr>
      </p:pic>
      <p:sp>
        <p:nvSpPr>
          <p:cNvPr id="9" name="text-49">
            <a:extLst xmlns:a="http://schemas.openxmlformats.org/drawingml/2006/main">
              <a:ext uri="{FF2B5EF4-FFF2-40B4-BE49-F238E27FC236}">
                <a16:creationId xmlns:a16="http://schemas.microsoft.com/office/drawing/2014/main" id="{FA3CE349-18B3-4A47-A47A-B1C607F0C42F}"/>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Reference: Capri Stroller - Red Tech. Metadata prices are historical, not live offers.</a:t>
            </a:r>
          </a:p>
        </p:txBody>
      </p:sp>
    </p:spTree>
    <p:extLst>
      <p:ext uri="{BB962C8B-B14F-4D97-AF65-F5344CB8AC3E}">
        <p14:creationId xmlns:p14="http://schemas.microsoft.com/office/powerpoint/2010/main" val="1098451630"/>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50">
            <a:extLst xmlns:a="http://schemas.openxmlformats.org/drawingml/2006/main">
              <a:ext uri="{FF2B5EF4-FFF2-40B4-BE49-F238E27FC236}">
                <a16:creationId xmlns:a16="http://schemas.microsoft.com/office/drawing/2014/main" id="{E2681FA6-F683-4CC9-AD8D-0684DD56C66D}"/>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Feedback, exact hiding and undo</a:t>
            </a:r>
          </a:p>
        </p:txBody>
      </p:sp>
      <p:sp>
        <p:nvSpPr>
          <p:cNvPr id="2" name="text-51">
            <a:extLst xmlns:a="http://schemas.openxmlformats.org/drawingml/2006/main">
              <a:ext uri="{FF2B5EF4-FFF2-40B4-BE49-F238E27FC236}">
                <a16:creationId xmlns:a16="http://schemas.microsoft.com/office/drawing/2014/main" id="{0D1105B6-6F6A-418C-9B36-79A37E9B5B1A}"/>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11</a:t>
            </a:r>
          </a:p>
        </p:txBody>
      </p:sp>
      <p:pic>
        <p:nvPicPr>
          <p:cNvPr id="3" name="">
            <a:extLst xmlns:a="http://schemas.openxmlformats.org/drawingml/2006/main">
              <a:ext uri="{FF2B5EF4-FFF2-40B4-BE49-F238E27FC236}">
                <a16:creationId xmlns:a16="http://schemas.microsoft.com/office/drawing/2014/main" id="{30595807-A681-478A-BFAA-DB612AA0AA0A}"/>
              </a:ext>
            </a:extLst>
          </p:cNvPr>
          <p:cNvPicPr>
            <a:picLocks xmlns:a="http://schemas.openxmlformats.org/drawingml/2006/main" noChangeAspect="1"/>
          </p:cNvPicPr>
          <p:nvPr/>
        </p:nvPicPr>
        <p:blipFill>
          <a:blip xmlns:r="http://schemas.openxmlformats.org/officeDocument/2006/relationships" xmlns:a="http://schemas.openxmlformats.org/drawingml/2006/main" r:embed="Rcacd0b6798a6423a"/>
          <a:srcRect xmlns:a="http://schemas.openxmlformats.org/drawingml/2006/main" l="0" t="35000" r="0" b="0"/>
          <a:stretch xmlns:a="http://schemas.openxmlformats.org/drawingml/2006/main"/>
        </p:blipFill>
        <p:spPr>
          <a:xfrm xmlns:a="http://schemas.openxmlformats.org/drawingml/2006/main">
            <a:off x="2443783" y="1485900"/>
            <a:ext cx="7304435" cy="4457700"/>
          </a:xfrm>
          <a:prstGeom xmlns:a="http://schemas.openxmlformats.org/drawingml/2006/main" prst="rect">
            <a:avLst/>
          </a:prstGeom>
        </p:spPr>
      </p:pic>
      <p:sp>
        <p:nvSpPr>
          <p:cNvPr id="4" name="text-52">
            <a:extLst xmlns:a="http://schemas.openxmlformats.org/drawingml/2006/main">
              <a:ext uri="{FF2B5EF4-FFF2-40B4-BE49-F238E27FC236}">
                <a16:creationId xmlns:a16="http://schemas.microsoft.com/office/drawing/2014/main" id="{2B8DDB03-4F92-4B6F-82EE-3F8055B788FD}"/>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Feedback reranks products using cached query vectors. Positive examples activate the selected trained recommender.</a:t>
            </a:r>
          </a:p>
        </p:txBody>
      </p:sp>
    </p:spTree>
    <p:extLst>
      <p:ext uri="{BB962C8B-B14F-4D97-AF65-F5344CB8AC3E}">
        <p14:creationId xmlns:p14="http://schemas.microsoft.com/office/powerpoint/2010/main" val="760642264"/>
      </p:ext>
    </p:extLst>
  </p:cSld>
</p:sld>
</file>

<file path=ppt/slides/slide1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53">
            <a:extLst xmlns:a="http://schemas.openxmlformats.org/drawingml/2006/main">
              <a:ext uri="{FF2B5EF4-FFF2-40B4-BE49-F238E27FC236}">
                <a16:creationId xmlns:a16="http://schemas.microsoft.com/office/drawing/2014/main" id="{0EF6F14F-4562-4AA2-8A9D-585391428406}"/>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 shortlist with original product evidence</a:t>
            </a:r>
          </a:p>
        </p:txBody>
      </p:sp>
      <p:sp>
        <p:nvSpPr>
          <p:cNvPr id="2" name="text-54">
            <a:extLst xmlns:a="http://schemas.openxmlformats.org/drawingml/2006/main">
              <a:ext uri="{FF2B5EF4-FFF2-40B4-BE49-F238E27FC236}">
                <a16:creationId xmlns:a16="http://schemas.microsoft.com/office/drawing/2014/main" id="{C23468C5-4CB7-4356-9C9C-FDD9AB4D612B}"/>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12</a:t>
            </a:r>
          </a:p>
        </p:txBody>
      </p:sp>
      <p:pic>
        <p:nvPicPr>
          <p:cNvPr id="3" name="">
            <a:extLst xmlns:a="http://schemas.openxmlformats.org/drawingml/2006/main">
              <a:ext uri="{FF2B5EF4-FFF2-40B4-BE49-F238E27FC236}">
                <a16:creationId xmlns:a16="http://schemas.microsoft.com/office/drawing/2014/main" id="{B5D48E9A-276A-4514-B04B-36AF082A01BA}"/>
              </a:ext>
            </a:extLst>
          </p:cNvPr>
          <p:cNvPicPr>
            <a:picLocks xmlns:a="http://schemas.openxmlformats.org/drawingml/2006/main" noChangeAspect="1"/>
          </p:cNvPicPr>
          <p:nvPr/>
        </p:nvPicPr>
        <p:blipFill>
          <a:blip xmlns:r="http://schemas.openxmlformats.org/officeDocument/2006/relationships" xmlns:a="http://schemas.openxmlformats.org/drawingml/2006/main" r:embed="R5b4e0f588d4d407f"/>
          <a:srcRect xmlns:a="http://schemas.openxmlformats.org/drawingml/2006/main" l="0" t="35000" r="0" b="9500"/>
          <a:stretch xmlns:a="http://schemas.openxmlformats.org/drawingml/2006/main"/>
        </p:blipFill>
        <p:spPr>
          <a:xfrm xmlns:a="http://schemas.openxmlformats.org/drawingml/2006/main">
            <a:off x="1818628" y="1485900"/>
            <a:ext cx="8554744" cy="4457700"/>
          </a:xfrm>
          <a:prstGeom xmlns:a="http://schemas.openxmlformats.org/drawingml/2006/main" prst="rect">
            <a:avLst/>
          </a:prstGeom>
        </p:spPr>
      </p:pic>
      <p:sp>
        <p:nvSpPr>
          <p:cNvPr id="4" name="text-55">
            <a:extLst xmlns:a="http://schemas.openxmlformats.org/drawingml/2006/main">
              <a:ext uri="{FF2B5EF4-FFF2-40B4-BE49-F238E27FC236}">
                <a16:creationId xmlns:a16="http://schemas.microsoft.com/office/drawing/2014/main" id="{0D66258C-F754-4E31-935B-A766265CC81C}"/>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Adding a product to the shortlist does not activate preference feedback.</a:t>
            </a:r>
          </a:p>
        </p:txBody>
      </p:sp>
    </p:spTree>
    <p:extLst>
      <p:ext uri="{BB962C8B-B14F-4D97-AF65-F5344CB8AC3E}">
        <p14:creationId xmlns:p14="http://schemas.microsoft.com/office/powerpoint/2010/main" val="1854783492"/>
      </p:ext>
    </p:extLst>
  </p:cSld>
</p:sld>
</file>

<file path=ppt/slides/slide1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56">
            <a:extLst xmlns:a="http://schemas.openxmlformats.org/drawingml/2006/main">
              <a:ext uri="{FF2B5EF4-FFF2-40B4-BE49-F238E27FC236}">
                <a16:creationId xmlns:a16="http://schemas.microsoft.com/office/drawing/2014/main" id="{D978E4B0-E83B-4DE1-B02D-712AFC64B1D6}"/>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 final choice with portable exports</a:t>
            </a:r>
          </a:p>
        </p:txBody>
      </p:sp>
      <p:sp>
        <p:nvSpPr>
          <p:cNvPr id="2" name="text-57">
            <a:extLst xmlns:a="http://schemas.openxmlformats.org/drawingml/2006/main">
              <a:ext uri="{FF2B5EF4-FFF2-40B4-BE49-F238E27FC236}">
                <a16:creationId xmlns:a16="http://schemas.microsoft.com/office/drawing/2014/main" id="{804A04ED-EA95-4CAC-BE90-6E16ABDDFCCF}"/>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13</a:t>
            </a:r>
          </a:p>
        </p:txBody>
      </p:sp>
      <p:pic>
        <p:nvPicPr>
          <p:cNvPr id="3" name="">
            <a:extLst xmlns:a="http://schemas.openxmlformats.org/drawingml/2006/main">
              <a:ext uri="{FF2B5EF4-FFF2-40B4-BE49-F238E27FC236}">
                <a16:creationId xmlns:a16="http://schemas.microsoft.com/office/drawing/2014/main" id="{2B272003-5394-4F26-B076-9E5EE50AF3D6}"/>
              </a:ext>
            </a:extLst>
          </p:cNvPr>
          <p:cNvPicPr>
            <a:picLocks xmlns:a="http://schemas.openxmlformats.org/drawingml/2006/main" noChangeAspect="1"/>
          </p:cNvPicPr>
          <p:nvPr/>
        </p:nvPicPr>
        <p:blipFill>
          <a:blip xmlns:r="http://schemas.openxmlformats.org/officeDocument/2006/relationships" xmlns:a="http://schemas.openxmlformats.org/drawingml/2006/main" r:embed="R63e1c46883b949c3"/>
          <a:srcRect xmlns:a="http://schemas.openxmlformats.org/drawingml/2006/main" l="0" t="10000" r="0" b="46000"/>
          <a:stretch xmlns:a="http://schemas.openxmlformats.org/drawingml/2006/main"/>
        </p:blipFill>
        <p:spPr>
          <a:xfrm xmlns:a="http://schemas.openxmlformats.org/drawingml/2006/main">
            <a:off x="700679" y="1485900"/>
            <a:ext cx="10790642" cy="4457700"/>
          </a:xfrm>
          <a:prstGeom xmlns:a="http://schemas.openxmlformats.org/drawingml/2006/main" prst="rect">
            <a:avLst/>
          </a:prstGeom>
        </p:spPr>
      </p:pic>
      <p:sp>
        <p:nvSpPr>
          <p:cNvPr id="4" name="text-58">
            <a:extLst xmlns:a="http://schemas.openxmlformats.org/drawingml/2006/main">
              <a:ext uri="{FF2B5EF4-FFF2-40B4-BE49-F238E27FC236}">
                <a16:creationId xmlns:a16="http://schemas.microsoft.com/office/drawing/2014/main" id="{1E197F7B-7132-47B8-99CC-A3F7D7859D29}"/>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Exports retain the chosen product, request, feedback and model provenance.</a:t>
            </a:r>
          </a:p>
        </p:txBody>
      </p:sp>
    </p:spTree>
    <p:extLst>
      <p:ext uri="{BB962C8B-B14F-4D97-AF65-F5344CB8AC3E}">
        <p14:creationId xmlns:p14="http://schemas.microsoft.com/office/powerpoint/2010/main" val="603172544"/>
      </p:ext>
    </p:extLst>
  </p:cSld>
</p:sld>
</file>

<file path=ppt/slides/slide1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59">
            <a:extLst xmlns:a="http://schemas.openxmlformats.org/drawingml/2006/main">
              <a:ext uri="{FF2B5EF4-FFF2-40B4-BE49-F238E27FC236}">
                <a16:creationId xmlns:a16="http://schemas.microsoft.com/office/drawing/2014/main" id="{0A9A7477-5062-4828-B554-6D077578259F}"/>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Product atlas with a real product inspector</a:t>
            </a:r>
          </a:p>
        </p:txBody>
      </p:sp>
      <p:sp>
        <p:nvSpPr>
          <p:cNvPr id="2" name="text-60">
            <a:extLst xmlns:a="http://schemas.openxmlformats.org/drawingml/2006/main">
              <a:ext uri="{FF2B5EF4-FFF2-40B4-BE49-F238E27FC236}">
                <a16:creationId xmlns:a16="http://schemas.microsoft.com/office/drawing/2014/main" id="{069E6231-E67B-4646-8FF9-5C21AA72F3F8}"/>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14</a:t>
            </a:r>
          </a:p>
        </p:txBody>
      </p:sp>
      <p:pic>
        <p:nvPicPr>
          <p:cNvPr id="3" name="">
            <a:extLst xmlns:a="http://schemas.openxmlformats.org/drawingml/2006/main">
              <a:ext uri="{FF2B5EF4-FFF2-40B4-BE49-F238E27FC236}">
                <a16:creationId xmlns:a16="http://schemas.microsoft.com/office/drawing/2014/main" id="{7468938C-1606-4B2B-80B8-62B0F9FD9BF9}"/>
              </a:ext>
            </a:extLst>
          </p:cNvPr>
          <p:cNvPicPr>
            <a:picLocks xmlns:a="http://schemas.openxmlformats.org/drawingml/2006/main" noChangeAspect="1"/>
          </p:cNvPicPr>
          <p:nvPr/>
        </p:nvPicPr>
        <p:blipFill>
          <a:blip xmlns:r="http://schemas.openxmlformats.org/officeDocument/2006/relationships" xmlns:a="http://schemas.openxmlformats.org/drawingml/2006/main" r:embed="R72e80405d7e6456b"/>
          <a:srcRect xmlns:a="http://schemas.openxmlformats.org/drawingml/2006/main" l="25500" t="41000" r="2500" b="2500"/>
          <a:stretch xmlns:a="http://schemas.openxmlformats.org/drawingml/2006/main"/>
        </p:blipFill>
        <p:spPr>
          <a:xfrm xmlns:a="http://schemas.openxmlformats.org/drawingml/2006/main">
            <a:off x="2005962" y="1485900"/>
            <a:ext cx="8180077" cy="4457700"/>
          </a:xfrm>
          <a:prstGeom xmlns:a="http://schemas.openxmlformats.org/drawingml/2006/main" prst="rect">
            <a:avLst/>
          </a:prstGeom>
        </p:spPr>
      </p:pic>
      <p:sp>
        <p:nvSpPr>
          <p:cNvPr id="4" name="text-61">
            <a:extLst xmlns:a="http://schemas.openxmlformats.org/drawingml/2006/main">
              <a:ext uri="{FF2B5EF4-FFF2-40B4-BE49-F238E27FC236}">
                <a16:creationId xmlns:a16="http://schemas.microsoft.com/office/drawing/2014/main" id="{BD238498-6383-4F77-B6C7-0DAF6B3EA313}"/>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One fixed PCA map preserves coordinates across models. Projection distance can hide information.</a:t>
            </a:r>
          </a:p>
        </p:txBody>
      </p:sp>
    </p:spTree>
    <p:extLst>
      <p:ext uri="{BB962C8B-B14F-4D97-AF65-F5344CB8AC3E}">
        <p14:creationId xmlns:p14="http://schemas.microsoft.com/office/powerpoint/2010/main" val="54948508"/>
      </p:ext>
    </p:extLst>
  </p:cSld>
</p:sld>
</file>

<file path=ppt/slides/slide1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62">
            <a:extLst xmlns:a="http://schemas.openxmlformats.org/drawingml/2006/main">
              <a:ext uri="{FF2B5EF4-FFF2-40B4-BE49-F238E27FC236}">
                <a16:creationId xmlns:a16="http://schemas.microsoft.com/office/drawing/2014/main" id="{257ADBB2-8C8E-4F61-8DE5-C84BBE385F7D}"/>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Preference relationships in the actual tower</a:t>
            </a:r>
          </a:p>
        </p:txBody>
      </p:sp>
      <p:sp>
        <p:nvSpPr>
          <p:cNvPr id="2" name="text-63">
            <a:extLst xmlns:a="http://schemas.openxmlformats.org/drawingml/2006/main">
              <a:ext uri="{FF2B5EF4-FFF2-40B4-BE49-F238E27FC236}">
                <a16:creationId xmlns:a16="http://schemas.microsoft.com/office/drawing/2014/main" id="{B085DB9C-AB97-4324-810B-5DB49EE2A37C}"/>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15</a:t>
            </a:r>
          </a:p>
        </p:txBody>
      </p:sp>
      <p:pic>
        <p:nvPicPr>
          <p:cNvPr id="3" name="">
            <a:extLst xmlns:a="http://schemas.openxmlformats.org/drawingml/2006/main">
              <a:ext uri="{FF2B5EF4-FFF2-40B4-BE49-F238E27FC236}">
                <a16:creationId xmlns:a16="http://schemas.microsoft.com/office/drawing/2014/main" id="{B229523D-D335-468A-BEBB-D75AA4900068}"/>
              </a:ext>
            </a:extLst>
          </p:cNvPr>
          <p:cNvPicPr>
            <a:picLocks xmlns:a="http://schemas.openxmlformats.org/drawingml/2006/main" noChangeAspect="1"/>
          </p:cNvPicPr>
          <p:nvPr/>
        </p:nvPicPr>
        <p:blipFill>
          <a:blip xmlns:r="http://schemas.openxmlformats.org/officeDocument/2006/relationships" xmlns:a="http://schemas.openxmlformats.org/drawingml/2006/main" r:embed="R21b9058f6d794abf"/>
          <a:srcRect xmlns:a="http://schemas.openxmlformats.org/drawingml/2006/main" l="11000" t="28000" r="7000" b="18000"/>
          <a:stretch xmlns:a="http://schemas.openxmlformats.org/drawingml/2006/main"/>
        </p:blipFill>
        <p:spPr>
          <a:xfrm xmlns:a="http://schemas.openxmlformats.org/drawingml/2006/main">
            <a:off x="2491126" y="1485900"/>
            <a:ext cx="7209748" cy="4457700"/>
          </a:xfrm>
          <a:prstGeom xmlns:a="http://schemas.openxmlformats.org/drawingml/2006/main" prst="rect">
            <a:avLst/>
          </a:prstGeom>
        </p:spPr>
      </p:pic>
      <p:sp>
        <p:nvSpPr>
          <p:cNvPr id="4" name="text-64">
            <a:extLst xmlns:a="http://schemas.openxmlformats.org/drawingml/2006/main">
              <a:ext uri="{FF2B5EF4-FFF2-40B4-BE49-F238E27FC236}">
                <a16:creationId xmlns:a16="http://schemas.microsoft.com/office/drawing/2014/main" id="{EC711D1D-BAC9-4AB6-947E-43FAABE00C54}"/>
              </a:ext>
            </a:extLst>
          </p:cNvPr>
          <p:cNvSpPr>
            <a:spLocks xmlns:a="http://schemas.openxmlformats.org/drawingml/2006/main" noGrp="1"/>
          </p:cNvSpPr>
          <p:nvPr/>
        </p:nvSpPr>
        <p:spPr>
          <a:xfrm xmlns:a="http://schemas.openxmlformats.org/drawingml/2006/main">
            <a:off x="628650" y="60007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Green: history. Blue: candidates. Solid/dashed links: positive/negative cosine.</a:t>
            </a:r>
          </a:p>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These diagnostics do not decompose the final user-network score.</a:t>
            </a:r>
          </a:p>
        </p:txBody>
      </p:sp>
    </p:spTree>
    <p:extLst>
      <p:ext uri="{BB962C8B-B14F-4D97-AF65-F5344CB8AC3E}">
        <p14:creationId xmlns:p14="http://schemas.microsoft.com/office/powerpoint/2010/main" val="1256811732"/>
      </p:ext>
    </p:extLst>
  </p:cSld>
</p:sld>
</file>

<file path=ppt/slides/slide1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65">
            <a:extLst xmlns:a="http://schemas.openxmlformats.org/drawingml/2006/main">
              <a:ext uri="{FF2B5EF4-FFF2-40B4-BE49-F238E27FC236}">
                <a16:creationId xmlns:a16="http://schemas.microsoft.com/office/drawing/2014/main" id="{6DA764B3-9AB3-461E-824B-B12CE89B4C6F}"/>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Observed rank flow across objectives</a:t>
            </a:r>
          </a:p>
        </p:txBody>
      </p:sp>
      <p:sp>
        <p:nvSpPr>
          <p:cNvPr id="2" name="text-66">
            <a:extLst xmlns:a="http://schemas.openxmlformats.org/drawingml/2006/main">
              <a:ext uri="{FF2B5EF4-FFF2-40B4-BE49-F238E27FC236}">
                <a16:creationId xmlns:a16="http://schemas.microsoft.com/office/drawing/2014/main" id="{77B05944-6E00-4DF7-9BAB-697D9296F4DA}"/>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16</a:t>
            </a:r>
          </a:p>
        </p:txBody>
      </p:sp>
      <p:pic>
        <p:nvPicPr>
          <p:cNvPr id="3" name="">
            <a:extLst xmlns:a="http://schemas.openxmlformats.org/drawingml/2006/main">
              <a:ext uri="{FF2B5EF4-FFF2-40B4-BE49-F238E27FC236}">
                <a16:creationId xmlns:a16="http://schemas.microsoft.com/office/drawing/2014/main" id="{3FB9668B-C2D1-4ACE-9A73-7C4990DC9776}"/>
              </a:ext>
            </a:extLst>
          </p:cNvPr>
          <p:cNvPicPr>
            <a:picLocks xmlns:a="http://schemas.openxmlformats.org/drawingml/2006/main" noChangeAspect="1"/>
          </p:cNvPicPr>
          <p:nvPr/>
        </p:nvPicPr>
        <p:blipFill>
          <a:blip xmlns:r="http://schemas.openxmlformats.org/officeDocument/2006/relationships" xmlns:a="http://schemas.openxmlformats.org/drawingml/2006/main" r:embed="Rd08e2d9bfbc34019"/>
          <a:srcRect xmlns:a="http://schemas.openxmlformats.org/drawingml/2006/main" l="1500" t="12000" r="1500" b="24000"/>
          <a:stretch xmlns:a="http://schemas.openxmlformats.org/drawingml/2006/main"/>
        </p:blipFill>
        <p:spPr>
          <a:xfrm xmlns:a="http://schemas.openxmlformats.org/drawingml/2006/main">
            <a:off x="2497995" y="1485900"/>
            <a:ext cx="7196010" cy="4457700"/>
          </a:xfrm>
          <a:prstGeom xmlns:a="http://schemas.openxmlformats.org/drawingml/2006/main" prst="rect">
            <a:avLst/>
          </a:prstGeom>
        </p:spPr>
      </p:pic>
      <p:sp>
        <p:nvSpPr>
          <p:cNvPr id="4" name="text-67">
            <a:extLst xmlns:a="http://schemas.openxmlformats.org/drawingml/2006/main">
              <a:ext uri="{FF2B5EF4-FFF2-40B4-BE49-F238E27FC236}">
                <a16:creationId xmlns:a16="http://schemas.microsoft.com/office/drawing/2014/main" id="{FF898E10-48FF-482A-ABD6-705E570006C4}"/>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A broken line means absence from the observed Top-K. The missing full rank remains unknown.</a:t>
            </a:r>
          </a:p>
        </p:txBody>
      </p:sp>
    </p:spTree>
    <p:extLst>
      <p:ext uri="{BB962C8B-B14F-4D97-AF65-F5344CB8AC3E}">
        <p14:creationId xmlns:p14="http://schemas.microsoft.com/office/powerpoint/2010/main" val="1978544377"/>
      </p:ext>
    </p:extLst>
  </p:cSld>
</p:sld>
</file>

<file path=ppt/slides/slide1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68">
            <a:extLst xmlns:a="http://schemas.openxmlformats.org/drawingml/2006/main">
              <a:ext uri="{FF2B5EF4-FFF2-40B4-BE49-F238E27FC236}">
                <a16:creationId xmlns:a16="http://schemas.microsoft.com/office/drawing/2014/main" id="{D32988FC-B826-46E0-A1AA-256F67C0BFAB}"/>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Removal sensitivity for the current history</a:t>
            </a:r>
          </a:p>
        </p:txBody>
      </p:sp>
      <p:sp>
        <p:nvSpPr>
          <p:cNvPr id="2" name="text-69">
            <a:extLst xmlns:a="http://schemas.openxmlformats.org/drawingml/2006/main">
              <a:ext uri="{FF2B5EF4-FFF2-40B4-BE49-F238E27FC236}">
                <a16:creationId xmlns:a16="http://schemas.microsoft.com/office/drawing/2014/main" id="{9868143E-8D17-492F-9080-27B16D09B847}"/>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17</a:t>
            </a:r>
          </a:p>
        </p:txBody>
      </p:sp>
      <p:pic>
        <p:nvPicPr>
          <p:cNvPr id="3" name="">
            <a:extLst xmlns:a="http://schemas.openxmlformats.org/drawingml/2006/main">
              <a:ext uri="{FF2B5EF4-FFF2-40B4-BE49-F238E27FC236}">
                <a16:creationId xmlns:a16="http://schemas.microsoft.com/office/drawing/2014/main" id="{F9ADF98A-1913-4043-A346-3CCC6A6CA02F}"/>
              </a:ext>
            </a:extLst>
          </p:cNvPr>
          <p:cNvPicPr>
            <a:picLocks xmlns:a="http://schemas.openxmlformats.org/drawingml/2006/main" noChangeAspect="1"/>
          </p:cNvPicPr>
          <p:nvPr/>
        </p:nvPicPr>
        <p:blipFill>
          <a:blip xmlns:r="http://schemas.openxmlformats.org/officeDocument/2006/relationships" xmlns:a="http://schemas.openxmlformats.org/drawingml/2006/main" r:embed="R58eff986c72f472c"/>
          <a:srcRect xmlns:a="http://schemas.openxmlformats.org/drawingml/2006/main" l="25500" t="19000" r="3500" b="21000"/>
          <a:stretch xmlns:a="http://schemas.openxmlformats.org/drawingml/2006/main"/>
        </p:blipFill>
        <p:spPr>
          <a:xfrm xmlns:a="http://schemas.openxmlformats.org/drawingml/2006/main">
            <a:off x="2298040" y="1485900"/>
            <a:ext cx="7595921" cy="4457700"/>
          </a:xfrm>
          <a:prstGeom xmlns:a="http://schemas.openxmlformats.org/drawingml/2006/main" prst="rect">
            <a:avLst/>
          </a:prstGeom>
        </p:spPr>
      </p:pic>
      <p:sp>
        <p:nvSpPr>
          <p:cNvPr id="4" name="text-70">
            <a:extLst xmlns:a="http://schemas.openxmlformats.org/drawingml/2006/main">
              <a:ext uri="{FF2B5EF4-FFF2-40B4-BE49-F238E27FC236}">
                <a16:creationId xmlns:a16="http://schemas.microsoft.com/office/drawing/2014/main" id="{C2FC8DEC-2B77-45B9-B0CA-9CE60686C7FD}"/>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Each removal reruns the selected seed42 recommender. This is a session sensitivity check.</a:t>
            </a:r>
          </a:p>
        </p:txBody>
      </p:sp>
    </p:spTree>
    <p:extLst>
      <p:ext uri="{BB962C8B-B14F-4D97-AF65-F5344CB8AC3E}">
        <p14:creationId xmlns:p14="http://schemas.microsoft.com/office/powerpoint/2010/main" val="1661500656"/>
      </p:ext>
    </p:extLst>
  </p:cSld>
</p:sld>
</file>

<file path=ppt/slides/slide1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text-71">
            <a:extLst xmlns:a="http://schemas.openxmlformats.org/drawingml/2006/main">
              <a:ext uri="{FF2B5EF4-FFF2-40B4-BE49-F238E27FC236}">
                <a16:creationId xmlns:a16="http://schemas.microsoft.com/office/drawing/2014/main" id="{AB694F89-822A-4123-9D5B-9F9679619ADF}"/>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Findings and limits</a:t>
            </a:r>
          </a:p>
        </p:txBody>
      </p:sp>
      <p:sp>
        <p:nvSpPr>
          <p:cNvPr id="2" name="text-72">
            <a:extLst xmlns:a="http://schemas.openxmlformats.org/drawingml/2006/main">
              <a:ext uri="{FF2B5EF4-FFF2-40B4-BE49-F238E27FC236}">
                <a16:creationId xmlns:a16="http://schemas.microsoft.com/office/drawing/2014/main" id="{A3E183A6-BBF1-4C11-A265-34ED73A3F2E8}"/>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18</a:t>
            </a:r>
          </a:p>
        </p:txBody>
      </p:sp>
      <p:sp>
        <p:nvSpPr>
          <p:cNvPr id="3" name="text-73">
            <a:extLst xmlns:a="http://schemas.openxmlformats.org/drawingml/2006/main">
              <a:ext uri="{FF2B5EF4-FFF2-40B4-BE49-F238E27FC236}">
                <a16:creationId xmlns:a16="http://schemas.microsoft.com/office/drawing/2014/main" id="{B7C98B75-811B-44C3-9426-3E80487DF094}"/>
              </a:ext>
            </a:extLst>
          </p:cNvPr>
          <p:cNvSpPr>
            <a:spLocks xmlns:a="http://schemas.openxmlformats.org/drawingml/2006/main" noGrp="1"/>
          </p:cNvSpPr>
          <p:nvPr/>
        </p:nvSpPr>
        <p:spPr>
          <a:xfrm xmlns:a="http://schemas.openxmlformats.org/drawingml/2006/main">
            <a:off x="647700" y="1581150"/>
            <a:ext cx="10763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243C"/>
                </a:solidFill>
                <a:latin typeface="Helvetica Neue"/>
                <a:ea typeface="Helvetica Neue"/>
                <a:cs typeface="Helvetica Neue"/>
              </a:defRPr>
            </a:defPPr>
            <a:lvl1pPr>
              <a:defRPr sz="2625" b="1">
                <a:solidFill>
                  <a:srgbClr val="17243C"/>
                </a:solidFill>
                <a:latin typeface="Helvetica Neue"/>
                <a:ea typeface="Helvetica Neue"/>
                <a:cs typeface="Helvetica Neue"/>
              </a:defRPr>
            </a:lvl1pPr>
            <a:lvl2pPr>
              <a:defRPr sz="2625" b="1">
                <a:solidFill>
                  <a:srgbClr val="17243C"/>
                </a:solidFill>
                <a:latin typeface="Helvetica Neue"/>
                <a:ea typeface="Helvetica Neue"/>
                <a:cs typeface="Helvetica Neue"/>
              </a:defRPr>
            </a:lvl2pPr>
            <a:lvl3pPr>
              <a:defRPr sz="2625" b="1">
                <a:solidFill>
                  <a:srgbClr val="17243C"/>
                </a:solidFill>
                <a:latin typeface="Helvetica Neue"/>
                <a:ea typeface="Helvetica Neue"/>
                <a:cs typeface="Helvetica Neue"/>
              </a:defRPr>
            </a:lvl3pPr>
            <a:lvl4pPr>
              <a:defRPr sz="2625" b="1">
                <a:solidFill>
                  <a:srgbClr val="17243C"/>
                </a:solidFill>
                <a:latin typeface="Helvetica Neue"/>
                <a:ea typeface="Helvetica Neue"/>
                <a:cs typeface="Helvetica Neue"/>
              </a:defRPr>
            </a:lvl4pPr>
            <a:lvl5pPr>
              <a:defRPr sz="2625" b="1">
                <a:solidFill>
                  <a:srgbClr val="17243C"/>
                </a:solidFill>
                <a:latin typeface="Helvetica Neue"/>
                <a:ea typeface="Helvetica Neue"/>
                <a:cs typeface="Helvetica Neue"/>
              </a:defRPr>
            </a:lvl5pPr>
            <a:lvl6pPr>
              <a:defRPr sz="2625" b="1">
                <a:solidFill>
                  <a:srgbClr val="17243C"/>
                </a:solidFill>
                <a:latin typeface="Helvetica Neue"/>
                <a:ea typeface="Helvetica Neue"/>
                <a:cs typeface="Helvetica Neue"/>
              </a:defRPr>
            </a:lvl6pPr>
            <a:lvl7pPr>
              <a:defRPr sz="2625" b="1">
                <a:solidFill>
                  <a:srgbClr val="17243C"/>
                </a:solidFill>
                <a:latin typeface="Helvetica Neue"/>
                <a:ea typeface="Helvetica Neue"/>
                <a:cs typeface="Helvetica Neue"/>
              </a:defRPr>
            </a:lvl7pPr>
            <a:lvl8pPr>
              <a:defRPr sz="2625" b="1">
                <a:solidFill>
                  <a:srgbClr val="17243C"/>
                </a:solidFill>
                <a:latin typeface="Helvetica Neue"/>
                <a:ea typeface="Helvetica Neue"/>
                <a:cs typeface="Helvetica Neue"/>
              </a:defRPr>
            </a:lvl8pPr>
            <a:lvl9pPr>
              <a:defRPr sz="2625" b="1">
                <a:solidFill>
                  <a:srgbClr val="17243C"/>
                </a:solidFill>
                <a:latin typeface="Helvetica Neue"/>
                <a:ea typeface="Helvetica Neue"/>
                <a:cs typeface="Helvetica Neue"/>
              </a:defRPr>
            </a:lvl9pPr>
          </a:lstStyle>
          <a:p xmlns:a="http://schemas.openxmlformats.org/drawingml/2006/main">
            <a:pPr>
              <a:defRPr sz="2625" b="1">
                <a:solidFill>
                  <a:srgbClr val="17243C"/>
                </a:solidFill>
                <a:latin typeface="Helvetica Neue"/>
                <a:ea typeface="Helvetica Neue"/>
                <a:cs typeface="Helvetica Neue"/>
              </a:defRPr>
            </a:pPr>
            <a:r>
              <a:rPr sz="2625" b="1">
                <a:solidFill>
                  <a:srgbClr val="17243C"/>
                </a:solidFill>
                <a:latin typeface="Helvetica Neue"/>
                <a:ea typeface="Helvetica Neue"/>
                <a:cs typeface="Helvetica Neue"/>
              </a:rPr>
              <a:t>Adaptation did not improve the mean NDCG@10</a:t>
            </a:r>
          </a:p>
          <a:p xmlns:a="http://schemas.openxmlformats.org/drawingml/2006/main">
            <a:pPr>
              <a:defRPr sz="2625" b="1">
                <a:solidFill>
                  <a:srgbClr val="17243C"/>
                </a:solidFill>
                <a:latin typeface="Helvetica Neue"/>
                <a:ea typeface="Helvetica Neue"/>
                <a:cs typeface="Helvetica Neue"/>
              </a:defRPr>
            </a:pPr>
            <a:r>
              <a:rPr sz="2625" b="1">
                <a:solidFill>
                  <a:srgbClr val="17243C"/>
                </a:solidFill>
                <a:latin typeface="Helvetica Neue"/>
                <a:ea typeface="Helvetica Neue"/>
                <a:cs typeface="Helvetica Neue"/>
              </a:rPr>
              <a:t>in any of the three domains under this budget.</a:t>
            </a:r>
          </a:p>
        </p:txBody>
      </p:sp>
      <p:sp>
        <p:nvSpPr>
          <p:cNvPr id="4" name="text-74">
            <a:extLst xmlns:a="http://schemas.openxmlformats.org/drawingml/2006/main">
              <a:ext uri="{FF2B5EF4-FFF2-40B4-BE49-F238E27FC236}">
                <a16:creationId xmlns:a16="http://schemas.microsoft.com/office/drawing/2014/main" id="{26B6A53B-675A-434E-9DF4-4C64D2319632}"/>
              </a:ext>
            </a:extLst>
          </p:cNvPr>
          <p:cNvSpPr>
            <a:spLocks xmlns:a="http://schemas.openxmlformats.org/drawingml/2006/main" noGrp="1"/>
          </p:cNvSpPr>
          <p:nvPr/>
        </p:nvSpPr>
        <p:spPr>
          <a:xfrm xmlns:a="http://schemas.openxmlformats.org/drawingml/2006/main">
            <a:off x="647700" y="3009900"/>
            <a:ext cx="10763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347CDB"/>
                </a:solidFill>
                <a:latin typeface="Helvetica Neue"/>
                <a:ea typeface="Helvetica Neue"/>
                <a:cs typeface="Helvetica Neue"/>
              </a:defRPr>
            </a:defPPr>
            <a:lvl1pPr>
              <a:defRPr sz="2475" b="1">
                <a:solidFill>
                  <a:srgbClr val="347CDB"/>
                </a:solidFill>
                <a:latin typeface="Helvetica Neue"/>
                <a:ea typeface="Helvetica Neue"/>
                <a:cs typeface="Helvetica Neue"/>
              </a:defRPr>
            </a:lvl1pPr>
            <a:lvl2pPr>
              <a:defRPr sz="2475" b="1">
                <a:solidFill>
                  <a:srgbClr val="347CDB"/>
                </a:solidFill>
                <a:latin typeface="Helvetica Neue"/>
                <a:ea typeface="Helvetica Neue"/>
                <a:cs typeface="Helvetica Neue"/>
              </a:defRPr>
            </a:lvl2pPr>
            <a:lvl3pPr>
              <a:defRPr sz="2475" b="1">
                <a:solidFill>
                  <a:srgbClr val="347CDB"/>
                </a:solidFill>
                <a:latin typeface="Helvetica Neue"/>
                <a:ea typeface="Helvetica Neue"/>
                <a:cs typeface="Helvetica Neue"/>
              </a:defRPr>
            </a:lvl3pPr>
            <a:lvl4pPr>
              <a:defRPr sz="2475" b="1">
                <a:solidFill>
                  <a:srgbClr val="347CDB"/>
                </a:solidFill>
                <a:latin typeface="Helvetica Neue"/>
                <a:ea typeface="Helvetica Neue"/>
                <a:cs typeface="Helvetica Neue"/>
              </a:defRPr>
            </a:lvl4pPr>
            <a:lvl5pPr>
              <a:defRPr sz="2475" b="1">
                <a:solidFill>
                  <a:srgbClr val="347CDB"/>
                </a:solidFill>
                <a:latin typeface="Helvetica Neue"/>
                <a:ea typeface="Helvetica Neue"/>
                <a:cs typeface="Helvetica Neue"/>
              </a:defRPr>
            </a:lvl5pPr>
            <a:lvl6pPr>
              <a:defRPr sz="2475" b="1">
                <a:solidFill>
                  <a:srgbClr val="347CDB"/>
                </a:solidFill>
                <a:latin typeface="Helvetica Neue"/>
                <a:ea typeface="Helvetica Neue"/>
                <a:cs typeface="Helvetica Neue"/>
              </a:defRPr>
            </a:lvl6pPr>
            <a:lvl7pPr>
              <a:defRPr sz="2475" b="1">
                <a:solidFill>
                  <a:srgbClr val="347CDB"/>
                </a:solidFill>
                <a:latin typeface="Helvetica Neue"/>
                <a:ea typeface="Helvetica Neue"/>
                <a:cs typeface="Helvetica Neue"/>
              </a:defRPr>
            </a:lvl7pPr>
            <a:lvl8pPr>
              <a:defRPr sz="2475" b="1">
                <a:solidFill>
                  <a:srgbClr val="347CDB"/>
                </a:solidFill>
                <a:latin typeface="Helvetica Neue"/>
                <a:ea typeface="Helvetica Neue"/>
                <a:cs typeface="Helvetica Neue"/>
              </a:defRPr>
            </a:lvl8pPr>
            <a:lvl9pPr>
              <a:defRPr sz="2475" b="1">
                <a:solidFill>
                  <a:srgbClr val="347CDB"/>
                </a:solidFill>
                <a:latin typeface="Helvetica Neue"/>
                <a:ea typeface="Helvetica Neue"/>
                <a:cs typeface="Helvetica Neue"/>
              </a:defRPr>
            </a:lvl9pPr>
          </a:lstStyle>
          <a:p xmlns:a="http://schemas.openxmlformats.org/drawingml/2006/main">
            <a:pPr>
              <a:defRPr sz="2475" b="1">
                <a:solidFill>
                  <a:srgbClr val="347CDB"/>
                </a:solidFill>
                <a:latin typeface="Helvetica Neue"/>
                <a:ea typeface="Helvetica Neue"/>
                <a:cs typeface="Helvetica Neue"/>
              </a:defRPr>
            </a:pPr>
            <a:r>
              <a:rPr sz="2475" b="1">
                <a:solidFill>
                  <a:srgbClr val="347CDB"/>
                </a:solidFill>
                <a:latin typeface="Helvetica Neue"/>
                <a:ea typeface="Helvetica Neue"/>
                <a:cs typeface="Helvetica Neue"/>
              </a:rPr>
              <a:t>Semantic alignment: 2 of 9 matched wins</a:t>
            </a:r>
          </a:p>
          <a:p xmlns:a="http://schemas.openxmlformats.org/drawingml/2006/main">
            <a:pPr>
              <a:defRPr sz="2475" b="1">
                <a:solidFill>
                  <a:srgbClr val="347CDB"/>
                </a:solidFill>
                <a:latin typeface="Helvetica Neue"/>
                <a:ea typeface="Helvetica Neue"/>
                <a:cs typeface="Helvetica Neue"/>
              </a:defRPr>
            </a:pPr>
            <a:r>
              <a:rPr sz="2475" b="1">
                <a:solidFill>
                  <a:srgbClr val="347CDB"/>
                </a:solidFill>
                <a:latin typeface="Helvetica Neue"/>
                <a:ea typeface="Helvetica Neue"/>
                <a:cs typeface="Helvetica Neue"/>
              </a:rPr>
              <a:t>User preference: 3 of 9 matched wins</a:t>
            </a:r>
          </a:p>
        </p:txBody>
      </p:sp>
      <p:sp>
        <p:nvSpPr>
          <p:cNvPr id="5" name="text-75">
            <a:extLst xmlns:a="http://schemas.openxmlformats.org/drawingml/2006/main">
              <a:ext uri="{FF2B5EF4-FFF2-40B4-BE49-F238E27FC236}">
                <a16:creationId xmlns:a16="http://schemas.microsoft.com/office/drawing/2014/main" id="{FECB7C79-71AC-406E-AB90-02A607A14E04}"/>
              </a:ext>
            </a:extLst>
          </p:cNvPr>
          <p:cNvSpPr>
            <a:spLocks xmlns:a="http://schemas.openxmlformats.org/drawingml/2006/main" noGrp="1"/>
          </p:cNvSpPr>
          <p:nvPr/>
        </p:nvSpPr>
        <p:spPr>
          <a:xfrm xmlns:a="http://schemas.openxmlformats.org/drawingml/2006/main">
            <a:off x="647700" y="440055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43C"/>
                </a:solidFill>
                <a:latin typeface="Helvetica Neue"/>
                <a:ea typeface="Helvetica Neue"/>
                <a:cs typeface="Helvetica Neue"/>
              </a:defRPr>
            </a:defPPr>
            <a:lvl1pPr>
              <a:defRPr sz="2175" b="0">
                <a:solidFill>
                  <a:srgbClr val="17243C"/>
                </a:solidFill>
                <a:latin typeface="Helvetica Neue"/>
                <a:ea typeface="Helvetica Neue"/>
                <a:cs typeface="Helvetica Neue"/>
              </a:defRPr>
            </a:lvl1pPr>
            <a:lvl2pPr>
              <a:defRPr sz="2175" b="0">
                <a:solidFill>
                  <a:srgbClr val="17243C"/>
                </a:solidFill>
                <a:latin typeface="Helvetica Neue"/>
                <a:ea typeface="Helvetica Neue"/>
                <a:cs typeface="Helvetica Neue"/>
              </a:defRPr>
            </a:lvl2pPr>
            <a:lvl3pPr>
              <a:defRPr sz="2175" b="0">
                <a:solidFill>
                  <a:srgbClr val="17243C"/>
                </a:solidFill>
                <a:latin typeface="Helvetica Neue"/>
                <a:ea typeface="Helvetica Neue"/>
                <a:cs typeface="Helvetica Neue"/>
              </a:defRPr>
            </a:lvl3pPr>
            <a:lvl4pPr>
              <a:defRPr sz="2175" b="0">
                <a:solidFill>
                  <a:srgbClr val="17243C"/>
                </a:solidFill>
                <a:latin typeface="Helvetica Neue"/>
                <a:ea typeface="Helvetica Neue"/>
                <a:cs typeface="Helvetica Neue"/>
              </a:defRPr>
            </a:lvl4pPr>
            <a:lvl5pPr>
              <a:defRPr sz="2175" b="0">
                <a:solidFill>
                  <a:srgbClr val="17243C"/>
                </a:solidFill>
                <a:latin typeface="Helvetica Neue"/>
                <a:ea typeface="Helvetica Neue"/>
                <a:cs typeface="Helvetica Neue"/>
              </a:defRPr>
            </a:lvl5pPr>
            <a:lvl6pPr>
              <a:defRPr sz="2175" b="0">
                <a:solidFill>
                  <a:srgbClr val="17243C"/>
                </a:solidFill>
                <a:latin typeface="Helvetica Neue"/>
                <a:ea typeface="Helvetica Neue"/>
                <a:cs typeface="Helvetica Neue"/>
              </a:defRPr>
            </a:lvl6pPr>
            <a:lvl7pPr>
              <a:defRPr sz="2175" b="0">
                <a:solidFill>
                  <a:srgbClr val="17243C"/>
                </a:solidFill>
                <a:latin typeface="Helvetica Neue"/>
                <a:ea typeface="Helvetica Neue"/>
                <a:cs typeface="Helvetica Neue"/>
              </a:defRPr>
            </a:lvl7pPr>
            <a:lvl8pPr>
              <a:defRPr sz="2175" b="0">
                <a:solidFill>
                  <a:srgbClr val="17243C"/>
                </a:solidFill>
                <a:latin typeface="Helvetica Neue"/>
                <a:ea typeface="Helvetica Neue"/>
                <a:cs typeface="Helvetica Neue"/>
              </a:defRPr>
            </a:lvl8pPr>
            <a:lvl9pPr>
              <a:defRPr sz="2175" b="0">
                <a:solidFill>
                  <a:srgbClr val="17243C"/>
                </a:solidFill>
                <a:latin typeface="Helvetica Neue"/>
                <a:ea typeface="Helvetica Neue"/>
                <a:cs typeface="Helvetica Neue"/>
              </a:defRPr>
            </a:lvl9pPr>
          </a:lstStyle>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The interface makes the trained models inspectable and usable.</a:t>
            </a:r>
          </a:p>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Examples from text requests remain exploratory, with no relevance labels.</a:t>
            </a:r>
          </a:p>
        </p:txBody>
      </p:sp>
      <p:sp>
        <p:nvSpPr>
          <p:cNvPr id="6" name="text-76">
            <a:extLst xmlns:a="http://schemas.openxmlformats.org/drawingml/2006/main">
              <a:ext uri="{FF2B5EF4-FFF2-40B4-BE49-F238E27FC236}">
                <a16:creationId xmlns:a16="http://schemas.microsoft.com/office/drawing/2014/main" id="{1C29BD30-EF13-4D0C-B13F-35DFE9D3DE97}"/>
              </a:ext>
            </a:extLst>
          </p:cNvPr>
          <p:cNvSpPr>
            <a:spLocks xmlns:a="http://schemas.openxmlformats.org/drawingml/2006/main" noGrp="1"/>
          </p:cNvSpPr>
          <p:nvPr/>
        </p:nvSpPr>
        <p:spPr>
          <a:xfrm xmlns:a="http://schemas.openxmlformats.org/drawingml/2006/main">
            <a:off x="647700" y="56007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86C7C"/>
                </a:solidFill>
                <a:latin typeface="Helvetica Neue"/>
                <a:ea typeface="Helvetica Neue"/>
                <a:cs typeface="Helvetica Neue"/>
              </a:defRPr>
            </a:defPPr>
            <a:lvl1pPr>
              <a:defRPr sz="1950" b="0">
                <a:solidFill>
                  <a:srgbClr val="586C7C"/>
                </a:solidFill>
                <a:latin typeface="Helvetica Neue"/>
                <a:ea typeface="Helvetica Neue"/>
                <a:cs typeface="Helvetica Neue"/>
              </a:defRPr>
            </a:lvl1pPr>
            <a:lvl2pPr>
              <a:defRPr sz="1950" b="0">
                <a:solidFill>
                  <a:srgbClr val="586C7C"/>
                </a:solidFill>
                <a:latin typeface="Helvetica Neue"/>
                <a:ea typeface="Helvetica Neue"/>
                <a:cs typeface="Helvetica Neue"/>
              </a:defRPr>
            </a:lvl2pPr>
            <a:lvl3pPr>
              <a:defRPr sz="1950" b="0">
                <a:solidFill>
                  <a:srgbClr val="586C7C"/>
                </a:solidFill>
                <a:latin typeface="Helvetica Neue"/>
                <a:ea typeface="Helvetica Neue"/>
                <a:cs typeface="Helvetica Neue"/>
              </a:defRPr>
            </a:lvl3pPr>
            <a:lvl4pPr>
              <a:defRPr sz="1950" b="0">
                <a:solidFill>
                  <a:srgbClr val="586C7C"/>
                </a:solidFill>
                <a:latin typeface="Helvetica Neue"/>
                <a:ea typeface="Helvetica Neue"/>
                <a:cs typeface="Helvetica Neue"/>
              </a:defRPr>
            </a:lvl4pPr>
            <a:lvl5pPr>
              <a:defRPr sz="1950" b="0">
                <a:solidFill>
                  <a:srgbClr val="586C7C"/>
                </a:solidFill>
                <a:latin typeface="Helvetica Neue"/>
                <a:ea typeface="Helvetica Neue"/>
                <a:cs typeface="Helvetica Neue"/>
              </a:defRPr>
            </a:lvl5pPr>
            <a:lvl6pPr>
              <a:defRPr sz="1950" b="0">
                <a:solidFill>
                  <a:srgbClr val="586C7C"/>
                </a:solidFill>
                <a:latin typeface="Helvetica Neue"/>
                <a:ea typeface="Helvetica Neue"/>
                <a:cs typeface="Helvetica Neue"/>
              </a:defRPr>
            </a:lvl6pPr>
            <a:lvl7pPr>
              <a:defRPr sz="1950" b="0">
                <a:solidFill>
                  <a:srgbClr val="586C7C"/>
                </a:solidFill>
                <a:latin typeface="Helvetica Neue"/>
                <a:ea typeface="Helvetica Neue"/>
                <a:cs typeface="Helvetica Neue"/>
              </a:defRPr>
            </a:lvl7pPr>
            <a:lvl8pPr>
              <a:defRPr sz="1950" b="0">
                <a:solidFill>
                  <a:srgbClr val="586C7C"/>
                </a:solidFill>
                <a:latin typeface="Helvetica Neue"/>
                <a:ea typeface="Helvetica Neue"/>
                <a:cs typeface="Helvetica Neue"/>
              </a:defRPr>
            </a:lvl8pPr>
            <a:lvl9pPr>
              <a:defRPr sz="1950" b="0">
                <a:solidFill>
                  <a:srgbClr val="586C7C"/>
                </a:solidFill>
                <a:latin typeface="Helvetica Neue"/>
                <a:ea typeface="Helvetica Neue"/>
                <a:cs typeface="Helvetica Neue"/>
              </a:defRPr>
            </a:lvl9pPr>
          </a:lstStyle>
          <a:p xmlns:a="http://schemas.openxmlformats.org/drawingml/2006/main">
            <a:pPr>
              <a:defRPr sz="1950" b="0">
                <a:solidFill>
                  <a:srgbClr val="586C7C"/>
                </a:solidFill>
                <a:latin typeface="Helvetica Neue"/>
                <a:ea typeface="Helvetica Neue"/>
                <a:cs typeface="Helvetica Neue"/>
              </a:defRPr>
            </a:pPr>
            <a:r>
              <a:rPr sz="1950" b="0">
                <a:solidFill>
                  <a:srgbClr val="586C7C"/>
                </a:solidFill>
                <a:latin typeface="Helvetica Neue"/>
                <a:ea typeface="Helvetica Neue"/>
                <a:cs typeface="Helvetica Neue"/>
              </a:rPr>
              <a:t>One Amazon source. Static metadata. Three seeds.</a:t>
            </a:r>
          </a:p>
          <a:p xmlns:a="http://schemas.openxmlformats.org/drawingml/2006/main">
            <a:pPr>
              <a:defRPr sz="1950" b="0">
                <a:solidFill>
                  <a:srgbClr val="586C7C"/>
                </a:solidFill>
                <a:latin typeface="Helvetica Neue"/>
                <a:ea typeface="Helvetica Neue"/>
                <a:cs typeface="Helvetica Neue"/>
              </a:defRPr>
            </a:pPr>
            <a:r>
              <a:rPr sz="1950" b="0">
                <a:solidFill>
                  <a:srgbClr val="586C7C"/>
                </a:solidFill>
                <a:latin typeface="Helvetica Neue"/>
                <a:ea typeface="Helvetica Neue"/>
                <a:cs typeface="Helvetica Neue"/>
              </a:rPr>
              <a:t>No online conversion, causal explanation or broad cold-start claim.</a:t>
            </a:r>
          </a:p>
        </p:txBody>
      </p:sp>
    </p:spTree>
    <p:extLst>
      <p:ext uri="{BB962C8B-B14F-4D97-AF65-F5344CB8AC3E}">
        <p14:creationId xmlns:p14="http://schemas.microsoft.com/office/powerpoint/2010/main" val="1484197532"/>
      </p:ext>
    </p:extLst>
  </p:cSld>
</p:sld>
</file>

<file path=ppt/slides/slide1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text-77">
            <a:extLst xmlns:a="http://schemas.openxmlformats.org/drawingml/2006/main">
              <a:ext uri="{FF2B5EF4-FFF2-40B4-BE49-F238E27FC236}">
                <a16:creationId xmlns:a16="http://schemas.microsoft.com/office/drawing/2014/main" id="{9182EA10-47C9-4C95-A4D7-180C801DB525}"/>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1. Formal NDCG@10 detail</a:t>
            </a:r>
          </a:p>
        </p:txBody>
      </p:sp>
      <p:sp>
        <p:nvSpPr>
          <p:cNvPr id="2" name="text-78">
            <a:extLst xmlns:a="http://schemas.openxmlformats.org/drawingml/2006/main">
              <a:ext uri="{FF2B5EF4-FFF2-40B4-BE49-F238E27FC236}">
                <a16:creationId xmlns:a16="http://schemas.microsoft.com/office/drawing/2014/main" id="{51D18F61-5DF8-4FC8-AB04-70CEB9007FD9}"/>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Mean ± sample standard deviation. Three complete pipeline seeds per cell.</a:t>
            </a:r>
          </a:p>
        </p:txBody>
      </p:sp>
      <p:sp>
        <p:nvSpPr>
          <p:cNvPr id="3" name="text-79">
            <a:extLst xmlns:a="http://schemas.openxmlformats.org/drawingml/2006/main">
              <a:ext uri="{FF2B5EF4-FFF2-40B4-BE49-F238E27FC236}">
                <a16:creationId xmlns:a16="http://schemas.microsoft.com/office/drawing/2014/main" id="{F134A804-D3E9-4508-BCC5-3675DEF7C9BF}"/>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19</a:t>
            </a:r>
          </a:p>
        </p:txBody>
      </p:sp>
      <p:graphicFrame>
        <p:nvGraphicFramePr>
          <p:cNvPr id="4" name="">
            <a:extLst xmlns:a="http://schemas.openxmlformats.org/drawingml/2006/main">
              <a:ext uri="{FF2B5EF4-FFF2-40B4-BE49-F238E27FC236}">
                <a16:creationId xmlns:a16="http://schemas.microsoft.com/office/drawing/2014/main" id="{C7D518EE-528B-4DDF-8623-D78D85B1F9FB}"/>
              </a:ext>
            </a:extLst>
          </p:cNvPr>
          <p:cNvGraphicFramePr/>
          <p:nvPr/>
        </p:nvGraphicFramePr>
        <p:xfrm>
          <a:off xmlns:a="http://schemas.openxmlformats.org/drawingml/2006/main" x="609600" y="1809750"/>
          <a:ext xmlns:a="http://schemas.openxmlformats.org/drawingml/2006/main" cx="10972800" cy="2590800"/>
        </p:xfrm>
        <a:graphic xmlns:a="http://schemas.openxmlformats.org/drawingml/2006/main">
          <a:graphicData uri="http://schemas.openxmlformats.org/drawingml/2006/table">
            <a:tbl>
              <a:tblPr firstRow="1" bandRow="0"/>
              <a:tblGrid>
                <a:gridCol w="2171700"/>
                <a:gridCol w="2933700"/>
                <a:gridCol w="2933700"/>
                <a:gridCol w="2933700"/>
              </a:tblGrid>
              <a:tr h="647700">
                <a:tc>
                  <a:txBody>
                    <a:bodyPr/>
                    <a:lstStyle/>
                    <a:p>
                      <a:r>
                        <a:rPr sz="1800" b="1">
                          <a:solidFill>
                            <a:srgbClr val="FFFFFF"/>
                          </a:solidFill>
                          <a:latin typeface="Helvetica Neue"/>
                          <a:ea typeface="Helvetica Neue"/>
                          <a:cs typeface="Helvetica Neue"/>
                        </a:rPr>
                        <a:t>Domain</a:t>
                      </a:r>
                    </a:p>
                  </a:txBody>
                  <a:tcPr marL="142875" marR="104775" marT="95250" marB="85725">
                    <a:lnL w="9525">
                      <a:solidFill>
                        <a:srgbClr val="DCE5E8"/>
                      </a:solidFill>
                      <a:prstDash val="solid"/>
                    </a:lnL>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00" b="1">
                          <a:solidFill>
                            <a:srgbClr val="FFFFFF"/>
                          </a:solidFill>
                          <a:latin typeface="Helvetica Neue"/>
                          <a:ea typeface="Helvetica Neue"/>
                          <a:cs typeface="Helvetica Neue"/>
                        </a:rPr>
                        <a:t>Frozen</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00" b="1">
                          <a:solidFill>
                            <a:srgbClr val="FFFFFF"/>
                          </a:solidFill>
                          <a:latin typeface="Helvetica Neue"/>
                          <a:ea typeface="Helvetica Neue"/>
                          <a:cs typeface="Helvetica Neue"/>
                        </a:rPr>
                        <a:t>Semantic</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00" b="1">
                          <a:solidFill>
                            <a:srgbClr val="FFFFFF"/>
                          </a:solidFill>
                          <a:latin typeface="Helvetica Neue"/>
                          <a:ea typeface="Helvetica Neue"/>
                          <a:cs typeface="Helvetica Neue"/>
                        </a:rPr>
                        <a:t>Preference</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r>
              <a:tr h="647700">
                <a:tc>
                  <a:txBody>
                    <a:bodyPr/>
                    <a:lstStyle/>
                    <a:p>
                      <a:r>
                        <a:rPr sz="1800">
                          <a:solidFill>
                            <a:srgbClr val="17243C"/>
                          </a:solidFill>
                          <a:latin typeface="Helvetica Neue"/>
                          <a:ea typeface="Helvetica Neue"/>
                          <a:cs typeface="Helvetica Neue"/>
                        </a:rPr>
                        <a:t>Baby</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0.012796 ± 0.000959</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0.009930 ± 0.000728</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0.012475 ± 0.000849</a:t>
                      </a:r>
                    </a:p>
                  </a:txBody>
                  <a:tcPr marL="142875" marR="104775" marT="95250" marB="85725">
                    <a:lnR w="9525">
                      <a:solidFill>
                        <a:srgbClr val="DCE5E8"/>
                      </a:solidFill>
                      <a:prstDash val="solid"/>
                    </a:lnR>
                    <a:lnB w="9525">
                      <a:solidFill>
                        <a:srgbClr val="DCE5E8"/>
                      </a:solidFill>
                      <a:prstDash val="solid"/>
                    </a:lnB>
                    <a:solidFill>
                      <a:srgbClr val="FFFFFF"/>
                    </a:solidFill>
                  </a:tcPr>
                </a:tc>
              </a:tr>
              <a:tr h="647700">
                <a:tc>
                  <a:txBody>
                    <a:bodyPr/>
                    <a:lstStyle/>
                    <a:p>
                      <a:r>
                        <a:rPr sz="1800">
                          <a:solidFill>
                            <a:srgbClr val="17243C"/>
                          </a:solidFill>
                          <a:latin typeface="Helvetica Neue"/>
                          <a:ea typeface="Helvetica Neue"/>
                          <a:cs typeface="Helvetica Neue"/>
                        </a:rPr>
                        <a:t>Sports</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0.007116 ± 0.000684</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0.006872 ± 0.000613</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0.007039 ± 0.000584</a:t>
                      </a:r>
                    </a:p>
                  </a:txBody>
                  <a:tcPr marL="142875" marR="104775" marT="95250" marB="85725">
                    <a:lnR w="9525">
                      <a:solidFill>
                        <a:srgbClr val="DCE5E8"/>
                      </a:solidFill>
                      <a:prstDash val="solid"/>
                    </a:lnR>
                    <a:lnB w="9525">
                      <a:solidFill>
                        <a:srgbClr val="DCE5E8"/>
                      </a:solidFill>
                      <a:prstDash val="solid"/>
                    </a:lnB>
                    <a:solidFill>
                      <a:srgbClr val="FFFFFF"/>
                    </a:solidFill>
                  </a:tcPr>
                </a:tc>
              </a:tr>
              <a:tr h="647700">
                <a:tc>
                  <a:txBody>
                    <a:bodyPr/>
                    <a:lstStyle/>
                    <a:p>
                      <a:r>
                        <a:rPr sz="1800">
                          <a:solidFill>
                            <a:srgbClr val="17243C"/>
                          </a:solidFill>
                          <a:latin typeface="Helvetica Neue"/>
                          <a:ea typeface="Helvetica Neue"/>
                          <a:cs typeface="Helvetica Neue"/>
                        </a:rPr>
                        <a:t>Clothing</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0.005186 ± 0.000562</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0.004460 ± 0.000384</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0.005124 ± 0.000463</a:t>
                      </a:r>
                    </a:p>
                  </a:txBody>
                  <a:tcPr marL="142875" marR="104775" marT="95250" marB="85725">
                    <a:lnR w="9525">
                      <a:solidFill>
                        <a:srgbClr val="DCE5E8"/>
                      </a:solidFill>
                      <a:prstDash val="solid"/>
                    </a:lnR>
                    <a:lnB w="9525">
                      <a:solidFill>
                        <a:srgbClr val="DCE5E8"/>
                      </a:solidFill>
                      <a:prstDash val="solid"/>
                    </a:lnB>
                    <a:solidFill>
                      <a:srgbClr val="FFFFFF"/>
                    </a:solidFill>
                  </a:tcPr>
                </a:tc>
              </a:tr>
            </a:tbl>
          </a:graphicData>
        </a:graphic>
      </p:graphicFrame>
      <p:sp>
        <p:nvSpPr>
          <p:cNvPr id="5" name="text-80">
            <a:extLst xmlns:a="http://schemas.openxmlformats.org/drawingml/2006/main">
              <a:ext uri="{FF2B5EF4-FFF2-40B4-BE49-F238E27FC236}">
                <a16:creationId xmlns:a16="http://schemas.microsoft.com/office/drawing/2014/main" id="{766473A1-BDE3-4E19-9348-80C389E6DB6D}"/>
              </a:ext>
            </a:extLst>
          </p:cNvPr>
          <p:cNvSpPr>
            <a:spLocks xmlns:a="http://schemas.openxmlformats.org/drawingml/2006/main" noGrp="1"/>
          </p:cNvSpPr>
          <p:nvPr/>
        </p:nvSpPr>
        <p:spPr>
          <a:xfrm xmlns:a="http://schemas.openxmlformats.org/drawingml/2006/main">
            <a:off x="647700" y="47720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43C"/>
                </a:solidFill>
                <a:latin typeface="Helvetica Neue"/>
                <a:ea typeface="Helvetica Neue"/>
                <a:cs typeface="Helvetica Neue"/>
              </a:defRPr>
            </a:defPPr>
            <a:lvl1pPr>
              <a:defRPr sz="2250" b="1">
                <a:solidFill>
                  <a:srgbClr val="17243C"/>
                </a:solidFill>
                <a:latin typeface="Helvetica Neue"/>
                <a:ea typeface="Helvetica Neue"/>
                <a:cs typeface="Helvetica Neue"/>
              </a:defRPr>
            </a:lvl1pPr>
            <a:lvl2pPr>
              <a:defRPr sz="2250" b="1">
                <a:solidFill>
                  <a:srgbClr val="17243C"/>
                </a:solidFill>
                <a:latin typeface="Helvetica Neue"/>
                <a:ea typeface="Helvetica Neue"/>
                <a:cs typeface="Helvetica Neue"/>
              </a:defRPr>
            </a:lvl2pPr>
            <a:lvl3pPr>
              <a:defRPr sz="2250" b="1">
                <a:solidFill>
                  <a:srgbClr val="17243C"/>
                </a:solidFill>
                <a:latin typeface="Helvetica Neue"/>
                <a:ea typeface="Helvetica Neue"/>
                <a:cs typeface="Helvetica Neue"/>
              </a:defRPr>
            </a:lvl3pPr>
            <a:lvl4pPr>
              <a:defRPr sz="2250" b="1">
                <a:solidFill>
                  <a:srgbClr val="17243C"/>
                </a:solidFill>
                <a:latin typeface="Helvetica Neue"/>
                <a:ea typeface="Helvetica Neue"/>
                <a:cs typeface="Helvetica Neue"/>
              </a:defRPr>
            </a:lvl4pPr>
            <a:lvl5pPr>
              <a:defRPr sz="2250" b="1">
                <a:solidFill>
                  <a:srgbClr val="17243C"/>
                </a:solidFill>
                <a:latin typeface="Helvetica Neue"/>
                <a:ea typeface="Helvetica Neue"/>
                <a:cs typeface="Helvetica Neue"/>
              </a:defRPr>
            </a:lvl5pPr>
            <a:lvl6pPr>
              <a:defRPr sz="2250" b="1">
                <a:solidFill>
                  <a:srgbClr val="17243C"/>
                </a:solidFill>
                <a:latin typeface="Helvetica Neue"/>
                <a:ea typeface="Helvetica Neue"/>
                <a:cs typeface="Helvetica Neue"/>
              </a:defRPr>
            </a:lvl6pPr>
            <a:lvl7pPr>
              <a:defRPr sz="2250" b="1">
                <a:solidFill>
                  <a:srgbClr val="17243C"/>
                </a:solidFill>
                <a:latin typeface="Helvetica Neue"/>
                <a:ea typeface="Helvetica Neue"/>
                <a:cs typeface="Helvetica Neue"/>
              </a:defRPr>
            </a:lvl7pPr>
            <a:lvl8pPr>
              <a:defRPr sz="2250" b="1">
                <a:solidFill>
                  <a:srgbClr val="17243C"/>
                </a:solidFill>
                <a:latin typeface="Helvetica Neue"/>
                <a:ea typeface="Helvetica Neue"/>
                <a:cs typeface="Helvetica Neue"/>
              </a:defRPr>
            </a:lvl8pPr>
            <a:lvl9pPr>
              <a:defRPr sz="2250" b="1">
                <a:solidFill>
                  <a:srgbClr val="17243C"/>
                </a:solidFill>
                <a:latin typeface="Helvetica Neue"/>
                <a:ea typeface="Helvetica Neue"/>
                <a:cs typeface="Helvetica Neue"/>
              </a:defRPr>
            </a:lvl9pPr>
          </a:lstStyle>
          <a:p xmlns:a="http://schemas.openxmlformats.org/drawingml/2006/main">
            <a:pPr>
              <a:defRPr sz="2250" b="1">
                <a:solidFill>
                  <a:srgbClr val="17243C"/>
                </a:solidFill>
                <a:latin typeface="Helvetica Neue"/>
                <a:ea typeface="Helvetica Neue"/>
                <a:cs typeface="Helvetica Neue"/>
              </a:defRPr>
            </a:pPr>
            <a:r>
              <a:rPr sz="2250" b="1">
                <a:solidFill>
                  <a:srgbClr val="17243C"/>
                </a:solidFill>
                <a:latin typeface="Helvetica Neue"/>
                <a:ea typeface="Helvetica Neue"/>
                <a:cs typeface="Helvetica Neue"/>
              </a:rPr>
              <a:t>Matched wins versus Frozen</a:t>
            </a:r>
          </a:p>
        </p:txBody>
      </p:sp>
      <p:sp>
        <p:nvSpPr>
          <p:cNvPr id="6" name="text-81">
            <a:extLst xmlns:a="http://schemas.openxmlformats.org/drawingml/2006/main">
              <a:ext uri="{FF2B5EF4-FFF2-40B4-BE49-F238E27FC236}">
                <a16:creationId xmlns:a16="http://schemas.microsoft.com/office/drawing/2014/main" id="{48421492-2127-4EEF-8FE0-969414EEABB3}"/>
              </a:ext>
            </a:extLst>
          </p:cNvPr>
          <p:cNvSpPr>
            <a:spLocks xmlns:a="http://schemas.openxmlformats.org/drawingml/2006/main" noGrp="1"/>
          </p:cNvSpPr>
          <p:nvPr/>
        </p:nvSpPr>
        <p:spPr>
          <a:xfrm xmlns:a="http://schemas.openxmlformats.org/drawingml/2006/main">
            <a:off x="647700" y="53340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Baby: semantic 0/3, preference 1/3</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Sports: semantic 2/3, preference 1/3</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Clothing: semantic 0/3, preference 1/3</a:t>
            </a:r>
          </a:p>
        </p:txBody>
      </p:sp>
    </p:spTree>
    <p:extLst>
      <p:ext uri="{BB962C8B-B14F-4D97-AF65-F5344CB8AC3E}">
        <p14:creationId xmlns:p14="http://schemas.microsoft.com/office/powerpoint/2010/main" val="1238584292"/>
      </p:ext>
    </p:extLst>
  </p:cSld>
</p:sld>
</file>

<file path=ppt/slides/slide2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text-82">
            <a:extLst xmlns:a="http://schemas.openxmlformats.org/drawingml/2006/main">
              <a:ext uri="{FF2B5EF4-FFF2-40B4-BE49-F238E27FC236}">
                <a16:creationId xmlns:a16="http://schemas.microsoft.com/office/drawing/2014/main" id="{230C9BD9-278A-4223-9450-275CB373ECC6}"/>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2. Sparse items and numerical scope</a:t>
            </a:r>
          </a:p>
        </p:txBody>
      </p:sp>
      <p:sp>
        <p:nvSpPr>
          <p:cNvPr id="2" name="text-83">
            <a:extLst xmlns:a="http://schemas.openxmlformats.org/drawingml/2006/main">
              <a:ext uri="{FF2B5EF4-FFF2-40B4-BE49-F238E27FC236}">
                <a16:creationId xmlns:a16="http://schemas.microsoft.com/office/drawing/2014/main" id="{12AE2C03-CBFC-434E-9E23-7948983876F2}"/>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Mean user-macro NDCG@10 across three seeds.</a:t>
            </a:r>
          </a:p>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Targets with at most five distinct training-positive users, including zero.</a:t>
            </a:r>
          </a:p>
        </p:txBody>
      </p:sp>
      <p:sp>
        <p:nvSpPr>
          <p:cNvPr id="3" name="text-84">
            <a:extLst xmlns:a="http://schemas.openxmlformats.org/drawingml/2006/main">
              <a:ext uri="{FF2B5EF4-FFF2-40B4-BE49-F238E27FC236}">
                <a16:creationId xmlns:a16="http://schemas.microsoft.com/office/drawing/2014/main" id="{E48A6B7E-1ABF-40EC-A5C4-4302CBE95CFD}"/>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20</a:t>
            </a:r>
          </a:p>
        </p:txBody>
      </p:sp>
      <p:graphicFrame>
        <p:nvGraphicFramePr>
          <p:cNvPr id="4" name="Chart">
            <a:extLst xmlns:a="http://schemas.openxmlformats.org/drawingml/2006/main">
              <a:ext uri="{FF2B5EF4-FFF2-40B4-BE49-F238E27FC236}">
                <a16:creationId xmlns:a16="http://schemas.microsoft.com/office/drawing/2014/main" id="{B9B12B11-DC69-4351-9221-55C562520DAC}"/>
              </a:ext>
            </a:extLst>
          </p:cNvPr>
          <p:cNvGraphicFramePr/>
          <p:nvPr/>
        </p:nvGraphicFramePr>
        <p:xfrm>
          <a:off xmlns:a="http://schemas.openxmlformats.org/drawingml/2006/main" x="609600" y="1733550"/>
          <a:ext xmlns:a="http://schemas.openxmlformats.org/drawingml/2006/main" cx="10972800" cy="3143250"/>
        </p:xfrm>
        <a:graphic xmlns:a="http://schemas.openxmlformats.org/drawingml/2006/main">
          <a:graphicData uri="http://schemas.openxmlformats.org/drawingml/2006/chart">
            <c:chart xmlns:r="http://schemas.openxmlformats.org/officeDocument/2006/relationships" xmlns:c="http://schemas.openxmlformats.org/drawingml/2006/chart" r:id="Rd7b74bba829a4861"/>
          </a:graphicData>
        </a:graphic>
      </p:graphicFrame>
      <p:sp>
        <p:nvSpPr>
          <p:cNvPr id="5" name="text-85">
            <a:extLst xmlns:a="http://schemas.openxmlformats.org/drawingml/2006/main">
              <a:ext uri="{FF2B5EF4-FFF2-40B4-BE49-F238E27FC236}">
                <a16:creationId xmlns:a16="http://schemas.microsoft.com/office/drawing/2014/main" id="{03810CAB-41B9-4B92-9641-82F5D5D4EE27}"/>
              </a:ext>
            </a:extLst>
          </p:cNvPr>
          <p:cNvSpPr>
            <a:spLocks xmlns:a="http://schemas.openxmlformats.org/drawingml/2006/main" noGrp="1"/>
          </p:cNvSpPr>
          <p:nvPr/>
        </p:nvSpPr>
        <p:spPr>
          <a:xfrm xmlns:a="http://schemas.openxmlformats.org/drawingml/2006/main">
            <a:off x="647700" y="5200650"/>
            <a:ext cx="10801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243C"/>
                </a:solidFill>
                <a:latin typeface="Helvetica Neue"/>
                <a:ea typeface="Helvetica Neue"/>
                <a:cs typeface="Helvetica Neue"/>
              </a:defRPr>
            </a:defPPr>
            <a:lvl1pPr>
              <a:defRPr sz="1950" b="1">
                <a:solidFill>
                  <a:srgbClr val="17243C"/>
                </a:solidFill>
                <a:latin typeface="Helvetica Neue"/>
                <a:ea typeface="Helvetica Neue"/>
                <a:cs typeface="Helvetica Neue"/>
              </a:defRPr>
            </a:lvl1pPr>
            <a:lvl2pPr>
              <a:defRPr sz="1950" b="1">
                <a:solidFill>
                  <a:srgbClr val="17243C"/>
                </a:solidFill>
                <a:latin typeface="Helvetica Neue"/>
                <a:ea typeface="Helvetica Neue"/>
                <a:cs typeface="Helvetica Neue"/>
              </a:defRPr>
            </a:lvl2pPr>
            <a:lvl3pPr>
              <a:defRPr sz="1950" b="1">
                <a:solidFill>
                  <a:srgbClr val="17243C"/>
                </a:solidFill>
                <a:latin typeface="Helvetica Neue"/>
                <a:ea typeface="Helvetica Neue"/>
                <a:cs typeface="Helvetica Neue"/>
              </a:defRPr>
            </a:lvl3pPr>
            <a:lvl4pPr>
              <a:defRPr sz="1950" b="1">
                <a:solidFill>
                  <a:srgbClr val="17243C"/>
                </a:solidFill>
                <a:latin typeface="Helvetica Neue"/>
                <a:ea typeface="Helvetica Neue"/>
                <a:cs typeface="Helvetica Neue"/>
              </a:defRPr>
            </a:lvl4pPr>
            <a:lvl5pPr>
              <a:defRPr sz="1950" b="1">
                <a:solidFill>
                  <a:srgbClr val="17243C"/>
                </a:solidFill>
                <a:latin typeface="Helvetica Neue"/>
                <a:ea typeface="Helvetica Neue"/>
                <a:cs typeface="Helvetica Neue"/>
              </a:defRPr>
            </a:lvl5pPr>
            <a:lvl6pPr>
              <a:defRPr sz="1950" b="1">
                <a:solidFill>
                  <a:srgbClr val="17243C"/>
                </a:solidFill>
                <a:latin typeface="Helvetica Neue"/>
                <a:ea typeface="Helvetica Neue"/>
                <a:cs typeface="Helvetica Neue"/>
              </a:defRPr>
            </a:lvl6pPr>
            <a:lvl7pPr>
              <a:defRPr sz="1950" b="1">
                <a:solidFill>
                  <a:srgbClr val="17243C"/>
                </a:solidFill>
                <a:latin typeface="Helvetica Neue"/>
                <a:ea typeface="Helvetica Neue"/>
                <a:cs typeface="Helvetica Neue"/>
              </a:defRPr>
            </a:lvl7pPr>
            <a:lvl8pPr>
              <a:defRPr sz="1950" b="1">
                <a:solidFill>
                  <a:srgbClr val="17243C"/>
                </a:solidFill>
                <a:latin typeface="Helvetica Neue"/>
                <a:ea typeface="Helvetica Neue"/>
                <a:cs typeface="Helvetica Neue"/>
              </a:defRPr>
            </a:lvl8pPr>
            <a:lvl9pPr>
              <a:defRPr sz="1950" b="1">
                <a:solidFill>
                  <a:srgbClr val="17243C"/>
                </a:solidFill>
                <a:latin typeface="Helvetica Neue"/>
                <a:ea typeface="Helvetica Neue"/>
                <a:cs typeface="Helvetica Neue"/>
              </a:defRPr>
            </a:lvl9pPr>
          </a:lstStyle>
          <a:p xmlns:a="http://schemas.openxmlformats.org/drawingml/2006/main">
            <a:pPr>
              <a:defRPr sz="1950" b="1">
                <a:solidFill>
                  <a:srgbClr val="17243C"/>
                </a:solidFill>
                <a:latin typeface="Helvetica Neue"/>
                <a:ea typeface="Helvetica Neue"/>
                <a:cs typeface="Helvetica Neue"/>
              </a:defRPr>
            </a:pPr>
            <a:r>
              <a:rPr sz="1950" b="1">
                <a:solidFill>
                  <a:srgbClr val="17243C"/>
                </a:solidFill>
                <a:latin typeface="Helvetica Neue"/>
                <a:ea typeface="Helvetica Neue"/>
                <a:cs typeface="Helvetica Neue"/>
              </a:rPr>
              <a:t>All Baby scores are zero. This cohort does not isolate strict cold start.</a:t>
            </a:r>
          </a:p>
        </p:txBody>
      </p:sp>
      <p:sp>
        <p:nvSpPr>
          <p:cNvPr id="6" name="text-86">
            <a:extLst xmlns:a="http://schemas.openxmlformats.org/drawingml/2006/main">
              <a:ext uri="{FF2B5EF4-FFF2-40B4-BE49-F238E27FC236}">
                <a16:creationId xmlns:a16="http://schemas.microsoft.com/office/drawing/2014/main" id="{E9036A89-CBB0-4A04-AF36-6B95496D256F}"/>
              </a:ext>
            </a:extLst>
          </p:cNvPr>
          <p:cNvSpPr>
            <a:spLocks xmlns:a="http://schemas.openxmlformats.org/drawingml/2006/main" noGrp="1"/>
          </p:cNvSpPr>
          <p:nvPr/>
        </p:nvSpPr>
        <p:spPr>
          <a:xfrm xmlns:a="http://schemas.openxmlformats.org/drawingml/2006/main">
            <a:off x="647700" y="58102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C7C"/>
                </a:solidFill>
                <a:latin typeface="Helvetica Neue"/>
                <a:ea typeface="Helvetica Neue"/>
                <a:cs typeface="Helvetica Neue"/>
              </a:defRPr>
            </a:defPPr>
            <a:lvl1pPr>
              <a:defRPr sz="1725" b="0">
                <a:solidFill>
                  <a:srgbClr val="586C7C"/>
                </a:solidFill>
                <a:latin typeface="Helvetica Neue"/>
                <a:ea typeface="Helvetica Neue"/>
                <a:cs typeface="Helvetica Neue"/>
              </a:defRPr>
            </a:lvl1pPr>
            <a:lvl2pPr>
              <a:defRPr sz="1725" b="0">
                <a:solidFill>
                  <a:srgbClr val="586C7C"/>
                </a:solidFill>
                <a:latin typeface="Helvetica Neue"/>
                <a:ea typeface="Helvetica Neue"/>
                <a:cs typeface="Helvetica Neue"/>
              </a:defRPr>
            </a:lvl2pPr>
            <a:lvl3pPr>
              <a:defRPr sz="1725" b="0">
                <a:solidFill>
                  <a:srgbClr val="586C7C"/>
                </a:solidFill>
                <a:latin typeface="Helvetica Neue"/>
                <a:ea typeface="Helvetica Neue"/>
                <a:cs typeface="Helvetica Neue"/>
              </a:defRPr>
            </a:lvl3pPr>
            <a:lvl4pPr>
              <a:defRPr sz="1725" b="0">
                <a:solidFill>
                  <a:srgbClr val="586C7C"/>
                </a:solidFill>
                <a:latin typeface="Helvetica Neue"/>
                <a:ea typeface="Helvetica Neue"/>
                <a:cs typeface="Helvetica Neue"/>
              </a:defRPr>
            </a:lvl4pPr>
            <a:lvl5pPr>
              <a:defRPr sz="1725" b="0">
                <a:solidFill>
                  <a:srgbClr val="586C7C"/>
                </a:solidFill>
                <a:latin typeface="Helvetica Neue"/>
                <a:ea typeface="Helvetica Neue"/>
                <a:cs typeface="Helvetica Neue"/>
              </a:defRPr>
            </a:lvl5pPr>
            <a:lvl6pPr>
              <a:defRPr sz="1725" b="0">
                <a:solidFill>
                  <a:srgbClr val="586C7C"/>
                </a:solidFill>
                <a:latin typeface="Helvetica Neue"/>
                <a:ea typeface="Helvetica Neue"/>
                <a:cs typeface="Helvetica Neue"/>
              </a:defRPr>
            </a:lvl6pPr>
            <a:lvl7pPr>
              <a:defRPr sz="1725" b="0">
                <a:solidFill>
                  <a:srgbClr val="586C7C"/>
                </a:solidFill>
                <a:latin typeface="Helvetica Neue"/>
                <a:ea typeface="Helvetica Neue"/>
                <a:cs typeface="Helvetica Neue"/>
              </a:defRPr>
            </a:lvl7pPr>
            <a:lvl8pPr>
              <a:defRPr sz="1725" b="0">
                <a:solidFill>
                  <a:srgbClr val="586C7C"/>
                </a:solidFill>
                <a:latin typeface="Helvetica Neue"/>
                <a:ea typeface="Helvetica Neue"/>
                <a:cs typeface="Helvetica Neue"/>
              </a:defRPr>
            </a:lvl8pPr>
            <a:lvl9pPr>
              <a:defRPr sz="1725" b="0">
                <a:solidFill>
                  <a:srgbClr val="586C7C"/>
                </a:solidFill>
                <a:latin typeface="Helvetica Neue"/>
                <a:ea typeface="Helvetica Neue"/>
                <a:cs typeface="Helvetica Neue"/>
              </a:defRPr>
            </a:lvl9pPr>
          </a:lstStyle>
          <a:p xmlns:a="http://schemas.openxmlformats.org/drawingml/2006/main">
            <a:pPr>
              <a:defRPr sz="1725" b="0">
                <a:solidFill>
                  <a:srgbClr val="586C7C"/>
                </a:solidFill>
                <a:latin typeface="Helvetica Neue"/>
                <a:ea typeface="Helvetica Neue"/>
                <a:cs typeface="Helvetica Neue"/>
              </a:defRPr>
            </a:pPr>
            <a:r>
              <a:rPr sz="1725" b="0">
                <a:solidFill>
                  <a:srgbClr val="586C7C"/>
                </a:solidFill>
                <a:latin typeface="Helvetica Neue"/>
                <a:ea typeface="Helvetica Neue"/>
                <a:cs typeface="Helvetica Neue"/>
              </a:rPr>
              <a:t>Clothing LoRA training used MATH SDPA after a reproduced gradient failure.</a:t>
            </a:r>
          </a:p>
          <a:p xmlns:a="http://schemas.openxmlformats.org/drawingml/2006/main">
            <a:pPr>
              <a:defRPr sz="1725" b="0">
                <a:solidFill>
                  <a:srgbClr val="586C7C"/>
                </a:solidFill>
                <a:latin typeface="Helvetica Neue"/>
                <a:ea typeface="Helvetica Neue"/>
                <a:cs typeface="Helvetica Neue"/>
              </a:defRPr>
            </a:pPr>
            <a:r>
              <a:rPr sz="1725" b="0">
                <a:solidFill>
                  <a:srgbClr val="586C7C"/>
                </a:solidFill>
                <a:latin typeface="Helvetica Neue"/>
                <a:ea typeface="Helvetica Neue"/>
                <a:cs typeface="Helvetica Neue"/>
              </a:rPr>
              <a:t>Earlier completed runs kept automatic dispatch. Trajectories may differ.</a:t>
            </a:r>
          </a:p>
        </p:txBody>
      </p:sp>
    </p:spTree>
    <p:extLst>
      <p:ext uri="{BB962C8B-B14F-4D97-AF65-F5344CB8AC3E}">
        <p14:creationId xmlns:p14="http://schemas.microsoft.com/office/powerpoint/2010/main" val="402958099"/>
      </p:ext>
    </p:extLst>
  </p:cSld>
</p:sld>
</file>

<file path=ppt/slides/slide2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87">
            <a:extLst xmlns:a="http://schemas.openxmlformats.org/drawingml/2006/main">
              <a:ext uri="{FF2B5EF4-FFF2-40B4-BE49-F238E27FC236}">
                <a16:creationId xmlns:a16="http://schemas.microsoft.com/office/drawing/2014/main" id="{9F31D832-6124-4FED-B80E-5D5C66825367}"/>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3. Request retrieval and history evaluation</a:t>
            </a:r>
          </a:p>
        </p:txBody>
      </p:sp>
      <p:sp>
        <p:nvSpPr>
          <p:cNvPr id="2" name="text-88">
            <a:extLst xmlns:a="http://schemas.openxmlformats.org/drawingml/2006/main">
              <a:ext uri="{FF2B5EF4-FFF2-40B4-BE49-F238E27FC236}">
                <a16:creationId xmlns:a16="http://schemas.microsoft.com/office/drawing/2014/main" id="{901EB445-4C90-470D-A26F-EC08B4D8A2EA}"/>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21</a:t>
            </a:r>
          </a:p>
        </p:txBody>
      </p:sp>
      <p:graphicFrame>
        <p:nvGraphicFramePr>
          <p:cNvPr id="3" name="">
            <a:extLst xmlns:a="http://schemas.openxmlformats.org/drawingml/2006/main">
              <a:ext uri="{FF2B5EF4-FFF2-40B4-BE49-F238E27FC236}">
                <a16:creationId xmlns:a16="http://schemas.microsoft.com/office/drawing/2014/main" id="{0D7D9A9B-ED06-4E21-A789-77E6216B2CFC}"/>
              </a:ext>
            </a:extLst>
          </p:cNvPr>
          <p:cNvGraphicFramePr/>
          <p:nvPr/>
        </p:nvGraphicFramePr>
        <p:xfrm>
          <a:off xmlns:a="http://schemas.openxmlformats.org/drawingml/2006/main" x="609600" y="1647825"/>
          <a:ext xmlns:a="http://schemas.openxmlformats.org/drawingml/2006/main" cx="10972800" cy="3714750"/>
        </p:xfrm>
        <a:graphic xmlns:a="http://schemas.openxmlformats.org/drawingml/2006/main">
          <a:graphicData uri="http://schemas.openxmlformats.org/drawingml/2006/table">
            <a:tbl>
              <a:tblPr firstRow="1" bandRow="0"/>
              <a:tblGrid>
                <a:gridCol w="2171700"/>
                <a:gridCol w="4400550"/>
                <a:gridCol w="4400550"/>
              </a:tblGrid>
              <a:tr h="742950">
                <a:tc>
                  <a:txBody>
                    <a:bodyPr/>
                    <a:lstStyle/>
                    <a:p>
                      <a:r>
                        <a:rPr sz="1800" b="1">
                          <a:solidFill>
                            <a:srgbClr val="FFFFFF"/>
                          </a:solidFill>
                          <a:latin typeface="Helvetica Neue"/>
                          <a:ea typeface="Helvetica Neue"/>
                          <a:cs typeface="Helvetica Neue"/>
                        </a:rPr>
                        <a:t/>
                      </a:r>
                    </a:p>
                  </a:txBody>
                  <a:tcPr marL="142875" marR="104775" marT="95250" marB="85725">
                    <a:lnL w="9525">
                      <a:solidFill>
                        <a:srgbClr val="DCE5E8"/>
                      </a:solidFill>
                      <a:prstDash val="solid"/>
                    </a:lnL>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00" b="1">
                          <a:solidFill>
                            <a:srgbClr val="FFFFFF"/>
                          </a:solidFill>
                          <a:latin typeface="Helvetica Neue"/>
                          <a:ea typeface="Helvetica Neue"/>
                          <a:cs typeface="Helvetica Neue"/>
                        </a:rPr>
                        <a:t>Formal history evaluation</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00" b="1">
                          <a:solidFill>
                            <a:srgbClr val="FFFFFF"/>
                          </a:solidFill>
                          <a:latin typeface="Helvetica Neue"/>
                          <a:ea typeface="Helvetica Neue"/>
                          <a:cs typeface="Helvetica Neue"/>
                        </a:rPr>
                        <a:t>Shopping Studio</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r>
              <a:tr h="742950">
                <a:tc>
                  <a:txBody>
                    <a:bodyPr/>
                    <a:lstStyle/>
                    <a:p>
                      <a:r>
                        <a:rPr sz="1800">
                          <a:solidFill>
                            <a:srgbClr val="17243C"/>
                          </a:solidFill>
                          <a:latin typeface="Helvetica Neue"/>
                          <a:ea typeface="Helvetica Neue"/>
                          <a:cs typeface="Helvetica Neue"/>
                        </a:rPr>
                        <a:t>Input</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Earlier positive products</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Text request, optional image</a:t>
                      </a:r>
                    </a:p>
                  </a:txBody>
                  <a:tcPr marL="142875" marR="104775" marT="95250" marB="85725">
                    <a:lnR w="9525">
                      <a:solidFill>
                        <a:srgbClr val="DCE5E8"/>
                      </a:solidFill>
                      <a:prstDash val="solid"/>
                    </a:lnR>
                    <a:lnB w="9525">
                      <a:solidFill>
                        <a:srgbClr val="DCE5E8"/>
                      </a:solidFill>
                      <a:prstDash val="solid"/>
                    </a:lnB>
                    <a:solidFill>
                      <a:srgbClr val="FFFFFF"/>
                    </a:solidFill>
                  </a:tcPr>
                </a:tc>
              </a:tr>
              <a:tr h="742950">
                <a:tc>
                  <a:txBody>
                    <a:bodyPr/>
                    <a:lstStyle/>
                    <a:p>
                      <a:r>
                        <a:rPr sz="1800">
                          <a:solidFill>
                            <a:srgbClr val="17243C"/>
                          </a:solidFill>
                          <a:latin typeface="Helvetica Neue"/>
                          <a:ea typeface="Helvetica Neue"/>
                          <a:cs typeface="Helvetica Neue"/>
                        </a:rPr>
                        <a:t>Candidate set</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Full eligible catalogue</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Text: Top 200 per model</a:t>
                      </a:r>
                    </a:p>
                    <a:p>
                      <a:r>
                        <a:rPr sz="1800">
                          <a:solidFill>
                            <a:srgbClr val="17243C"/>
                          </a:solidFill>
                          <a:latin typeface="Helvetica Neue"/>
                          <a:ea typeface="Helvetica Neue"/>
                          <a:cs typeface="Helvetica Neue"/>
                        </a:rPr>
                        <a:t>Image only: shared CLIP pool</a:t>
                      </a:r>
                    </a:p>
                  </a:txBody>
                  <a:tcPr marL="142875" marR="104775" marT="95250" marB="85725">
                    <a:lnR w="9525">
                      <a:solidFill>
                        <a:srgbClr val="DCE5E8"/>
                      </a:solidFill>
                      <a:prstDash val="solid"/>
                    </a:lnR>
                    <a:lnB w="9525">
                      <a:solidFill>
                        <a:srgbClr val="DCE5E8"/>
                      </a:solidFill>
                      <a:prstDash val="solid"/>
                    </a:lnB>
                    <a:solidFill>
                      <a:srgbClr val="FFFFFF"/>
                    </a:solidFill>
                  </a:tcPr>
                </a:tc>
              </a:tr>
              <a:tr h="742950">
                <a:tc>
                  <a:txBody>
                    <a:bodyPr/>
                    <a:lstStyle/>
                    <a:p>
                      <a:r>
                        <a:rPr sz="1800">
                          <a:solidFill>
                            <a:srgbClr val="17243C"/>
                          </a:solidFill>
                          <a:latin typeface="Helvetica Neue"/>
                          <a:ea typeface="Helvetica Neue"/>
                          <a:cs typeface="Helvetica Neue"/>
                        </a:rPr>
                        <a:t>Model selection</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Validation, seeds 42/43/44</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Selected seed42 exports</a:t>
                      </a:r>
                    </a:p>
                  </a:txBody>
                  <a:tcPr marL="142875" marR="104775" marT="95250" marB="85725">
                    <a:lnR w="9525">
                      <a:solidFill>
                        <a:srgbClr val="DCE5E8"/>
                      </a:solidFill>
                      <a:prstDash val="solid"/>
                    </a:lnR>
                    <a:lnB w="9525">
                      <a:solidFill>
                        <a:srgbClr val="DCE5E8"/>
                      </a:solidFill>
                      <a:prstDash val="solid"/>
                    </a:lnB>
                    <a:solidFill>
                      <a:srgbClr val="FFFFFF"/>
                    </a:solidFill>
                  </a:tcPr>
                </a:tc>
              </a:tr>
              <a:tr h="742950">
                <a:tc>
                  <a:txBody>
                    <a:bodyPr/>
                    <a:lstStyle/>
                    <a:p>
                      <a:r>
                        <a:rPr sz="1800">
                          <a:solidFill>
                            <a:srgbClr val="17243C"/>
                          </a:solidFill>
                          <a:latin typeface="Helvetica Neue"/>
                          <a:ea typeface="Helvetica Neue"/>
                          <a:cs typeface="Helvetica Neue"/>
                        </a:rPr>
                        <a:t>Meaning</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Held-out user-macro metrics</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Exploratory session ranking</a:t>
                      </a:r>
                    </a:p>
                  </a:txBody>
                  <a:tcPr marL="142875" marR="104775" marT="95250" marB="85725">
                    <a:lnR w="9525">
                      <a:solidFill>
                        <a:srgbClr val="DCE5E8"/>
                      </a:solidFill>
                      <a:prstDash val="solid"/>
                    </a:lnR>
                    <a:lnB w="9525">
                      <a:solidFill>
                        <a:srgbClr val="DCE5E8"/>
                      </a:solidFill>
                      <a:prstDash val="solid"/>
                    </a:lnB>
                    <a:solidFill>
                      <a:srgbClr val="FFFFFF"/>
                    </a:solidFill>
                  </a:tcPr>
                </a:tc>
              </a:tr>
            </a:tbl>
          </a:graphicData>
        </a:graphic>
      </p:graphicFrame>
      <p:sp>
        <p:nvSpPr>
          <p:cNvPr id="4" name="text-89">
            <a:extLst xmlns:a="http://schemas.openxmlformats.org/drawingml/2006/main">
              <a:ext uri="{FF2B5EF4-FFF2-40B4-BE49-F238E27FC236}">
                <a16:creationId xmlns:a16="http://schemas.microsoft.com/office/drawing/2014/main" id="{D907CFE0-C212-4D39-B31D-C4B352A85156}"/>
              </a:ext>
            </a:extLst>
          </p:cNvPr>
          <p:cNvSpPr>
            <a:spLocks xmlns:a="http://schemas.openxmlformats.org/drawingml/2006/main" noGrp="1"/>
          </p:cNvSpPr>
          <p:nvPr/>
        </p:nvSpPr>
        <p:spPr>
          <a:xfrm xmlns:a="http://schemas.openxmlformats.org/drawingml/2006/main">
            <a:off x="647700" y="5534025"/>
            <a:ext cx="108013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Queries use the matching base or LoRA encoder. Images share fixed CLIP.</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Positive feedback uses each model’s exported history tower and trained user head.</a:t>
            </a:r>
          </a:p>
        </p:txBody>
      </p:sp>
    </p:spTree>
    <p:extLst>
      <p:ext uri="{BB962C8B-B14F-4D97-AF65-F5344CB8AC3E}">
        <p14:creationId xmlns:p14="http://schemas.microsoft.com/office/powerpoint/2010/main" val="392460429"/>
      </p:ext>
    </p:extLst>
  </p:cSld>
</p:sld>
</file>

<file path=ppt/slides/slide2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text-90">
            <a:extLst xmlns:a="http://schemas.openxmlformats.org/drawingml/2006/main">
              <a:ext uri="{FF2B5EF4-FFF2-40B4-BE49-F238E27FC236}">
                <a16:creationId xmlns:a16="http://schemas.microsoft.com/office/drawing/2014/main" id="{BAF28D32-3370-4019-AC67-B945D9A8C3A9}"/>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4. Studio source evidence</a:t>
            </a:r>
          </a:p>
        </p:txBody>
      </p:sp>
      <p:sp>
        <p:nvSpPr>
          <p:cNvPr id="2" name="text-91">
            <a:extLst xmlns:a="http://schemas.openxmlformats.org/drawingml/2006/main">
              <a:ext uri="{FF2B5EF4-FFF2-40B4-BE49-F238E27FC236}">
                <a16:creationId xmlns:a16="http://schemas.microsoft.com/office/drawing/2014/main" id="{3E52FC72-21A5-4111-959E-CB80C116D529}"/>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Original catalogue fields and computed retrieval signals</a:t>
            </a:r>
          </a:p>
        </p:txBody>
      </p:sp>
      <p:sp>
        <p:nvSpPr>
          <p:cNvPr id="3" name="text-92">
            <a:extLst xmlns:a="http://schemas.openxmlformats.org/drawingml/2006/main">
              <a:ext uri="{FF2B5EF4-FFF2-40B4-BE49-F238E27FC236}">
                <a16:creationId xmlns:a16="http://schemas.microsoft.com/office/drawing/2014/main" id="{7ADED512-1A44-4BA8-AE74-AE494D731C99}"/>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22</a:t>
            </a:r>
          </a:p>
        </p:txBody>
      </p:sp>
      <p:pic>
        <p:nvPicPr>
          <p:cNvPr id="4" name="">
            <a:extLst xmlns:a="http://schemas.openxmlformats.org/drawingml/2006/main">
              <a:ext uri="{FF2B5EF4-FFF2-40B4-BE49-F238E27FC236}">
                <a16:creationId xmlns:a16="http://schemas.microsoft.com/office/drawing/2014/main" id="{9E98C8A9-AA3F-4F34-8ED1-D250FDD04B58}"/>
              </a:ext>
            </a:extLst>
          </p:cNvPr>
          <p:cNvPicPr>
            <a:picLocks xmlns:a="http://schemas.openxmlformats.org/drawingml/2006/main" noChangeAspect="1"/>
          </p:cNvPicPr>
          <p:nvPr/>
        </p:nvPicPr>
        <p:blipFill>
          <a:blip xmlns:r="http://schemas.openxmlformats.org/officeDocument/2006/relationships" xmlns:a="http://schemas.openxmlformats.org/drawingml/2006/main" r:embed="R76af7bc233434b67"/>
          <a:srcRect xmlns:a="http://schemas.openxmlformats.org/drawingml/2006/main" l="0" t="3000" r="0" b="38000"/>
          <a:stretch xmlns:a="http://schemas.openxmlformats.org/drawingml/2006/main"/>
        </p:blipFill>
        <p:spPr>
          <a:xfrm xmlns:a="http://schemas.openxmlformats.org/drawingml/2006/main">
            <a:off x="2072371" y="1485900"/>
            <a:ext cx="8047259" cy="4457700"/>
          </a:xfrm>
          <a:prstGeom xmlns:a="http://schemas.openxmlformats.org/drawingml/2006/main" prst="rect">
            <a:avLst/>
          </a:prstGeom>
        </p:spPr>
      </p:pic>
      <p:sp>
        <p:nvSpPr>
          <p:cNvPr id="5" name="text-93">
            <a:extLst xmlns:a="http://schemas.openxmlformats.org/drawingml/2006/main">
              <a:ext uri="{FF2B5EF4-FFF2-40B4-BE49-F238E27FC236}">
                <a16:creationId xmlns:a16="http://schemas.microsoft.com/office/drawing/2014/main" id="{FEF235D2-5862-4D89-961A-C4AD413C75E1}"/>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Cosines and within-catalogue percentiles are diagnostic signals, not probabilities or causal explanations.</a:t>
            </a:r>
          </a:p>
        </p:txBody>
      </p:sp>
    </p:spTree>
    <p:extLst>
      <p:ext uri="{BB962C8B-B14F-4D97-AF65-F5344CB8AC3E}">
        <p14:creationId xmlns:p14="http://schemas.microsoft.com/office/powerpoint/2010/main" val="2129783778"/>
      </p:ext>
    </p:extLst>
  </p:cSld>
</p:sld>
</file>

<file path=ppt/slides/slide2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94">
            <a:extLst xmlns:a="http://schemas.openxmlformats.org/drawingml/2006/main">
              <a:ext uri="{FF2B5EF4-FFF2-40B4-BE49-F238E27FC236}">
                <a16:creationId xmlns:a16="http://schemas.microsoft.com/office/drawing/2014/main" id="{2B653596-68B3-49AA-9D98-F819ED1CE3AC}"/>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5. Research recommendation evidence</a:t>
            </a:r>
          </a:p>
        </p:txBody>
      </p:sp>
      <p:sp>
        <p:nvSpPr>
          <p:cNvPr id="2" name="text-95">
            <a:extLst xmlns:a="http://schemas.openxmlformats.org/drawingml/2006/main">
              <a:ext uri="{FF2B5EF4-FFF2-40B4-BE49-F238E27FC236}">
                <a16:creationId xmlns:a16="http://schemas.microsoft.com/office/drawing/2014/main" id="{F24EE0C1-42D0-46F0-BF31-27E826FF5F62}"/>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23</a:t>
            </a:r>
          </a:p>
        </p:txBody>
      </p:sp>
      <p:pic>
        <p:nvPicPr>
          <p:cNvPr id="3" name="">
            <a:extLst xmlns:a="http://schemas.openxmlformats.org/drawingml/2006/main">
              <a:ext uri="{FF2B5EF4-FFF2-40B4-BE49-F238E27FC236}">
                <a16:creationId xmlns:a16="http://schemas.microsoft.com/office/drawing/2014/main" id="{104B4282-B7B6-4B93-A7A3-62B4E03F5FE9}"/>
              </a:ext>
            </a:extLst>
          </p:cNvPr>
          <p:cNvPicPr>
            <a:picLocks xmlns:a="http://schemas.openxmlformats.org/drawingml/2006/main" noChangeAspect="1"/>
          </p:cNvPicPr>
          <p:nvPr/>
        </p:nvPicPr>
        <p:blipFill>
          <a:blip xmlns:r="http://schemas.openxmlformats.org/officeDocument/2006/relationships" xmlns:a="http://schemas.openxmlformats.org/drawingml/2006/main" r:embed="R87fc7596b0224029"/>
          <a:srcRect xmlns:a="http://schemas.openxmlformats.org/drawingml/2006/main" l="1500" t="47000" r="1500" b="9500"/>
          <a:stretch xmlns:a="http://schemas.openxmlformats.org/drawingml/2006/main"/>
        </p:blipFill>
        <p:spPr>
          <a:xfrm xmlns:a="http://schemas.openxmlformats.org/drawingml/2006/main">
            <a:off x="802384" y="1485900"/>
            <a:ext cx="10587233" cy="4457700"/>
          </a:xfrm>
          <a:prstGeom xmlns:a="http://schemas.openxmlformats.org/drawingml/2006/main" prst="rect">
            <a:avLst/>
          </a:prstGeom>
        </p:spPr>
      </p:pic>
      <p:sp>
        <p:nvSpPr>
          <p:cNvPr id="4" name="text-96">
            <a:extLst xmlns:a="http://schemas.openxmlformats.org/drawingml/2006/main">
              <a:ext uri="{FF2B5EF4-FFF2-40B4-BE49-F238E27FC236}">
                <a16:creationId xmlns:a16="http://schemas.microsoft.com/office/drawing/2014/main" id="{5737699F-44CF-42DB-A78A-4C16FEA0640A}"/>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Original records support inspection. Similarity diagnostics do not explain the score causally.</a:t>
            </a:r>
          </a:p>
        </p:txBody>
      </p:sp>
    </p:spTree>
    <p:extLst>
      <p:ext uri="{BB962C8B-B14F-4D97-AF65-F5344CB8AC3E}">
        <p14:creationId xmlns:p14="http://schemas.microsoft.com/office/powerpoint/2010/main" val="1081342803"/>
      </p:ext>
    </p:extLst>
  </p:cSld>
</p:sld>
</file>

<file path=ppt/slides/slide2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97">
            <a:extLst xmlns:a="http://schemas.openxmlformats.org/drawingml/2006/main">
              <a:ext uri="{FF2B5EF4-FFF2-40B4-BE49-F238E27FC236}">
                <a16:creationId xmlns:a16="http://schemas.microsoft.com/office/drawing/2014/main" id="{357BBDF1-E174-4D4A-98F4-9DAB10FB28E1}"/>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buNone/>
              <a:defRPr sz="3075" b="1">
                <a:solidFill>
                  <a:srgbClr val="17243C"/>
                </a:solidFill>
                <a:latin typeface="Helvetica Neue"/>
                <a:ea typeface="Helvetica Neue"/>
                <a:cs typeface="Helvetica Neue"/>
              </a:defRPr>
            </a:lvl1pPr>
            <a:lvl2pPr>
              <a:buNone/>
              <a:defRPr sz="3075" b="1">
                <a:solidFill>
                  <a:srgbClr val="17243C"/>
                </a:solidFill>
                <a:latin typeface="Helvetica Neue"/>
                <a:ea typeface="Helvetica Neue"/>
                <a:cs typeface="Helvetica Neue"/>
              </a:defRPr>
            </a:lvl2pPr>
            <a:lvl3pPr>
              <a:buNone/>
              <a:defRPr sz="3075" b="1">
                <a:solidFill>
                  <a:srgbClr val="17243C"/>
                </a:solidFill>
                <a:latin typeface="Helvetica Neue"/>
                <a:ea typeface="Helvetica Neue"/>
                <a:cs typeface="Helvetica Neue"/>
              </a:defRPr>
            </a:lvl3pPr>
            <a:lvl4pPr>
              <a:buNone/>
              <a:defRPr sz="3075" b="1">
                <a:solidFill>
                  <a:srgbClr val="17243C"/>
                </a:solidFill>
                <a:latin typeface="Helvetica Neue"/>
                <a:ea typeface="Helvetica Neue"/>
                <a:cs typeface="Helvetica Neue"/>
              </a:defRPr>
            </a:lvl4pPr>
            <a:lvl5pPr>
              <a:buNone/>
              <a:defRPr sz="3075" b="1">
                <a:solidFill>
                  <a:srgbClr val="17243C"/>
                </a:solidFill>
                <a:latin typeface="Helvetica Neue"/>
                <a:ea typeface="Helvetica Neue"/>
                <a:cs typeface="Helvetica Neue"/>
              </a:defRPr>
            </a:lvl5pPr>
            <a:lvl6pPr>
              <a:buNone/>
              <a:defRPr sz="3075" b="1">
                <a:solidFill>
                  <a:srgbClr val="17243C"/>
                </a:solidFill>
                <a:latin typeface="Helvetica Neue"/>
                <a:ea typeface="Helvetica Neue"/>
                <a:cs typeface="Helvetica Neue"/>
              </a:defRPr>
            </a:lvl6pPr>
            <a:lvl7pPr>
              <a:buNone/>
              <a:defRPr sz="3075" b="1">
                <a:solidFill>
                  <a:srgbClr val="17243C"/>
                </a:solidFill>
                <a:latin typeface="Helvetica Neue"/>
                <a:ea typeface="Helvetica Neue"/>
                <a:cs typeface="Helvetica Neue"/>
              </a:defRPr>
            </a:lvl7pPr>
            <a:lvl8pPr>
              <a:buNone/>
              <a:defRPr sz="3075" b="1">
                <a:solidFill>
                  <a:srgbClr val="17243C"/>
                </a:solidFill>
                <a:latin typeface="Helvetica Neue"/>
                <a:ea typeface="Helvetica Neue"/>
                <a:cs typeface="Helvetica Neue"/>
              </a:defRPr>
            </a:lvl8pPr>
            <a:lvl9pPr>
              <a:buNone/>
              <a:defRPr sz="3075" b="1">
                <a:solidFill>
                  <a:srgbClr val="17243C"/>
                </a:solidFill>
                <a:latin typeface="Helvetica Neue"/>
                <a:ea typeface="Helvetica Neue"/>
                <a:cs typeface="Helvetica Neue"/>
              </a:defRPr>
            </a:lvl9pPr>
          </a:lstStyle>
          <a:p xmlns:a="http://schemas.openxmlformats.org/drawingml/2006/main">
            <a:pPr>
              <a:buNone/>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6. Product lists from three models</a:t>
            </a:r>
          </a:p>
        </p:txBody>
      </p:sp>
      <p:sp>
        <p:nvSpPr>
          <p:cNvPr id="2" name="text-98">
            <a:extLst xmlns:a="http://schemas.openxmlformats.org/drawingml/2006/main">
              <a:ext uri="{FF2B5EF4-FFF2-40B4-BE49-F238E27FC236}">
                <a16:creationId xmlns:a16="http://schemas.microsoft.com/office/drawing/2014/main" id="{38122AAB-4882-4EF2-8E4D-F5600E79F8C2}"/>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buNone/>
              <a:defRPr sz="1275" b="0">
                <a:solidFill>
                  <a:srgbClr val="586C7C"/>
                </a:solidFill>
                <a:latin typeface="Helvetica Neue"/>
                <a:ea typeface="Helvetica Neue"/>
                <a:cs typeface="Helvetica Neue"/>
              </a:defRPr>
            </a:lvl1pPr>
            <a:lvl2pPr algn="r">
              <a:buNone/>
              <a:defRPr sz="1275" b="0">
                <a:solidFill>
                  <a:srgbClr val="586C7C"/>
                </a:solidFill>
                <a:latin typeface="Helvetica Neue"/>
                <a:ea typeface="Helvetica Neue"/>
                <a:cs typeface="Helvetica Neue"/>
              </a:defRPr>
            </a:lvl2pPr>
            <a:lvl3pPr algn="r">
              <a:buNone/>
              <a:defRPr sz="1275" b="0">
                <a:solidFill>
                  <a:srgbClr val="586C7C"/>
                </a:solidFill>
                <a:latin typeface="Helvetica Neue"/>
                <a:ea typeface="Helvetica Neue"/>
                <a:cs typeface="Helvetica Neue"/>
              </a:defRPr>
            </a:lvl3pPr>
            <a:lvl4pPr algn="r">
              <a:buNone/>
              <a:defRPr sz="1275" b="0">
                <a:solidFill>
                  <a:srgbClr val="586C7C"/>
                </a:solidFill>
                <a:latin typeface="Helvetica Neue"/>
                <a:ea typeface="Helvetica Neue"/>
                <a:cs typeface="Helvetica Neue"/>
              </a:defRPr>
            </a:lvl4pPr>
            <a:lvl5pPr algn="r">
              <a:buNone/>
              <a:defRPr sz="1275" b="0">
                <a:solidFill>
                  <a:srgbClr val="586C7C"/>
                </a:solidFill>
                <a:latin typeface="Helvetica Neue"/>
                <a:ea typeface="Helvetica Neue"/>
                <a:cs typeface="Helvetica Neue"/>
              </a:defRPr>
            </a:lvl5pPr>
            <a:lvl6pPr algn="r">
              <a:buNone/>
              <a:defRPr sz="1275" b="0">
                <a:solidFill>
                  <a:srgbClr val="586C7C"/>
                </a:solidFill>
                <a:latin typeface="Helvetica Neue"/>
                <a:ea typeface="Helvetica Neue"/>
                <a:cs typeface="Helvetica Neue"/>
              </a:defRPr>
            </a:lvl6pPr>
            <a:lvl7pPr algn="r">
              <a:buNone/>
              <a:defRPr sz="1275" b="0">
                <a:solidFill>
                  <a:srgbClr val="586C7C"/>
                </a:solidFill>
                <a:latin typeface="Helvetica Neue"/>
                <a:ea typeface="Helvetica Neue"/>
                <a:cs typeface="Helvetica Neue"/>
              </a:defRPr>
            </a:lvl7pPr>
            <a:lvl8pPr algn="r">
              <a:buNone/>
              <a:defRPr sz="1275" b="0">
                <a:solidFill>
                  <a:srgbClr val="586C7C"/>
                </a:solidFill>
                <a:latin typeface="Helvetica Neue"/>
                <a:ea typeface="Helvetica Neue"/>
                <a:cs typeface="Helvetica Neue"/>
              </a:defRPr>
            </a:lvl8pPr>
            <a:lvl9pPr algn="r">
              <a:buNone/>
              <a:defRPr sz="1275" b="0">
                <a:solidFill>
                  <a:srgbClr val="586C7C"/>
                </a:solidFill>
                <a:latin typeface="Helvetica Neue"/>
                <a:ea typeface="Helvetica Neue"/>
                <a:cs typeface="Helvetica Neue"/>
              </a:defRPr>
            </a:lvl9pPr>
          </a:lstStyle>
          <a:p xmlns:a="http://schemas.openxmlformats.org/drawingml/2006/main">
            <a:pPr algn="r">
              <a:buNone/>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24</a:t>
            </a:r>
          </a:p>
        </p:txBody>
      </p:sp>
      <p:pic>
        <p:nvPicPr>
          <p:cNvPr id="3" name="">
            <a:extLst xmlns:a="http://schemas.openxmlformats.org/drawingml/2006/main">
              <a:ext uri="{FF2B5EF4-FFF2-40B4-BE49-F238E27FC236}">
                <a16:creationId xmlns:a16="http://schemas.microsoft.com/office/drawing/2014/main" id="{BBCE460E-E1C4-4FB5-815E-5C471DD6ED05}"/>
              </a:ext>
            </a:extLst>
          </p:cNvPr>
          <p:cNvPicPr>
            <a:picLocks xmlns:a="http://schemas.openxmlformats.org/drawingml/2006/main" noChangeAspect="1"/>
          </p:cNvPicPr>
          <p:nvPr/>
        </p:nvPicPr>
        <p:blipFill>
          <a:blip xmlns:r="http://schemas.openxmlformats.org/officeDocument/2006/relationships" xmlns:a="http://schemas.openxmlformats.org/drawingml/2006/main" r:embed="Rab5ede6cc47f4092"/>
          <a:srcRect xmlns:a="http://schemas.openxmlformats.org/drawingml/2006/main" l="25000" t="45000" r="4000" b="500"/>
          <a:stretch xmlns:a="http://schemas.openxmlformats.org/drawingml/2006/main"/>
        </p:blipFill>
        <p:spPr>
          <a:xfrm xmlns:a="http://schemas.openxmlformats.org/drawingml/2006/main">
            <a:off x="1914759" y="1485900"/>
            <a:ext cx="8362482" cy="4457700"/>
          </a:xfrm>
          <a:prstGeom xmlns:a="http://schemas.openxmlformats.org/drawingml/2006/main" prst="rect">
            <a:avLst/>
          </a:prstGeom>
        </p:spPr>
      </p:pic>
      <p:sp>
        <p:nvSpPr>
          <p:cNvPr id="4" name="text-99">
            <a:extLst xmlns:a="http://schemas.openxmlformats.org/drawingml/2006/main">
              <a:ext uri="{FF2B5EF4-FFF2-40B4-BE49-F238E27FC236}">
                <a16:creationId xmlns:a16="http://schemas.microsoft.com/office/drawing/2014/main" id="{3B8EF3CE-56C8-4A9B-8509-7FDE4FCFA747}"/>
              </a:ext>
            </a:extLst>
          </p:cNvPr>
          <p:cNvSpPr>
            <a:spLocks xmlns:a="http://schemas.openxmlformats.org/drawingml/2006/main" noGrp="1"/>
          </p:cNvSpPr>
          <p:nvPr/>
        </p:nvSpPr>
        <p:spPr>
          <a:xfrm xmlns:a="http://schemas.openxmlformats.org/drawingml/2006/main">
            <a:off x="628650" y="60007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buNone/>
              <a:defRPr sz="1650" b="0">
                <a:solidFill>
                  <a:srgbClr val="586C7C"/>
                </a:solidFill>
                <a:latin typeface="Helvetica Neue"/>
                <a:ea typeface="Helvetica Neue"/>
                <a:cs typeface="Helvetica Neue"/>
              </a:defRPr>
            </a:lvl1pPr>
            <a:lvl2pPr>
              <a:buNone/>
              <a:defRPr sz="1650" b="0">
                <a:solidFill>
                  <a:srgbClr val="586C7C"/>
                </a:solidFill>
                <a:latin typeface="Helvetica Neue"/>
                <a:ea typeface="Helvetica Neue"/>
                <a:cs typeface="Helvetica Neue"/>
              </a:defRPr>
            </a:lvl2pPr>
            <a:lvl3pPr>
              <a:buNone/>
              <a:defRPr sz="1650" b="0">
                <a:solidFill>
                  <a:srgbClr val="586C7C"/>
                </a:solidFill>
                <a:latin typeface="Helvetica Neue"/>
                <a:ea typeface="Helvetica Neue"/>
                <a:cs typeface="Helvetica Neue"/>
              </a:defRPr>
            </a:lvl3pPr>
            <a:lvl4pPr>
              <a:buNone/>
              <a:defRPr sz="1650" b="0">
                <a:solidFill>
                  <a:srgbClr val="586C7C"/>
                </a:solidFill>
                <a:latin typeface="Helvetica Neue"/>
                <a:ea typeface="Helvetica Neue"/>
                <a:cs typeface="Helvetica Neue"/>
              </a:defRPr>
            </a:lvl4pPr>
            <a:lvl5pPr>
              <a:buNone/>
              <a:defRPr sz="1650" b="0">
                <a:solidFill>
                  <a:srgbClr val="586C7C"/>
                </a:solidFill>
                <a:latin typeface="Helvetica Neue"/>
                <a:ea typeface="Helvetica Neue"/>
                <a:cs typeface="Helvetica Neue"/>
              </a:defRPr>
            </a:lvl5pPr>
            <a:lvl6pPr>
              <a:buNone/>
              <a:defRPr sz="1650" b="0">
                <a:solidFill>
                  <a:srgbClr val="586C7C"/>
                </a:solidFill>
                <a:latin typeface="Helvetica Neue"/>
                <a:ea typeface="Helvetica Neue"/>
                <a:cs typeface="Helvetica Neue"/>
              </a:defRPr>
            </a:lvl6pPr>
            <a:lvl7pPr>
              <a:buNone/>
              <a:defRPr sz="1650" b="0">
                <a:solidFill>
                  <a:srgbClr val="586C7C"/>
                </a:solidFill>
                <a:latin typeface="Helvetica Neue"/>
                <a:ea typeface="Helvetica Neue"/>
                <a:cs typeface="Helvetica Neue"/>
              </a:defRPr>
            </a:lvl7pPr>
            <a:lvl8pPr>
              <a:buNone/>
              <a:defRPr sz="1650" b="0">
                <a:solidFill>
                  <a:srgbClr val="586C7C"/>
                </a:solidFill>
                <a:latin typeface="Helvetica Neue"/>
                <a:ea typeface="Helvetica Neue"/>
                <a:cs typeface="Helvetica Neue"/>
              </a:defRPr>
            </a:lvl8pPr>
            <a:lvl9pPr>
              <a:buNone/>
              <a:defRPr sz="1650" b="0">
                <a:solidFill>
                  <a:srgbClr val="586C7C"/>
                </a:solidFill>
                <a:latin typeface="Helvetica Neue"/>
                <a:ea typeface="Helvetica Neue"/>
                <a:cs typeface="Helvetica Neue"/>
              </a:defRPr>
            </a:lvl9pPr>
          </a:lstStyle>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Baby has 7,037 products. Shown: each model’s first recommendation.</a:t>
            </a:r>
          </a:p>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Top 12 is a display subset. Three models do not mean three catalogue products.</a:t>
            </a:r>
          </a:p>
        </p:txBody>
      </p:sp>
      <p:sp>
        <p:nvSpPr>
          <p:cNvPr id="6" name="">
            <a:extLst xmlns:a="http://schemas.openxmlformats.org/drawingml/2006/main">
              <a:ext uri="{FF2B5EF4-FFF2-40B4-BE49-F238E27FC236}">
                <a16:creationId xmlns:a16="http://schemas.microsoft.com/office/drawing/2014/main" id="{638B83BF-78CE-45CF-9BDE-E14D9F2516A2}"/>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An earlier actual Baby request, with no positive feedback</a:t>
            </a:r>
          </a:p>
        </p:txBody>
      </p:sp>
    </p:spTree>
    <p:extLst>
      <p:ext uri="{BB962C8B-B14F-4D97-AF65-F5344CB8AC3E}">
        <p14:creationId xmlns:p14="http://schemas.microsoft.com/office/powerpoint/2010/main" val="1440073686"/>
      </p:ext>
    </p:extLst>
  </p:cSld>
</p:sld>
</file>

<file path=ppt/slides/slide2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100">
            <a:extLst xmlns:a="http://schemas.openxmlformats.org/drawingml/2006/main">
              <a:ext uri="{FF2B5EF4-FFF2-40B4-BE49-F238E27FC236}">
                <a16:creationId xmlns:a16="http://schemas.microsoft.com/office/drawing/2014/main" id="{72F8A265-5299-45E6-8E17-3ABB87BDD708}"/>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buNone/>
              <a:defRPr sz="3075" b="1">
                <a:solidFill>
                  <a:srgbClr val="17243C"/>
                </a:solidFill>
                <a:latin typeface="Helvetica Neue"/>
                <a:ea typeface="Helvetica Neue"/>
                <a:cs typeface="Helvetica Neue"/>
              </a:defRPr>
            </a:lvl1pPr>
            <a:lvl2pPr>
              <a:buNone/>
              <a:defRPr sz="3075" b="1">
                <a:solidFill>
                  <a:srgbClr val="17243C"/>
                </a:solidFill>
                <a:latin typeface="Helvetica Neue"/>
                <a:ea typeface="Helvetica Neue"/>
                <a:cs typeface="Helvetica Neue"/>
              </a:defRPr>
            </a:lvl2pPr>
            <a:lvl3pPr>
              <a:buNone/>
              <a:defRPr sz="3075" b="1">
                <a:solidFill>
                  <a:srgbClr val="17243C"/>
                </a:solidFill>
                <a:latin typeface="Helvetica Neue"/>
                <a:ea typeface="Helvetica Neue"/>
                <a:cs typeface="Helvetica Neue"/>
              </a:defRPr>
            </a:lvl3pPr>
            <a:lvl4pPr>
              <a:buNone/>
              <a:defRPr sz="3075" b="1">
                <a:solidFill>
                  <a:srgbClr val="17243C"/>
                </a:solidFill>
                <a:latin typeface="Helvetica Neue"/>
                <a:ea typeface="Helvetica Neue"/>
                <a:cs typeface="Helvetica Neue"/>
              </a:defRPr>
            </a:lvl4pPr>
            <a:lvl5pPr>
              <a:buNone/>
              <a:defRPr sz="3075" b="1">
                <a:solidFill>
                  <a:srgbClr val="17243C"/>
                </a:solidFill>
                <a:latin typeface="Helvetica Neue"/>
                <a:ea typeface="Helvetica Neue"/>
                <a:cs typeface="Helvetica Neue"/>
              </a:defRPr>
            </a:lvl5pPr>
            <a:lvl6pPr>
              <a:buNone/>
              <a:defRPr sz="3075" b="1">
                <a:solidFill>
                  <a:srgbClr val="17243C"/>
                </a:solidFill>
                <a:latin typeface="Helvetica Neue"/>
                <a:ea typeface="Helvetica Neue"/>
                <a:cs typeface="Helvetica Neue"/>
              </a:defRPr>
            </a:lvl6pPr>
            <a:lvl7pPr>
              <a:buNone/>
              <a:defRPr sz="3075" b="1">
                <a:solidFill>
                  <a:srgbClr val="17243C"/>
                </a:solidFill>
                <a:latin typeface="Helvetica Neue"/>
                <a:ea typeface="Helvetica Neue"/>
                <a:cs typeface="Helvetica Neue"/>
              </a:defRPr>
            </a:lvl7pPr>
            <a:lvl8pPr>
              <a:buNone/>
              <a:defRPr sz="3075" b="1">
                <a:solidFill>
                  <a:srgbClr val="17243C"/>
                </a:solidFill>
                <a:latin typeface="Helvetica Neue"/>
                <a:ea typeface="Helvetica Neue"/>
                <a:cs typeface="Helvetica Neue"/>
              </a:defRPr>
            </a:lvl8pPr>
            <a:lvl9pPr>
              <a:buNone/>
              <a:defRPr sz="3075" b="1">
                <a:solidFill>
                  <a:srgbClr val="17243C"/>
                </a:solidFill>
                <a:latin typeface="Helvetica Neue"/>
                <a:ea typeface="Helvetica Neue"/>
                <a:cs typeface="Helvetica Neue"/>
              </a:defRPr>
            </a:lvl9pPr>
          </a:lstStyle>
          <a:p xmlns:a="http://schemas.openxmlformats.org/drawingml/2006/main">
            <a:pPr>
              <a:buNone/>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7. Training dynamics</a:t>
            </a:r>
          </a:p>
        </p:txBody>
      </p:sp>
      <p:sp>
        <p:nvSpPr>
          <p:cNvPr id="2" name="text-101">
            <a:extLst xmlns:a="http://schemas.openxmlformats.org/drawingml/2006/main">
              <a:ext uri="{FF2B5EF4-FFF2-40B4-BE49-F238E27FC236}">
                <a16:creationId xmlns:a16="http://schemas.microsoft.com/office/drawing/2014/main" id="{83C49455-ED93-471B-B01E-C1EFD8A8ABE9}"/>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buNone/>
              <a:defRPr sz="1275" b="0">
                <a:solidFill>
                  <a:srgbClr val="586C7C"/>
                </a:solidFill>
                <a:latin typeface="Helvetica Neue"/>
                <a:ea typeface="Helvetica Neue"/>
                <a:cs typeface="Helvetica Neue"/>
              </a:defRPr>
            </a:lvl1pPr>
            <a:lvl2pPr algn="r">
              <a:buNone/>
              <a:defRPr sz="1275" b="0">
                <a:solidFill>
                  <a:srgbClr val="586C7C"/>
                </a:solidFill>
                <a:latin typeface="Helvetica Neue"/>
                <a:ea typeface="Helvetica Neue"/>
                <a:cs typeface="Helvetica Neue"/>
              </a:defRPr>
            </a:lvl2pPr>
            <a:lvl3pPr algn="r">
              <a:buNone/>
              <a:defRPr sz="1275" b="0">
                <a:solidFill>
                  <a:srgbClr val="586C7C"/>
                </a:solidFill>
                <a:latin typeface="Helvetica Neue"/>
                <a:ea typeface="Helvetica Neue"/>
                <a:cs typeface="Helvetica Neue"/>
              </a:defRPr>
            </a:lvl3pPr>
            <a:lvl4pPr algn="r">
              <a:buNone/>
              <a:defRPr sz="1275" b="0">
                <a:solidFill>
                  <a:srgbClr val="586C7C"/>
                </a:solidFill>
                <a:latin typeface="Helvetica Neue"/>
                <a:ea typeface="Helvetica Neue"/>
                <a:cs typeface="Helvetica Neue"/>
              </a:defRPr>
            </a:lvl4pPr>
            <a:lvl5pPr algn="r">
              <a:buNone/>
              <a:defRPr sz="1275" b="0">
                <a:solidFill>
                  <a:srgbClr val="586C7C"/>
                </a:solidFill>
                <a:latin typeface="Helvetica Neue"/>
                <a:ea typeface="Helvetica Neue"/>
                <a:cs typeface="Helvetica Neue"/>
              </a:defRPr>
            </a:lvl5pPr>
            <a:lvl6pPr algn="r">
              <a:buNone/>
              <a:defRPr sz="1275" b="0">
                <a:solidFill>
                  <a:srgbClr val="586C7C"/>
                </a:solidFill>
                <a:latin typeface="Helvetica Neue"/>
                <a:ea typeface="Helvetica Neue"/>
                <a:cs typeface="Helvetica Neue"/>
              </a:defRPr>
            </a:lvl6pPr>
            <a:lvl7pPr algn="r">
              <a:buNone/>
              <a:defRPr sz="1275" b="0">
                <a:solidFill>
                  <a:srgbClr val="586C7C"/>
                </a:solidFill>
                <a:latin typeface="Helvetica Neue"/>
                <a:ea typeface="Helvetica Neue"/>
                <a:cs typeface="Helvetica Neue"/>
              </a:defRPr>
            </a:lvl7pPr>
            <a:lvl8pPr algn="r">
              <a:buNone/>
              <a:defRPr sz="1275" b="0">
                <a:solidFill>
                  <a:srgbClr val="586C7C"/>
                </a:solidFill>
                <a:latin typeface="Helvetica Neue"/>
                <a:ea typeface="Helvetica Neue"/>
                <a:cs typeface="Helvetica Neue"/>
              </a:defRPr>
            </a:lvl8pPr>
            <a:lvl9pPr algn="r">
              <a:buNone/>
              <a:defRPr sz="1275" b="0">
                <a:solidFill>
                  <a:srgbClr val="586C7C"/>
                </a:solidFill>
                <a:latin typeface="Helvetica Neue"/>
                <a:ea typeface="Helvetica Neue"/>
                <a:cs typeface="Helvetica Neue"/>
              </a:defRPr>
            </a:lvl9pPr>
          </a:lstStyle>
          <a:p xmlns:a="http://schemas.openxmlformats.org/drawingml/2006/main">
            <a:pPr algn="r">
              <a:buNone/>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25</a:t>
            </a:r>
          </a:p>
        </p:txBody>
      </p:sp>
      <p:pic>
        <p:nvPicPr>
          <p:cNvPr id="3" name="">
            <a:extLst xmlns:a="http://schemas.openxmlformats.org/drawingml/2006/main">
              <a:ext uri="{FF2B5EF4-FFF2-40B4-BE49-F238E27FC236}">
                <a16:creationId xmlns:a16="http://schemas.microsoft.com/office/drawing/2014/main" id="{82F91D69-B50D-45A2-9698-0E8492479046}"/>
              </a:ext>
            </a:extLst>
          </p:cNvPr>
          <p:cNvPicPr>
            <a:picLocks xmlns:a="http://schemas.openxmlformats.org/drawingml/2006/main" noChangeAspect="1"/>
          </p:cNvPicPr>
          <p:nvPr/>
        </p:nvPicPr>
        <p:blipFill>
          <a:blip xmlns:r="http://schemas.openxmlformats.org/officeDocument/2006/relationships" xmlns:a="http://schemas.openxmlformats.org/drawingml/2006/main" r:embed="R70a7acd6c90b4041"/>
          <a:srcRect xmlns:a="http://schemas.openxmlformats.org/drawingml/2006/main" l="6250" t="25789" r="6250" b="10322"/>
          <a:stretch xmlns:a="http://schemas.openxmlformats.org/drawingml/2006/main"/>
        </p:blipFill>
        <p:spPr>
          <a:xfrm xmlns:a="http://schemas.openxmlformats.org/drawingml/2006/main">
            <a:off x="669227" y="1485900"/>
            <a:ext cx="10853547" cy="4457700"/>
          </a:xfrm>
          <a:prstGeom xmlns:a="http://schemas.openxmlformats.org/drawingml/2006/main" prst="rect">
            <a:avLst/>
          </a:prstGeom>
        </p:spPr>
      </p:pic>
      <p:sp>
        <p:nvSpPr>
          <p:cNvPr id="4" name="text-102">
            <a:extLst xmlns:a="http://schemas.openxmlformats.org/drawingml/2006/main">
              <a:ext uri="{FF2B5EF4-FFF2-40B4-BE49-F238E27FC236}">
                <a16:creationId xmlns:a16="http://schemas.microsoft.com/office/drawing/2014/main" id="{7092CDF0-3819-4D3F-9607-50FDCB788569}"/>
              </a:ext>
            </a:extLst>
          </p:cNvPr>
          <p:cNvSpPr>
            <a:spLocks xmlns:a="http://schemas.openxmlformats.org/drawingml/2006/main" noGrp="1"/>
          </p:cNvSpPr>
          <p:nvPr/>
        </p:nvSpPr>
        <p:spPr>
          <a:xfrm xmlns:a="http://schemas.openxmlformats.org/drawingml/2006/main">
            <a:off x="628650" y="60007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buNone/>
              <a:defRPr sz="1650" b="0">
                <a:solidFill>
                  <a:srgbClr val="586C7C"/>
                </a:solidFill>
                <a:latin typeface="Helvetica Neue"/>
                <a:ea typeface="Helvetica Neue"/>
                <a:cs typeface="Helvetica Neue"/>
              </a:defRPr>
            </a:lvl1pPr>
            <a:lvl2pPr>
              <a:buNone/>
              <a:defRPr sz="1650" b="0">
                <a:solidFill>
                  <a:srgbClr val="586C7C"/>
                </a:solidFill>
                <a:latin typeface="Helvetica Neue"/>
                <a:ea typeface="Helvetica Neue"/>
                <a:cs typeface="Helvetica Neue"/>
              </a:defRPr>
            </a:lvl2pPr>
            <a:lvl3pPr>
              <a:buNone/>
              <a:defRPr sz="1650" b="0">
                <a:solidFill>
                  <a:srgbClr val="586C7C"/>
                </a:solidFill>
                <a:latin typeface="Helvetica Neue"/>
                <a:ea typeface="Helvetica Neue"/>
                <a:cs typeface="Helvetica Neue"/>
              </a:defRPr>
            </a:lvl3pPr>
            <a:lvl4pPr>
              <a:buNone/>
              <a:defRPr sz="1650" b="0">
                <a:solidFill>
                  <a:srgbClr val="586C7C"/>
                </a:solidFill>
                <a:latin typeface="Helvetica Neue"/>
                <a:ea typeface="Helvetica Neue"/>
                <a:cs typeface="Helvetica Neue"/>
              </a:defRPr>
            </a:lvl4pPr>
            <a:lvl5pPr>
              <a:buNone/>
              <a:defRPr sz="1650" b="0">
                <a:solidFill>
                  <a:srgbClr val="586C7C"/>
                </a:solidFill>
                <a:latin typeface="Helvetica Neue"/>
                <a:ea typeface="Helvetica Neue"/>
                <a:cs typeface="Helvetica Neue"/>
              </a:defRPr>
            </a:lvl5pPr>
            <a:lvl6pPr>
              <a:buNone/>
              <a:defRPr sz="1650" b="0">
                <a:solidFill>
                  <a:srgbClr val="586C7C"/>
                </a:solidFill>
                <a:latin typeface="Helvetica Neue"/>
                <a:ea typeface="Helvetica Neue"/>
                <a:cs typeface="Helvetica Neue"/>
              </a:defRPr>
            </a:lvl6pPr>
            <a:lvl7pPr>
              <a:buNone/>
              <a:defRPr sz="1650" b="0">
                <a:solidFill>
                  <a:srgbClr val="586C7C"/>
                </a:solidFill>
                <a:latin typeface="Helvetica Neue"/>
                <a:ea typeface="Helvetica Neue"/>
                <a:cs typeface="Helvetica Neue"/>
              </a:defRPr>
            </a:lvl7pPr>
            <a:lvl8pPr>
              <a:buNone/>
              <a:defRPr sz="1650" b="0">
                <a:solidFill>
                  <a:srgbClr val="586C7C"/>
                </a:solidFill>
                <a:latin typeface="Helvetica Neue"/>
                <a:ea typeface="Helvetica Neue"/>
                <a:cs typeface="Helvetica Neue"/>
              </a:defRPr>
            </a:lvl8pPr>
            <a:lvl9pPr>
              <a:buNone/>
              <a:defRPr sz="1650" b="0">
                <a:solidFill>
                  <a:srgbClr val="586C7C"/>
                </a:solidFill>
                <a:latin typeface="Helvetica Neue"/>
                <a:ea typeface="Helvetica Neue"/>
                <a:cs typeface="Helvetica Neue"/>
              </a:defRPr>
            </a:lvl9pPr>
          </a:lstStyle>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All three Sports seed44 models select epoch 1. Rings mark the selected checkpoints.</a:t>
            </a:r>
          </a:p>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Only two recorded validation epochs. Test metrics never select the checkpoint.</a:t>
            </a:r>
          </a:p>
        </p:txBody>
      </p:sp>
      <p:sp>
        <p:nvSpPr>
          <p:cNvPr id="6" name="">
            <a:extLst xmlns:a="http://schemas.openxmlformats.org/drawingml/2006/main">
              <a:ext uri="{FF2B5EF4-FFF2-40B4-BE49-F238E27FC236}">
                <a16:creationId xmlns:a16="http://schemas.microsoft.com/office/drawing/2014/main" id="{024B33D8-CC7E-4C0E-941B-E7E53A4A72A0}"/>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Sports, matched pipeline seed 44. Actual validation NDCG@10.</a:t>
            </a:r>
          </a:p>
        </p:txBody>
      </p:sp>
    </p:spTree>
    <p:extLst>
      <p:ext uri="{BB962C8B-B14F-4D97-AF65-F5344CB8AC3E}">
        <p14:creationId xmlns:p14="http://schemas.microsoft.com/office/powerpoint/2010/main" val="1195076260"/>
      </p:ext>
    </p:extLst>
  </p:cSld>
</p:sld>
</file>

<file path=ppt/slides/slide2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text-103">
            <a:extLst xmlns:a="http://schemas.openxmlformats.org/drawingml/2006/main">
              <a:ext uri="{FF2B5EF4-FFF2-40B4-BE49-F238E27FC236}">
                <a16:creationId xmlns:a16="http://schemas.microsoft.com/office/drawing/2014/main" id="{012513DC-2447-4EC4-982A-A9FC53A6396E}"/>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buNone/>
              <a:defRPr sz="3075" b="1">
                <a:solidFill>
                  <a:srgbClr val="17243C"/>
                </a:solidFill>
                <a:latin typeface="Helvetica Neue"/>
                <a:ea typeface="Helvetica Neue"/>
                <a:cs typeface="Helvetica Neue"/>
              </a:defRPr>
            </a:lvl1pPr>
            <a:lvl2pPr>
              <a:buNone/>
              <a:defRPr sz="3075" b="1">
                <a:solidFill>
                  <a:srgbClr val="17243C"/>
                </a:solidFill>
                <a:latin typeface="Helvetica Neue"/>
                <a:ea typeface="Helvetica Neue"/>
                <a:cs typeface="Helvetica Neue"/>
              </a:defRPr>
            </a:lvl2pPr>
            <a:lvl3pPr>
              <a:buNone/>
              <a:defRPr sz="3075" b="1">
                <a:solidFill>
                  <a:srgbClr val="17243C"/>
                </a:solidFill>
                <a:latin typeface="Helvetica Neue"/>
                <a:ea typeface="Helvetica Neue"/>
                <a:cs typeface="Helvetica Neue"/>
              </a:defRPr>
            </a:lvl3pPr>
            <a:lvl4pPr>
              <a:buNone/>
              <a:defRPr sz="3075" b="1">
                <a:solidFill>
                  <a:srgbClr val="17243C"/>
                </a:solidFill>
                <a:latin typeface="Helvetica Neue"/>
                <a:ea typeface="Helvetica Neue"/>
                <a:cs typeface="Helvetica Neue"/>
              </a:defRPr>
            </a:lvl4pPr>
            <a:lvl5pPr>
              <a:buNone/>
              <a:defRPr sz="3075" b="1">
                <a:solidFill>
                  <a:srgbClr val="17243C"/>
                </a:solidFill>
                <a:latin typeface="Helvetica Neue"/>
                <a:ea typeface="Helvetica Neue"/>
                <a:cs typeface="Helvetica Neue"/>
              </a:defRPr>
            </a:lvl5pPr>
            <a:lvl6pPr>
              <a:buNone/>
              <a:defRPr sz="3075" b="1">
                <a:solidFill>
                  <a:srgbClr val="17243C"/>
                </a:solidFill>
                <a:latin typeface="Helvetica Neue"/>
                <a:ea typeface="Helvetica Neue"/>
                <a:cs typeface="Helvetica Neue"/>
              </a:defRPr>
            </a:lvl6pPr>
            <a:lvl7pPr>
              <a:buNone/>
              <a:defRPr sz="3075" b="1">
                <a:solidFill>
                  <a:srgbClr val="17243C"/>
                </a:solidFill>
                <a:latin typeface="Helvetica Neue"/>
                <a:ea typeface="Helvetica Neue"/>
                <a:cs typeface="Helvetica Neue"/>
              </a:defRPr>
            </a:lvl7pPr>
            <a:lvl8pPr>
              <a:buNone/>
              <a:defRPr sz="3075" b="1">
                <a:solidFill>
                  <a:srgbClr val="17243C"/>
                </a:solidFill>
                <a:latin typeface="Helvetica Neue"/>
                <a:ea typeface="Helvetica Neue"/>
                <a:cs typeface="Helvetica Neue"/>
              </a:defRPr>
            </a:lvl8pPr>
            <a:lvl9pPr>
              <a:buNone/>
              <a:defRPr sz="3075" b="1">
                <a:solidFill>
                  <a:srgbClr val="17243C"/>
                </a:solidFill>
                <a:latin typeface="Helvetica Neue"/>
                <a:ea typeface="Helvetica Neue"/>
                <a:cs typeface="Helvetica Neue"/>
              </a:defRPr>
            </a:lvl9pPr>
          </a:lstStyle>
          <a:p xmlns:a="http://schemas.openxmlformats.org/drawingml/2006/main">
            <a:pPr>
              <a:buNone/>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8. Sources and reproducibility</a:t>
            </a:r>
          </a:p>
        </p:txBody>
      </p:sp>
      <p:sp>
        <p:nvSpPr>
          <p:cNvPr id="2" name="text-104">
            <a:extLst xmlns:a="http://schemas.openxmlformats.org/drawingml/2006/main">
              <a:ext uri="{FF2B5EF4-FFF2-40B4-BE49-F238E27FC236}">
                <a16:creationId xmlns:a16="http://schemas.microsoft.com/office/drawing/2014/main" id="{3D8D2697-ADCE-4348-B212-798EEE6A0495}"/>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buNone/>
              <a:defRPr sz="1275" b="0">
                <a:solidFill>
                  <a:srgbClr val="586C7C"/>
                </a:solidFill>
                <a:latin typeface="Helvetica Neue"/>
                <a:ea typeface="Helvetica Neue"/>
                <a:cs typeface="Helvetica Neue"/>
              </a:defRPr>
            </a:lvl1pPr>
            <a:lvl2pPr algn="r">
              <a:buNone/>
              <a:defRPr sz="1275" b="0">
                <a:solidFill>
                  <a:srgbClr val="586C7C"/>
                </a:solidFill>
                <a:latin typeface="Helvetica Neue"/>
                <a:ea typeface="Helvetica Neue"/>
                <a:cs typeface="Helvetica Neue"/>
              </a:defRPr>
            </a:lvl2pPr>
            <a:lvl3pPr algn="r">
              <a:buNone/>
              <a:defRPr sz="1275" b="0">
                <a:solidFill>
                  <a:srgbClr val="586C7C"/>
                </a:solidFill>
                <a:latin typeface="Helvetica Neue"/>
                <a:ea typeface="Helvetica Neue"/>
                <a:cs typeface="Helvetica Neue"/>
              </a:defRPr>
            </a:lvl3pPr>
            <a:lvl4pPr algn="r">
              <a:buNone/>
              <a:defRPr sz="1275" b="0">
                <a:solidFill>
                  <a:srgbClr val="586C7C"/>
                </a:solidFill>
                <a:latin typeface="Helvetica Neue"/>
                <a:ea typeface="Helvetica Neue"/>
                <a:cs typeface="Helvetica Neue"/>
              </a:defRPr>
            </a:lvl4pPr>
            <a:lvl5pPr algn="r">
              <a:buNone/>
              <a:defRPr sz="1275" b="0">
                <a:solidFill>
                  <a:srgbClr val="586C7C"/>
                </a:solidFill>
                <a:latin typeface="Helvetica Neue"/>
                <a:ea typeface="Helvetica Neue"/>
                <a:cs typeface="Helvetica Neue"/>
              </a:defRPr>
            </a:lvl5pPr>
            <a:lvl6pPr algn="r">
              <a:buNone/>
              <a:defRPr sz="1275" b="0">
                <a:solidFill>
                  <a:srgbClr val="586C7C"/>
                </a:solidFill>
                <a:latin typeface="Helvetica Neue"/>
                <a:ea typeface="Helvetica Neue"/>
                <a:cs typeface="Helvetica Neue"/>
              </a:defRPr>
            </a:lvl6pPr>
            <a:lvl7pPr algn="r">
              <a:buNone/>
              <a:defRPr sz="1275" b="0">
                <a:solidFill>
                  <a:srgbClr val="586C7C"/>
                </a:solidFill>
                <a:latin typeface="Helvetica Neue"/>
                <a:ea typeface="Helvetica Neue"/>
                <a:cs typeface="Helvetica Neue"/>
              </a:defRPr>
            </a:lvl7pPr>
            <a:lvl8pPr algn="r">
              <a:buNone/>
              <a:defRPr sz="1275" b="0">
                <a:solidFill>
                  <a:srgbClr val="586C7C"/>
                </a:solidFill>
                <a:latin typeface="Helvetica Neue"/>
                <a:ea typeface="Helvetica Neue"/>
                <a:cs typeface="Helvetica Neue"/>
              </a:defRPr>
            </a:lvl8pPr>
            <a:lvl9pPr algn="r">
              <a:buNone/>
              <a:defRPr sz="1275" b="0">
                <a:solidFill>
                  <a:srgbClr val="586C7C"/>
                </a:solidFill>
                <a:latin typeface="Helvetica Neue"/>
                <a:ea typeface="Helvetica Neue"/>
                <a:cs typeface="Helvetica Neue"/>
              </a:defRPr>
            </a:lvl9pPr>
          </a:lstStyle>
          <a:p xmlns:a="http://schemas.openxmlformats.org/drawingml/2006/main">
            <a:pPr algn="r">
              <a:buNone/>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26</a:t>
            </a:r>
          </a:p>
        </p:txBody>
      </p:sp>
      <p:sp>
        <p:nvSpPr>
          <p:cNvPr id="3" name="text-105">
            <a:extLst xmlns:a="http://schemas.openxmlformats.org/drawingml/2006/main">
              <a:ext uri="{FF2B5EF4-FFF2-40B4-BE49-F238E27FC236}">
                <a16:creationId xmlns:a16="http://schemas.microsoft.com/office/drawing/2014/main" id="{0766116B-58E9-4E7A-B0B7-811ACB53A27E}"/>
              </a:ext>
            </a:extLst>
          </p:cNvPr>
          <p:cNvSpPr>
            <a:spLocks xmlns:a="http://schemas.openxmlformats.org/drawingml/2006/main" noGrp="1"/>
          </p:cNvSpPr>
          <p:nvPr/>
        </p:nvSpPr>
        <p:spPr>
          <a:xfrm xmlns:a="http://schemas.openxmlformats.org/drawingml/2006/main">
            <a:off x="6477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43C"/>
                </a:solidFill>
                <a:latin typeface="Helvetica Neue"/>
                <a:ea typeface="Helvetica Neue"/>
                <a:cs typeface="Helvetica Neue"/>
              </a:defRPr>
            </a:defPPr>
            <a:lvl1pPr>
              <a:buNone/>
              <a:defRPr sz="2325" b="1">
                <a:solidFill>
                  <a:srgbClr val="17243C"/>
                </a:solidFill>
                <a:latin typeface="Helvetica Neue"/>
                <a:ea typeface="Helvetica Neue"/>
                <a:cs typeface="Helvetica Neue"/>
              </a:defRPr>
            </a:lvl1pPr>
            <a:lvl2pPr>
              <a:buNone/>
              <a:defRPr sz="2325" b="1">
                <a:solidFill>
                  <a:srgbClr val="17243C"/>
                </a:solidFill>
                <a:latin typeface="Helvetica Neue"/>
                <a:ea typeface="Helvetica Neue"/>
                <a:cs typeface="Helvetica Neue"/>
              </a:defRPr>
            </a:lvl2pPr>
            <a:lvl3pPr>
              <a:buNone/>
              <a:defRPr sz="2325" b="1">
                <a:solidFill>
                  <a:srgbClr val="17243C"/>
                </a:solidFill>
                <a:latin typeface="Helvetica Neue"/>
                <a:ea typeface="Helvetica Neue"/>
                <a:cs typeface="Helvetica Neue"/>
              </a:defRPr>
            </a:lvl3pPr>
            <a:lvl4pPr>
              <a:buNone/>
              <a:defRPr sz="2325" b="1">
                <a:solidFill>
                  <a:srgbClr val="17243C"/>
                </a:solidFill>
                <a:latin typeface="Helvetica Neue"/>
                <a:ea typeface="Helvetica Neue"/>
                <a:cs typeface="Helvetica Neue"/>
              </a:defRPr>
            </a:lvl4pPr>
            <a:lvl5pPr>
              <a:buNone/>
              <a:defRPr sz="2325" b="1">
                <a:solidFill>
                  <a:srgbClr val="17243C"/>
                </a:solidFill>
                <a:latin typeface="Helvetica Neue"/>
                <a:ea typeface="Helvetica Neue"/>
                <a:cs typeface="Helvetica Neue"/>
              </a:defRPr>
            </a:lvl5pPr>
            <a:lvl6pPr>
              <a:buNone/>
              <a:defRPr sz="2325" b="1">
                <a:solidFill>
                  <a:srgbClr val="17243C"/>
                </a:solidFill>
                <a:latin typeface="Helvetica Neue"/>
                <a:ea typeface="Helvetica Neue"/>
                <a:cs typeface="Helvetica Neue"/>
              </a:defRPr>
            </a:lvl6pPr>
            <a:lvl7pPr>
              <a:buNone/>
              <a:defRPr sz="2325" b="1">
                <a:solidFill>
                  <a:srgbClr val="17243C"/>
                </a:solidFill>
                <a:latin typeface="Helvetica Neue"/>
                <a:ea typeface="Helvetica Neue"/>
                <a:cs typeface="Helvetica Neue"/>
              </a:defRPr>
            </a:lvl7pPr>
            <a:lvl8pPr>
              <a:buNone/>
              <a:defRPr sz="2325" b="1">
                <a:solidFill>
                  <a:srgbClr val="17243C"/>
                </a:solidFill>
                <a:latin typeface="Helvetica Neue"/>
                <a:ea typeface="Helvetica Neue"/>
                <a:cs typeface="Helvetica Neue"/>
              </a:defRPr>
            </a:lvl8pPr>
            <a:lvl9pPr>
              <a:buNone/>
              <a:defRPr sz="2325" b="1">
                <a:solidFill>
                  <a:srgbClr val="17243C"/>
                </a:solidFill>
                <a:latin typeface="Helvetica Neue"/>
                <a:ea typeface="Helvetica Neue"/>
                <a:cs typeface="Helvetica Neue"/>
              </a:defRPr>
            </a:lvl9pPr>
          </a:lstStyle>
          <a:p xmlns:a="http://schemas.openxmlformats.org/drawingml/2006/main">
            <a:pPr>
              <a:buNone/>
              <a:defRPr sz="2325" b="1">
                <a:solidFill>
                  <a:srgbClr val="17243C"/>
                </a:solidFill>
                <a:latin typeface="Helvetica Neue"/>
                <a:ea typeface="Helvetica Neue"/>
                <a:cs typeface="Helvetica Neue"/>
              </a:defRPr>
            </a:pPr>
            <a:r>
              <a:rPr sz="2325" b="1">
                <a:solidFill>
                  <a:srgbClr val="17243C"/>
                </a:solidFill>
                <a:latin typeface="Helvetica Neue"/>
                <a:ea typeface="Helvetica Neue"/>
                <a:cs typeface="Helvetica Neue"/>
              </a:rPr>
              <a:t>Data and methods</a:t>
            </a:r>
          </a:p>
        </p:txBody>
      </p:sp>
      <p:sp>
        <p:nvSpPr>
          <p:cNvPr id="4" name="text-106">
            <a:extLst xmlns:a="http://schemas.openxmlformats.org/drawingml/2006/main">
              <a:ext uri="{FF2B5EF4-FFF2-40B4-BE49-F238E27FC236}">
                <a16:creationId xmlns:a16="http://schemas.microsoft.com/office/drawing/2014/main" id="{F80857CD-5D1A-4F76-9902-1E9EDC309BBB}"/>
              </a:ext>
            </a:extLst>
          </p:cNvPr>
          <p:cNvSpPr>
            <a:spLocks xmlns:a="http://schemas.openxmlformats.org/drawingml/2006/main" noGrp="1"/>
          </p:cNvSpPr>
          <p:nvPr/>
        </p:nvSpPr>
        <p:spPr>
          <a:xfrm xmlns:a="http://schemas.openxmlformats.org/drawingml/2006/main">
            <a:off x="647700" y="2114550"/>
            <a:ext cx="10763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86C7C"/>
                </a:solidFill>
                <a:latin typeface="Helvetica Neue"/>
                <a:ea typeface="Helvetica Neue"/>
                <a:cs typeface="Helvetica Neue"/>
              </a:defRPr>
            </a:defPPr>
            <a:lvl1pPr>
              <a:buNone/>
              <a:defRPr sz="2100" b="0">
                <a:solidFill>
                  <a:srgbClr val="586C7C"/>
                </a:solidFill>
                <a:latin typeface="Helvetica Neue"/>
                <a:ea typeface="Helvetica Neue"/>
                <a:cs typeface="Helvetica Neue"/>
              </a:defRPr>
            </a:lvl1pPr>
            <a:lvl2pPr>
              <a:buNone/>
              <a:defRPr sz="2100" b="0">
                <a:solidFill>
                  <a:srgbClr val="586C7C"/>
                </a:solidFill>
                <a:latin typeface="Helvetica Neue"/>
                <a:ea typeface="Helvetica Neue"/>
                <a:cs typeface="Helvetica Neue"/>
              </a:defRPr>
            </a:lvl2pPr>
            <a:lvl3pPr>
              <a:buNone/>
              <a:defRPr sz="2100" b="0">
                <a:solidFill>
                  <a:srgbClr val="586C7C"/>
                </a:solidFill>
                <a:latin typeface="Helvetica Neue"/>
                <a:ea typeface="Helvetica Neue"/>
                <a:cs typeface="Helvetica Neue"/>
              </a:defRPr>
            </a:lvl3pPr>
            <a:lvl4pPr>
              <a:buNone/>
              <a:defRPr sz="2100" b="0">
                <a:solidFill>
                  <a:srgbClr val="586C7C"/>
                </a:solidFill>
                <a:latin typeface="Helvetica Neue"/>
                <a:ea typeface="Helvetica Neue"/>
                <a:cs typeface="Helvetica Neue"/>
              </a:defRPr>
            </a:lvl4pPr>
            <a:lvl5pPr>
              <a:buNone/>
              <a:defRPr sz="2100" b="0">
                <a:solidFill>
                  <a:srgbClr val="586C7C"/>
                </a:solidFill>
                <a:latin typeface="Helvetica Neue"/>
                <a:ea typeface="Helvetica Neue"/>
                <a:cs typeface="Helvetica Neue"/>
              </a:defRPr>
            </a:lvl5pPr>
            <a:lvl6pPr>
              <a:buNone/>
              <a:defRPr sz="2100" b="0">
                <a:solidFill>
                  <a:srgbClr val="586C7C"/>
                </a:solidFill>
                <a:latin typeface="Helvetica Neue"/>
                <a:ea typeface="Helvetica Neue"/>
                <a:cs typeface="Helvetica Neue"/>
              </a:defRPr>
            </a:lvl6pPr>
            <a:lvl7pPr>
              <a:buNone/>
              <a:defRPr sz="2100" b="0">
                <a:solidFill>
                  <a:srgbClr val="586C7C"/>
                </a:solidFill>
                <a:latin typeface="Helvetica Neue"/>
                <a:ea typeface="Helvetica Neue"/>
                <a:cs typeface="Helvetica Neue"/>
              </a:defRPr>
            </a:lvl7pPr>
            <a:lvl8pPr>
              <a:buNone/>
              <a:defRPr sz="2100" b="0">
                <a:solidFill>
                  <a:srgbClr val="586C7C"/>
                </a:solidFill>
                <a:latin typeface="Helvetica Neue"/>
                <a:ea typeface="Helvetica Neue"/>
                <a:cs typeface="Helvetica Neue"/>
              </a:defRPr>
            </a:lvl8pPr>
            <a:lvl9pPr>
              <a:buNone/>
              <a:defRPr sz="2100" b="0">
                <a:solidFill>
                  <a:srgbClr val="586C7C"/>
                </a:solidFill>
                <a:latin typeface="Helvetica Neue"/>
                <a:ea typeface="Helvetica Neue"/>
                <a:cs typeface="Helvetica Neue"/>
              </a:defRPr>
            </a:lvl9pPr>
          </a:lstStyle>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Amazon Reviews 2014, McAuley Lab</a:t>
            </a:r>
          </a:p>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Qwen3-Embedding official model card and training documentation</a:t>
            </a:r>
          </a:p>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LoRA, Hu et al.    CLIP, Radford et al.    BPR, Rendle et al.</a:t>
            </a:r>
          </a:p>
        </p:txBody>
      </p:sp>
      <p:sp>
        <p:nvSpPr>
          <p:cNvPr id="5" name="text-107">
            <a:extLst xmlns:a="http://schemas.openxmlformats.org/drawingml/2006/main">
              <a:ext uri="{FF2B5EF4-FFF2-40B4-BE49-F238E27FC236}">
                <a16:creationId xmlns:a16="http://schemas.microsoft.com/office/drawing/2014/main" id="{C370B35C-3B05-4F6C-BC6C-AE5E96453D8F}"/>
              </a:ext>
            </a:extLst>
          </p:cNvPr>
          <p:cNvSpPr>
            <a:spLocks xmlns:a="http://schemas.openxmlformats.org/drawingml/2006/main" noGrp="1"/>
          </p:cNvSpPr>
          <p:nvPr/>
        </p:nvSpPr>
        <p:spPr>
          <a:xfrm xmlns:a="http://schemas.openxmlformats.org/drawingml/2006/main">
            <a:off x="647700" y="3867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43C"/>
                </a:solidFill>
                <a:latin typeface="Helvetica Neue"/>
                <a:ea typeface="Helvetica Neue"/>
                <a:cs typeface="Helvetica Neue"/>
              </a:defRPr>
            </a:defPPr>
            <a:lvl1pPr>
              <a:buNone/>
              <a:defRPr sz="2325" b="1">
                <a:solidFill>
                  <a:srgbClr val="17243C"/>
                </a:solidFill>
                <a:latin typeface="Helvetica Neue"/>
                <a:ea typeface="Helvetica Neue"/>
                <a:cs typeface="Helvetica Neue"/>
              </a:defRPr>
            </a:lvl1pPr>
            <a:lvl2pPr>
              <a:buNone/>
              <a:defRPr sz="2325" b="1">
                <a:solidFill>
                  <a:srgbClr val="17243C"/>
                </a:solidFill>
                <a:latin typeface="Helvetica Neue"/>
                <a:ea typeface="Helvetica Neue"/>
                <a:cs typeface="Helvetica Neue"/>
              </a:defRPr>
            </a:lvl2pPr>
            <a:lvl3pPr>
              <a:buNone/>
              <a:defRPr sz="2325" b="1">
                <a:solidFill>
                  <a:srgbClr val="17243C"/>
                </a:solidFill>
                <a:latin typeface="Helvetica Neue"/>
                <a:ea typeface="Helvetica Neue"/>
                <a:cs typeface="Helvetica Neue"/>
              </a:defRPr>
            </a:lvl3pPr>
            <a:lvl4pPr>
              <a:buNone/>
              <a:defRPr sz="2325" b="1">
                <a:solidFill>
                  <a:srgbClr val="17243C"/>
                </a:solidFill>
                <a:latin typeface="Helvetica Neue"/>
                <a:ea typeface="Helvetica Neue"/>
                <a:cs typeface="Helvetica Neue"/>
              </a:defRPr>
            </a:lvl4pPr>
            <a:lvl5pPr>
              <a:buNone/>
              <a:defRPr sz="2325" b="1">
                <a:solidFill>
                  <a:srgbClr val="17243C"/>
                </a:solidFill>
                <a:latin typeface="Helvetica Neue"/>
                <a:ea typeface="Helvetica Neue"/>
                <a:cs typeface="Helvetica Neue"/>
              </a:defRPr>
            </a:lvl5pPr>
            <a:lvl6pPr>
              <a:buNone/>
              <a:defRPr sz="2325" b="1">
                <a:solidFill>
                  <a:srgbClr val="17243C"/>
                </a:solidFill>
                <a:latin typeface="Helvetica Neue"/>
                <a:ea typeface="Helvetica Neue"/>
                <a:cs typeface="Helvetica Neue"/>
              </a:defRPr>
            </a:lvl6pPr>
            <a:lvl7pPr>
              <a:buNone/>
              <a:defRPr sz="2325" b="1">
                <a:solidFill>
                  <a:srgbClr val="17243C"/>
                </a:solidFill>
                <a:latin typeface="Helvetica Neue"/>
                <a:ea typeface="Helvetica Neue"/>
                <a:cs typeface="Helvetica Neue"/>
              </a:defRPr>
            </a:lvl7pPr>
            <a:lvl8pPr>
              <a:buNone/>
              <a:defRPr sz="2325" b="1">
                <a:solidFill>
                  <a:srgbClr val="17243C"/>
                </a:solidFill>
                <a:latin typeface="Helvetica Neue"/>
                <a:ea typeface="Helvetica Neue"/>
                <a:cs typeface="Helvetica Neue"/>
              </a:defRPr>
            </a:lvl8pPr>
            <a:lvl9pPr>
              <a:buNone/>
              <a:defRPr sz="2325" b="1">
                <a:solidFill>
                  <a:srgbClr val="17243C"/>
                </a:solidFill>
                <a:latin typeface="Helvetica Neue"/>
                <a:ea typeface="Helvetica Neue"/>
                <a:cs typeface="Helvetica Neue"/>
              </a:defRPr>
            </a:lvl9pPr>
          </a:lstStyle>
          <a:p xmlns:a="http://schemas.openxmlformats.org/drawingml/2006/main">
            <a:pPr>
              <a:buNone/>
              <a:defRPr sz="2325" b="1">
                <a:solidFill>
                  <a:srgbClr val="17243C"/>
                </a:solidFill>
                <a:latin typeface="Helvetica Neue"/>
                <a:ea typeface="Helvetica Neue"/>
                <a:cs typeface="Helvetica Neue"/>
              </a:defRPr>
            </a:pPr>
            <a:r>
              <a:rPr sz="2325" b="1">
                <a:solidFill>
                  <a:srgbClr val="17243C"/>
                </a:solidFill>
                <a:latin typeface="Helvetica Neue"/>
                <a:ea typeface="Helvetica Neue"/>
                <a:cs typeface="Helvetica Neue"/>
              </a:rPr>
              <a:t>Report, code and offline evidence</a:t>
            </a:r>
          </a:p>
        </p:txBody>
      </p:sp>
      <p:sp>
        <p:nvSpPr>
          <p:cNvPr id="6" name="text-108">
            <a:extLst xmlns:a="http://schemas.openxmlformats.org/drawingml/2006/main">
              <a:ext uri="{FF2B5EF4-FFF2-40B4-BE49-F238E27FC236}">
                <a16:creationId xmlns:a16="http://schemas.microsoft.com/office/drawing/2014/main" id="{33A5737B-0B10-4B2A-AA5D-D833BB9D961C}"/>
              </a:ext>
            </a:extLst>
          </p:cNvPr>
          <p:cNvSpPr>
            <a:spLocks xmlns:a="http://schemas.openxmlformats.org/drawingml/2006/main" noGrp="1"/>
          </p:cNvSpPr>
          <p:nvPr/>
        </p:nvSpPr>
        <p:spPr>
          <a:xfrm xmlns:a="http://schemas.openxmlformats.org/drawingml/2006/main">
            <a:off x="647700" y="4467225"/>
            <a:ext cx="1076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86C7C"/>
                </a:solidFill>
                <a:latin typeface="Helvetica Neue"/>
                <a:ea typeface="Helvetica Neue"/>
                <a:cs typeface="Helvetica Neue"/>
              </a:defRPr>
            </a:defPPr>
            <a:lvl1pPr>
              <a:buNone/>
              <a:defRPr sz="2100" b="0">
                <a:solidFill>
                  <a:srgbClr val="586C7C"/>
                </a:solidFill>
                <a:latin typeface="Helvetica Neue"/>
                <a:ea typeface="Helvetica Neue"/>
                <a:cs typeface="Helvetica Neue"/>
              </a:defRPr>
            </a:lvl1pPr>
            <a:lvl2pPr>
              <a:buNone/>
              <a:defRPr sz="2100" b="0">
                <a:solidFill>
                  <a:srgbClr val="586C7C"/>
                </a:solidFill>
                <a:latin typeface="Helvetica Neue"/>
                <a:ea typeface="Helvetica Neue"/>
                <a:cs typeface="Helvetica Neue"/>
              </a:defRPr>
            </a:lvl2pPr>
            <a:lvl3pPr>
              <a:buNone/>
              <a:defRPr sz="2100" b="0">
                <a:solidFill>
                  <a:srgbClr val="586C7C"/>
                </a:solidFill>
                <a:latin typeface="Helvetica Neue"/>
                <a:ea typeface="Helvetica Neue"/>
                <a:cs typeface="Helvetica Neue"/>
              </a:defRPr>
            </a:lvl3pPr>
            <a:lvl4pPr>
              <a:buNone/>
              <a:defRPr sz="2100" b="0">
                <a:solidFill>
                  <a:srgbClr val="586C7C"/>
                </a:solidFill>
                <a:latin typeface="Helvetica Neue"/>
                <a:ea typeface="Helvetica Neue"/>
                <a:cs typeface="Helvetica Neue"/>
              </a:defRPr>
            </a:lvl4pPr>
            <a:lvl5pPr>
              <a:buNone/>
              <a:defRPr sz="2100" b="0">
                <a:solidFill>
                  <a:srgbClr val="586C7C"/>
                </a:solidFill>
                <a:latin typeface="Helvetica Neue"/>
                <a:ea typeface="Helvetica Neue"/>
                <a:cs typeface="Helvetica Neue"/>
              </a:defRPr>
            </a:lvl5pPr>
            <a:lvl6pPr>
              <a:buNone/>
              <a:defRPr sz="2100" b="0">
                <a:solidFill>
                  <a:srgbClr val="586C7C"/>
                </a:solidFill>
                <a:latin typeface="Helvetica Neue"/>
                <a:ea typeface="Helvetica Neue"/>
                <a:cs typeface="Helvetica Neue"/>
              </a:defRPr>
            </a:lvl6pPr>
            <a:lvl7pPr>
              <a:buNone/>
              <a:defRPr sz="2100" b="0">
                <a:solidFill>
                  <a:srgbClr val="586C7C"/>
                </a:solidFill>
                <a:latin typeface="Helvetica Neue"/>
                <a:ea typeface="Helvetica Neue"/>
                <a:cs typeface="Helvetica Neue"/>
              </a:defRPr>
            </a:lvl7pPr>
            <a:lvl8pPr>
              <a:buNone/>
              <a:defRPr sz="2100" b="0">
                <a:solidFill>
                  <a:srgbClr val="586C7C"/>
                </a:solidFill>
                <a:latin typeface="Helvetica Neue"/>
                <a:ea typeface="Helvetica Neue"/>
                <a:cs typeface="Helvetica Neue"/>
              </a:defRPr>
            </a:lvl8pPr>
            <a:lvl9pPr>
              <a:buNone/>
              <a:defRPr sz="2100" b="0">
                <a:solidFill>
                  <a:srgbClr val="586C7C"/>
                </a:solidFill>
                <a:latin typeface="Helvetica Neue"/>
                <a:ea typeface="Helvetica Neue"/>
                <a:cs typeface="Helvetica Neue"/>
              </a:defRPr>
            </a:lvl9pPr>
          </a:lstStyle>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English experiment report and audited 27-record summary</a:t>
            </a:r>
          </a:p>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Selected model exports, hashes and recorded validation results</a:t>
            </a:r>
          </a:p>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Experiment gallery: seven interactive figures plus CSV / JSON</a:t>
            </a:r>
          </a:p>
        </p:txBody>
      </p:sp>
      <p:sp>
        <p:nvSpPr>
          <p:cNvPr id="7" name="text-109">
            <a:extLst xmlns:a="http://schemas.openxmlformats.org/drawingml/2006/main">
              <a:ext uri="{FF2B5EF4-FFF2-40B4-BE49-F238E27FC236}">
                <a16:creationId xmlns:a16="http://schemas.microsoft.com/office/drawing/2014/main" id="{EC954517-385C-40DB-94E2-FC191CA011BE}"/>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buNone/>
              <a:defRPr sz="1650" b="0">
                <a:solidFill>
                  <a:srgbClr val="586C7C"/>
                </a:solidFill>
                <a:latin typeface="Helvetica Neue"/>
                <a:ea typeface="Helvetica Neue"/>
                <a:cs typeface="Helvetica Neue"/>
              </a:defRPr>
            </a:lvl1pPr>
            <a:lvl2pPr>
              <a:buNone/>
              <a:defRPr sz="1650" b="0">
                <a:solidFill>
                  <a:srgbClr val="586C7C"/>
                </a:solidFill>
                <a:latin typeface="Helvetica Neue"/>
                <a:ea typeface="Helvetica Neue"/>
                <a:cs typeface="Helvetica Neue"/>
              </a:defRPr>
            </a:lvl2pPr>
            <a:lvl3pPr>
              <a:buNone/>
              <a:defRPr sz="1650" b="0">
                <a:solidFill>
                  <a:srgbClr val="586C7C"/>
                </a:solidFill>
                <a:latin typeface="Helvetica Neue"/>
                <a:ea typeface="Helvetica Neue"/>
                <a:cs typeface="Helvetica Neue"/>
              </a:defRPr>
            </a:lvl3pPr>
            <a:lvl4pPr>
              <a:buNone/>
              <a:defRPr sz="1650" b="0">
                <a:solidFill>
                  <a:srgbClr val="586C7C"/>
                </a:solidFill>
                <a:latin typeface="Helvetica Neue"/>
                <a:ea typeface="Helvetica Neue"/>
                <a:cs typeface="Helvetica Neue"/>
              </a:defRPr>
            </a:lvl4pPr>
            <a:lvl5pPr>
              <a:buNone/>
              <a:defRPr sz="1650" b="0">
                <a:solidFill>
                  <a:srgbClr val="586C7C"/>
                </a:solidFill>
                <a:latin typeface="Helvetica Neue"/>
                <a:ea typeface="Helvetica Neue"/>
                <a:cs typeface="Helvetica Neue"/>
              </a:defRPr>
            </a:lvl5pPr>
            <a:lvl6pPr>
              <a:buNone/>
              <a:defRPr sz="1650" b="0">
                <a:solidFill>
                  <a:srgbClr val="586C7C"/>
                </a:solidFill>
                <a:latin typeface="Helvetica Neue"/>
                <a:ea typeface="Helvetica Neue"/>
                <a:cs typeface="Helvetica Neue"/>
              </a:defRPr>
            </a:lvl6pPr>
            <a:lvl7pPr>
              <a:buNone/>
              <a:defRPr sz="1650" b="0">
                <a:solidFill>
                  <a:srgbClr val="586C7C"/>
                </a:solidFill>
                <a:latin typeface="Helvetica Neue"/>
                <a:ea typeface="Helvetica Neue"/>
                <a:cs typeface="Helvetica Neue"/>
              </a:defRPr>
            </a:lvl7pPr>
            <a:lvl8pPr>
              <a:buNone/>
              <a:defRPr sz="1650" b="0">
                <a:solidFill>
                  <a:srgbClr val="586C7C"/>
                </a:solidFill>
                <a:latin typeface="Helvetica Neue"/>
                <a:ea typeface="Helvetica Neue"/>
                <a:cs typeface="Helvetica Neue"/>
              </a:defRPr>
            </a:lvl8pPr>
            <a:lvl9pPr>
              <a:buNone/>
              <a:defRPr sz="1650" b="0">
                <a:solidFill>
                  <a:srgbClr val="586C7C"/>
                </a:solidFill>
                <a:latin typeface="Helvetica Neue"/>
                <a:ea typeface="Helvetica Neue"/>
                <a:cs typeface="Helvetica Neue"/>
              </a:defRPr>
            </a:lvl9pPr>
          </a:lstStyle>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The export script creates the optional offline gallery. Runtime assets install separately.</a:t>
            </a:r>
          </a:p>
        </p:txBody>
      </p:sp>
    </p:spTree>
    <p:extLst>
      <p:ext uri="{BB962C8B-B14F-4D97-AF65-F5344CB8AC3E}">
        <p14:creationId xmlns:p14="http://schemas.microsoft.com/office/powerpoint/2010/main" val="2075138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2026-10-24T16:21:02.9320000Z</dcterms:created>
  <dcterms:modified xsi:type="dcterms:W3CDTF">2026-10-24T16:21:02.9320000Z</dcterms:modified>
</coreProperties>
</file>