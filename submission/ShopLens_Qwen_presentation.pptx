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cad6ee38e6e400d" /><Relationship Type="http://schemas.openxmlformats.org/officeDocument/2006/relationships/extended-properties" Target="/docProps/app.xml" Id="Rbf0c5a11cc9d4fcb" /><Relationship Type="http://schemas.openxmlformats.org/officeDocument/2006/relationships/officeDocument" Target="/ppt/presentation.xml" Id="Rd8d553c70a7f40b4" /></Relationships>
</file>

<file path=ppt/presentation.xml><?xml version="1.0" encoding="utf-8"?>
<p:presentation xmlns:p="http://schemas.openxmlformats.org/presentationml/2006/main">
  <p:sldMasterIdLst>
    <p:sldMasterId xmlns:r="http://schemas.openxmlformats.org/officeDocument/2006/relationships" id="2147483648" r:id="Rfd0910db6b144b1c"/>
  </p:sldMasterIdLst>
  <p:notesMasterIdLst>
    <p:notesMasterId xmlns:r="http://schemas.openxmlformats.org/officeDocument/2006/relationships" r:id="R3692bc4394ad4197"/>
  </p:notesMasterIdLst>
  <p:sldIdLst>
    <p:sldId xmlns:r="http://schemas.openxmlformats.org/officeDocument/2006/relationships" id="256" r:id="R3765d094593a49f2"/>
    <p:sldId xmlns:r="http://schemas.openxmlformats.org/officeDocument/2006/relationships" id="257" r:id="R05dd000d9775484b"/>
    <p:sldId xmlns:r="http://schemas.openxmlformats.org/officeDocument/2006/relationships" id="258" r:id="R4e8ae8a36aaf4b1c"/>
    <p:sldId xmlns:r="http://schemas.openxmlformats.org/officeDocument/2006/relationships" id="259" r:id="R60bc68c096df4515"/>
    <p:sldId xmlns:r="http://schemas.openxmlformats.org/officeDocument/2006/relationships" id="260" r:id="Rb40f626a5cab45ea"/>
    <p:sldId xmlns:r="http://schemas.openxmlformats.org/officeDocument/2006/relationships" id="261" r:id="Reaf449a927a94862"/>
    <p:sldId xmlns:r="http://schemas.openxmlformats.org/officeDocument/2006/relationships" id="262" r:id="Raab280fbc98642b9"/>
    <p:sldId xmlns:r="http://schemas.openxmlformats.org/officeDocument/2006/relationships" id="263" r:id="R09e4d55e01bb4722"/>
    <p:sldId xmlns:r="http://schemas.openxmlformats.org/officeDocument/2006/relationships" id="264" r:id="R67a00ad056004a66"/>
    <p:sldId xmlns:r="http://schemas.openxmlformats.org/officeDocument/2006/relationships" id="265" r:id="Rd8b35b2bd6ac42b5"/>
    <p:sldId xmlns:r="http://schemas.openxmlformats.org/officeDocument/2006/relationships" id="266" r:id="Raaef62109a164f53"/>
    <p:sldId xmlns:r="http://schemas.openxmlformats.org/officeDocument/2006/relationships" id="267" r:id="Rd358a9b6d56043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24c1e9e4b04a9e" /><Relationship Type="http://schemas.openxmlformats.org/officeDocument/2006/relationships/slideMaster" Target="/ppt/slideMasters/slideMaster1.xml" Id="Rfd0910db6b144b1c" /><Relationship Type="http://schemas.openxmlformats.org/officeDocument/2006/relationships/notesMaster" Target="/ppt/notesMasters/notesMaster1.xml" Id="R3692bc4394ad4197" /><Relationship Type="http://schemas.openxmlformats.org/officeDocument/2006/relationships/presProps" Target="/ppt/presProps.xml" Id="R3bbe32655e67433b" /><Relationship Type="http://schemas.openxmlformats.org/officeDocument/2006/relationships/tableStyles" Target="/ppt/tableStyles.xml" Id="Rcf8a2e009c6d4786" /><Relationship Type="http://schemas.openxmlformats.org/officeDocument/2006/relationships/slide" Target="/ppt/slides/slide1.xml" Id="R3765d094593a49f2" /><Relationship Type="http://schemas.openxmlformats.org/officeDocument/2006/relationships/slide" Target="/ppt/slides/slide2.xml" Id="R05dd000d9775484b" /><Relationship Type="http://schemas.openxmlformats.org/officeDocument/2006/relationships/slide" Target="/ppt/slides/slide3.xml" Id="R4e8ae8a36aaf4b1c" /><Relationship Type="http://schemas.openxmlformats.org/officeDocument/2006/relationships/slide" Target="/ppt/slides/slide4.xml" Id="R60bc68c096df4515" /><Relationship Type="http://schemas.openxmlformats.org/officeDocument/2006/relationships/slide" Target="/ppt/slides/slide5.xml" Id="Rb40f626a5cab45ea" /><Relationship Type="http://schemas.openxmlformats.org/officeDocument/2006/relationships/slide" Target="/ppt/slides/slide6.xml" Id="Reaf449a927a94862" /><Relationship Type="http://schemas.openxmlformats.org/officeDocument/2006/relationships/slide" Target="/ppt/slides/slide7.xml" Id="Raab280fbc98642b9" /><Relationship Type="http://schemas.openxmlformats.org/officeDocument/2006/relationships/slide" Target="/ppt/slides/slide8.xml" Id="R09e4d55e01bb4722" /><Relationship Type="http://schemas.openxmlformats.org/officeDocument/2006/relationships/slide" Target="/ppt/slides/slide9.xml" Id="R67a00ad056004a66" /><Relationship Type="http://schemas.openxmlformats.org/officeDocument/2006/relationships/slide" Target="/ppt/slides/slide10.xml" Id="Rd8b35b2bd6ac42b5" /><Relationship Type="http://schemas.openxmlformats.org/officeDocument/2006/relationships/slide" Target="/ppt/slides/slide11.xml" Id="Raaef62109a164f53" /><Relationship Type="http://schemas.openxmlformats.org/officeDocument/2006/relationships/slide" Target="/ppt/slides/slide12.xml" Id="Rd358a9b6d56043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d8b85581b645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95d32a13f64b6c" /><Relationship Type="http://schemas.openxmlformats.org/officeDocument/2006/relationships/notesMaster" Target="/ppt/notesMasters/notesMaster1.xml" Id="R3189b314725649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e15bdfcea6646d5" /><Relationship Type="http://schemas.openxmlformats.org/officeDocument/2006/relationships/notesMaster" Target="/ppt/notesMasters/notesMaster1.xml" Id="R15002af45f8d4e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1104518a9db498f" /><Relationship Type="http://schemas.openxmlformats.org/officeDocument/2006/relationships/notesMaster" Target="/ppt/notesMasters/notesMaster1.xml" Id="R1a4ea1f5f02c45c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7383cba8fc4d99" /><Relationship Type="http://schemas.openxmlformats.org/officeDocument/2006/relationships/notesMaster" Target="/ppt/notesMasters/notesMaster1.xml" Id="Rf411f1e8c8034e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df8cc08d5b4fdb" /><Relationship Type="http://schemas.openxmlformats.org/officeDocument/2006/relationships/notesMaster" Target="/ppt/notesMasters/notesMaster1.xml" Id="Rade4acda801d4b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df89b70d66432f" /><Relationship Type="http://schemas.openxmlformats.org/officeDocument/2006/relationships/notesMaster" Target="/ppt/notesMasters/notesMaster1.xml" Id="Ra807cdf8eeca4e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187bb68ce84b30" /><Relationship Type="http://schemas.openxmlformats.org/officeDocument/2006/relationships/notesMaster" Target="/ppt/notesMasters/notesMaster1.xml" Id="Rf25d04d74df64b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4c25f84b614f76" /><Relationship Type="http://schemas.openxmlformats.org/officeDocument/2006/relationships/notesMaster" Target="/ppt/notesMasters/notesMaster1.xml" Id="Rdffdf5a0e9654d6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ec057a1bce4cd5" /><Relationship Type="http://schemas.openxmlformats.org/officeDocument/2006/relationships/notesMaster" Target="/ppt/notesMasters/notesMaster1.xml" Id="R2898a92797274b1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c9778e93fc04f11" /><Relationship Type="http://schemas.openxmlformats.org/officeDocument/2006/relationships/notesMaster" Target="/ppt/notesMasters/notesMaster1.xml" Id="Re58bafcc1404437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52ade175cc4829" /><Relationship Type="http://schemas.openxmlformats.org/officeDocument/2006/relationships/notesMaster" Target="/ppt/notesMasters/notesMaster1.xml" Id="R5e5d31b4d3f047d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4fa5aff617e4080" /><Relationship Type="http://schemas.openxmlformats.org/officeDocument/2006/relationships/notesMaster" Target="/ppt/notesMasters/notesMaster1.xml" Id="Rf360eddf877745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ShopLens studies whether adapting language representations improves multimodal recommendation. Product photographs provide an additional input, while the main experiment focuses on text. We compare frozen Qwen embeddings with two LoRA objectives: matching reviews to descriptions, and directly learning preference rankings. We then export compact vectors so that the demonstration can run on a local machine.</a:t>
            </a:r>
          </a:p>
          <a:p xmlns:a="http://schemas.openxmlformats.org/drawingml/2006/main">
            <a:r>
              <a:t/>
            </a:r>
          </a:p>
          <a:p xmlns:a="http://schemas.openxmlformats.org/drawingml/2006/main">
            <a:r>
              <a:t>Discussion notes outside timed narration</a:t>
            </a:r>
          </a:p>
          <a:p xmlns:a="http://schemas.openxmlformats.org/drawingml/2006/main">
            <a:r>
              <a:t>ShopLens studies how language adaptation changes recommendation. We keep product photographs as an additional modality and focus on the text representation. The central experiment compares a frozen Qwen embedding model with two LoRA objectives. One aligns reviews with descriptions. The other trains directly for preference ranking. The trained system exports compact item vectors so that an interactive demonstration can run locally.</a:t>
            </a:r>
          </a:p>
          <a:p xmlns:a="http://schemas.openxmlformats.org/drawingml/2006/main">
            <a:r>
              <a:t/>
            </a:r>
          </a:p>
          <a:p xmlns:a="http://schemas.openxmlformats.org/drawingml/2006/main">
            <a:r>
              <a:t>Sources</a:t>
            </a:r>
          </a:p>
          <a:p xmlns:a="http://schemas.openxmlformats.org/drawingml/2006/main">
            <a:r>
              <a:t>https://huggingface.co/Qwen/Qwen3-Embedding-0.6B</a:t>
            </a:r>
          </a:p>
          <a:p xmlns:a="http://schemas.openxmlformats.org/drawingml/2006/main">
            <a:r>
              <a:t>https://arxiv.org/abs/2106.09685</a:t>
            </a:r>
          </a:p>
          <a:p xmlns:a="http://schemas.openxmlformats.org/drawingml/2006/main">
            <a:r>
              <a:t>https://proceedings.mlr.press/v139/radford21a.html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can recognise that a review describes a product without learning what a particular user prefers next. The semantic arm matches review language to product descriptions. The preference arm learns to rank a liked product above an unobserved product, given earlier history. The experiment asks whether these objectives produce the same benefit on the recommendation metric. The model family and image features stay fixed.</a:t>
            </a:r>
          </a:p>
          <a:p xmlns:a="http://schemas.openxmlformats.org/drawingml/2006/main">
            <a:r>
              <a:t/>
            </a:r>
          </a:p>
          <a:p xmlns:a="http://schemas.openxmlformats.org/drawingml/2006/main">
            <a:r>
              <a:t>Discussion notes outside timed narration</a:t>
            </a:r>
          </a:p>
          <a:p xmlns:a="http://schemas.openxmlformats.org/drawingml/2006/main">
            <a:r>
              <a:t>A model can understand that a review refers to a product without learning which product a particular user prefers next. We therefore separate semantic alignment from preference ranking. The semantic arm pairs a positive training review with its matching description. The preference arm uses the user’s earlier liked products to train a positive item above an unobserved item. All arms use the same Qwen model family and fixed image features. The question is empirical: under this controlled budget, does semantic improvement transfer to the recommendation metric, or does the ranking objective produce a different result?</a:t>
            </a:r>
          </a:p>
          <a:p xmlns:a="http://schemas.openxmlformats.org/drawingml/2006/main">
            <a:r>
              <a:t/>
            </a:r>
          </a:p>
          <a:p xmlns:a="http://schemas.openxmlformats.org/drawingml/2006/main">
            <a:r>
              <a:t>Sources</a:t>
            </a:r>
          </a:p>
          <a:p xmlns:a="http://schemas.openxmlformats.org/drawingml/2006/main">
            <a:r>
              <a:t>https://github.com/QwenLM/Qwen3-Embedding/blob/main/docs/training/SWIFT.md</a:t>
            </a:r>
          </a:p>
          <a:p xmlns:a="http://schemas.openxmlformats.org/drawingml/2006/main">
            <a:r>
              <a:t>https://arxiv.org/abs/1205.2618</a:t>
            </a:r>
          </a:p>
          <a:p xmlns:a="http://schemas.openxmlformats.org/drawingml/2006/main">
            <a:r>
              <a:t>src/shoplens/qwen_pipeline.py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three product domains from Amazon Reviews 2014. These are real reviews, catalogue descriptions and downloaded photographs. The table shows the cleaned data counts. Four- and five-star interactions count as positive feedback. Only training-period reviews supply semantic supervision. Product text contains the title and description. These are separate benchmarks from one data source, so the course instructor still needs to confirm that they satisfy the requested dataset count.</a:t>
            </a:r>
          </a:p>
          <a:p xmlns:a="http://schemas.openxmlformats.org/drawingml/2006/main">
            <a:r>
              <a:t/>
            </a:r>
          </a:p>
          <a:p xmlns:a="http://schemas.openxmlformats.org/drawingml/2006/main">
            <a:r>
              <a:t>Discussion notes outside timed narration</a:t>
            </a:r>
          </a:p>
          <a:p xmlns:a="http://schemas.openxmlformats.org/drawingml/2006/main">
            <a:r>
              <a:t>The project uses three domains from the Amazon Reviews 2014 collection. We retain products with usable text and real, decodable product photographs. The table reads directly from the processed data audits. Four- and five-star interactions provide positive behavioural feedback. Training-period review text supplies semantic supervision. Catalogue text itself contains only the title and description. These are separate domain benchmarks from a single source. We must ask the course instructor whether that satisfies the required number of datasets, rather than calling them three independently sourced collections.</a:t>
            </a:r>
          </a:p>
          <a:p xmlns:a="http://schemas.openxmlformats.org/drawingml/2006/main">
            <a:r>
              <a:t/>
            </a:r>
          </a:p>
          <a:p xmlns:a="http://schemas.openxmlformats.org/drawingml/2006/main">
            <a:r>
              <a:t>Sources</a:t>
            </a:r>
          </a:p>
          <a:p xmlns:a="http://schemas.openxmlformats.org/drawingml/2006/main">
            <a:r>
              <a:t>https://mcauleylab.ucsd.edu/public_datasets/data/amazon/datasets.html</a:t>
            </a:r>
          </a:p>
          <a:p xmlns:a="http://schemas.openxmlformats.org/drawingml/2006/main">
            <a:r>
              <a:t>data/processed/baby/audit.json</a:t>
            </a:r>
          </a:p>
          <a:p xmlns:a="http://schemas.openxmlformats.org/drawingml/2006/main">
            <a:r>
              <a:t>data/processed/sports/audit.json</a:t>
            </a:r>
          </a:p>
          <a:p xmlns:a="http://schemas.openxmlformats.org/drawingml/2006/main">
            <a:r>
              <a:t>data/processed/clothing/audit.json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domain uses chronological training, validation and test splits. A target receives only strictly earlier positive history, with at most twenty recent distinct products. The model ranks the full prepared catalogue and excludes products already liked. Earlier held-out observations may enter later histories, but weights stay fixed. We average targets within each user, then average users. Validation selects the checkpoint. Test labels never select the model.</a:t>
            </a:r>
          </a:p>
          <a:p xmlns:a="http://schemas.openxmlformats.org/drawingml/2006/main">
            <a:r>
              <a:t/>
            </a:r>
          </a:p>
          <a:p xmlns:a="http://schemas.openxmlformats.org/drawingml/2006/main">
            <a:r>
              <a:t>Discussion notes outside timed narration</a:t>
            </a:r>
          </a:p>
          <a:p xmlns:a="http://schemas.openxmlformats.org/drawingml/2006/main">
            <a:r>
              <a:t>Each domain uses global timestamp quantiles for training, validation and test. Timestamp ties stay in the earlier split, so record counts need not equal the nominal percentages exactly. A target uses only strictly earlier positive history, with at most twenty recent distinct products. Repeated targets that already occur in that history do not enter evaluation. We rank the complete prepared catalogue and exclude earlier positives. Scores use a stable item-ID tie rule. The evaluation is prequential: earlier observations within a held-out split may enter a later history, while model weights stay fixed. We average target scores within each user before calculating the user macro mean.</a:t>
            </a:r>
          </a:p>
          <a:p xmlns:a="http://schemas.openxmlformats.org/drawingml/2006/main">
            <a:r>
              <a:t/>
            </a:r>
          </a:p>
          <a:p xmlns:a="http://schemas.openxmlformats.org/drawingml/2006/main">
            <a:r>
              <a:t>Sources</a:t>
            </a:r>
          </a:p>
          <a:p xmlns:a="http://schemas.openxmlformats.org/drawingml/2006/main">
            <a:r>
              <a:t>src/shoplens/models.py</a:t>
            </a:r>
          </a:p>
          <a:p xmlns:a="http://schemas.openxmlformats.org/drawingml/2006/main">
            <a:r>
              <a:t>src/shoplens/qwen_evaluate.py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history path always receives frozen base-Qwen text and frozen CLIP images. The candidate path receives either base text or selected LoRA text, with the same images. Small projection and fusion networks produce separate one-hundred-and-twenty-eight-dimensional vectors. A user network pools history and scores candidates through a dot product. Frozen refers to the Qwen encoder. Its recommendation head still trains. Exported history and candidate caches preserve this distinction during local inference.</a:t>
            </a:r>
          </a:p>
          <a:p xmlns:a="http://schemas.openxmlformats.org/drawingml/2006/main">
            <a:r>
              <a:t/>
            </a:r>
          </a:p>
          <a:p xmlns:a="http://schemas.openxmlformats.org/drawingml/2006/main">
            <a:r>
              <a:t>Discussion notes outside timed narration</a:t>
            </a:r>
          </a:p>
          <a:p xmlns:a="http://schemas.openxmlformats.org/drawingml/2006/main">
            <a:r>
              <a:t>All three arms receive the same frozen base-Qwen history embeddings and frozen CLIP image embeddings. Only the candidate text representation changes across objectives. Separate small projection and fusion networks form history and candidate vectors. The user encoder mean-pools recent history vectors and applies an MLP. A dot product scores every candidate. The small ranking head can update in every arm, including frozen. Frozen therefore means a frozen Qwen encoder, not an untrained recommender. At export, we save history vectors and candidate vectors separately. The local interface must use the frozen-history path instead of accidentally using adapted candidate vectors as history.</a:t>
            </a:r>
          </a:p>
          <a:p xmlns:a="http://schemas.openxmlformats.org/drawingml/2006/main">
            <a:r>
              <a:t/>
            </a:r>
          </a:p>
          <a:p xmlns:a="http://schemas.openxmlformats.org/drawingml/2006/main">
            <a:r>
              <a:t>Sources</a:t>
            </a:r>
          </a:p>
          <a:p xmlns:a="http://schemas.openxmlformats.org/drawingml/2006/main">
            <a:r>
              <a:t>https://huggingface.co/Qwen/Qwen3-Embedding-0.6B</a:t>
            </a:r>
          </a:p>
          <a:p xmlns:a="http://schemas.openxmlformats.org/drawingml/2006/main">
            <a:r>
              <a:t>https://proceedings.mlr.press/v139/radford21a.html</a:t>
            </a:r>
          </a:p>
          <a:p xmlns:a="http://schemas.openxmlformats.org/drawingml/2006/main">
            <a:r>
              <a:t>src/shoplens/qwen_models.py</a:t>
            </a:r>
          </a:p>
          <a:p xmlns:a="http://schemas.openxmlformats.org/drawingml/2006/main">
            <a:r>
              <a:t>src/shoplens/qwen_inference.py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arm trains only the recommendation head with BPR. The semantic arm uses detached text vectors for BPR, while a separate contrastive loss updates LoRA by matching descriptions to frozen review anchors. Reviews of the same product count as multiple positives. The preference arm lets BPR update both the head and LoRA. It never uses the target review as a preference query. All arms keep the image encoder fixed.</a:t>
            </a:r>
          </a:p>
          <a:p xmlns:a="http://schemas.openxmlformats.org/drawingml/2006/main">
            <a:r>
              <a:t/>
            </a:r>
          </a:p>
          <a:p xmlns:a="http://schemas.openxmlformats.org/drawingml/2006/main">
            <a:r>
              <a:t>Discussion notes outside timed narration</a:t>
            </a:r>
          </a:p>
          <a:p xmlns:a="http://schemas.openxmlformats.org/drawingml/2006/main">
            <a:r>
              <a:t>The frozen arm updates the recommendation head using BPR while keeping Qwen fixed. The semantic arm runs live candidate embeddings, but detaches them for the ranking-head loss. Its separate symmetric contrastive loss updates LoRA by matching product descriptions to frozen review anchors from the base Qwen model. Reviews for the same product count as multiple positives, preventing them from becoming obvious false negatives. The preference arm lets the BPR gradient update both the ranking head and LoRA through positive and negative candidate text. We configure LoRA with rank eight, alpha sixteen and dropout zero point zero five on the query and value projections. The target review never enters the preference query.</a:t>
            </a:r>
          </a:p>
          <a:p xmlns:a="http://schemas.openxmlformats.org/drawingml/2006/main">
            <a:r>
              <a:t/>
            </a:r>
          </a:p>
          <a:p xmlns:a="http://schemas.openxmlformats.org/drawingml/2006/main">
            <a:r>
              <a:t>Sources</a:t>
            </a:r>
          </a:p>
          <a:p xmlns:a="http://schemas.openxmlformats.org/drawingml/2006/main">
            <a:r>
              <a:t>https://arxiv.org/abs/2106.09685</a:t>
            </a:r>
          </a:p>
          <a:p xmlns:a="http://schemas.openxmlformats.org/drawingml/2006/main">
            <a:r>
              <a:t>https://github.com/QwenLM/Qwen3-Embedding/blob/main/docs/training/SWIFT.md</a:t>
            </a:r>
          </a:p>
          <a:p xmlns:a="http://schemas.openxmlformats.org/drawingml/2006/main">
            <a:r>
              <a:t>src/shoplens/qwen_text.py</a:t>
            </a:r>
          </a:p>
          <a:p xmlns:a="http://schemas.openxmlformats.org/drawingml/2006/main">
            <a:r>
              <a:t>src/shoplens/qwen_pipeline.py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domain and seed first trains a common head on all eligible cases. The three arms share that selected initialization. Adaptation uses the same thirty thousand review-matched cases, order and sampled negatives for two epochs. Full-catalogue validation NDCG selects epoch one or two in every arm. Warmup epoch zero cannot replace a poor adaptation result. Three complete pipeline seeds across three domains and three arms produce twenty-seven test records.</a:t>
            </a:r>
          </a:p>
          <a:p xmlns:a="http://schemas.openxmlformats.org/drawingml/2006/main">
            <a:r>
              <a:t/>
            </a:r>
          </a:p>
          <a:p xmlns:a="http://schemas.openxmlformats.org/drawingml/2006/main">
            <a:r>
              <a:t>Discussion notes outside timed narration</a:t>
            </a:r>
          </a:p>
          <a:p xmlns:a="http://schemas.openxmlformats.org/drawingml/2006/main">
            <a:r>
              <a:t>For each domain and seed, we first train a common ranking head using every eligible training case. Warmup runs for at most twenty epochs, with patience three after at least five epochs, selecting through full-catalogue validation NDCG. Every objective starts from that same head. Adaptation then uses thirty thousand eligible training cases with matching positive review text. The case order and negative arrays match across arms. We run two adaptation epochs with batch size thirty-two. The head learning rate is one times ten to the minus four, and the LoRA learning rate is two times ten to the minus five. Every arm selects epoch one or two using the same downstream validation metric. Warmup epoch zero cannot replace a failed adaptation checkpoint. Test evaluation runs only after selection. Three seeds repeat the full pipeline, rather than only the final head.</a:t>
            </a:r>
          </a:p>
          <a:p xmlns:a="http://schemas.openxmlformats.org/drawingml/2006/main">
            <a:r>
              <a:t/>
            </a:r>
          </a:p>
          <a:p xmlns:a="http://schemas.openxmlformats.org/drawingml/2006/main">
            <a:r>
              <a:t>The study uses a full-input warmup, sampled adaptation, and full evaluation. It does not claim that every eligible case enters the LoRA adaptation stage. Formal unit hashes record the common warmup, cases, order and negatives. The existing five-epoch MiniLM comparisons remain a separate earlier experiment with a different budget.</a:t>
            </a:r>
          </a:p>
          <a:p xmlns:a="http://schemas.openxmlformats.org/drawingml/2006/main">
            <a:r>
              <a:t/>
            </a:r>
          </a:p>
          <a:p xmlns:a="http://schemas.openxmlformats.org/drawingml/2006/main">
            <a:r>
              <a:t>Sources</a:t>
            </a:r>
          </a:p>
          <a:p xmlns:a="http://schemas.openxmlformats.org/drawingml/2006/main">
            <a:r>
              <a:t>src/shoplens/qwen_data.py</a:t>
            </a:r>
          </a:p>
          <a:p xmlns:a="http://schemas.openxmlformats.org/drawingml/2006/main">
            <a:r>
              <a:t>src/shoplens/qwen_pipeline.py</a:t>
            </a:r>
          </a:p>
          <a:p xmlns:a="http://schemas.openxmlformats.org/drawingml/2006/main">
            <a:r>
              <a:t>deliverables/results_qwen_summary.json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actual test scores after validation-only selection. The chart shows mean user-macro NDCG at ten across three complete pipeline seeds. Semantic alignment exceeds frozen NDCG@10 in 2 of 9 matched domain-and-seed comparisons. Preference ranking exceeds frozen NDCG@10 in 3 of 9 matched domain-and-seed comparisons. The following slide checks variation rather than relying on a single best seed. These measurements describe offline ranking under this budget.</a:t>
            </a:r>
          </a:p>
          <a:p xmlns:a="http://schemas.openxmlformats.org/drawingml/2006/main">
            <a:r>
              <a:t/>
            </a:r>
          </a:p>
          <a:p xmlns:a="http://schemas.openxmlformats.org/drawingml/2006/main">
            <a:r>
              <a:t>Discussion notes outside timed narration</a:t>
            </a:r>
          </a:p>
          <a:p xmlns:a="http://schemas.openxmlformats.org/drawingml/2006/main">
            <a:r>
              <a:t>The chart reports actual test NDCG at ten after validation-only checkpoint selection. Baby: Frozen has the highest observed mean, 0.0128. Sports: Frozen has the highest observed mean, 0.0071. Clothing: Frozen has the highest observed mean, 0.0052. Semantic alignment exceeds frozen NDCG@10 in 2 of 9 matched domain-and-seed comparisons. Preference ranking exceeds frozen NDCG@10 in 3 of 9 matched domain-and-seed comparisons. These are observations under the declared budget, rather than claims about online purchasing behaviour. The next slide reports seed variation and paired changes.</a:t>
            </a:r>
          </a:p>
          <a:p xmlns:a="http://schemas.openxmlformats.org/drawingml/2006/main">
            <a:r>
              <a:t/>
            </a:r>
          </a:p>
          <a:p xmlns:a="http://schemas.openxmlformats.org/drawingml/2006/main">
            <a:r>
              <a:t>Sources</a:t>
            </a:r>
          </a:p>
          <a:p xmlns:a="http://schemas.openxmlformats.org/drawingml/2006/main">
            <a:r>
              <a:t>deliverables/results_qwen_summary.json</a:t>
            </a:r>
          </a:p>
          <a:p xmlns:a="http://schemas.openxmlformats.org/drawingml/2006/main">
            <a:r>
              <a:t>artifacts/qwen/baby/results.json</a:t>
            </a:r>
          </a:p>
          <a:p xmlns:a="http://schemas.openxmlformats.org/drawingml/2006/main">
            <a:r>
              <a:t>artifacts/qwen/sports/results.json</a:t>
            </a:r>
          </a:p>
          <a:p xmlns:a="http://schemas.openxmlformats.org/drawingml/2006/main">
            <a:r>
              <a:t>artifacts/qwen/clothing/results.json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shows means and sample standard deviations. Each paired change compares the same domain and seed, sharing initialization and adaptation cases. A win counts a positive metric difference. It does not mean statistical significance. Three seeds provide a limited view of variation. We retain settings where LoRA hurts, rather than silently replacing them with the warmup checkpoint.</a:t>
            </a:r>
          </a:p>
          <a:p xmlns:a="http://schemas.openxmlformats.org/drawingml/2006/main">
            <a:r>
              <a:t/>
            </a:r>
          </a:p>
          <a:p xmlns:a="http://schemas.openxmlformats.org/drawingml/2006/main">
            <a:r>
              <a:t>Discussion notes outside timed narration</a:t>
            </a:r>
          </a:p>
          <a:p xmlns:a="http://schemas.openxmlformats.org/drawingml/2006/main">
            <a:r>
              <a:t>Semantic alignment exceeds frozen NDCG@10 in 2 of 9 matched domain-and-seed comparisons. Preference ranking exceeds frozen NDCG@10 in 3 of 9 matched domain-and-seed comparisons. The table reports sample standard deviation across the three independent pipeline seeds. We pair changes by domain and seed because the three arms share warmup and adaptation examples for that seed. A win means a positive metric difference, not a statistical significance result. With three seeds, these differences remain descriptive. We retain results where LoRA hurts rather than replacing them with the warmup checkpoint.</a:t>
            </a:r>
          </a:p>
          <a:p xmlns:a="http://schemas.openxmlformats.org/drawingml/2006/main">
            <a:r>
              <a:t/>
            </a:r>
          </a:p>
          <a:p xmlns:a="http://schemas.openxmlformats.org/drawingml/2006/main">
            <a:r>
              <a:t>Sources</a:t>
            </a:r>
          </a:p>
          <a:p xmlns:a="http://schemas.openxmlformats.org/drawingml/2006/main">
            <a:r>
              <a:t>deliverables/results_qwen_summary.json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analysis groups targets with at most five distinct training-positive users, including zero. It asks where language representations may help when behavioural evidence is sparse. Every method still ranks the same full catalogue. The cohort mixes unseen products with products that have some interactions, so it does not establish strict item cold-start performance. The saved results retain cohort user and target counts.</a:t>
            </a:r>
          </a:p>
          <a:p xmlns:a="http://schemas.openxmlformats.org/drawingml/2006/main">
            <a:r>
              <a:t/>
            </a:r>
          </a:p>
          <a:p xmlns:a="http://schemas.openxmlformats.org/drawingml/2006/main">
            <a:r>
              <a:t>Discussion notes outside timed narration</a:t>
            </a:r>
          </a:p>
          <a:p xmlns:a="http://schemas.openxmlformats.org/drawingml/2006/main">
            <a:r>
              <a:t>We also report recommendation quality for products with at most five distinct positive users in the training period. This includes some zero-interaction products, but it combines them with products that do have training feedback. It therefore does not isolate strict item cold start. Baby: Frozen 0.0000 ± 0.0000, Semantic alignment 0.0000 ± 0.0000, Preference ranking 0.0000 ± 0.0000. Sports: Frozen 0.0002 ± 0.0001, Semantic alignment 0.0001 ± 0.0001, Preference ranking 0.0002 ± 0.0001. Clothing: Frozen 0.0003 ± 0.0000, Semantic alignment 0.0003 ± 0.0001, Preference ranking 0.0002 ± 0.0001. The cohort uses the same full candidate catalogue as the primary evaluation. Its user and target counts appear in the raw saved results. These scores address where language information might matter, while retaining the same limitations of an offline observational dataset.</a:t>
            </a:r>
          </a:p>
          <a:p xmlns:a="http://schemas.openxmlformats.org/drawingml/2006/main">
            <a:r>
              <a:t/>
            </a:r>
          </a:p>
          <a:p xmlns:a="http://schemas.openxmlformats.org/drawingml/2006/main">
            <a:r>
              <a:t>Sources</a:t>
            </a:r>
          </a:p>
          <a:p xmlns:a="http://schemas.openxmlformats.org/drawingml/2006/main">
            <a:r>
              <a:t>deliverables/results_qwen_summary.json</a:t>
            </a:r>
          </a:p>
          <a:p xmlns:a="http://schemas.openxmlformats.org/drawingml/2006/main">
            <a:r>
              <a:t>src/shoplens/qwen_evaluate.py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interface displays real product photographs and accepts a short history of liked products. We hold that history fixed while comparing the three objectives. The screen shows ranked products, rank changes and actual saved metrics. It uses compact exported vectors, so the Qwen encoder stays outside the local recommendation path. Similarities and matching text provide diagnostic evidence, rather than causal explanations. I will now briefly demonstrate the same preference history across the three columns.</a:t>
            </a:r>
          </a:p>
          <a:p xmlns:a="http://schemas.openxmlformats.org/drawingml/2006/main">
            <a:r>
              <a:t/>
            </a:r>
          </a:p>
          <a:p xmlns:a="http://schemas.openxmlformats.org/drawingml/2006/main">
            <a:r>
              <a:t>Discussion notes outside timed narration</a:t>
            </a:r>
          </a:p>
          <a:p xmlns:a="http://schemas.openxmlformats.org/drawingml/2006/main">
            <a:r>
              <a:t>The interface shows real product photographs and lets the audience choose a short preference history. The comparison keeps that history fixed across the frozen, semantic and preference arms. It displays ranked products, rank changes and saved evaluation metrics. Original baseline methods remain available as separate references. The local application loads the exported history and candidate vectors with the small ranking head, so it does not need to load the Qwen encoder to recommend. Feature similarities and matching text provide diagnostic evidence, rather than a causal explanation of the ranking. During a live demonstration, choose a few products and compare the three columns without changing the history.</a:t>
            </a:r>
          </a:p>
          <a:p xmlns:a="http://schemas.openxmlformats.org/drawingml/2006/main">
            <a:r>
              <a:t/>
            </a:r>
          </a:p>
          <a:p xmlns:a="http://schemas.openxmlformats.org/drawingml/2006/main">
            <a:r>
              <a:t>Sources</a:t>
            </a:r>
          </a:p>
          <a:p xmlns:a="http://schemas.openxmlformats.org/drawingml/2006/main">
            <a:r>
              <a:t>src/shoplens/ui.py</a:t>
            </a:r>
          </a:p>
          <a:p xmlns:a="http://schemas.openxmlformats.org/drawingml/2006/main">
            <a:r>
              <a:t>src/shoplens/qwen_inference.py</a:t>
            </a:r>
          </a:p>
          <a:p xmlns:a="http://schemas.openxmlformats.org/drawingml/2006/main">
            <a:r>
              <a:t>deliverables/assets/qwen_compare_baby.jpg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Semantic alignment exceeds frozen NDCG@10 in 2 of 9 matched domain-and-seed comparisons. Preference ranking exceeds frozen NDCG@10 in 3 of 9 matched domain-and-seed comparisons. The earlier baselines remain available, but their different architecture and budget prevent attributing a score change to Qwen alone. The domains share one Amazon source, and static catalogue metadata limits historical realism. These offline observations do not establish online conversion or broad cold-start gains. Clothing used MATH SDPA after a reproduced gradient failure. Earlier completed runs kept automatic dispatch. We claim no bitwise trajectory identity. The main contribution is a controlled comparison of semantic and preference objectives, with a reproducible local demonstration. Our references are Amazon Reviews 2014, official Qwen documentation, and the original LoRA, CLIP and BPR papers. Thank you.</a:t>
            </a:r>
          </a:p>
          <a:p xmlns:a="http://schemas.openxmlformats.org/drawingml/2006/main">
            <a:r>
              <a:t/>
            </a:r>
          </a:p>
          <a:p xmlns:a="http://schemas.openxmlformats.org/drawingml/2006/main">
            <a:r>
              <a:t>Discussion notes outside timed narration</a:t>
            </a:r>
          </a:p>
          <a:p xmlns:a="http://schemas.openxmlformats.org/drawingml/2006/main">
            <a:r>
              <a:t>The central finding is the measured relationship between a semantic objective and a preference objective. Semantic alignment exceeds frozen NDCG@10 in 2 of 9 matched domain-and-seed comparisons. Preference ranking exceeds frozen NDCG@10 in 3 of 9 matched domain-and-seed comparisons. Baby: Frozen has the highest observed mean, 0.0128. Sports: Frozen has the highest observed mean, 0.0071. Clothing: Frozen has the highest observed mean, 0.0052. We preserve the earlier six-method comparisons and independent MF budget check. Their architecture and training budget differ from this upgrade, so a score difference cannot establish that changing the text backbone alone caused an improvement. The three domains share a single Amazon source. Catalogue metadata comes from a static crawl whose historical availability is unknown. Our measurements predict recorded positive interactions and do not establish online purchase conversion. The human team must complete its genuine contribution statements and record the presentation in a real member’s voice. Thank you.</a:t>
            </a:r>
          </a:p>
          <a:p xmlns:a="http://schemas.openxmlformats.org/drawingml/2006/main">
            <a:r>
              <a:t/>
            </a:r>
          </a:p>
          <a:p xmlns:a="http://schemas.openxmlformats.org/drawingml/2006/main">
            <a:r>
              <a:t>Baby preserved TF-IDF mean NDCG@10: 0.007049 (3 records). Sports preserved TF-IDF mean NDCG@10: 0.013770 (3 records). Clothing preserved TF-IDF mean NDCG@10: 0.014282 (3 records).</a:t>
            </a:r>
          </a:p>
          <a:p xmlns:a="http://schemas.openxmlformats.org/drawingml/2006/main">
            <a:r>
              <a:t/>
            </a:r>
          </a:p>
          <a:p xmlns:a="http://schemas.openxmlformats.org/drawingml/2006/main">
            <a:r>
              <a:t>The recovery policy applies MATH SDPA only to live CUDA candidate training forward for all six Clothing LoRA units. Earlier completed Baby/Sports LoRA units keep automatic dispatch. Evaluation and cache encoding keep automatic dispatch. The objective, samples, learning rates and budget remain unchanged. The same clean state, batch and RNG reproduced nonfinite LoRA gradients under automatic dispatch, while MATH replay and a fresh prefix stayed finite. These observations do not establish a particular fused-kernel root cause, bitwise trajectory equality or a performance improvement. Cross-domain differences remain conditional on the numerical configurations.</a:t>
            </a:r>
          </a:p>
          <a:p xmlns:a="http://schemas.openxmlformats.org/drawingml/2006/main">
            <a:r>
              <a:t/>
            </a:r>
          </a:p>
          <a:p xmlns:a="http://schemas.openxmlformats.org/drawingml/2006/main">
            <a:r>
              <a:t>Primary references: Amazon Reviews 2014 data archive, Qwen3-Embedding official model card and training documentation, Hu et al. (LoRA), Radford et al. (CLIP), Rendle et al. (BPR). Full URLs appear above. Statistical significance and online evaluation remain outside this study.</a:t>
            </a:r>
          </a:p>
          <a:p xmlns:a="http://schemas.openxmlformats.org/drawingml/2006/main">
            <a:r>
              <a:t/>
            </a:r>
          </a:p>
          <a:p xmlns:a="http://schemas.openxmlformats.org/drawingml/2006/main">
            <a:r>
              <a:t>Sources</a:t>
            </a:r>
          </a:p>
          <a:p xmlns:a="http://schemas.openxmlformats.org/drawingml/2006/main">
            <a:r>
              <a:t>https://mcauleylab.ucsd.edu/public_datasets/data/amazon/datasets.html</a:t>
            </a:r>
          </a:p>
          <a:p xmlns:a="http://schemas.openxmlformats.org/drawingml/2006/main">
            <a:r>
              <a:t>https://huggingface.co/Qwen/Qwen3-Embedding-0.6B</a:t>
            </a:r>
          </a:p>
          <a:p xmlns:a="http://schemas.openxmlformats.org/drawingml/2006/main">
            <a:r>
              <a:t>https://github.com/QwenLM/Qwen3-Embedding/blob/main/docs/training/SWIFT.md</a:t>
            </a:r>
          </a:p>
          <a:p xmlns:a="http://schemas.openxmlformats.org/drawingml/2006/main">
            <a:r>
              <a:t>https://arxiv.org/abs/2106.09685</a:t>
            </a:r>
          </a:p>
          <a:p xmlns:a="http://schemas.openxmlformats.org/drawingml/2006/main">
            <a:r>
              <a:t>https://proceedings.mlr.press/v139/radford21a.html</a:t>
            </a:r>
          </a:p>
          <a:p xmlns:a="http://schemas.openxmlformats.org/drawingml/2006/main">
            <a:r>
              <a:t>https://arxiv.org/abs/1205.2618</a:t>
            </a:r>
          </a:p>
          <a:p xmlns:a="http://schemas.openxmlformats.org/drawingml/2006/main">
            <a:r>
              <a:t>deliverables/results_qwen_summary.json</a:t>
            </a:r>
          </a:p>
          <a:p xmlns:a="http://schemas.openxmlformats.org/drawingml/2006/main">
            <a:r>
              <a:t>experiments/qwen/recovery_note.json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9719503c8249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842c0b204784be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ab56384c3894e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b3d9bd0a354af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a7012a1fcf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7031360598141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5740ED-64D2-4C28-8658-7645FCC290A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DA42AD-D935-4260-958B-81963FADFD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BBB992-AD3B-4243-B7A5-0F811F0BBD0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80959C-568F-401B-A991-FE033D41A4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D578E09-083D-47A3-A63F-8E87A9EE3DD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2ACEC5-77F6-49C3-9979-1AE72A7092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3D23C7-A5A3-4F81-A2BF-54480D5A78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89C1544-85F9-44CB-B302-E59FDE226CA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EAFDD4-D96D-4217-B820-C3B7A25B3E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F0A28C-E6C9-493E-921F-91778C458A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41f9d3094e49a6" /><Relationship Type="http://schemas.openxmlformats.org/officeDocument/2006/relationships/slideLayout" Target="/ppt/slideLayouts/slideLayout1.xml" Id="R568254a778304651" /><Relationship Type="http://schemas.openxmlformats.org/officeDocument/2006/relationships/slideLayout" Target="/ppt/slideLayouts/slideLayout2.xml" Id="Re4e02046e744460d" /><Relationship Type="http://schemas.openxmlformats.org/officeDocument/2006/relationships/slideLayout" Target="/ppt/slideLayouts/slideLayout3.xml" Id="R28a56dad1f1f4797" /><Relationship Type="http://schemas.openxmlformats.org/officeDocument/2006/relationships/slideLayout" Target="/ppt/slideLayouts/slideLayout4.xml" Id="R593a90d05d514572" /><Relationship Type="http://schemas.openxmlformats.org/officeDocument/2006/relationships/slideLayout" Target="/ppt/slideLayouts/slideLayout5.xml" Id="Rce36104ae90c4977" /><Relationship Type="http://schemas.openxmlformats.org/officeDocument/2006/relationships/slideLayout" Target="/ppt/slideLayouts/slideLayout6.xml" Id="R07e5c83844c0483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8254a778304651"/>
    <p:sldLayoutId xmlns:r="http://schemas.openxmlformats.org/officeDocument/2006/relationships" id="2147483650" r:id="Re4e02046e744460d"/>
    <p:sldLayoutId xmlns:r="http://schemas.openxmlformats.org/officeDocument/2006/relationships" id="2147483651" r:id="R28a56dad1f1f4797"/>
    <p:sldLayoutId xmlns:r="http://schemas.openxmlformats.org/officeDocument/2006/relationships" id="2147483652" r:id="R593a90d05d514572"/>
    <p:sldLayoutId xmlns:r="http://schemas.openxmlformats.org/officeDocument/2006/relationships" id="2147483653" r:id="Rce36104ae90c4977"/>
    <p:sldLayoutId xmlns:r="http://schemas.openxmlformats.org/officeDocument/2006/relationships" id="2147483654" r:id="R07e5c83844c0483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779a4244a3b45b9" /><Relationship Type="http://schemas.openxmlformats.org/officeDocument/2006/relationships/notesSlide" Target="/ppt/notesSlides/notesSlide1.xml" Id="R9e6690846947486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0cfd11209824b2f" /><Relationship Type="http://schemas.openxmlformats.org/officeDocument/2006/relationships/notesSlide" Target="/ppt/notesSlides/notesSlide2.xml" Id="Ra71f56ef715342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7abc2837a243d4" /><Relationship Type="http://schemas.openxmlformats.org/officeDocument/2006/relationships/notesSlide" Target="/ppt/notesSlides/notesSlide3.xml" Id="R4803959dee7f4f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100e866b7c84508" /><Relationship Type="http://schemas.openxmlformats.org/officeDocument/2006/relationships/notesSlide" Target="/ppt/notesSlides/notesSlide4.xml" Id="R0157ac3fefda44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fc945f971464bf4" /><Relationship Type="http://schemas.openxmlformats.org/officeDocument/2006/relationships/notesSlide" Target="/ppt/notesSlides/notesSlide5.xml" Id="R5f47a307e22e4c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6fe94944d204f0a" /><Relationship Type="http://schemas.openxmlformats.org/officeDocument/2006/relationships/notesSlide" Target="/ppt/notesSlides/notesSlide6.xml" Id="R048675dc8b86453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2bbc8d4b8e24e32" /><Relationship Type="http://schemas.openxmlformats.org/officeDocument/2006/relationships/notesSlide" Target="/ppt/notesSlides/notesSlide7.xml" Id="Ra6c586a1c2e0477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da4e939579e462a" /><Relationship Type="http://schemas.openxmlformats.org/officeDocument/2006/relationships/chart" Target="/ppt/slides/charts/chart1.xml" Id="R068e32eb1e8b4231" /><Relationship Type="http://schemas.openxmlformats.org/officeDocument/2006/relationships/notesSlide" Target="/ppt/notesSlides/notesSlide8.xml" Id="R1a75ec1900e94d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eed5d446e1e4008" /><Relationship Type="http://schemas.openxmlformats.org/officeDocument/2006/relationships/notesSlide" Target="/ppt/notesSlides/notesSlide9.xml" Id="R6a5dfaff94c54e6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45deb5d8f964141" /><Relationship Type="http://schemas.openxmlformats.org/officeDocument/2006/relationships/chart" Target="/ppt/slides/charts/chart2.xml" Id="Rf077cd4313554a9d" /><Relationship Type="http://schemas.openxmlformats.org/officeDocument/2006/relationships/notesSlide" Target="/ppt/notesSlides/notesSlide10.xml" Id="Rce1558e791024db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c3085824e684587" /><Relationship Type="http://schemas.openxmlformats.org/officeDocument/2006/relationships/image" Target="/ppt/media/image.jpeg" Id="R375a05cd3de14ec6" /><Relationship Type="http://schemas.openxmlformats.org/officeDocument/2006/relationships/notesSlide" Target="/ppt/notesSlides/notesSlide11.xml" Id="R01183083a1e14b8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818b30b63d643df" /><Relationship Type="http://schemas.openxmlformats.org/officeDocument/2006/relationships/notesSlide" Target="/ppt/notesSlides/notesSlide12.xml" Id="Reb2a67485ec04ac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Frozen</c:v>
          </c:tx>
          <c:spPr>
            <a:solidFill xmlns:a="http://schemas.openxmlformats.org/drawingml/2006/main">
              <a:srgbClr val="546982"/>
            </a:solidFill>
          </c:spPr>
          <c:invertIfNegative val="0"/>
          <c:cat>
            <c:strRef>
              <c:f>'Chart Data'!$A$2:$A$4</c:f>
              <c:strCache>
                <c:ptCount val="3"/>
                <c:pt idx="0">
                  <c:v>Baby</c:v>
                </c:pt>
                <c:pt idx="1">
                  <c:v>Sports</c:v>
                </c:pt>
                <c:pt idx="2">
                  <c:v>Clothing</c:v>
                </c:pt>
              </c:strCache>
            </c:strRef>
          </c:cat>
          <c:val>
            <c:numRef>
              <c:f>'Chart Data'!$B$2:$B$4</c:f>
              <c:numCache>
                <c:formatCode>0.000</c:formatCode>
                <c:ptCount val="3"/>
                <c:pt idx="0">
                  <c:v>0.01279643</c:v>
                </c:pt>
                <c:pt idx="1">
                  <c:v>0.00711566</c:v>
                </c:pt>
                <c:pt idx="2">
                  <c:v>0.00518637</c:v>
                </c:pt>
              </c:numCache>
            </c:numRef>
          </c:val>
        </c:ser>
        <c:ser>
          <c:idx val="1"/>
          <c:order val="1"/>
          <c:tx>
            <c:v>Semantic alignment</c:v>
          </c:tx>
          <c:spPr>
            <a:solidFill xmlns:a="http://schemas.openxmlformats.org/drawingml/2006/main">
              <a:srgbClr val="347CDB"/>
            </a:solidFill>
          </c:spPr>
          <c:invertIfNegative val="0"/>
          <c:cat>
            <c:strRef>
              <c:f>'Chart Data'!$C$2:$C$4</c:f>
              <c:strCache>
                <c:ptCount val="3"/>
                <c:pt idx="0">
                  <c:v>Baby</c:v>
                </c:pt>
                <c:pt idx="1">
                  <c:v>Sports</c:v>
                </c:pt>
                <c:pt idx="2">
                  <c:v>Clothing</c:v>
                </c:pt>
              </c:strCache>
            </c:strRef>
          </c:cat>
          <c:val>
            <c:numRef>
              <c:f>'Chart Data'!$D$2:$D$4</c:f>
              <c:numCache>
                <c:formatCode>0.000</c:formatCode>
                <c:ptCount val="3"/>
                <c:pt idx="0">
                  <c:v>0.00993007</c:v>
                </c:pt>
                <c:pt idx="1">
                  <c:v>0.00687155</c:v>
                </c:pt>
                <c:pt idx="2">
                  <c:v>0.00446034</c:v>
                </c:pt>
              </c:numCache>
            </c:numRef>
          </c:val>
        </c:ser>
        <c:ser>
          <c:idx val="2"/>
          <c:order val="2"/>
          <c:tx>
            <c:v>Preference ranking</c:v>
          </c:tx>
          <c:spPr>
            <a:solidFill xmlns:a="http://schemas.openxmlformats.org/drawingml/2006/main">
              <a:srgbClr val="1A967B"/>
            </a:solidFill>
          </c:spPr>
          <c:invertIfNegative val="0"/>
          <c:cat>
            <c:strRef>
              <c:f>'Chart Data'!$E$2:$E$4</c:f>
              <c:strCache>
                <c:ptCount val="3"/>
                <c:pt idx="0">
                  <c:v>Baby</c:v>
                </c:pt>
                <c:pt idx="1">
                  <c:v>Sports</c:v>
                </c:pt>
                <c:pt idx="2">
                  <c:v>Clothing</c:v>
                </c:pt>
              </c:strCache>
            </c:strRef>
          </c:cat>
          <c:val>
            <c:numRef>
              <c:f>'Chart Data'!$F$2:$F$4</c:f>
              <c:numCache>
                <c:formatCode>0.000</c:formatCode>
                <c:ptCount val="3"/>
                <c:pt idx="0">
                  <c:v>0.01247485</c:v>
                </c:pt>
                <c:pt idx="1">
                  <c:v>0.00703934</c:v>
                </c:pt>
                <c:pt idx="2">
                  <c:v>0.00512442</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7243C"/>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DCE5E8"/>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86C7C"/>
                </a:solidFill>
                <a:latin typeface="Helvetica Neue"/>
                <a:ea typeface="Helvetica Neue"/>
                <a:cs typeface="Helvetica Neue"/>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Frozen</c:v>
          </c:tx>
          <c:spPr>
            <a:solidFill xmlns:a="http://schemas.openxmlformats.org/drawingml/2006/main">
              <a:srgbClr val="546982"/>
            </a:solidFill>
          </c:spPr>
          <c:invertIfNegative val="0"/>
          <c:cat>
            <c:strRef>
              <c:f>'Chart Data'!$A$2:$A$4</c:f>
              <c:strCache>
                <c:ptCount val="3"/>
                <c:pt idx="0">
                  <c:v>Baby</c:v>
                </c:pt>
                <c:pt idx="1">
                  <c:v>Sports</c:v>
                </c:pt>
                <c:pt idx="2">
                  <c:v>Clothing</c:v>
                </c:pt>
              </c:strCache>
            </c:strRef>
          </c:cat>
          <c:val>
            <c:numRef>
              <c:f>'Chart Data'!$B$2:$B$4</c:f>
              <c:numCache>
                <c:formatCode>0.00000</c:formatCode>
                <c:ptCount val="3"/>
                <c:pt idx="0">
                  <c:v>0</c:v>
                </c:pt>
                <c:pt idx="1">
                  <c:v>0.00016122</c:v>
                </c:pt>
                <c:pt idx="2">
                  <c:v>0.00026344</c:v>
                </c:pt>
              </c:numCache>
            </c:numRef>
          </c:val>
        </c:ser>
        <c:ser>
          <c:idx val="1"/>
          <c:order val="1"/>
          <c:tx>
            <c:v>Semantic alignment</c:v>
          </c:tx>
          <c:spPr>
            <a:solidFill xmlns:a="http://schemas.openxmlformats.org/drawingml/2006/main">
              <a:srgbClr val="347CDB"/>
            </a:solidFill>
          </c:spPr>
          <c:invertIfNegative val="0"/>
          <c:cat>
            <c:strRef>
              <c:f>'Chart Data'!$C$2:$C$4</c:f>
              <c:strCache>
                <c:ptCount val="3"/>
                <c:pt idx="0">
                  <c:v>Baby</c:v>
                </c:pt>
                <c:pt idx="1">
                  <c:v>Sports</c:v>
                </c:pt>
                <c:pt idx="2">
                  <c:v>Clothing</c:v>
                </c:pt>
              </c:strCache>
            </c:strRef>
          </c:cat>
          <c:val>
            <c:numRef>
              <c:f>'Chart Data'!$D$2:$D$4</c:f>
              <c:numCache>
                <c:formatCode>0.00000</c:formatCode>
                <c:ptCount val="3"/>
                <c:pt idx="0">
                  <c:v>0</c:v>
                </c:pt>
                <c:pt idx="1">
                  <c:v>6.233E-05</c:v>
                </c:pt>
                <c:pt idx="2">
                  <c:v>0.00025528</c:v>
                </c:pt>
              </c:numCache>
            </c:numRef>
          </c:val>
        </c:ser>
        <c:ser>
          <c:idx val="2"/>
          <c:order val="2"/>
          <c:tx>
            <c:v>Preference ranking</c:v>
          </c:tx>
          <c:spPr>
            <a:solidFill xmlns:a="http://schemas.openxmlformats.org/drawingml/2006/main">
              <a:srgbClr val="1A967B"/>
            </a:solidFill>
          </c:spPr>
          <c:invertIfNegative val="0"/>
          <c:cat>
            <c:strRef>
              <c:f>'Chart Data'!$E$2:$E$4</c:f>
              <c:strCache>
                <c:ptCount val="3"/>
                <c:pt idx="0">
                  <c:v>Baby</c:v>
                </c:pt>
                <c:pt idx="1">
                  <c:v>Sports</c:v>
                </c:pt>
                <c:pt idx="2">
                  <c:v>Clothing</c:v>
                </c:pt>
              </c:strCache>
            </c:strRef>
          </c:cat>
          <c:val>
            <c:numRef>
              <c:f>'Chart Data'!$F$2:$F$4</c:f>
              <c:numCache>
                <c:formatCode>0.00000</c:formatCode>
                <c:ptCount val="3"/>
                <c:pt idx="0">
                  <c:v>0</c:v>
                </c:pt>
                <c:pt idx="1">
                  <c:v>0.00015348</c:v>
                </c:pt>
                <c:pt idx="2">
                  <c:v>0.00022579</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7243C"/>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DCE5E8"/>
              </a:solidFill>
            </a:ln>
          </c:spPr>
        </c:majorGridlines>
        <c:numFmt formatCode="0.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86C7C"/>
                </a:solidFill>
                <a:latin typeface="Helvetica Neue"/>
                <a:ea typeface="Helvetica Neue"/>
                <a:cs typeface="Helvetica Neue"/>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43C"/>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200BDFE5-4909-4C7D-8115-99D4BF976E25}"/>
              </a:ext>
            </a:extLst>
          </p:cNvPr>
          <p:cNvSpPr>
            <a:spLocks xmlns:a="http://schemas.openxmlformats.org/drawingml/2006/main" noGrp="1"/>
          </p:cNvSpPr>
          <p:nvPr/>
        </p:nvSpPr>
        <p:spPr>
          <a:xfrm xmlns:a="http://schemas.openxmlformats.org/drawingml/2006/main">
            <a:off x="723900" y="11239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225" b="1">
                <a:solidFill>
                  <a:srgbClr val="FFFFFF"/>
                </a:solidFill>
                <a:latin typeface="Helvetica Neue"/>
                <a:ea typeface="Helvetica Neue"/>
                <a:cs typeface="Helvetica Neue"/>
              </a:defRPr>
            </a:defPPr>
            <a:lvl1pPr>
              <a:defRPr sz="6225" b="1">
                <a:solidFill>
                  <a:srgbClr val="FFFFFF"/>
                </a:solidFill>
                <a:latin typeface="Helvetica Neue"/>
                <a:ea typeface="Helvetica Neue"/>
                <a:cs typeface="Helvetica Neue"/>
              </a:defRPr>
            </a:lvl1pPr>
            <a:lvl2pPr>
              <a:defRPr sz="6225" b="1">
                <a:solidFill>
                  <a:srgbClr val="FFFFFF"/>
                </a:solidFill>
                <a:latin typeface="Helvetica Neue"/>
                <a:ea typeface="Helvetica Neue"/>
                <a:cs typeface="Helvetica Neue"/>
              </a:defRPr>
            </a:lvl2pPr>
            <a:lvl3pPr>
              <a:defRPr sz="6225" b="1">
                <a:solidFill>
                  <a:srgbClr val="FFFFFF"/>
                </a:solidFill>
                <a:latin typeface="Helvetica Neue"/>
                <a:ea typeface="Helvetica Neue"/>
                <a:cs typeface="Helvetica Neue"/>
              </a:defRPr>
            </a:lvl3pPr>
            <a:lvl4pPr>
              <a:defRPr sz="6225" b="1">
                <a:solidFill>
                  <a:srgbClr val="FFFFFF"/>
                </a:solidFill>
                <a:latin typeface="Helvetica Neue"/>
                <a:ea typeface="Helvetica Neue"/>
                <a:cs typeface="Helvetica Neue"/>
              </a:defRPr>
            </a:lvl4pPr>
            <a:lvl5pPr>
              <a:defRPr sz="6225" b="1">
                <a:solidFill>
                  <a:srgbClr val="FFFFFF"/>
                </a:solidFill>
                <a:latin typeface="Helvetica Neue"/>
                <a:ea typeface="Helvetica Neue"/>
                <a:cs typeface="Helvetica Neue"/>
              </a:defRPr>
            </a:lvl5pPr>
            <a:lvl6pPr>
              <a:defRPr sz="6225" b="1">
                <a:solidFill>
                  <a:srgbClr val="FFFFFF"/>
                </a:solidFill>
                <a:latin typeface="Helvetica Neue"/>
                <a:ea typeface="Helvetica Neue"/>
                <a:cs typeface="Helvetica Neue"/>
              </a:defRPr>
            </a:lvl6pPr>
            <a:lvl7pPr>
              <a:defRPr sz="6225" b="1">
                <a:solidFill>
                  <a:srgbClr val="FFFFFF"/>
                </a:solidFill>
                <a:latin typeface="Helvetica Neue"/>
                <a:ea typeface="Helvetica Neue"/>
                <a:cs typeface="Helvetica Neue"/>
              </a:defRPr>
            </a:lvl7pPr>
            <a:lvl8pPr>
              <a:defRPr sz="6225" b="1">
                <a:solidFill>
                  <a:srgbClr val="FFFFFF"/>
                </a:solidFill>
                <a:latin typeface="Helvetica Neue"/>
                <a:ea typeface="Helvetica Neue"/>
                <a:cs typeface="Helvetica Neue"/>
              </a:defRPr>
            </a:lvl8pPr>
            <a:lvl9pPr>
              <a:defRPr sz="6225" b="1">
                <a:solidFill>
                  <a:srgbClr val="FFFFFF"/>
                </a:solidFill>
                <a:latin typeface="Helvetica Neue"/>
                <a:ea typeface="Helvetica Neue"/>
                <a:cs typeface="Helvetica Neue"/>
              </a:defRPr>
            </a:lvl9pPr>
          </a:lstStyle>
          <a:p xmlns:a="http://schemas.openxmlformats.org/drawingml/2006/main">
            <a:pPr>
              <a:defRPr sz="6225" b="1">
                <a:solidFill>
                  <a:srgbClr val="FFFFFF"/>
                </a:solidFill>
                <a:latin typeface="Helvetica Neue"/>
                <a:ea typeface="Helvetica Neue"/>
                <a:cs typeface="Helvetica Neue"/>
              </a:defRPr>
            </a:pPr>
            <a:r>
              <a:rPr sz="6225" b="1">
                <a:solidFill>
                  <a:srgbClr val="FFFFFF"/>
                </a:solidFill>
                <a:latin typeface="Helvetica Neue"/>
                <a:ea typeface="Helvetica Neue"/>
                <a:cs typeface="Helvetica Neue"/>
              </a:rPr>
              <a:t>ShopLens</a:t>
            </a:r>
          </a:p>
        </p:txBody>
      </p:sp>
      <p:sp>
        <p:nvSpPr>
          <p:cNvPr id="2" name="text-2">
            <a:extLst xmlns:a="http://schemas.openxmlformats.org/drawingml/2006/main">
              <a:ext uri="{FF2B5EF4-FFF2-40B4-BE49-F238E27FC236}">
                <a16:creationId xmlns:a16="http://schemas.microsoft.com/office/drawing/2014/main" id="{F2915BC1-8E39-4B71-88C8-60CA0EBA9901}"/>
              </a:ext>
            </a:extLst>
          </p:cNvPr>
          <p:cNvSpPr>
            <a:spLocks xmlns:a="http://schemas.openxmlformats.org/drawingml/2006/main" noGrp="1"/>
          </p:cNvSpPr>
          <p:nvPr/>
        </p:nvSpPr>
        <p:spPr>
          <a:xfrm xmlns:a="http://schemas.openxmlformats.org/drawingml/2006/main">
            <a:off x="742950" y="26860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750" b="0">
                <a:solidFill>
                  <a:srgbClr val="FFFFFF"/>
                </a:solidFill>
                <a:latin typeface="Helvetica Neue"/>
                <a:ea typeface="Helvetica Neue"/>
                <a:cs typeface="Helvetica Neue"/>
              </a:defRPr>
            </a:defPPr>
            <a:lvl1pPr>
              <a:defRPr sz="3750" b="0">
                <a:solidFill>
                  <a:srgbClr val="FFFFFF"/>
                </a:solidFill>
                <a:latin typeface="Helvetica Neue"/>
                <a:ea typeface="Helvetica Neue"/>
                <a:cs typeface="Helvetica Neue"/>
              </a:defRPr>
            </a:lvl1pPr>
            <a:lvl2pPr>
              <a:defRPr sz="3750" b="0">
                <a:solidFill>
                  <a:srgbClr val="FFFFFF"/>
                </a:solidFill>
                <a:latin typeface="Helvetica Neue"/>
                <a:ea typeface="Helvetica Neue"/>
                <a:cs typeface="Helvetica Neue"/>
              </a:defRPr>
            </a:lvl2pPr>
            <a:lvl3pPr>
              <a:defRPr sz="3750" b="0">
                <a:solidFill>
                  <a:srgbClr val="FFFFFF"/>
                </a:solidFill>
                <a:latin typeface="Helvetica Neue"/>
                <a:ea typeface="Helvetica Neue"/>
                <a:cs typeface="Helvetica Neue"/>
              </a:defRPr>
            </a:lvl3pPr>
            <a:lvl4pPr>
              <a:defRPr sz="3750" b="0">
                <a:solidFill>
                  <a:srgbClr val="FFFFFF"/>
                </a:solidFill>
                <a:latin typeface="Helvetica Neue"/>
                <a:ea typeface="Helvetica Neue"/>
                <a:cs typeface="Helvetica Neue"/>
              </a:defRPr>
            </a:lvl4pPr>
            <a:lvl5pPr>
              <a:defRPr sz="3750" b="0">
                <a:solidFill>
                  <a:srgbClr val="FFFFFF"/>
                </a:solidFill>
                <a:latin typeface="Helvetica Neue"/>
                <a:ea typeface="Helvetica Neue"/>
                <a:cs typeface="Helvetica Neue"/>
              </a:defRPr>
            </a:lvl5pPr>
            <a:lvl6pPr>
              <a:defRPr sz="3750" b="0">
                <a:solidFill>
                  <a:srgbClr val="FFFFFF"/>
                </a:solidFill>
                <a:latin typeface="Helvetica Neue"/>
                <a:ea typeface="Helvetica Neue"/>
                <a:cs typeface="Helvetica Neue"/>
              </a:defRPr>
            </a:lvl6pPr>
            <a:lvl7pPr>
              <a:defRPr sz="3750" b="0">
                <a:solidFill>
                  <a:srgbClr val="FFFFFF"/>
                </a:solidFill>
                <a:latin typeface="Helvetica Neue"/>
                <a:ea typeface="Helvetica Neue"/>
                <a:cs typeface="Helvetica Neue"/>
              </a:defRPr>
            </a:lvl7pPr>
            <a:lvl8pPr>
              <a:defRPr sz="3750" b="0">
                <a:solidFill>
                  <a:srgbClr val="FFFFFF"/>
                </a:solidFill>
                <a:latin typeface="Helvetica Neue"/>
                <a:ea typeface="Helvetica Neue"/>
                <a:cs typeface="Helvetica Neue"/>
              </a:defRPr>
            </a:lvl8pPr>
            <a:lvl9pPr>
              <a:defRPr sz="3750" b="0">
                <a:solidFill>
                  <a:srgbClr val="FFFFFF"/>
                </a:solidFill>
                <a:latin typeface="Helvetica Neue"/>
                <a:ea typeface="Helvetica Neue"/>
                <a:cs typeface="Helvetica Neue"/>
              </a:defRPr>
            </a:lvl9pPr>
          </a:lstStyle>
          <a:p xmlns:a="http://schemas.openxmlformats.org/drawingml/2006/main">
            <a:pPr>
              <a:defRPr sz="3750" b="0">
                <a:solidFill>
                  <a:srgbClr val="FFFFFF"/>
                </a:solidFill>
                <a:latin typeface="Helvetica Neue"/>
                <a:ea typeface="Helvetica Neue"/>
                <a:cs typeface="Helvetica Neue"/>
              </a:defRPr>
            </a:pPr>
            <a:r>
              <a:rPr sz="3750" b="0">
                <a:solidFill>
                  <a:srgbClr val="FFFFFF"/>
                </a:solidFill>
                <a:latin typeface="Helvetica Neue"/>
                <a:ea typeface="Helvetica Neue"/>
                <a:cs typeface="Helvetica Neue"/>
              </a:rPr>
              <a:t>Language adaptation for</a:t>
            </a:r>
          </a:p>
          <a:p xmlns:a="http://schemas.openxmlformats.org/drawingml/2006/main">
            <a:pPr>
              <a:defRPr sz="3750" b="0">
                <a:solidFill>
                  <a:srgbClr val="FFFFFF"/>
                </a:solidFill>
                <a:latin typeface="Helvetica Neue"/>
                <a:ea typeface="Helvetica Neue"/>
                <a:cs typeface="Helvetica Neue"/>
              </a:defRPr>
            </a:pPr>
            <a:r>
              <a:rPr sz="3750" b="0">
                <a:solidFill>
                  <a:srgbClr val="FFFFFF"/>
                </a:solidFill>
                <a:latin typeface="Helvetica Neue"/>
                <a:ea typeface="Helvetica Neue"/>
                <a:cs typeface="Helvetica Neue"/>
              </a:rPr>
              <a:t>multimodal recommendation</a:t>
            </a:r>
          </a:p>
        </p:txBody>
      </p:sp>
      <p:sp>
        <p:nvSpPr>
          <p:cNvPr id="3" name="text-3">
            <a:extLst xmlns:a="http://schemas.openxmlformats.org/drawingml/2006/main">
              <a:ext uri="{FF2B5EF4-FFF2-40B4-BE49-F238E27FC236}">
                <a16:creationId xmlns:a16="http://schemas.microsoft.com/office/drawing/2014/main" id="{2AD5F800-5297-403D-A5A2-FC4434C49A99}"/>
              </a:ext>
            </a:extLst>
          </p:cNvPr>
          <p:cNvSpPr>
            <a:spLocks xmlns:a="http://schemas.openxmlformats.org/drawingml/2006/main" noGrp="1"/>
          </p:cNvSpPr>
          <p:nvPr/>
        </p:nvSpPr>
        <p:spPr>
          <a:xfrm xmlns:a="http://schemas.openxmlformats.org/drawingml/2006/main">
            <a:off x="762000" y="48291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A4E0D9"/>
                </a:solidFill>
                <a:latin typeface="Helvetica Neue"/>
                <a:ea typeface="Helvetica Neue"/>
                <a:cs typeface="Helvetica Neue"/>
              </a:defRPr>
            </a:defPPr>
            <a:lvl1pPr>
              <a:defRPr sz="2250" b="0">
                <a:solidFill>
                  <a:srgbClr val="A4E0D9"/>
                </a:solidFill>
                <a:latin typeface="Helvetica Neue"/>
                <a:ea typeface="Helvetica Neue"/>
                <a:cs typeface="Helvetica Neue"/>
              </a:defRPr>
            </a:lvl1pPr>
            <a:lvl2pPr>
              <a:defRPr sz="2250" b="0">
                <a:solidFill>
                  <a:srgbClr val="A4E0D9"/>
                </a:solidFill>
                <a:latin typeface="Helvetica Neue"/>
                <a:ea typeface="Helvetica Neue"/>
                <a:cs typeface="Helvetica Neue"/>
              </a:defRPr>
            </a:lvl2pPr>
            <a:lvl3pPr>
              <a:defRPr sz="2250" b="0">
                <a:solidFill>
                  <a:srgbClr val="A4E0D9"/>
                </a:solidFill>
                <a:latin typeface="Helvetica Neue"/>
                <a:ea typeface="Helvetica Neue"/>
                <a:cs typeface="Helvetica Neue"/>
              </a:defRPr>
            </a:lvl3pPr>
            <a:lvl4pPr>
              <a:defRPr sz="2250" b="0">
                <a:solidFill>
                  <a:srgbClr val="A4E0D9"/>
                </a:solidFill>
                <a:latin typeface="Helvetica Neue"/>
                <a:ea typeface="Helvetica Neue"/>
                <a:cs typeface="Helvetica Neue"/>
              </a:defRPr>
            </a:lvl4pPr>
            <a:lvl5pPr>
              <a:defRPr sz="2250" b="0">
                <a:solidFill>
                  <a:srgbClr val="A4E0D9"/>
                </a:solidFill>
                <a:latin typeface="Helvetica Neue"/>
                <a:ea typeface="Helvetica Neue"/>
                <a:cs typeface="Helvetica Neue"/>
              </a:defRPr>
            </a:lvl5pPr>
            <a:lvl6pPr>
              <a:defRPr sz="2250" b="0">
                <a:solidFill>
                  <a:srgbClr val="A4E0D9"/>
                </a:solidFill>
                <a:latin typeface="Helvetica Neue"/>
                <a:ea typeface="Helvetica Neue"/>
                <a:cs typeface="Helvetica Neue"/>
              </a:defRPr>
            </a:lvl6pPr>
            <a:lvl7pPr>
              <a:defRPr sz="2250" b="0">
                <a:solidFill>
                  <a:srgbClr val="A4E0D9"/>
                </a:solidFill>
                <a:latin typeface="Helvetica Neue"/>
                <a:ea typeface="Helvetica Neue"/>
                <a:cs typeface="Helvetica Neue"/>
              </a:defRPr>
            </a:lvl7pPr>
            <a:lvl8pPr>
              <a:defRPr sz="2250" b="0">
                <a:solidFill>
                  <a:srgbClr val="A4E0D9"/>
                </a:solidFill>
                <a:latin typeface="Helvetica Neue"/>
                <a:ea typeface="Helvetica Neue"/>
                <a:cs typeface="Helvetica Neue"/>
              </a:defRPr>
            </a:lvl8pPr>
            <a:lvl9pPr>
              <a:defRPr sz="2250" b="0">
                <a:solidFill>
                  <a:srgbClr val="A4E0D9"/>
                </a:solidFill>
                <a:latin typeface="Helvetica Neue"/>
                <a:ea typeface="Helvetica Neue"/>
                <a:cs typeface="Helvetica Neue"/>
              </a:defRPr>
            </a:lvl9pPr>
          </a:lstStyle>
          <a:p xmlns:a="http://schemas.openxmlformats.org/drawingml/2006/main">
            <a:pPr>
              <a:defRPr sz="2250" b="0">
                <a:solidFill>
                  <a:srgbClr val="A4E0D9"/>
                </a:solidFill>
                <a:latin typeface="Helvetica Neue"/>
                <a:ea typeface="Helvetica Neue"/>
                <a:cs typeface="Helvetica Neue"/>
              </a:defRPr>
            </a:pPr>
            <a:r>
              <a:rPr sz="2250" b="0">
                <a:solidFill>
                  <a:srgbClr val="A4E0D9"/>
                </a:solidFill>
                <a:latin typeface="Helvetica Neue"/>
                <a:ea typeface="Helvetica Neue"/>
                <a:cs typeface="Helvetica Neue"/>
              </a:rPr>
              <a:t>Qwen3-Embedding-0.6B with LoRA</a:t>
            </a:r>
          </a:p>
        </p:txBody>
      </p:sp>
      <p:sp>
        <p:nvSpPr>
          <p:cNvPr id="4" name="text-4">
            <a:extLst xmlns:a="http://schemas.openxmlformats.org/drawingml/2006/main">
              <a:ext uri="{FF2B5EF4-FFF2-40B4-BE49-F238E27FC236}">
                <a16:creationId xmlns:a16="http://schemas.microsoft.com/office/drawing/2014/main" id="{5CF9F6CD-DE8A-49C7-B7ED-29FC3880EC13}"/>
              </a:ext>
            </a:extLst>
          </p:cNvPr>
          <p:cNvSpPr>
            <a:spLocks xmlns:a="http://schemas.openxmlformats.org/drawingml/2006/main" noGrp="1"/>
          </p:cNvSpPr>
          <p:nvPr/>
        </p:nvSpPr>
        <p:spPr>
          <a:xfrm xmlns:a="http://schemas.openxmlformats.org/drawingml/2006/main">
            <a:off x="762000" y="57340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CBD9E1"/>
                </a:solidFill>
                <a:latin typeface="Helvetica Neue"/>
                <a:ea typeface="Helvetica Neue"/>
                <a:cs typeface="Helvetica Neue"/>
              </a:defRPr>
            </a:defPPr>
            <a:lvl1pPr>
              <a:defRPr sz="1725" b="0">
                <a:solidFill>
                  <a:srgbClr val="CBD9E1"/>
                </a:solidFill>
                <a:latin typeface="Helvetica Neue"/>
                <a:ea typeface="Helvetica Neue"/>
                <a:cs typeface="Helvetica Neue"/>
              </a:defRPr>
            </a:lvl1pPr>
            <a:lvl2pPr>
              <a:defRPr sz="1725" b="0">
                <a:solidFill>
                  <a:srgbClr val="CBD9E1"/>
                </a:solidFill>
                <a:latin typeface="Helvetica Neue"/>
                <a:ea typeface="Helvetica Neue"/>
                <a:cs typeface="Helvetica Neue"/>
              </a:defRPr>
            </a:lvl2pPr>
            <a:lvl3pPr>
              <a:defRPr sz="1725" b="0">
                <a:solidFill>
                  <a:srgbClr val="CBD9E1"/>
                </a:solidFill>
                <a:latin typeface="Helvetica Neue"/>
                <a:ea typeface="Helvetica Neue"/>
                <a:cs typeface="Helvetica Neue"/>
              </a:defRPr>
            </a:lvl3pPr>
            <a:lvl4pPr>
              <a:defRPr sz="1725" b="0">
                <a:solidFill>
                  <a:srgbClr val="CBD9E1"/>
                </a:solidFill>
                <a:latin typeface="Helvetica Neue"/>
                <a:ea typeface="Helvetica Neue"/>
                <a:cs typeface="Helvetica Neue"/>
              </a:defRPr>
            </a:lvl4pPr>
            <a:lvl5pPr>
              <a:defRPr sz="1725" b="0">
                <a:solidFill>
                  <a:srgbClr val="CBD9E1"/>
                </a:solidFill>
                <a:latin typeface="Helvetica Neue"/>
                <a:ea typeface="Helvetica Neue"/>
                <a:cs typeface="Helvetica Neue"/>
              </a:defRPr>
            </a:lvl5pPr>
            <a:lvl6pPr>
              <a:defRPr sz="1725" b="0">
                <a:solidFill>
                  <a:srgbClr val="CBD9E1"/>
                </a:solidFill>
                <a:latin typeface="Helvetica Neue"/>
                <a:ea typeface="Helvetica Neue"/>
                <a:cs typeface="Helvetica Neue"/>
              </a:defRPr>
            </a:lvl6pPr>
            <a:lvl7pPr>
              <a:defRPr sz="1725" b="0">
                <a:solidFill>
                  <a:srgbClr val="CBD9E1"/>
                </a:solidFill>
                <a:latin typeface="Helvetica Neue"/>
                <a:ea typeface="Helvetica Neue"/>
                <a:cs typeface="Helvetica Neue"/>
              </a:defRPr>
            </a:lvl7pPr>
            <a:lvl8pPr>
              <a:defRPr sz="1725" b="0">
                <a:solidFill>
                  <a:srgbClr val="CBD9E1"/>
                </a:solidFill>
                <a:latin typeface="Helvetica Neue"/>
                <a:ea typeface="Helvetica Neue"/>
                <a:cs typeface="Helvetica Neue"/>
              </a:defRPr>
            </a:lvl8pPr>
            <a:lvl9pPr>
              <a:defRPr sz="1725" b="0">
                <a:solidFill>
                  <a:srgbClr val="CBD9E1"/>
                </a:solidFill>
                <a:latin typeface="Helvetica Neue"/>
                <a:ea typeface="Helvetica Neue"/>
                <a:cs typeface="Helvetica Neue"/>
              </a:defRPr>
            </a:lvl9pPr>
          </a:lstStyle>
          <a:p xmlns:a="http://schemas.openxmlformats.org/drawingml/2006/main">
            <a:pPr>
              <a:defRPr sz="1725" b="0">
                <a:solidFill>
                  <a:srgbClr val="CBD9E1"/>
                </a:solidFill>
                <a:latin typeface="Helvetica Neue"/>
                <a:ea typeface="Helvetica Neue"/>
                <a:cs typeface="Helvetica Neue"/>
              </a:defRPr>
            </a:pPr>
            <a:r>
              <a:rPr sz="1725" b="0">
                <a:solidFill>
                  <a:srgbClr val="CBD9E1"/>
                </a:solidFill>
                <a:latin typeface="Helvetica Neue"/>
                <a:ea typeface="Helvetica Neue"/>
                <a:cs typeface="Helvetica Neue"/>
              </a:rPr>
              <a:t>EE6405 Natural Language Processing</a:t>
            </a:r>
          </a:p>
        </p:txBody>
      </p:sp>
    </p:spTree>
    <p:extLst>
      <p:ext uri="{BB962C8B-B14F-4D97-AF65-F5344CB8AC3E}">
        <p14:creationId xmlns:p14="http://schemas.microsoft.com/office/powerpoint/2010/main" val="611703333"/>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9" name="text-5">
            <a:extLst xmlns:a="http://schemas.openxmlformats.org/drawingml/2006/main">
              <a:ext uri="{FF2B5EF4-FFF2-40B4-BE49-F238E27FC236}">
                <a16:creationId xmlns:a16="http://schemas.microsoft.com/office/drawing/2014/main" id="{0A89D335-54BC-48A5-8B3C-68A451EA8838}"/>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Semantic alignment and preference ranking</a:t>
            </a:r>
          </a:p>
        </p:txBody>
      </p:sp>
      <p:sp>
        <p:nvSpPr>
          <p:cNvPr id="2" name="text-6">
            <a:extLst xmlns:a="http://schemas.openxmlformats.org/drawingml/2006/main">
              <a:ext uri="{FF2B5EF4-FFF2-40B4-BE49-F238E27FC236}">
                <a16:creationId xmlns:a16="http://schemas.microsoft.com/office/drawing/2014/main" id="{94A8DDB7-CB78-4BC9-A1AB-F6F3A6871813}"/>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02  ShopLens</a:t>
            </a:r>
          </a:p>
        </p:txBody>
      </p:sp>
      <p:sp>
        <p:nvSpPr>
          <p:cNvPr id="3" name="text-7">
            <a:extLst xmlns:a="http://schemas.openxmlformats.org/drawingml/2006/main">
              <a:ext uri="{FF2B5EF4-FFF2-40B4-BE49-F238E27FC236}">
                <a16:creationId xmlns:a16="http://schemas.microsoft.com/office/drawing/2014/main" id="{C81B6D45-9FA8-45E9-95C8-3EDF695A8CDE}"/>
              </a:ext>
            </a:extLst>
          </p:cNvPr>
          <p:cNvSpPr>
            <a:spLocks xmlns:a="http://schemas.openxmlformats.org/drawingml/2006/main" noGrp="1"/>
          </p:cNvSpPr>
          <p:nvPr/>
        </p:nvSpPr>
        <p:spPr>
          <a:xfrm xmlns:a="http://schemas.openxmlformats.org/drawingml/2006/main">
            <a:off x="723900" y="1800225"/>
            <a:ext cx="10668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17243C"/>
                </a:solidFill>
                <a:latin typeface="Helvetica Neue"/>
                <a:ea typeface="Helvetica Neue"/>
                <a:cs typeface="Helvetica Neue"/>
              </a:defRPr>
            </a:defPPr>
            <a:lvl1pPr>
              <a:defRPr sz="2925" b="1">
                <a:solidFill>
                  <a:srgbClr val="17243C"/>
                </a:solidFill>
                <a:latin typeface="Helvetica Neue"/>
                <a:ea typeface="Helvetica Neue"/>
                <a:cs typeface="Helvetica Neue"/>
              </a:defRPr>
            </a:lvl1pPr>
            <a:lvl2pPr>
              <a:defRPr sz="2925" b="1">
                <a:solidFill>
                  <a:srgbClr val="17243C"/>
                </a:solidFill>
                <a:latin typeface="Helvetica Neue"/>
                <a:ea typeface="Helvetica Neue"/>
                <a:cs typeface="Helvetica Neue"/>
              </a:defRPr>
            </a:lvl2pPr>
            <a:lvl3pPr>
              <a:defRPr sz="2925" b="1">
                <a:solidFill>
                  <a:srgbClr val="17243C"/>
                </a:solidFill>
                <a:latin typeface="Helvetica Neue"/>
                <a:ea typeface="Helvetica Neue"/>
                <a:cs typeface="Helvetica Neue"/>
              </a:defRPr>
            </a:lvl3pPr>
            <a:lvl4pPr>
              <a:defRPr sz="2925" b="1">
                <a:solidFill>
                  <a:srgbClr val="17243C"/>
                </a:solidFill>
                <a:latin typeface="Helvetica Neue"/>
                <a:ea typeface="Helvetica Neue"/>
                <a:cs typeface="Helvetica Neue"/>
              </a:defRPr>
            </a:lvl4pPr>
            <a:lvl5pPr>
              <a:defRPr sz="2925" b="1">
                <a:solidFill>
                  <a:srgbClr val="17243C"/>
                </a:solidFill>
                <a:latin typeface="Helvetica Neue"/>
                <a:ea typeface="Helvetica Neue"/>
                <a:cs typeface="Helvetica Neue"/>
              </a:defRPr>
            </a:lvl5pPr>
            <a:lvl6pPr>
              <a:defRPr sz="2925" b="1">
                <a:solidFill>
                  <a:srgbClr val="17243C"/>
                </a:solidFill>
                <a:latin typeface="Helvetica Neue"/>
                <a:ea typeface="Helvetica Neue"/>
                <a:cs typeface="Helvetica Neue"/>
              </a:defRPr>
            </a:lvl6pPr>
            <a:lvl7pPr>
              <a:defRPr sz="2925" b="1">
                <a:solidFill>
                  <a:srgbClr val="17243C"/>
                </a:solidFill>
                <a:latin typeface="Helvetica Neue"/>
                <a:ea typeface="Helvetica Neue"/>
                <a:cs typeface="Helvetica Neue"/>
              </a:defRPr>
            </a:lvl7pPr>
            <a:lvl8pPr>
              <a:defRPr sz="2925" b="1">
                <a:solidFill>
                  <a:srgbClr val="17243C"/>
                </a:solidFill>
                <a:latin typeface="Helvetica Neue"/>
                <a:ea typeface="Helvetica Neue"/>
                <a:cs typeface="Helvetica Neue"/>
              </a:defRPr>
            </a:lvl8pPr>
            <a:lvl9pPr>
              <a:defRPr sz="2925" b="1">
                <a:solidFill>
                  <a:srgbClr val="17243C"/>
                </a:solidFill>
                <a:latin typeface="Helvetica Neue"/>
                <a:ea typeface="Helvetica Neue"/>
                <a:cs typeface="Helvetica Neue"/>
              </a:defRPr>
            </a:lvl9pPr>
          </a:lstStyle>
          <a:p xmlns:a="http://schemas.openxmlformats.org/drawingml/2006/main">
            <a:pPr>
              <a:defRPr sz="2925" b="1">
                <a:solidFill>
                  <a:srgbClr val="17243C"/>
                </a:solidFill>
                <a:latin typeface="Helvetica Neue"/>
                <a:ea typeface="Helvetica Neue"/>
                <a:cs typeface="Helvetica Neue"/>
              </a:defRPr>
            </a:pPr>
            <a:r>
              <a:rPr sz="2925" b="1">
                <a:solidFill>
                  <a:srgbClr val="17243C"/>
                </a:solidFill>
                <a:latin typeface="Helvetica Neue"/>
                <a:ea typeface="Helvetica Neue"/>
                <a:cs typeface="Helvetica Neue"/>
              </a:rPr>
              <a:t>Does matching review language to product descriptions</a:t>
            </a:r>
          </a:p>
          <a:p xmlns:a="http://schemas.openxmlformats.org/drawingml/2006/main">
            <a:pPr>
              <a:defRPr sz="2925" b="1">
                <a:solidFill>
                  <a:srgbClr val="17243C"/>
                </a:solidFill>
                <a:latin typeface="Helvetica Neue"/>
                <a:ea typeface="Helvetica Neue"/>
                <a:cs typeface="Helvetica Neue"/>
              </a:defRPr>
            </a:pPr>
            <a:r>
              <a:rPr sz="2925" b="1">
                <a:solidFill>
                  <a:srgbClr val="17243C"/>
                </a:solidFill>
                <a:latin typeface="Helvetica Neue"/>
                <a:ea typeface="Helvetica Neue"/>
                <a:cs typeface="Helvetica Neue"/>
              </a:rPr>
              <a:t>improve the products we recommend?</a:t>
            </a:r>
          </a:p>
        </p:txBody>
      </p:sp>
      <p:sp>
        <p:nvSpPr>
          <p:cNvPr id="4" name="text-8">
            <a:extLst xmlns:a="http://schemas.openxmlformats.org/drawingml/2006/main">
              <a:ext uri="{FF2B5EF4-FFF2-40B4-BE49-F238E27FC236}">
                <a16:creationId xmlns:a16="http://schemas.microsoft.com/office/drawing/2014/main" id="{2052C485-BFB1-4BD8-908B-3B2A9D080179}"/>
              </a:ext>
            </a:extLst>
          </p:cNvPr>
          <p:cNvSpPr>
            <a:spLocks xmlns:a="http://schemas.openxmlformats.org/drawingml/2006/main" noGrp="1"/>
          </p:cNvSpPr>
          <p:nvPr/>
        </p:nvSpPr>
        <p:spPr>
          <a:xfrm xmlns:a="http://schemas.openxmlformats.org/drawingml/2006/main">
            <a:off x="723900" y="3552825"/>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347CDB"/>
                </a:solidFill>
                <a:latin typeface="Helvetica Neue"/>
                <a:ea typeface="Helvetica Neue"/>
                <a:cs typeface="Helvetica Neue"/>
              </a:defRPr>
            </a:defPPr>
            <a:lvl1pPr>
              <a:defRPr sz="2325" b="1">
                <a:solidFill>
                  <a:srgbClr val="347CDB"/>
                </a:solidFill>
                <a:latin typeface="Helvetica Neue"/>
                <a:ea typeface="Helvetica Neue"/>
                <a:cs typeface="Helvetica Neue"/>
              </a:defRPr>
            </a:lvl1pPr>
            <a:lvl2pPr>
              <a:defRPr sz="2325" b="1">
                <a:solidFill>
                  <a:srgbClr val="347CDB"/>
                </a:solidFill>
                <a:latin typeface="Helvetica Neue"/>
                <a:ea typeface="Helvetica Neue"/>
                <a:cs typeface="Helvetica Neue"/>
              </a:defRPr>
            </a:lvl2pPr>
            <a:lvl3pPr>
              <a:defRPr sz="2325" b="1">
                <a:solidFill>
                  <a:srgbClr val="347CDB"/>
                </a:solidFill>
                <a:latin typeface="Helvetica Neue"/>
                <a:ea typeface="Helvetica Neue"/>
                <a:cs typeface="Helvetica Neue"/>
              </a:defRPr>
            </a:lvl3pPr>
            <a:lvl4pPr>
              <a:defRPr sz="2325" b="1">
                <a:solidFill>
                  <a:srgbClr val="347CDB"/>
                </a:solidFill>
                <a:latin typeface="Helvetica Neue"/>
                <a:ea typeface="Helvetica Neue"/>
                <a:cs typeface="Helvetica Neue"/>
              </a:defRPr>
            </a:lvl4pPr>
            <a:lvl5pPr>
              <a:defRPr sz="2325" b="1">
                <a:solidFill>
                  <a:srgbClr val="347CDB"/>
                </a:solidFill>
                <a:latin typeface="Helvetica Neue"/>
                <a:ea typeface="Helvetica Neue"/>
                <a:cs typeface="Helvetica Neue"/>
              </a:defRPr>
            </a:lvl5pPr>
            <a:lvl6pPr>
              <a:defRPr sz="2325" b="1">
                <a:solidFill>
                  <a:srgbClr val="347CDB"/>
                </a:solidFill>
                <a:latin typeface="Helvetica Neue"/>
                <a:ea typeface="Helvetica Neue"/>
                <a:cs typeface="Helvetica Neue"/>
              </a:defRPr>
            </a:lvl6pPr>
            <a:lvl7pPr>
              <a:defRPr sz="2325" b="1">
                <a:solidFill>
                  <a:srgbClr val="347CDB"/>
                </a:solidFill>
                <a:latin typeface="Helvetica Neue"/>
                <a:ea typeface="Helvetica Neue"/>
                <a:cs typeface="Helvetica Neue"/>
              </a:defRPr>
            </a:lvl7pPr>
            <a:lvl8pPr>
              <a:defRPr sz="2325" b="1">
                <a:solidFill>
                  <a:srgbClr val="347CDB"/>
                </a:solidFill>
                <a:latin typeface="Helvetica Neue"/>
                <a:ea typeface="Helvetica Neue"/>
                <a:cs typeface="Helvetica Neue"/>
              </a:defRPr>
            </a:lvl8pPr>
            <a:lvl9pPr>
              <a:defRPr sz="2325" b="1">
                <a:solidFill>
                  <a:srgbClr val="347CDB"/>
                </a:solidFill>
                <a:latin typeface="Helvetica Neue"/>
                <a:ea typeface="Helvetica Neue"/>
                <a:cs typeface="Helvetica Neue"/>
              </a:defRPr>
            </a:lvl9pPr>
          </a:lstStyle>
          <a:p xmlns:a="http://schemas.openxmlformats.org/drawingml/2006/main">
            <a:pPr>
              <a:defRPr sz="2325" b="1">
                <a:solidFill>
                  <a:srgbClr val="347CDB"/>
                </a:solidFill>
                <a:latin typeface="Helvetica Neue"/>
                <a:ea typeface="Helvetica Neue"/>
                <a:cs typeface="Helvetica Neue"/>
              </a:defRPr>
            </a:pPr>
            <a:r>
              <a:rPr sz="2325" b="1">
                <a:solidFill>
                  <a:srgbClr val="347CDB"/>
                </a:solidFill>
                <a:latin typeface="Helvetica Neue"/>
                <a:ea typeface="Helvetica Neue"/>
                <a:cs typeface="Helvetica Neue"/>
              </a:rPr>
              <a:t>Semantic objective</a:t>
            </a:r>
          </a:p>
        </p:txBody>
      </p:sp>
      <p:sp>
        <p:nvSpPr>
          <p:cNvPr id="5" name="text-9">
            <a:extLst xmlns:a="http://schemas.openxmlformats.org/drawingml/2006/main">
              <a:ext uri="{FF2B5EF4-FFF2-40B4-BE49-F238E27FC236}">
                <a16:creationId xmlns:a16="http://schemas.microsoft.com/office/drawing/2014/main" id="{D7E7C5D7-76FB-48B0-A364-C8107216CE8C}"/>
              </a:ext>
            </a:extLst>
          </p:cNvPr>
          <p:cNvSpPr>
            <a:spLocks xmlns:a="http://schemas.openxmlformats.org/drawingml/2006/main" noGrp="1"/>
          </p:cNvSpPr>
          <p:nvPr/>
        </p:nvSpPr>
        <p:spPr>
          <a:xfrm xmlns:a="http://schemas.openxmlformats.org/drawingml/2006/main">
            <a:off x="723900" y="4171950"/>
            <a:ext cx="48863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86C7C"/>
                </a:solidFill>
                <a:latin typeface="Helvetica Neue"/>
                <a:ea typeface="Helvetica Neue"/>
                <a:cs typeface="Helvetica Neue"/>
              </a:defRPr>
            </a:defPPr>
            <a:lvl1pPr>
              <a:defRPr sz="2175" b="0">
                <a:solidFill>
                  <a:srgbClr val="586C7C"/>
                </a:solidFill>
                <a:latin typeface="Helvetica Neue"/>
                <a:ea typeface="Helvetica Neue"/>
                <a:cs typeface="Helvetica Neue"/>
              </a:defRPr>
            </a:lvl1pPr>
            <a:lvl2pPr>
              <a:defRPr sz="2175" b="0">
                <a:solidFill>
                  <a:srgbClr val="586C7C"/>
                </a:solidFill>
                <a:latin typeface="Helvetica Neue"/>
                <a:ea typeface="Helvetica Neue"/>
                <a:cs typeface="Helvetica Neue"/>
              </a:defRPr>
            </a:lvl2pPr>
            <a:lvl3pPr>
              <a:defRPr sz="2175" b="0">
                <a:solidFill>
                  <a:srgbClr val="586C7C"/>
                </a:solidFill>
                <a:latin typeface="Helvetica Neue"/>
                <a:ea typeface="Helvetica Neue"/>
                <a:cs typeface="Helvetica Neue"/>
              </a:defRPr>
            </a:lvl3pPr>
            <a:lvl4pPr>
              <a:defRPr sz="2175" b="0">
                <a:solidFill>
                  <a:srgbClr val="586C7C"/>
                </a:solidFill>
                <a:latin typeface="Helvetica Neue"/>
                <a:ea typeface="Helvetica Neue"/>
                <a:cs typeface="Helvetica Neue"/>
              </a:defRPr>
            </a:lvl4pPr>
            <a:lvl5pPr>
              <a:defRPr sz="2175" b="0">
                <a:solidFill>
                  <a:srgbClr val="586C7C"/>
                </a:solidFill>
                <a:latin typeface="Helvetica Neue"/>
                <a:ea typeface="Helvetica Neue"/>
                <a:cs typeface="Helvetica Neue"/>
              </a:defRPr>
            </a:lvl5pPr>
            <a:lvl6pPr>
              <a:defRPr sz="2175" b="0">
                <a:solidFill>
                  <a:srgbClr val="586C7C"/>
                </a:solidFill>
                <a:latin typeface="Helvetica Neue"/>
                <a:ea typeface="Helvetica Neue"/>
                <a:cs typeface="Helvetica Neue"/>
              </a:defRPr>
            </a:lvl6pPr>
            <a:lvl7pPr>
              <a:defRPr sz="2175" b="0">
                <a:solidFill>
                  <a:srgbClr val="586C7C"/>
                </a:solidFill>
                <a:latin typeface="Helvetica Neue"/>
                <a:ea typeface="Helvetica Neue"/>
                <a:cs typeface="Helvetica Neue"/>
              </a:defRPr>
            </a:lvl7pPr>
            <a:lvl8pPr>
              <a:defRPr sz="2175" b="0">
                <a:solidFill>
                  <a:srgbClr val="586C7C"/>
                </a:solidFill>
                <a:latin typeface="Helvetica Neue"/>
                <a:ea typeface="Helvetica Neue"/>
                <a:cs typeface="Helvetica Neue"/>
              </a:defRPr>
            </a:lvl8pPr>
            <a:lvl9pPr>
              <a:defRPr sz="2175" b="0">
                <a:solidFill>
                  <a:srgbClr val="586C7C"/>
                </a:solidFill>
                <a:latin typeface="Helvetica Neue"/>
                <a:ea typeface="Helvetica Neue"/>
                <a:cs typeface="Helvetica Neue"/>
              </a:defRPr>
            </a:lvl9pPr>
          </a:lstStyle>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A review and its product description</a:t>
            </a:r>
          </a:p>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should have similar embeddings.</a:t>
            </a:r>
          </a:p>
        </p:txBody>
      </p:sp>
      <p:sp>
        <p:nvSpPr>
          <p:cNvPr id="6" name="text-10">
            <a:extLst xmlns:a="http://schemas.openxmlformats.org/drawingml/2006/main">
              <a:ext uri="{FF2B5EF4-FFF2-40B4-BE49-F238E27FC236}">
                <a16:creationId xmlns:a16="http://schemas.microsoft.com/office/drawing/2014/main" id="{2A2F6A35-C26B-4B70-93DE-9481372C4530}"/>
              </a:ext>
            </a:extLst>
          </p:cNvPr>
          <p:cNvSpPr>
            <a:spLocks xmlns:a="http://schemas.openxmlformats.org/drawingml/2006/main" noGrp="1"/>
          </p:cNvSpPr>
          <p:nvPr/>
        </p:nvSpPr>
        <p:spPr>
          <a:xfrm xmlns:a="http://schemas.openxmlformats.org/drawingml/2006/main">
            <a:off x="6438900" y="35528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A967B"/>
                </a:solidFill>
                <a:latin typeface="Helvetica Neue"/>
                <a:ea typeface="Helvetica Neue"/>
                <a:cs typeface="Helvetica Neue"/>
              </a:defRPr>
            </a:defPPr>
            <a:lvl1pPr>
              <a:defRPr sz="2325" b="1">
                <a:solidFill>
                  <a:srgbClr val="1A967B"/>
                </a:solidFill>
                <a:latin typeface="Helvetica Neue"/>
                <a:ea typeface="Helvetica Neue"/>
                <a:cs typeface="Helvetica Neue"/>
              </a:defRPr>
            </a:lvl1pPr>
            <a:lvl2pPr>
              <a:defRPr sz="2325" b="1">
                <a:solidFill>
                  <a:srgbClr val="1A967B"/>
                </a:solidFill>
                <a:latin typeface="Helvetica Neue"/>
                <a:ea typeface="Helvetica Neue"/>
                <a:cs typeface="Helvetica Neue"/>
              </a:defRPr>
            </a:lvl2pPr>
            <a:lvl3pPr>
              <a:defRPr sz="2325" b="1">
                <a:solidFill>
                  <a:srgbClr val="1A967B"/>
                </a:solidFill>
                <a:latin typeface="Helvetica Neue"/>
                <a:ea typeface="Helvetica Neue"/>
                <a:cs typeface="Helvetica Neue"/>
              </a:defRPr>
            </a:lvl3pPr>
            <a:lvl4pPr>
              <a:defRPr sz="2325" b="1">
                <a:solidFill>
                  <a:srgbClr val="1A967B"/>
                </a:solidFill>
                <a:latin typeface="Helvetica Neue"/>
                <a:ea typeface="Helvetica Neue"/>
                <a:cs typeface="Helvetica Neue"/>
              </a:defRPr>
            </a:lvl4pPr>
            <a:lvl5pPr>
              <a:defRPr sz="2325" b="1">
                <a:solidFill>
                  <a:srgbClr val="1A967B"/>
                </a:solidFill>
                <a:latin typeface="Helvetica Neue"/>
                <a:ea typeface="Helvetica Neue"/>
                <a:cs typeface="Helvetica Neue"/>
              </a:defRPr>
            </a:lvl5pPr>
            <a:lvl6pPr>
              <a:defRPr sz="2325" b="1">
                <a:solidFill>
                  <a:srgbClr val="1A967B"/>
                </a:solidFill>
                <a:latin typeface="Helvetica Neue"/>
                <a:ea typeface="Helvetica Neue"/>
                <a:cs typeface="Helvetica Neue"/>
              </a:defRPr>
            </a:lvl6pPr>
            <a:lvl7pPr>
              <a:defRPr sz="2325" b="1">
                <a:solidFill>
                  <a:srgbClr val="1A967B"/>
                </a:solidFill>
                <a:latin typeface="Helvetica Neue"/>
                <a:ea typeface="Helvetica Neue"/>
                <a:cs typeface="Helvetica Neue"/>
              </a:defRPr>
            </a:lvl7pPr>
            <a:lvl8pPr>
              <a:defRPr sz="2325" b="1">
                <a:solidFill>
                  <a:srgbClr val="1A967B"/>
                </a:solidFill>
                <a:latin typeface="Helvetica Neue"/>
                <a:ea typeface="Helvetica Neue"/>
                <a:cs typeface="Helvetica Neue"/>
              </a:defRPr>
            </a:lvl8pPr>
            <a:lvl9pPr>
              <a:defRPr sz="2325" b="1">
                <a:solidFill>
                  <a:srgbClr val="1A967B"/>
                </a:solidFill>
                <a:latin typeface="Helvetica Neue"/>
                <a:ea typeface="Helvetica Neue"/>
                <a:cs typeface="Helvetica Neue"/>
              </a:defRPr>
            </a:lvl9pPr>
          </a:lstStyle>
          <a:p xmlns:a="http://schemas.openxmlformats.org/drawingml/2006/main">
            <a:pPr>
              <a:defRPr sz="2325" b="1">
                <a:solidFill>
                  <a:srgbClr val="1A967B"/>
                </a:solidFill>
                <a:latin typeface="Helvetica Neue"/>
                <a:ea typeface="Helvetica Neue"/>
                <a:cs typeface="Helvetica Neue"/>
              </a:defRPr>
            </a:pPr>
            <a:r>
              <a:rPr sz="2325" b="1">
                <a:solidFill>
                  <a:srgbClr val="1A967B"/>
                </a:solidFill>
                <a:latin typeface="Helvetica Neue"/>
                <a:ea typeface="Helvetica Neue"/>
                <a:cs typeface="Helvetica Neue"/>
              </a:rPr>
              <a:t>Recommendation objective</a:t>
            </a:r>
          </a:p>
        </p:txBody>
      </p:sp>
      <p:sp>
        <p:nvSpPr>
          <p:cNvPr id="7" name="text-11">
            <a:extLst xmlns:a="http://schemas.openxmlformats.org/drawingml/2006/main">
              <a:ext uri="{FF2B5EF4-FFF2-40B4-BE49-F238E27FC236}">
                <a16:creationId xmlns:a16="http://schemas.microsoft.com/office/drawing/2014/main" id="{FBFC8668-7AB1-404E-B8D3-7BC205665A46}"/>
              </a:ext>
            </a:extLst>
          </p:cNvPr>
          <p:cNvSpPr>
            <a:spLocks xmlns:a="http://schemas.openxmlformats.org/drawingml/2006/main" noGrp="1"/>
          </p:cNvSpPr>
          <p:nvPr/>
        </p:nvSpPr>
        <p:spPr>
          <a:xfrm xmlns:a="http://schemas.openxmlformats.org/drawingml/2006/main">
            <a:off x="6438900" y="4171950"/>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86C7C"/>
                </a:solidFill>
                <a:latin typeface="Helvetica Neue"/>
                <a:ea typeface="Helvetica Neue"/>
                <a:cs typeface="Helvetica Neue"/>
              </a:defRPr>
            </a:defPPr>
            <a:lvl1pPr>
              <a:defRPr sz="2175" b="0">
                <a:solidFill>
                  <a:srgbClr val="586C7C"/>
                </a:solidFill>
                <a:latin typeface="Helvetica Neue"/>
                <a:ea typeface="Helvetica Neue"/>
                <a:cs typeface="Helvetica Neue"/>
              </a:defRPr>
            </a:lvl1pPr>
            <a:lvl2pPr>
              <a:defRPr sz="2175" b="0">
                <a:solidFill>
                  <a:srgbClr val="586C7C"/>
                </a:solidFill>
                <a:latin typeface="Helvetica Neue"/>
                <a:ea typeface="Helvetica Neue"/>
                <a:cs typeface="Helvetica Neue"/>
              </a:defRPr>
            </a:lvl2pPr>
            <a:lvl3pPr>
              <a:defRPr sz="2175" b="0">
                <a:solidFill>
                  <a:srgbClr val="586C7C"/>
                </a:solidFill>
                <a:latin typeface="Helvetica Neue"/>
                <a:ea typeface="Helvetica Neue"/>
                <a:cs typeface="Helvetica Neue"/>
              </a:defRPr>
            </a:lvl3pPr>
            <a:lvl4pPr>
              <a:defRPr sz="2175" b="0">
                <a:solidFill>
                  <a:srgbClr val="586C7C"/>
                </a:solidFill>
                <a:latin typeface="Helvetica Neue"/>
                <a:ea typeface="Helvetica Neue"/>
                <a:cs typeface="Helvetica Neue"/>
              </a:defRPr>
            </a:lvl4pPr>
            <a:lvl5pPr>
              <a:defRPr sz="2175" b="0">
                <a:solidFill>
                  <a:srgbClr val="586C7C"/>
                </a:solidFill>
                <a:latin typeface="Helvetica Neue"/>
                <a:ea typeface="Helvetica Neue"/>
                <a:cs typeface="Helvetica Neue"/>
              </a:defRPr>
            </a:lvl5pPr>
            <a:lvl6pPr>
              <a:defRPr sz="2175" b="0">
                <a:solidFill>
                  <a:srgbClr val="586C7C"/>
                </a:solidFill>
                <a:latin typeface="Helvetica Neue"/>
                <a:ea typeface="Helvetica Neue"/>
                <a:cs typeface="Helvetica Neue"/>
              </a:defRPr>
            </a:lvl6pPr>
            <a:lvl7pPr>
              <a:defRPr sz="2175" b="0">
                <a:solidFill>
                  <a:srgbClr val="586C7C"/>
                </a:solidFill>
                <a:latin typeface="Helvetica Neue"/>
                <a:ea typeface="Helvetica Neue"/>
                <a:cs typeface="Helvetica Neue"/>
              </a:defRPr>
            </a:lvl7pPr>
            <a:lvl8pPr>
              <a:defRPr sz="2175" b="0">
                <a:solidFill>
                  <a:srgbClr val="586C7C"/>
                </a:solidFill>
                <a:latin typeface="Helvetica Neue"/>
                <a:ea typeface="Helvetica Neue"/>
                <a:cs typeface="Helvetica Neue"/>
              </a:defRPr>
            </a:lvl8pPr>
            <a:lvl9pPr>
              <a:defRPr sz="2175" b="0">
                <a:solidFill>
                  <a:srgbClr val="586C7C"/>
                </a:solidFill>
                <a:latin typeface="Helvetica Neue"/>
                <a:ea typeface="Helvetica Neue"/>
                <a:cs typeface="Helvetica Neue"/>
              </a:defRPr>
            </a:lvl9pPr>
          </a:lstStyle>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A product a user liked should outrank</a:t>
            </a:r>
          </a:p>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an unobserved product, given history.</a:t>
            </a:r>
          </a:p>
        </p:txBody>
      </p:sp>
      <p:sp>
        <p:nvSpPr>
          <p:cNvPr id="8" name="text-12">
            <a:extLst xmlns:a="http://schemas.openxmlformats.org/drawingml/2006/main">
              <a:ext uri="{FF2B5EF4-FFF2-40B4-BE49-F238E27FC236}">
                <a16:creationId xmlns:a16="http://schemas.microsoft.com/office/drawing/2014/main" id="{E7534E36-607E-4904-9FAF-1A10E9A7E6FC}"/>
              </a:ext>
            </a:extLst>
          </p:cNvPr>
          <p:cNvSpPr>
            <a:spLocks xmlns:a="http://schemas.openxmlformats.org/drawingml/2006/main" noGrp="1"/>
          </p:cNvSpPr>
          <p:nvPr/>
        </p:nvSpPr>
        <p:spPr>
          <a:xfrm xmlns:a="http://schemas.openxmlformats.org/drawingml/2006/main">
            <a:off x="723900" y="57435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7243C"/>
                </a:solidFill>
                <a:latin typeface="Helvetica Neue"/>
                <a:ea typeface="Helvetica Neue"/>
                <a:cs typeface="Helvetica Neue"/>
              </a:defRPr>
            </a:defPPr>
            <a:lvl1pPr>
              <a:defRPr sz="1950" b="0">
                <a:solidFill>
                  <a:srgbClr val="17243C"/>
                </a:solidFill>
                <a:latin typeface="Helvetica Neue"/>
                <a:ea typeface="Helvetica Neue"/>
                <a:cs typeface="Helvetica Neue"/>
              </a:defRPr>
            </a:lvl1pPr>
            <a:lvl2pPr>
              <a:defRPr sz="1950" b="0">
                <a:solidFill>
                  <a:srgbClr val="17243C"/>
                </a:solidFill>
                <a:latin typeface="Helvetica Neue"/>
                <a:ea typeface="Helvetica Neue"/>
                <a:cs typeface="Helvetica Neue"/>
              </a:defRPr>
            </a:lvl2pPr>
            <a:lvl3pPr>
              <a:defRPr sz="1950" b="0">
                <a:solidFill>
                  <a:srgbClr val="17243C"/>
                </a:solidFill>
                <a:latin typeface="Helvetica Neue"/>
                <a:ea typeface="Helvetica Neue"/>
                <a:cs typeface="Helvetica Neue"/>
              </a:defRPr>
            </a:lvl3pPr>
            <a:lvl4pPr>
              <a:defRPr sz="1950" b="0">
                <a:solidFill>
                  <a:srgbClr val="17243C"/>
                </a:solidFill>
                <a:latin typeface="Helvetica Neue"/>
                <a:ea typeface="Helvetica Neue"/>
                <a:cs typeface="Helvetica Neue"/>
              </a:defRPr>
            </a:lvl4pPr>
            <a:lvl5pPr>
              <a:defRPr sz="1950" b="0">
                <a:solidFill>
                  <a:srgbClr val="17243C"/>
                </a:solidFill>
                <a:latin typeface="Helvetica Neue"/>
                <a:ea typeface="Helvetica Neue"/>
                <a:cs typeface="Helvetica Neue"/>
              </a:defRPr>
            </a:lvl5pPr>
            <a:lvl6pPr>
              <a:defRPr sz="1950" b="0">
                <a:solidFill>
                  <a:srgbClr val="17243C"/>
                </a:solidFill>
                <a:latin typeface="Helvetica Neue"/>
                <a:ea typeface="Helvetica Neue"/>
                <a:cs typeface="Helvetica Neue"/>
              </a:defRPr>
            </a:lvl6pPr>
            <a:lvl7pPr>
              <a:defRPr sz="1950" b="0">
                <a:solidFill>
                  <a:srgbClr val="17243C"/>
                </a:solidFill>
                <a:latin typeface="Helvetica Neue"/>
                <a:ea typeface="Helvetica Neue"/>
                <a:cs typeface="Helvetica Neue"/>
              </a:defRPr>
            </a:lvl7pPr>
            <a:lvl8pPr>
              <a:defRPr sz="1950" b="0">
                <a:solidFill>
                  <a:srgbClr val="17243C"/>
                </a:solidFill>
                <a:latin typeface="Helvetica Neue"/>
                <a:ea typeface="Helvetica Neue"/>
                <a:cs typeface="Helvetica Neue"/>
              </a:defRPr>
            </a:lvl8pPr>
            <a:lvl9pPr>
              <a:defRPr sz="1950" b="0">
                <a:solidFill>
                  <a:srgbClr val="17243C"/>
                </a:solidFill>
                <a:latin typeface="Helvetica Neue"/>
                <a:ea typeface="Helvetica Neue"/>
                <a:cs typeface="Helvetica Neue"/>
              </a:defRPr>
            </a:lvl9pPr>
          </a:lstStyle>
          <a:p xmlns:a="http://schemas.openxmlformats.org/drawingml/2006/main">
            <a:pPr>
              <a:defRPr sz="1950" b="0">
                <a:solidFill>
                  <a:srgbClr val="17243C"/>
                </a:solidFill>
                <a:latin typeface="Helvetica Neue"/>
                <a:ea typeface="Helvetica Neue"/>
                <a:cs typeface="Helvetica Neue"/>
              </a:defRPr>
            </a:pPr>
            <a:r>
              <a:rPr sz="1950" b="0">
                <a:solidFill>
                  <a:srgbClr val="17243C"/>
                </a:solidFill>
                <a:latin typeface="Helvetica Neue"/>
                <a:ea typeface="Helvetica Neue"/>
                <a:cs typeface="Helvetica Neue"/>
              </a:rPr>
              <a:t>The experiment tests whether these objectives produce the same ranking benefit.</a:t>
            </a:r>
          </a:p>
        </p:txBody>
      </p:sp>
    </p:spTree>
    <p:extLst>
      <p:ext uri="{BB962C8B-B14F-4D97-AF65-F5344CB8AC3E}">
        <p14:creationId xmlns:p14="http://schemas.microsoft.com/office/powerpoint/2010/main" val="1907044641"/>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13">
            <a:extLst xmlns:a="http://schemas.openxmlformats.org/drawingml/2006/main">
              <a:ext uri="{FF2B5EF4-FFF2-40B4-BE49-F238E27FC236}">
                <a16:creationId xmlns:a16="http://schemas.microsoft.com/office/drawing/2014/main" id="{17A69AB9-DB4B-4963-BF82-0214D52A7514}"/>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Three Amazon product domains</a:t>
            </a:r>
          </a:p>
        </p:txBody>
      </p:sp>
      <p:sp>
        <p:nvSpPr>
          <p:cNvPr id="2" name="text-14">
            <a:extLst xmlns:a="http://schemas.openxmlformats.org/drawingml/2006/main">
              <a:ext uri="{FF2B5EF4-FFF2-40B4-BE49-F238E27FC236}">
                <a16:creationId xmlns:a16="http://schemas.microsoft.com/office/drawing/2014/main" id="{40957ED1-7262-4B58-A490-DF5219FB12AE}"/>
              </a:ext>
            </a:extLst>
          </p:cNvPr>
          <p:cNvSpPr>
            <a:spLocks xmlns:a="http://schemas.openxmlformats.org/drawingml/2006/main" noGrp="1"/>
          </p:cNvSpPr>
          <p:nvPr/>
        </p:nvSpPr>
        <p:spPr>
          <a:xfrm xmlns:a="http://schemas.openxmlformats.org/drawingml/2006/main">
            <a:off x="704850" y="12858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86C7C"/>
                </a:solidFill>
                <a:latin typeface="Helvetica Neue"/>
                <a:ea typeface="Helvetica Neue"/>
                <a:cs typeface="Helvetica Neue"/>
              </a:defRPr>
            </a:defPPr>
            <a:lvl1pPr>
              <a:defRPr sz="1875" b="0">
                <a:solidFill>
                  <a:srgbClr val="586C7C"/>
                </a:solidFill>
                <a:latin typeface="Helvetica Neue"/>
                <a:ea typeface="Helvetica Neue"/>
                <a:cs typeface="Helvetica Neue"/>
              </a:defRPr>
            </a:lvl1pPr>
            <a:lvl2pPr>
              <a:defRPr sz="1875" b="0">
                <a:solidFill>
                  <a:srgbClr val="586C7C"/>
                </a:solidFill>
                <a:latin typeface="Helvetica Neue"/>
                <a:ea typeface="Helvetica Neue"/>
                <a:cs typeface="Helvetica Neue"/>
              </a:defRPr>
            </a:lvl2pPr>
            <a:lvl3pPr>
              <a:defRPr sz="1875" b="0">
                <a:solidFill>
                  <a:srgbClr val="586C7C"/>
                </a:solidFill>
                <a:latin typeface="Helvetica Neue"/>
                <a:ea typeface="Helvetica Neue"/>
                <a:cs typeface="Helvetica Neue"/>
              </a:defRPr>
            </a:lvl3pPr>
            <a:lvl4pPr>
              <a:defRPr sz="1875" b="0">
                <a:solidFill>
                  <a:srgbClr val="586C7C"/>
                </a:solidFill>
                <a:latin typeface="Helvetica Neue"/>
                <a:ea typeface="Helvetica Neue"/>
                <a:cs typeface="Helvetica Neue"/>
              </a:defRPr>
            </a:lvl4pPr>
            <a:lvl5pPr>
              <a:defRPr sz="1875" b="0">
                <a:solidFill>
                  <a:srgbClr val="586C7C"/>
                </a:solidFill>
                <a:latin typeface="Helvetica Neue"/>
                <a:ea typeface="Helvetica Neue"/>
                <a:cs typeface="Helvetica Neue"/>
              </a:defRPr>
            </a:lvl5pPr>
            <a:lvl6pPr>
              <a:defRPr sz="1875" b="0">
                <a:solidFill>
                  <a:srgbClr val="586C7C"/>
                </a:solidFill>
                <a:latin typeface="Helvetica Neue"/>
                <a:ea typeface="Helvetica Neue"/>
                <a:cs typeface="Helvetica Neue"/>
              </a:defRPr>
            </a:lvl6pPr>
            <a:lvl7pPr>
              <a:defRPr sz="1875" b="0">
                <a:solidFill>
                  <a:srgbClr val="586C7C"/>
                </a:solidFill>
                <a:latin typeface="Helvetica Neue"/>
                <a:ea typeface="Helvetica Neue"/>
                <a:cs typeface="Helvetica Neue"/>
              </a:defRPr>
            </a:lvl7pPr>
            <a:lvl8pPr>
              <a:defRPr sz="1875" b="0">
                <a:solidFill>
                  <a:srgbClr val="586C7C"/>
                </a:solidFill>
                <a:latin typeface="Helvetica Neue"/>
                <a:ea typeface="Helvetica Neue"/>
                <a:cs typeface="Helvetica Neue"/>
              </a:defRPr>
            </a:lvl8pPr>
            <a:lvl9pPr>
              <a:defRPr sz="1875" b="0">
                <a:solidFill>
                  <a:srgbClr val="586C7C"/>
                </a:solidFill>
                <a:latin typeface="Helvetica Neue"/>
                <a:ea typeface="Helvetica Neue"/>
                <a:cs typeface="Helvetica Neue"/>
              </a:defRPr>
            </a:lvl9pPr>
          </a:lstStyle>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Real reviews, catalogue descriptions and downloaded product photographs</a:t>
            </a:r>
          </a:p>
        </p:txBody>
      </p:sp>
      <p:sp>
        <p:nvSpPr>
          <p:cNvPr id="3" name="text-15">
            <a:extLst xmlns:a="http://schemas.openxmlformats.org/drawingml/2006/main">
              <a:ext uri="{FF2B5EF4-FFF2-40B4-BE49-F238E27FC236}">
                <a16:creationId xmlns:a16="http://schemas.microsoft.com/office/drawing/2014/main" id="{F3440F26-A74E-46DA-A49C-47E78A8601FA}"/>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03  ShopLens</a:t>
            </a:r>
          </a:p>
        </p:txBody>
      </p:sp>
      <p:graphicFrame>
        <p:nvGraphicFramePr>
          <p:cNvPr id="4" name="">
            <a:extLst xmlns:a="http://schemas.openxmlformats.org/drawingml/2006/main">
              <a:ext uri="{FF2B5EF4-FFF2-40B4-BE49-F238E27FC236}">
                <a16:creationId xmlns:a16="http://schemas.microsoft.com/office/drawing/2014/main" id="{84EC96A1-E37E-4377-8B0E-09A1F010EDE8}"/>
              </a:ext>
            </a:extLst>
          </p:cNvPr>
          <p:cNvGraphicFramePr/>
          <p:nvPr/>
        </p:nvGraphicFramePr>
        <p:xfrm>
          <a:off xmlns:a="http://schemas.openxmlformats.org/drawingml/2006/main" x="685800" y="2047875"/>
          <a:ext xmlns:a="http://schemas.openxmlformats.org/drawingml/2006/main" cx="10820400" cy="2667000"/>
        </p:xfrm>
        <a:graphic xmlns:a="http://schemas.openxmlformats.org/drawingml/2006/main">
          <a:graphicData uri="http://schemas.openxmlformats.org/drawingml/2006/table">
            <a:tbl>
              <a:tblPr firstRow="1" bandRow="0"/>
              <a:tblGrid>
                <a:gridCol w="4095750"/>
                <a:gridCol w="2057400"/>
                <a:gridCol w="2286000"/>
                <a:gridCol w="2381250"/>
              </a:tblGrid>
              <a:tr h="666750">
                <a:tc>
                  <a:txBody>
                    <a:bodyPr/>
                    <a:lstStyle/>
                    <a:p>
                      <a:r>
                        <a:rPr sz="2025" b="1">
                          <a:solidFill>
                            <a:srgbClr val="FFFFFF"/>
                          </a:solidFill>
                          <a:latin typeface="Helvetica Neue"/>
                          <a:ea typeface="Helvetica Neue"/>
                          <a:cs typeface="Helvetica Neue"/>
                        </a:rPr>
                        <a:t>Domain</a:t>
                      </a:r>
                    </a:p>
                  </a:txBody>
                  <a:tcPr marL="142875" marR="114300" marT="104775"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2025" b="1">
                          <a:solidFill>
                            <a:srgbClr val="FFFFFF"/>
                          </a:solidFill>
                          <a:latin typeface="Helvetica Neue"/>
                          <a:ea typeface="Helvetica Neue"/>
                          <a:cs typeface="Helvetica Neue"/>
                        </a:rPr>
                        <a:t>Products</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2025" b="1">
                          <a:solidFill>
                            <a:srgbClr val="FFFFFF"/>
                          </a:solidFill>
                          <a:latin typeface="Helvetica Neue"/>
                          <a:ea typeface="Helvetica Neue"/>
                          <a:cs typeface="Helvetica Neue"/>
                        </a:rPr>
                        <a:t>Users</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2025" b="1">
                          <a:solidFill>
                            <a:srgbClr val="FFFFFF"/>
                          </a:solidFill>
                          <a:latin typeface="Helvetica Neue"/>
                          <a:ea typeface="Helvetica Neue"/>
                          <a:cs typeface="Helvetica Neue"/>
                        </a:rPr>
                        <a:t>Interactions</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666750">
                <a:tc>
                  <a:txBody>
                    <a:bodyPr/>
                    <a:lstStyle/>
                    <a:p>
                      <a:r>
                        <a:rPr sz="2025">
                          <a:solidFill>
                            <a:srgbClr val="17243C"/>
                          </a:solidFill>
                          <a:latin typeface="Helvetica Neue"/>
                          <a:ea typeface="Helvetica Neue"/>
                          <a:cs typeface="Helvetica Neue"/>
                        </a:rPr>
                        <a:t>Baby</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7,037</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18,479</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155,180</a:t>
                      </a:r>
                    </a:p>
                  </a:txBody>
                  <a:tcPr marL="142875" marR="114300" marT="104775" marB="85725">
                    <a:lnR w="9525">
                      <a:solidFill>
                        <a:srgbClr val="DCE5E8"/>
                      </a:solidFill>
                      <a:prstDash val="solid"/>
                    </a:lnR>
                    <a:lnB w="9525">
                      <a:solidFill>
                        <a:srgbClr val="DCE5E8"/>
                      </a:solidFill>
                      <a:prstDash val="solid"/>
                    </a:lnB>
                    <a:solidFill>
                      <a:srgbClr val="FFFFFF"/>
                    </a:solidFill>
                  </a:tcPr>
                </a:tc>
              </a:tr>
              <a:tr h="666750">
                <a:tc>
                  <a:txBody>
                    <a:bodyPr/>
                    <a:lstStyle/>
                    <a:p>
                      <a:r>
                        <a:rPr sz="2025">
                          <a:solidFill>
                            <a:srgbClr val="17243C"/>
                          </a:solidFill>
                          <a:latin typeface="Helvetica Neue"/>
                          <a:ea typeface="Helvetica Neue"/>
                          <a:cs typeface="Helvetica Neue"/>
                        </a:rPr>
                        <a:t>Sports &amp; Outdoors</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18,273</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34,555</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289,579</a:t>
                      </a:r>
                    </a:p>
                  </a:txBody>
                  <a:tcPr marL="142875" marR="114300" marT="104775" marB="85725">
                    <a:lnR w="9525">
                      <a:solidFill>
                        <a:srgbClr val="DCE5E8"/>
                      </a:solidFill>
                      <a:prstDash val="solid"/>
                    </a:lnR>
                    <a:lnB w="9525">
                      <a:solidFill>
                        <a:srgbClr val="DCE5E8"/>
                      </a:solidFill>
                      <a:prstDash val="solid"/>
                    </a:lnB>
                    <a:solidFill>
                      <a:srgbClr val="FFFFFF"/>
                    </a:solidFill>
                  </a:tcPr>
                </a:tc>
              </a:tr>
              <a:tr h="666750">
                <a:tc>
                  <a:txBody>
                    <a:bodyPr/>
                    <a:lstStyle/>
                    <a:p>
                      <a:r>
                        <a:rPr sz="2025">
                          <a:solidFill>
                            <a:srgbClr val="17243C"/>
                          </a:solidFill>
                          <a:latin typeface="Helvetica Neue"/>
                          <a:ea typeface="Helvetica Neue"/>
                          <a:cs typeface="Helvetica Neue"/>
                        </a:rPr>
                        <a:t>Clothing &amp; Accessories</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22,491</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36,437</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255,681</a:t>
                      </a:r>
                    </a:p>
                  </a:txBody>
                  <a:tcPr marL="142875" marR="114300" marT="104775"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5" name="text-16">
            <a:extLst xmlns:a="http://schemas.openxmlformats.org/drawingml/2006/main">
              <a:ext uri="{FF2B5EF4-FFF2-40B4-BE49-F238E27FC236}">
                <a16:creationId xmlns:a16="http://schemas.microsoft.com/office/drawing/2014/main" id="{291C5A7E-2A55-41F4-AF98-AADE459557CD}"/>
              </a:ext>
            </a:extLst>
          </p:cNvPr>
          <p:cNvSpPr>
            <a:spLocks xmlns:a="http://schemas.openxmlformats.org/drawingml/2006/main" noGrp="1"/>
          </p:cNvSpPr>
          <p:nvPr/>
        </p:nvSpPr>
        <p:spPr>
          <a:xfrm xmlns:a="http://schemas.openxmlformats.org/drawingml/2006/main">
            <a:off x="723900" y="51625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243C"/>
                </a:solidFill>
                <a:latin typeface="Helvetica Neue"/>
                <a:ea typeface="Helvetica Neue"/>
                <a:cs typeface="Helvetica Neue"/>
              </a:defRPr>
            </a:defPPr>
            <a:lvl1pPr>
              <a:defRPr sz="2100" b="0">
                <a:solidFill>
                  <a:srgbClr val="17243C"/>
                </a:solidFill>
                <a:latin typeface="Helvetica Neue"/>
                <a:ea typeface="Helvetica Neue"/>
                <a:cs typeface="Helvetica Neue"/>
              </a:defRPr>
            </a:lvl1pPr>
            <a:lvl2pPr>
              <a:defRPr sz="2100" b="0">
                <a:solidFill>
                  <a:srgbClr val="17243C"/>
                </a:solidFill>
                <a:latin typeface="Helvetica Neue"/>
                <a:ea typeface="Helvetica Neue"/>
                <a:cs typeface="Helvetica Neue"/>
              </a:defRPr>
            </a:lvl2pPr>
            <a:lvl3pPr>
              <a:defRPr sz="2100" b="0">
                <a:solidFill>
                  <a:srgbClr val="17243C"/>
                </a:solidFill>
                <a:latin typeface="Helvetica Neue"/>
                <a:ea typeface="Helvetica Neue"/>
                <a:cs typeface="Helvetica Neue"/>
              </a:defRPr>
            </a:lvl3pPr>
            <a:lvl4pPr>
              <a:defRPr sz="2100" b="0">
                <a:solidFill>
                  <a:srgbClr val="17243C"/>
                </a:solidFill>
                <a:latin typeface="Helvetica Neue"/>
                <a:ea typeface="Helvetica Neue"/>
                <a:cs typeface="Helvetica Neue"/>
              </a:defRPr>
            </a:lvl4pPr>
            <a:lvl5pPr>
              <a:defRPr sz="2100" b="0">
                <a:solidFill>
                  <a:srgbClr val="17243C"/>
                </a:solidFill>
                <a:latin typeface="Helvetica Neue"/>
                <a:ea typeface="Helvetica Neue"/>
                <a:cs typeface="Helvetica Neue"/>
              </a:defRPr>
            </a:lvl5pPr>
            <a:lvl6pPr>
              <a:defRPr sz="2100" b="0">
                <a:solidFill>
                  <a:srgbClr val="17243C"/>
                </a:solidFill>
                <a:latin typeface="Helvetica Neue"/>
                <a:ea typeface="Helvetica Neue"/>
                <a:cs typeface="Helvetica Neue"/>
              </a:defRPr>
            </a:lvl6pPr>
            <a:lvl7pPr>
              <a:defRPr sz="2100" b="0">
                <a:solidFill>
                  <a:srgbClr val="17243C"/>
                </a:solidFill>
                <a:latin typeface="Helvetica Neue"/>
                <a:ea typeface="Helvetica Neue"/>
                <a:cs typeface="Helvetica Neue"/>
              </a:defRPr>
            </a:lvl7pPr>
            <a:lvl8pPr>
              <a:defRPr sz="2100" b="0">
                <a:solidFill>
                  <a:srgbClr val="17243C"/>
                </a:solidFill>
                <a:latin typeface="Helvetica Neue"/>
                <a:ea typeface="Helvetica Neue"/>
                <a:cs typeface="Helvetica Neue"/>
              </a:defRPr>
            </a:lvl8pPr>
            <a:lvl9pPr>
              <a:defRPr sz="2100" b="0">
                <a:solidFill>
                  <a:srgbClr val="17243C"/>
                </a:solidFill>
                <a:latin typeface="Helvetica Neue"/>
                <a:ea typeface="Helvetica Neue"/>
                <a:cs typeface="Helvetica Neue"/>
              </a:defRPr>
            </a:lvl9pPr>
          </a:lstStyle>
          <a:p xmlns:a="http://schemas.openxmlformats.org/drawingml/2006/main">
            <a:pPr>
              <a:defRPr sz="2100" b="0">
                <a:solidFill>
                  <a:srgbClr val="17243C"/>
                </a:solidFill>
                <a:latin typeface="Helvetica Neue"/>
                <a:ea typeface="Helvetica Neue"/>
                <a:cs typeface="Helvetica Neue"/>
              </a:defRPr>
            </a:pPr>
            <a:r>
              <a:rPr sz="2100" b="0">
                <a:solidFill>
                  <a:srgbClr val="17243C"/>
                </a:solidFill>
                <a:latin typeface="Helvetica Neue"/>
                <a:ea typeface="Helvetica Neue"/>
                <a:cs typeface="Helvetica Neue"/>
              </a:rPr>
              <a:t>Text input: product title + description</a:t>
            </a:r>
          </a:p>
          <a:p xmlns:a="http://schemas.openxmlformats.org/drawingml/2006/main">
            <a:pPr>
              <a:defRPr sz="2100" b="0">
                <a:solidFill>
                  <a:srgbClr val="17243C"/>
                </a:solidFill>
                <a:latin typeface="Helvetica Neue"/>
                <a:ea typeface="Helvetica Neue"/>
                <a:cs typeface="Helvetica Neue"/>
              </a:defRPr>
            </a:pPr>
            <a:r>
              <a:rPr sz="2100" b="0">
                <a:solidFill>
                  <a:srgbClr val="17243C"/>
                </a:solidFill>
                <a:latin typeface="Helvetica Neue"/>
                <a:ea typeface="Helvetica Neue"/>
                <a:cs typeface="Helvetica Neue"/>
              </a:rPr>
              <a:t>Training supervision: observed positives and training-period reviews</a:t>
            </a:r>
          </a:p>
        </p:txBody>
      </p:sp>
    </p:spTree>
    <p:extLst>
      <p:ext uri="{BB962C8B-B14F-4D97-AF65-F5344CB8AC3E}">
        <p14:creationId xmlns:p14="http://schemas.microsoft.com/office/powerpoint/2010/main" val="766273520"/>
      </p:ext>
    </p:extLst>
  </p:cSld>
</p:sld>
</file>

<file path=ppt/slides/slide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17">
            <a:extLst xmlns:a="http://schemas.openxmlformats.org/drawingml/2006/main">
              <a:ext uri="{FF2B5EF4-FFF2-40B4-BE49-F238E27FC236}">
                <a16:creationId xmlns:a16="http://schemas.microsoft.com/office/drawing/2014/main" id="{1A404498-996B-460B-95F2-55E07DABD61D}"/>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Chronological ranking protocol</a:t>
            </a:r>
          </a:p>
        </p:txBody>
      </p:sp>
      <p:sp>
        <p:nvSpPr>
          <p:cNvPr id="2" name="text-18">
            <a:extLst xmlns:a="http://schemas.openxmlformats.org/drawingml/2006/main">
              <a:ext uri="{FF2B5EF4-FFF2-40B4-BE49-F238E27FC236}">
                <a16:creationId xmlns:a16="http://schemas.microsoft.com/office/drawing/2014/main" id="{DC19A255-9E0E-4ACC-8C32-E67CFCC99A72}"/>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04  ShopLens</a:t>
            </a:r>
          </a:p>
        </p:txBody>
      </p:sp>
      <p:graphicFrame>
        <p:nvGraphicFramePr>
          <p:cNvPr id="3" name="">
            <a:extLst xmlns:a="http://schemas.openxmlformats.org/drawingml/2006/main">
              <a:ext uri="{FF2B5EF4-FFF2-40B4-BE49-F238E27FC236}">
                <a16:creationId xmlns:a16="http://schemas.microsoft.com/office/drawing/2014/main" id="{BDE1A7B4-C833-428D-B7C2-D5B7437A602A}"/>
              </a:ext>
            </a:extLst>
          </p:cNvPr>
          <p:cNvGraphicFramePr/>
          <p:nvPr/>
        </p:nvGraphicFramePr>
        <p:xfrm>
          <a:off xmlns:a="http://schemas.openxmlformats.org/drawingml/2006/main" x="685800" y="1743075"/>
          <a:ext xmlns:a="http://schemas.openxmlformats.org/drawingml/2006/main" cx="10820400" cy="2238375"/>
        </p:xfrm>
        <a:graphic xmlns:a="http://schemas.openxmlformats.org/drawingml/2006/main">
          <a:graphicData uri="http://schemas.openxmlformats.org/drawingml/2006/table">
            <a:tbl>
              <a:tblPr firstRow="1" bandRow="0"/>
              <a:tblGrid>
                <a:gridCol w="3609975"/>
                <a:gridCol w="3600450"/>
                <a:gridCol w="3609975"/>
              </a:tblGrid>
              <a:tr h="746125">
                <a:tc>
                  <a:txBody>
                    <a:bodyPr/>
                    <a:lstStyle/>
                    <a:p>
                      <a:r>
                        <a:rPr sz="1950" b="1">
                          <a:solidFill>
                            <a:srgbClr val="FFFFFF"/>
                          </a:solidFill>
                          <a:latin typeface="Helvetica Neue"/>
                          <a:ea typeface="Helvetica Neue"/>
                          <a:cs typeface="Helvetica Neue"/>
                        </a:rPr>
                        <a:t>Training</a:t>
                      </a:r>
                    </a:p>
                  </a:txBody>
                  <a:tcPr marL="142875" marR="114300" marT="104775"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Validation</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Test</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46125">
                <a:tc>
                  <a:txBody>
                    <a:bodyPr/>
                    <a:lstStyle/>
                    <a:p>
                      <a:r>
                        <a:rPr sz="1950">
                          <a:solidFill>
                            <a:srgbClr val="17243C"/>
                          </a:solidFill>
                          <a:latin typeface="Helvetica Neue"/>
                          <a:ea typeface="Helvetica Neue"/>
                          <a:cs typeface="Helvetica Neue"/>
                        </a:rPr>
                        <a:t>First 80% time quantile</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Next 10%</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Final 10%</a:t>
                      </a:r>
                    </a:p>
                  </a:txBody>
                  <a:tcPr marL="142875" marR="114300" marT="104775" marB="85725">
                    <a:lnR w="9525">
                      <a:solidFill>
                        <a:srgbClr val="DCE5E8"/>
                      </a:solidFill>
                      <a:prstDash val="solid"/>
                    </a:lnR>
                    <a:lnB w="9525">
                      <a:solidFill>
                        <a:srgbClr val="DCE5E8"/>
                      </a:solidFill>
                      <a:prstDash val="solid"/>
                    </a:lnB>
                    <a:solidFill>
                      <a:srgbClr val="FFFFFF"/>
                    </a:solidFill>
                  </a:tcPr>
                </a:tc>
              </a:tr>
              <a:tr h="746125">
                <a:tc>
                  <a:txBody>
                    <a:bodyPr/>
                    <a:lstStyle/>
                    <a:p>
                      <a:r>
                        <a:rPr sz="1950">
                          <a:solidFill>
                            <a:srgbClr val="17243C"/>
                          </a:solidFill>
                          <a:latin typeface="Helvetica Neue"/>
                          <a:ea typeface="Helvetica Neue"/>
                          <a:cs typeface="Helvetica Neue"/>
                        </a:rPr>
                        <a:t>Model fitting</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Checkpoint selection</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One selected-model evaluation</a:t>
                      </a:r>
                    </a:p>
                  </a:txBody>
                  <a:tcPr marL="142875" marR="114300" marT="104775"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19">
            <a:extLst xmlns:a="http://schemas.openxmlformats.org/drawingml/2006/main">
              <a:ext uri="{FF2B5EF4-FFF2-40B4-BE49-F238E27FC236}">
                <a16:creationId xmlns:a16="http://schemas.microsoft.com/office/drawing/2014/main" id="{105D3F46-FC78-404B-9444-432AD3C23F3B}"/>
              </a:ext>
            </a:extLst>
          </p:cNvPr>
          <p:cNvSpPr>
            <a:spLocks xmlns:a="http://schemas.openxmlformats.org/drawingml/2006/main" noGrp="1"/>
          </p:cNvSpPr>
          <p:nvPr/>
        </p:nvSpPr>
        <p:spPr>
          <a:xfrm xmlns:a="http://schemas.openxmlformats.org/drawingml/2006/main">
            <a:off x="723900" y="44577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Strictly earlier positive history. At most 20 recent distinct products.</a:t>
            </a:r>
          </a:p>
        </p:txBody>
      </p:sp>
      <p:sp>
        <p:nvSpPr>
          <p:cNvPr id="5" name="text-20">
            <a:extLst xmlns:a="http://schemas.openxmlformats.org/drawingml/2006/main">
              <a:ext uri="{FF2B5EF4-FFF2-40B4-BE49-F238E27FC236}">
                <a16:creationId xmlns:a16="http://schemas.microsoft.com/office/drawing/2014/main" id="{7A661E8F-1E90-4F1A-A763-C11EA2C17616}"/>
              </a:ext>
            </a:extLst>
          </p:cNvPr>
          <p:cNvSpPr>
            <a:spLocks xmlns:a="http://schemas.openxmlformats.org/drawingml/2006/main" noGrp="1"/>
          </p:cNvSpPr>
          <p:nvPr/>
        </p:nvSpPr>
        <p:spPr>
          <a:xfrm xmlns:a="http://schemas.openxmlformats.org/drawingml/2006/main">
            <a:off x="723900" y="5219700"/>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86C7C"/>
                </a:solidFill>
                <a:latin typeface="Helvetica Neue"/>
                <a:ea typeface="Helvetica Neue"/>
                <a:cs typeface="Helvetica Neue"/>
              </a:defRPr>
            </a:defPPr>
            <a:lvl1pPr>
              <a:defRPr sz="2175" b="0">
                <a:solidFill>
                  <a:srgbClr val="586C7C"/>
                </a:solidFill>
                <a:latin typeface="Helvetica Neue"/>
                <a:ea typeface="Helvetica Neue"/>
                <a:cs typeface="Helvetica Neue"/>
              </a:defRPr>
            </a:lvl1pPr>
            <a:lvl2pPr>
              <a:defRPr sz="2175" b="0">
                <a:solidFill>
                  <a:srgbClr val="586C7C"/>
                </a:solidFill>
                <a:latin typeface="Helvetica Neue"/>
                <a:ea typeface="Helvetica Neue"/>
                <a:cs typeface="Helvetica Neue"/>
              </a:defRPr>
            </a:lvl2pPr>
            <a:lvl3pPr>
              <a:defRPr sz="2175" b="0">
                <a:solidFill>
                  <a:srgbClr val="586C7C"/>
                </a:solidFill>
                <a:latin typeface="Helvetica Neue"/>
                <a:ea typeface="Helvetica Neue"/>
                <a:cs typeface="Helvetica Neue"/>
              </a:defRPr>
            </a:lvl3pPr>
            <a:lvl4pPr>
              <a:defRPr sz="2175" b="0">
                <a:solidFill>
                  <a:srgbClr val="586C7C"/>
                </a:solidFill>
                <a:latin typeface="Helvetica Neue"/>
                <a:ea typeface="Helvetica Neue"/>
                <a:cs typeface="Helvetica Neue"/>
              </a:defRPr>
            </a:lvl4pPr>
            <a:lvl5pPr>
              <a:defRPr sz="2175" b="0">
                <a:solidFill>
                  <a:srgbClr val="586C7C"/>
                </a:solidFill>
                <a:latin typeface="Helvetica Neue"/>
                <a:ea typeface="Helvetica Neue"/>
                <a:cs typeface="Helvetica Neue"/>
              </a:defRPr>
            </a:lvl5pPr>
            <a:lvl6pPr>
              <a:defRPr sz="2175" b="0">
                <a:solidFill>
                  <a:srgbClr val="586C7C"/>
                </a:solidFill>
                <a:latin typeface="Helvetica Neue"/>
                <a:ea typeface="Helvetica Neue"/>
                <a:cs typeface="Helvetica Neue"/>
              </a:defRPr>
            </a:lvl6pPr>
            <a:lvl7pPr>
              <a:defRPr sz="2175" b="0">
                <a:solidFill>
                  <a:srgbClr val="586C7C"/>
                </a:solidFill>
                <a:latin typeface="Helvetica Neue"/>
                <a:ea typeface="Helvetica Neue"/>
                <a:cs typeface="Helvetica Neue"/>
              </a:defRPr>
            </a:lvl7pPr>
            <a:lvl8pPr>
              <a:defRPr sz="2175" b="0">
                <a:solidFill>
                  <a:srgbClr val="586C7C"/>
                </a:solidFill>
                <a:latin typeface="Helvetica Neue"/>
                <a:ea typeface="Helvetica Neue"/>
                <a:cs typeface="Helvetica Neue"/>
              </a:defRPr>
            </a:lvl8pPr>
            <a:lvl9pPr>
              <a:defRPr sz="2175" b="0">
                <a:solidFill>
                  <a:srgbClr val="586C7C"/>
                </a:solidFill>
                <a:latin typeface="Helvetica Neue"/>
                <a:ea typeface="Helvetica Neue"/>
                <a:cs typeface="Helvetica Neue"/>
              </a:defRPr>
            </a:lvl9pPr>
          </a:lstStyle>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Full catalogue candidates exclude previous positives.</a:t>
            </a:r>
          </a:p>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Average targets within each user, then average users.</a:t>
            </a:r>
          </a:p>
        </p:txBody>
      </p:sp>
    </p:spTree>
    <p:extLst>
      <p:ext uri="{BB962C8B-B14F-4D97-AF65-F5344CB8AC3E}">
        <p14:creationId xmlns:p14="http://schemas.microsoft.com/office/powerpoint/2010/main" val="307456668"/>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21">
            <a:extLst xmlns:a="http://schemas.openxmlformats.org/drawingml/2006/main">
              <a:ext uri="{FF2B5EF4-FFF2-40B4-BE49-F238E27FC236}">
                <a16:creationId xmlns:a16="http://schemas.microsoft.com/office/drawing/2014/main" id="{D98BB401-E0AF-4AFB-B077-1A5D8E0CBE28}"/>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Fixed history input and adapted candidate text</a:t>
            </a:r>
          </a:p>
        </p:txBody>
      </p:sp>
      <p:sp>
        <p:nvSpPr>
          <p:cNvPr id="2" name="text-22">
            <a:extLst xmlns:a="http://schemas.openxmlformats.org/drawingml/2006/main">
              <a:ext uri="{FF2B5EF4-FFF2-40B4-BE49-F238E27FC236}">
                <a16:creationId xmlns:a16="http://schemas.microsoft.com/office/drawing/2014/main" id="{619214F8-9765-4E38-8C24-B95C0D8895DE}"/>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05  ShopLens</a:t>
            </a:r>
          </a:p>
        </p:txBody>
      </p:sp>
      <p:graphicFrame>
        <p:nvGraphicFramePr>
          <p:cNvPr id="3" name="">
            <a:extLst xmlns:a="http://schemas.openxmlformats.org/drawingml/2006/main">
              <a:ext uri="{FF2B5EF4-FFF2-40B4-BE49-F238E27FC236}">
                <a16:creationId xmlns:a16="http://schemas.microsoft.com/office/drawing/2014/main" id="{D18C0FA9-93A3-46E9-B2FA-C95D07F95BF7}"/>
              </a:ext>
            </a:extLst>
          </p:cNvPr>
          <p:cNvGraphicFramePr/>
          <p:nvPr/>
        </p:nvGraphicFramePr>
        <p:xfrm>
          <a:off xmlns:a="http://schemas.openxmlformats.org/drawingml/2006/main" x="685800" y="1828800"/>
          <a:ext xmlns:a="http://schemas.openxmlformats.org/drawingml/2006/main" cx="10820400" cy="2238375"/>
        </p:xfrm>
        <a:graphic xmlns:a="http://schemas.openxmlformats.org/drawingml/2006/main">
          <a:graphicData uri="http://schemas.openxmlformats.org/drawingml/2006/table">
            <a:tbl>
              <a:tblPr firstRow="1" bandRow="0"/>
              <a:tblGrid>
                <a:gridCol w="3333750"/>
                <a:gridCol w="4381500"/>
                <a:gridCol w="3105150"/>
              </a:tblGrid>
              <a:tr h="746125">
                <a:tc>
                  <a:txBody>
                    <a:bodyPr/>
                    <a:lstStyle/>
                    <a:p>
                      <a:r>
                        <a:rPr sz="2025" b="1">
                          <a:solidFill>
                            <a:srgbClr val="FFFFFF"/>
                          </a:solidFill>
                          <a:latin typeface="Helvetica Neue"/>
                          <a:ea typeface="Helvetica Neue"/>
                          <a:cs typeface="Helvetica Neue"/>
                        </a:rPr>
                        <a:t>Path</a:t>
                      </a:r>
                    </a:p>
                  </a:txBody>
                  <a:tcPr marL="142875" marR="114300" marT="104775"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2025" b="1">
                          <a:solidFill>
                            <a:srgbClr val="FFFFFF"/>
                          </a:solidFill>
                          <a:latin typeface="Helvetica Neue"/>
                          <a:ea typeface="Helvetica Neue"/>
                          <a:cs typeface="Helvetica Neue"/>
                        </a:rPr>
                        <a:t>Text input</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2025" b="1">
                          <a:solidFill>
                            <a:srgbClr val="FFFFFF"/>
                          </a:solidFill>
                          <a:latin typeface="Helvetica Neue"/>
                          <a:ea typeface="Helvetica Neue"/>
                          <a:cs typeface="Helvetica Neue"/>
                        </a:rPr>
                        <a:t>Image input</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46125">
                <a:tc>
                  <a:txBody>
                    <a:bodyPr/>
                    <a:lstStyle/>
                    <a:p>
                      <a:r>
                        <a:rPr sz="2025">
                          <a:solidFill>
                            <a:srgbClr val="17243C"/>
                          </a:solidFill>
                          <a:latin typeface="Helvetica Neue"/>
                          <a:ea typeface="Helvetica Neue"/>
                          <a:cs typeface="Helvetica Neue"/>
                        </a:rPr>
                        <a:t>Recent liked products</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Frozen base Qwen, 1024d</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Frozen CLIP, 512d</a:t>
                      </a:r>
                    </a:p>
                  </a:txBody>
                  <a:tcPr marL="142875" marR="114300" marT="104775" marB="85725">
                    <a:lnR w="9525">
                      <a:solidFill>
                        <a:srgbClr val="DCE5E8"/>
                      </a:solidFill>
                      <a:prstDash val="solid"/>
                    </a:lnR>
                    <a:lnB w="9525">
                      <a:solidFill>
                        <a:srgbClr val="DCE5E8"/>
                      </a:solidFill>
                      <a:prstDash val="solid"/>
                    </a:lnB>
                    <a:solidFill>
                      <a:srgbClr val="FFFFFF"/>
                    </a:solidFill>
                  </a:tcPr>
                </a:tc>
              </a:tr>
              <a:tr h="746125">
                <a:tc>
                  <a:txBody>
                    <a:bodyPr/>
                    <a:lstStyle/>
                    <a:p>
                      <a:r>
                        <a:rPr sz="2025">
                          <a:solidFill>
                            <a:srgbClr val="17243C"/>
                          </a:solidFill>
                          <a:latin typeface="Helvetica Neue"/>
                          <a:ea typeface="Helvetica Neue"/>
                          <a:cs typeface="Helvetica Neue"/>
                        </a:rPr>
                        <a:t>Candidate products</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Base Qwen or selected LoRA</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2025">
                          <a:solidFill>
                            <a:srgbClr val="17243C"/>
                          </a:solidFill>
                          <a:latin typeface="Helvetica Neue"/>
                          <a:ea typeface="Helvetica Neue"/>
                          <a:cs typeface="Helvetica Neue"/>
                        </a:rPr>
                        <a:t>Same frozen CLIP, 512d</a:t>
                      </a:r>
                    </a:p>
                  </a:txBody>
                  <a:tcPr marL="142875" marR="114300" marT="104775"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23">
            <a:extLst xmlns:a="http://schemas.openxmlformats.org/drawingml/2006/main">
              <a:ext uri="{FF2B5EF4-FFF2-40B4-BE49-F238E27FC236}">
                <a16:creationId xmlns:a16="http://schemas.microsoft.com/office/drawing/2014/main" id="{38FDA03B-3026-4C84-AF49-8ECB80C22258}"/>
              </a:ext>
            </a:extLst>
          </p:cNvPr>
          <p:cNvSpPr>
            <a:spLocks xmlns:a="http://schemas.openxmlformats.org/drawingml/2006/main" noGrp="1"/>
          </p:cNvSpPr>
          <p:nvPr/>
        </p:nvSpPr>
        <p:spPr>
          <a:xfrm xmlns:a="http://schemas.openxmlformats.org/drawingml/2006/main">
            <a:off x="723900" y="44958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Separate projection + fusion networks produce 128-dimensional vectors.</a:t>
            </a:r>
          </a:p>
        </p:txBody>
      </p:sp>
      <p:sp>
        <p:nvSpPr>
          <p:cNvPr id="5" name="text-24">
            <a:extLst xmlns:a="http://schemas.openxmlformats.org/drawingml/2006/main">
              <a:ext uri="{FF2B5EF4-FFF2-40B4-BE49-F238E27FC236}">
                <a16:creationId xmlns:a16="http://schemas.microsoft.com/office/drawing/2014/main" id="{1B3E3AED-909D-4431-AED7-62C87C64C731}"/>
              </a:ext>
            </a:extLst>
          </p:cNvPr>
          <p:cNvSpPr>
            <a:spLocks xmlns:a="http://schemas.openxmlformats.org/drawingml/2006/main" noGrp="1"/>
          </p:cNvSpPr>
          <p:nvPr/>
        </p:nvSpPr>
        <p:spPr>
          <a:xfrm xmlns:a="http://schemas.openxmlformats.org/drawingml/2006/main">
            <a:off x="723900" y="536257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86C7C"/>
                </a:solidFill>
                <a:latin typeface="Helvetica Neue"/>
                <a:ea typeface="Helvetica Neue"/>
                <a:cs typeface="Helvetica Neue"/>
              </a:defRPr>
            </a:defPPr>
            <a:lvl1pPr>
              <a:defRPr sz="2175" b="0">
                <a:solidFill>
                  <a:srgbClr val="586C7C"/>
                </a:solidFill>
                <a:latin typeface="Helvetica Neue"/>
                <a:ea typeface="Helvetica Neue"/>
                <a:cs typeface="Helvetica Neue"/>
              </a:defRPr>
            </a:lvl1pPr>
            <a:lvl2pPr>
              <a:defRPr sz="2175" b="0">
                <a:solidFill>
                  <a:srgbClr val="586C7C"/>
                </a:solidFill>
                <a:latin typeface="Helvetica Neue"/>
                <a:ea typeface="Helvetica Neue"/>
                <a:cs typeface="Helvetica Neue"/>
              </a:defRPr>
            </a:lvl2pPr>
            <a:lvl3pPr>
              <a:defRPr sz="2175" b="0">
                <a:solidFill>
                  <a:srgbClr val="586C7C"/>
                </a:solidFill>
                <a:latin typeface="Helvetica Neue"/>
                <a:ea typeface="Helvetica Neue"/>
                <a:cs typeface="Helvetica Neue"/>
              </a:defRPr>
            </a:lvl3pPr>
            <a:lvl4pPr>
              <a:defRPr sz="2175" b="0">
                <a:solidFill>
                  <a:srgbClr val="586C7C"/>
                </a:solidFill>
                <a:latin typeface="Helvetica Neue"/>
                <a:ea typeface="Helvetica Neue"/>
                <a:cs typeface="Helvetica Neue"/>
              </a:defRPr>
            </a:lvl4pPr>
            <a:lvl5pPr>
              <a:defRPr sz="2175" b="0">
                <a:solidFill>
                  <a:srgbClr val="586C7C"/>
                </a:solidFill>
                <a:latin typeface="Helvetica Neue"/>
                <a:ea typeface="Helvetica Neue"/>
                <a:cs typeface="Helvetica Neue"/>
              </a:defRPr>
            </a:lvl5pPr>
            <a:lvl6pPr>
              <a:defRPr sz="2175" b="0">
                <a:solidFill>
                  <a:srgbClr val="586C7C"/>
                </a:solidFill>
                <a:latin typeface="Helvetica Neue"/>
                <a:ea typeface="Helvetica Neue"/>
                <a:cs typeface="Helvetica Neue"/>
              </a:defRPr>
            </a:lvl6pPr>
            <a:lvl7pPr>
              <a:defRPr sz="2175" b="0">
                <a:solidFill>
                  <a:srgbClr val="586C7C"/>
                </a:solidFill>
                <a:latin typeface="Helvetica Neue"/>
                <a:ea typeface="Helvetica Neue"/>
                <a:cs typeface="Helvetica Neue"/>
              </a:defRPr>
            </a:lvl7pPr>
            <a:lvl8pPr>
              <a:defRPr sz="2175" b="0">
                <a:solidFill>
                  <a:srgbClr val="586C7C"/>
                </a:solidFill>
                <a:latin typeface="Helvetica Neue"/>
                <a:ea typeface="Helvetica Neue"/>
                <a:cs typeface="Helvetica Neue"/>
              </a:defRPr>
            </a:lvl8pPr>
            <a:lvl9pPr>
              <a:defRPr sz="2175" b="0">
                <a:solidFill>
                  <a:srgbClr val="586C7C"/>
                </a:solidFill>
                <a:latin typeface="Helvetica Neue"/>
                <a:ea typeface="Helvetica Neue"/>
                <a:cs typeface="Helvetica Neue"/>
              </a:defRPr>
            </a:lvl9pPr>
          </a:lstStyle>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User vector = L2-normalize(MLP(mean(history vectors)))</a:t>
            </a:r>
          </a:p>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Ranking score = user vector · candidate vector</a:t>
            </a:r>
          </a:p>
        </p:txBody>
      </p:sp>
    </p:spTree>
    <p:extLst>
      <p:ext uri="{BB962C8B-B14F-4D97-AF65-F5344CB8AC3E}">
        <p14:creationId xmlns:p14="http://schemas.microsoft.com/office/powerpoint/2010/main" val="382799442"/>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25">
            <a:extLst xmlns:a="http://schemas.openxmlformats.org/drawingml/2006/main">
              <a:ext uri="{FF2B5EF4-FFF2-40B4-BE49-F238E27FC236}">
                <a16:creationId xmlns:a16="http://schemas.microsoft.com/office/drawing/2014/main" id="{60D60C1B-2FCB-44E7-8651-73A0DD9767E7}"/>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Three training objectives</a:t>
            </a:r>
          </a:p>
        </p:txBody>
      </p:sp>
      <p:sp>
        <p:nvSpPr>
          <p:cNvPr id="2" name="text-26">
            <a:extLst xmlns:a="http://schemas.openxmlformats.org/drawingml/2006/main">
              <a:ext uri="{FF2B5EF4-FFF2-40B4-BE49-F238E27FC236}">
                <a16:creationId xmlns:a16="http://schemas.microsoft.com/office/drawing/2014/main" id="{73A1EA54-82F5-43AF-9A44-C2517FD8A5F1}"/>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06  ShopLens</a:t>
            </a:r>
          </a:p>
        </p:txBody>
      </p:sp>
      <p:graphicFrame>
        <p:nvGraphicFramePr>
          <p:cNvPr id="3" name="">
            <a:extLst xmlns:a="http://schemas.openxmlformats.org/drawingml/2006/main">
              <a:ext uri="{FF2B5EF4-FFF2-40B4-BE49-F238E27FC236}">
                <a16:creationId xmlns:a16="http://schemas.microsoft.com/office/drawing/2014/main" id="{58182A0B-190C-4378-B8AD-13435B1AC94A}"/>
              </a:ext>
            </a:extLst>
          </p:cNvPr>
          <p:cNvGraphicFramePr/>
          <p:nvPr/>
        </p:nvGraphicFramePr>
        <p:xfrm>
          <a:off xmlns:a="http://schemas.openxmlformats.org/drawingml/2006/main" x="685800" y="1866900"/>
          <a:ext xmlns:a="http://schemas.openxmlformats.org/drawingml/2006/main" cx="10820400" cy="3048000"/>
        </p:xfrm>
        <a:graphic xmlns:a="http://schemas.openxmlformats.org/drawingml/2006/main">
          <a:graphicData uri="http://schemas.openxmlformats.org/drawingml/2006/table">
            <a:tbl>
              <a:tblPr firstRow="1" bandRow="0"/>
              <a:tblGrid>
                <a:gridCol w="3095625"/>
                <a:gridCol w="3952875"/>
                <a:gridCol w="3771900"/>
              </a:tblGrid>
              <a:tr h="762000">
                <a:tc>
                  <a:txBody>
                    <a:bodyPr/>
                    <a:lstStyle/>
                    <a:p>
                      <a:r>
                        <a:rPr sz="1950" b="1">
                          <a:solidFill>
                            <a:srgbClr val="FFFFFF"/>
                          </a:solidFill>
                          <a:latin typeface="Helvetica Neue"/>
                          <a:ea typeface="Helvetica Neue"/>
                          <a:cs typeface="Helvetica Neue"/>
                        </a:rPr>
                        <a:t>Arm</a:t>
                      </a:r>
                    </a:p>
                  </a:txBody>
                  <a:tcPr marL="142875" marR="114300" marT="104775"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Recommendation head</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Qwen LoRA update</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62000">
                <a:tc>
                  <a:txBody>
                    <a:bodyPr/>
                    <a:lstStyle/>
                    <a:p>
                      <a:r>
                        <a:rPr sz="1950">
                          <a:solidFill>
                            <a:srgbClr val="17243C"/>
                          </a:solidFill>
                          <a:latin typeface="Helvetica Neue"/>
                          <a:ea typeface="Helvetica Neue"/>
                          <a:cs typeface="Helvetica Neue"/>
                        </a:rPr>
                        <a:t>Frozen</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BPR ranking loss</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None</a:t>
                      </a:r>
                    </a:p>
                  </a:txBody>
                  <a:tcPr marL="142875" marR="114300" marT="104775" marB="85725">
                    <a:lnR w="9525">
                      <a:solidFill>
                        <a:srgbClr val="DCE5E8"/>
                      </a:solidFill>
                      <a:prstDash val="solid"/>
                    </a:lnR>
                    <a:lnB w="9525">
                      <a:solidFill>
                        <a:srgbClr val="DCE5E8"/>
                      </a:solidFill>
                      <a:prstDash val="solid"/>
                    </a:lnB>
                    <a:solidFill>
                      <a:srgbClr val="FFFFFF"/>
                    </a:solidFill>
                  </a:tcPr>
                </a:tc>
              </a:tr>
              <a:tr h="762000">
                <a:tc>
                  <a:txBody>
                    <a:bodyPr/>
                    <a:lstStyle/>
                    <a:p>
                      <a:r>
                        <a:rPr sz="1950">
                          <a:solidFill>
                            <a:srgbClr val="17243C"/>
                          </a:solidFill>
                          <a:latin typeface="Helvetica Neue"/>
                          <a:ea typeface="Helvetica Neue"/>
                          <a:cs typeface="Helvetica Neue"/>
                        </a:rPr>
                        <a:t>Semantic alignment</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BPR on detached text vectors</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Review–description InfoNCE</a:t>
                      </a:r>
                    </a:p>
                  </a:txBody>
                  <a:tcPr marL="142875" marR="114300" marT="104775" marB="85725">
                    <a:lnR w="9525">
                      <a:solidFill>
                        <a:srgbClr val="DCE5E8"/>
                      </a:solidFill>
                      <a:prstDash val="solid"/>
                    </a:lnR>
                    <a:lnB w="9525">
                      <a:solidFill>
                        <a:srgbClr val="DCE5E8"/>
                      </a:solidFill>
                      <a:prstDash val="solid"/>
                    </a:lnB>
                    <a:solidFill>
                      <a:srgbClr val="FFFFFF"/>
                    </a:solidFill>
                  </a:tcPr>
                </a:tc>
              </a:tr>
              <a:tr h="762000">
                <a:tc>
                  <a:txBody>
                    <a:bodyPr/>
                    <a:lstStyle/>
                    <a:p>
                      <a:r>
                        <a:rPr sz="1950">
                          <a:solidFill>
                            <a:srgbClr val="17243C"/>
                          </a:solidFill>
                          <a:latin typeface="Helvetica Neue"/>
                          <a:ea typeface="Helvetica Neue"/>
                          <a:cs typeface="Helvetica Neue"/>
                        </a:rPr>
                        <a:t>Preference ranking</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BPR ranking loss</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Same BPR ranking loss</a:t>
                      </a:r>
                    </a:p>
                  </a:txBody>
                  <a:tcPr marL="142875" marR="114300" marT="104775"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27">
            <a:extLst xmlns:a="http://schemas.openxmlformats.org/drawingml/2006/main">
              <a:ext uri="{FF2B5EF4-FFF2-40B4-BE49-F238E27FC236}">
                <a16:creationId xmlns:a16="http://schemas.microsoft.com/office/drawing/2014/main" id="{D62FEEC3-CE1C-478F-98FD-B03E2C9C068D}"/>
              </a:ext>
            </a:extLst>
          </p:cNvPr>
          <p:cNvSpPr>
            <a:spLocks xmlns:a="http://schemas.openxmlformats.org/drawingml/2006/main" noGrp="1"/>
          </p:cNvSpPr>
          <p:nvPr/>
        </p:nvSpPr>
        <p:spPr>
          <a:xfrm xmlns:a="http://schemas.openxmlformats.org/drawingml/2006/main">
            <a:off x="723900" y="53435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LoRA: rank 8, alpha 16, dropout 0.05, q_proj and v_proj</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All paths retain the same frozen image embeddings.</a:t>
            </a:r>
          </a:p>
        </p:txBody>
      </p:sp>
    </p:spTree>
    <p:extLst>
      <p:ext uri="{BB962C8B-B14F-4D97-AF65-F5344CB8AC3E}">
        <p14:creationId xmlns:p14="http://schemas.microsoft.com/office/powerpoint/2010/main" val="721431390"/>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28">
            <a:extLst xmlns:a="http://schemas.openxmlformats.org/drawingml/2006/main">
              <a:ext uri="{FF2B5EF4-FFF2-40B4-BE49-F238E27FC236}">
                <a16:creationId xmlns:a16="http://schemas.microsoft.com/office/drawing/2014/main" id="{0E01619D-1CC3-4DE0-B99C-29FF6B36BCB2}"/>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Shared initialization and adaptation budget</a:t>
            </a:r>
          </a:p>
        </p:txBody>
      </p:sp>
      <p:sp>
        <p:nvSpPr>
          <p:cNvPr id="2" name="text-29">
            <a:extLst xmlns:a="http://schemas.openxmlformats.org/drawingml/2006/main">
              <a:ext uri="{FF2B5EF4-FFF2-40B4-BE49-F238E27FC236}">
                <a16:creationId xmlns:a16="http://schemas.microsoft.com/office/drawing/2014/main" id="{526BB59B-8F49-4274-9203-30455AC84F85}"/>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07  ShopLens</a:t>
            </a:r>
          </a:p>
        </p:txBody>
      </p:sp>
      <p:sp>
        <p:nvSpPr>
          <p:cNvPr id="3" name="text-30">
            <a:extLst xmlns:a="http://schemas.openxmlformats.org/drawingml/2006/main">
              <a:ext uri="{FF2B5EF4-FFF2-40B4-BE49-F238E27FC236}">
                <a16:creationId xmlns:a16="http://schemas.microsoft.com/office/drawing/2014/main" id="{4CB22308-2750-424B-95A5-A539B83D187D}"/>
              </a:ext>
            </a:extLst>
          </p:cNvPr>
          <p:cNvSpPr>
            <a:spLocks xmlns:a="http://schemas.openxmlformats.org/drawingml/2006/main" noGrp="1"/>
          </p:cNvSpPr>
          <p:nvPr/>
        </p:nvSpPr>
        <p:spPr>
          <a:xfrm xmlns:a="http://schemas.openxmlformats.org/drawingml/2006/main">
            <a:off x="723900" y="1724025"/>
            <a:ext cx="4095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347CDB"/>
                </a:solidFill>
                <a:latin typeface="Helvetica Neue"/>
                <a:ea typeface="Helvetica Neue"/>
                <a:cs typeface="Helvetica Neue"/>
              </a:defRPr>
            </a:defPPr>
            <a:lvl1pPr>
              <a:defRPr sz="2400" b="1">
                <a:solidFill>
                  <a:srgbClr val="347CDB"/>
                </a:solidFill>
                <a:latin typeface="Helvetica Neue"/>
                <a:ea typeface="Helvetica Neue"/>
                <a:cs typeface="Helvetica Neue"/>
              </a:defRPr>
            </a:lvl1pPr>
            <a:lvl2pPr>
              <a:defRPr sz="2400" b="1">
                <a:solidFill>
                  <a:srgbClr val="347CDB"/>
                </a:solidFill>
                <a:latin typeface="Helvetica Neue"/>
                <a:ea typeface="Helvetica Neue"/>
                <a:cs typeface="Helvetica Neue"/>
              </a:defRPr>
            </a:lvl2pPr>
            <a:lvl3pPr>
              <a:defRPr sz="2400" b="1">
                <a:solidFill>
                  <a:srgbClr val="347CDB"/>
                </a:solidFill>
                <a:latin typeface="Helvetica Neue"/>
                <a:ea typeface="Helvetica Neue"/>
                <a:cs typeface="Helvetica Neue"/>
              </a:defRPr>
            </a:lvl3pPr>
            <a:lvl4pPr>
              <a:defRPr sz="2400" b="1">
                <a:solidFill>
                  <a:srgbClr val="347CDB"/>
                </a:solidFill>
                <a:latin typeface="Helvetica Neue"/>
                <a:ea typeface="Helvetica Neue"/>
                <a:cs typeface="Helvetica Neue"/>
              </a:defRPr>
            </a:lvl4pPr>
            <a:lvl5pPr>
              <a:defRPr sz="2400" b="1">
                <a:solidFill>
                  <a:srgbClr val="347CDB"/>
                </a:solidFill>
                <a:latin typeface="Helvetica Neue"/>
                <a:ea typeface="Helvetica Neue"/>
                <a:cs typeface="Helvetica Neue"/>
              </a:defRPr>
            </a:lvl5pPr>
            <a:lvl6pPr>
              <a:defRPr sz="2400" b="1">
                <a:solidFill>
                  <a:srgbClr val="347CDB"/>
                </a:solidFill>
                <a:latin typeface="Helvetica Neue"/>
                <a:ea typeface="Helvetica Neue"/>
                <a:cs typeface="Helvetica Neue"/>
              </a:defRPr>
            </a:lvl6pPr>
            <a:lvl7pPr>
              <a:defRPr sz="2400" b="1">
                <a:solidFill>
                  <a:srgbClr val="347CDB"/>
                </a:solidFill>
                <a:latin typeface="Helvetica Neue"/>
                <a:ea typeface="Helvetica Neue"/>
                <a:cs typeface="Helvetica Neue"/>
              </a:defRPr>
            </a:lvl7pPr>
            <a:lvl8pPr>
              <a:defRPr sz="2400" b="1">
                <a:solidFill>
                  <a:srgbClr val="347CDB"/>
                </a:solidFill>
                <a:latin typeface="Helvetica Neue"/>
                <a:ea typeface="Helvetica Neue"/>
                <a:cs typeface="Helvetica Neue"/>
              </a:defRPr>
            </a:lvl8pPr>
            <a:lvl9pPr>
              <a:defRPr sz="2400" b="1">
                <a:solidFill>
                  <a:srgbClr val="347CDB"/>
                </a:solidFill>
                <a:latin typeface="Helvetica Neue"/>
                <a:ea typeface="Helvetica Neue"/>
                <a:cs typeface="Helvetica Neue"/>
              </a:defRPr>
            </a:lvl9pPr>
          </a:lstStyle>
          <a:p xmlns:a="http://schemas.openxmlformats.org/drawingml/2006/main">
            <a:pPr>
              <a:defRPr sz="2400" b="1">
                <a:solidFill>
                  <a:srgbClr val="347CDB"/>
                </a:solidFill>
                <a:latin typeface="Helvetica Neue"/>
                <a:ea typeface="Helvetica Neue"/>
                <a:cs typeface="Helvetica Neue"/>
              </a:defRPr>
            </a:pPr>
            <a:r>
              <a:rPr sz="2400" b="1">
                <a:solidFill>
                  <a:srgbClr val="347CDB"/>
                </a:solidFill>
                <a:latin typeface="Helvetica Neue"/>
                <a:ea typeface="Helvetica Neue"/>
                <a:cs typeface="Helvetica Neue"/>
              </a:rPr>
              <a:t>Common warmup</a:t>
            </a:r>
          </a:p>
        </p:txBody>
      </p:sp>
      <p:sp>
        <p:nvSpPr>
          <p:cNvPr id="4" name="text-31">
            <a:extLst xmlns:a="http://schemas.openxmlformats.org/drawingml/2006/main">
              <a:ext uri="{FF2B5EF4-FFF2-40B4-BE49-F238E27FC236}">
                <a16:creationId xmlns:a16="http://schemas.microsoft.com/office/drawing/2014/main" id="{CDBF96E1-5857-42F7-AD69-70B1A2130FAD}"/>
              </a:ext>
            </a:extLst>
          </p:cNvPr>
          <p:cNvSpPr>
            <a:spLocks xmlns:a="http://schemas.openxmlformats.org/drawingml/2006/main" noGrp="1"/>
          </p:cNvSpPr>
          <p:nvPr/>
        </p:nvSpPr>
        <p:spPr>
          <a:xfrm xmlns:a="http://schemas.openxmlformats.org/drawingml/2006/main">
            <a:off x="723900" y="23526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243C"/>
                </a:solidFill>
                <a:latin typeface="Helvetica Neue"/>
                <a:ea typeface="Helvetica Neue"/>
                <a:cs typeface="Helvetica Neue"/>
              </a:defRPr>
            </a:defPPr>
            <a:lvl1pPr>
              <a:defRPr sz="2100" b="0">
                <a:solidFill>
                  <a:srgbClr val="17243C"/>
                </a:solidFill>
                <a:latin typeface="Helvetica Neue"/>
                <a:ea typeface="Helvetica Neue"/>
                <a:cs typeface="Helvetica Neue"/>
              </a:defRPr>
            </a:lvl1pPr>
            <a:lvl2pPr>
              <a:defRPr sz="2100" b="0">
                <a:solidFill>
                  <a:srgbClr val="17243C"/>
                </a:solidFill>
                <a:latin typeface="Helvetica Neue"/>
                <a:ea typeface="Helvetica Neue"/>
                <a:cs typeface="Helvetica Neue"/>
              </a:defRPr>
            </a:lvl2pPr>
            <a:lvl3pPr>
              <a:defRPr sz="2100" b="0">
                <a:solidFill>
                  <a:srgbClr val="17243C"/>
                </a:solidFill>
                <a:latin typeface="Helvetica Neue"/>
                <a:ea typeface="Helvetica Neue"/>
                <a:cs typeface="Helvetica Neue"/>
              </a:defRPr>
            </a:lvl3pPr>
            <a:lvl4pPr>
              <a:defRPr sz="2100" b="0">
                <a:solidFill>
                  <a:srgbClr val="17243C"/>
                </a:solidFill>
                <a:latin typeface="Helvetica Neue"/>
                <a:ea typeface="Helvetica Neue"/>
                <a:cs typeface="Helvetica Neue"/>
              </a:defRPr>
            </a:lvl4pPr>
            <a:lvl5pPr>
              <a:defRPr sz="2100" b="0">
                <a:solidFill>
                  <a:srgbClr val="17243C"/>
                </a:solidFill>
                <a:latin typeface="Helvetica Neue"/>
                <a:ea typeface="Helvetica Neue"/>
                <a:cs typeface="Helvetica Neue"/>
              </a:defRPr>
            </a:lvl5pPr>
            <a:lvl6pPr>
              <a:defRPr sz="2100" b="0">
                <a:solidFill>
                  <a:srgbClr val="17243C"/>
                </a:solidFill>
                <a:latin typeface="Helvetica Neue"/>
                <a:ea typeface="Helvetica Neue"/>
                <a:cs typeface="Helvetica Neue"/>
              </a:defRPr>
            </a:lvl6pPr>
            <a:lvl7pPr>
              <a:defRPr sz="2100" b="0">
                <a:solidFill>
                  <a:srgbClr val="17243C"/>
                </a:solidFill>
                <a:latin typeface="Helvetica Neue"/>
                <a:ea typeface="Helvetica Neue"/>
                <a:cs typeface="Helvetica Neue"/>
              </a:defRPr>
            </a:lvl7pPr>
            <a:lvl8pPr>
              <a:defRPr sz="2100" b="0">
                <a:solidFill>
                  <a:srgbClr val="17243C"/>
                </a:solidFill>
                <a:latin typeface="Helvetica Neue"/>
                <a:ea typeface="Helvetica Neue"/>
                <a:cs typeface="Helvetica Neue"/>
              </a:defRPr>
            </a:lvl8pPr>
            <a:lvl9pPr>
              <a:defRPr sz="2100" b="0">
                <a:solidFill>
                  <a:srgbClr val="17243C"/>
                </a:solidFill>
                <a:latin typeface="Helvetica Neue"/>
                <a:ea typeface="Helvetica Neue"/>
                <a:cs typeface="Helvetica Neue"/>
              </a:defRPr>
            </a:lvl9pPr>
          </a:lstStyle>
          <a:p xmlns:a="http://schemas.openxmlformats.org/drawingml/2006/main">
            <a:pPr>
              <a:defRPr sz="2100" b="0">
                <a:solidFill>
                  <a:srgbClr val="17243C"/>
                </a:solidFill>
                <a:latin typeface="Helvetica Neue"/>
                <a:ea typeface="Helvetica Neue"/>
                <a:cs typeface="Helvetica Neue"/>
              </a:defRPr>
            </a:pPr>
            <a:r>
              <a:rPr sz="2100" b="0">
                <a:solidFill>
                  <a:srgbClr val="17243C"/>
                </a:solidFill>
                <a:latin typeface="Helvetica Neue"/>
                <a:ea typeface="Helvetica Neue"/>
                <a:cs typeface="Helvetica Neue"/>
              </a:rPr>
              <a:t>All eligible training cases. Up to 20 epochs with validation early stopping.</a:t>
            </a:r>
          </a:p>
          <a:p xmlns:a="http://schemas.openxmlformats.org/drawingml/2006/main">
            <a:pPr>
              <a:defRPr sz="2100" b="0">
                <a:solidFill>
                  <a:srgbClr val="17243C"/>
                </a:solidFill>
                <a:latin typeface="Helvetica Neue"/>
                <a:ea typeface="Helvetica Neue"/>
                <a:cs typeface="Helvetica Neue"/>
              </a:defRPr>
            </a:pPr>
            <a:r>
              <a:rPr sz="2100" b="0">
                <a:solidFill>
                  <a:srgbClr val="17243C"/>
                </a:solidFill>
                <a:latin typeface="Helvetica Neue"/>
                <a:ea typeface="Helvetica Neue"/>
                <a:cs typeface="Helvetica Neue"/>
              </a:rPr>
              <a:t>Each domain and seed shares the same selected head across its three arms.</a:t>
            </a:r>
          </a:p>
        </p:txBody>
      </p:sp>
      <p:sp>
        <p:nvSpPr>
          <p:cNvPr id="5" name="text-32">
            <a:extLst xmlns:a="http://schemas.openxmlformats.org/drawingml/2006/main">
              <a:ext uri="{FF2B5EF4-FFF2-40B4-BE49-F238E27FC236}">
                <a16:creationId xmlns:a16="http://schemas.microsoft.com/office/drawing/2014/main" id="{0BC80294-A295-4973-ABC5-CB1197182648}"/>
              </a:ext>
            </a:extLst>
          </p:cNvPr>
          <p:cNvSpPr>
            <a:spLocks xmlns:a="http://schemas.openxmlformats.org/drawingml/2006/main" noGrp="1"/>
          </p:cNvSpPr>
          <p:nvPr/>
        </p:nvSpPr>
        <p:spPr>
          <a:xfrm xmlns:a="http://schemas.openxmlformats.org/drawingml/2006/main">
            <a:off x="723900" y="3695700"/>
            <a:ext cx="666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A967B"/>
                </a:solidFill>
                <a:latin typeface="Helvetica Neue"/>
                <a:ea typeface="Helvetica Neue"/>
                <a:cs typeface="Helvetica Neue"/>
              </a:defRPr>
            </a:defPPr>
            <a:lvl1pPr>
              <a:defRPr sz="2400" b="1">
                <a:solidFill>
                  <a:srgbClr val="1A967B"/>
                </a:solidFill>
                <a:latin typeface="Helvetica Neue"/>
                <a:ea typeface="Helvetica Neue"/>
                <a:cs typeface="Helvetica Neue"/>
              </a:defRPr>
            </a:lvl1pPr>
            <a:lvl2pPr>
              <a:defRPr sz="2400" b="1">
                <a:solidFill>
                  <a:srgbClr val="1A967B"/>
                </a:solidFill>
                <a:latin typeface="Helvetica Neue"/>
                <a:ea typeface="Helvetica Neue"/>
                <a:cs typeface="Helvetica Neue"/>
              </a:defRPr>
            </a:lvl2pPr>
            <a:lvl3pPr>
              <a:defRPr sz="2400" b="1">
                <a:solidFill>
                  <a:srgbClr val="1A967B"/>
                </a:solidFill>
                <a:latin typeface="Helvetica Neue"/>
                <a:ea typeface="Helvetica Neue"/>
                <a:cs typeface="Helvetica Neue"/>
              </a:defRPr>
            </a:lvl3pPr>
            <a:lvl4pPr>
              <a:defRPr sz="2400" b="1">
                <a:solidFill>
                  <a:srgbClr val="1A967B"/>
                </a:solidFill>
                <a:latin typeface="Helvetica Neue"/>
                <a:ea typeface="Helvetica Neue"/>
                <a:cs typeface="Helvetica Neue"/>
              </a:defRPr>
            </a:lvl4pPr>
            <a:lvl5pPr>
              <a:defRPr sz="2400" b="1">
                <a:solidFill>
                  <a:srgbClr val="1A967B"/>
                </a:solidFill>
                <a:latin typeface="Helvetica Neue"/>
                <a:ea typeface="Helvetica Neue"/>
                <a:cs typeface="Helvetica Neue"/>
              </a:defRPr>
            </a:lvl5pPr>
            <a:lvl6pPr>
              <a:defRPr sz="2400" b="1">
                <a:solidFill>
                  <a:srgbClr val="1A967B"/>
                </a:solidFill>
                <a:latin typeface="Helvetica Neue"/>
                <a:ea typeface="Helvetica Neue"/>
                <a:cs typeface="Helvetica Neue"/>
              </a:defRPr>
            </a:lvl6pPr>
            <a:lvl7pPr>
              <a:defRPr sz="2400" b="1">
                <a:solidFill>
                  <a:srgbClr val="1A967B"/>
                </a:solidFill>
                <a:latin typeface="Helvetica Neue"/>
                <a:ea typeface="Helvetica Neue"/>
                <a:cs typeface="Helvetica Neue"/>
              </a:defRPr>
            </a:lvl7pPr>
            <a:lvl8pPr>
              <a:defRPr sz="2400" b="1">
                <a:solidFill>
                  <a:srgbClr val="1A967B"/>
                </a:solidFill>
                <a:latin typeface="Helvetica Neue"/>
                <a:ea typeface="Helvetica Neue"/>
                <a:cs typeface="Helvetica Neue"/>
              </a:defRPr>
            </a:lvl8pPr>
            <a:lvl9pPr>
              <a:defRPr sz="2400" b="1">
                <a:solidFill>
                  <a:srgbClr val="1A967B"/>
                </a:solidFill>
                <a:latin typeface="Helvetica Neue"/>
                <a:ea typeface="Helvetica Neue"/>
                <a:cs typeface="Helvetica Neue"/>
              </a:defRPr>
            </a:lvl9pPr>
          </a:lstStyle>
          <a:p xmlns:a="http://schemas.openxmlformats.org/drawingml/2006/main">
            <a:pPr>
              <a:defRPr sz="2400" b="1">
                <a:solidFill>
                  <a:srgbClr val="1A967B"/>
                </a:solidFill>
                <a:latin typeface="Helvetica Neue"/>
                <a:ea typeface="Helvetica Neue"/>
                <a:cs typeface="Helvetica Neue"/>
              </a:defRPr>
            </a:pPr>
            <a:r>
              <a:rPr sz="2400" b="1">
                <a:solidFill>
                  <a:srgbClr val="1A967B"/>
                </a:solidFill>
                <a:latin typeface="Helvetica Neue"/>
                <a:ea typeface="Helvetica Neue"/>
                <a:cs typeface="Helvetica Neue"/>
              </a:rPr>
              <a:t>Controlled adaptation</a:t>
            </a:r>
          </a:p>
        </p:txBody>
      </p:sp>
      <p:sp>
        <p:nvSpPr>
          <p:cNvPr id="6" name="text-33">
            <a:extLst xmlns:a="http://schemas.openxmlformats.org/drawingml/2006/main">
              <a:ext uri="{FF2B5EF4-FFF2-40B4-BE49-F238E27FC236}">
                <a16:creationId xmlns:a16="http://schemas.microsoft.com/office/drawing/2014/main" id="{0D323D74-B750-40F0-B853-56EF31C37DC4}"/>
              </a:ext>
            </a:extLst>
          </p:cNvPr>
          <p:cNvSpPr>
            <a:spLocks xmlns:a="http://schemas.openxmlformats.org/drawingml/2006/main" noGrp="1"/>
          </p:cNvSpPr>
          <p:nvPr/>
        </p:nvSpPr>
        <p:spPr>
          <a:xfrm xmlns:a="http://schemas.openxmlformats.org/drawingml/2006/main">
            <a:off x="723900" y="43243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243C"/>
                </a:solidFill>
                <a:latin typeface="Helvetica Neue"/>
                <a:ea typeface="Helvetica Neue"/>
                <a:cs typeface="Helvetica Neue"/>
              </a:defRPr>
            </a:defPPr>
            <a:lvl1pPr>
              <a:defRPr sz="2100" b="0">
                <a:solidFill>
                  <a:srgbClr val="17243C"/>
                </a:solidFill>
                <a:latin typeface="Helvetica Neue"/>
                <a:ea typeface="Helvetica Neue"/>
                <a:cs typeface="Helvetica Neue"/>
              </a:defRPr>
            </a:lvl1pPr>
            <a:lvl2pPr>
              <a:defRPr sz="2100" b="0">
                <a:solidFill>
                  <a:srgbClr val="17243C"/>
                </a:solidFill>
                <a:latin typeface="Helvetica Neue"/>
                <a:ea typeface="Helvetica Neue"/>
                <a:cs typeface="Helvetica Neue"/>
              </a:defRPr>
            </a:lvl2pPr>
            <a:lvl3pPr>
              <a:defRPr sz="2100" b="0">
                <a:solidFill>
                  <a:srgbClr val="17243C"/>
                </a:solidFill>
                <a:latin typeface="Helvetica Neue"/>
                <a:ea typeface="Helvetica Neue"/>
                <a:cs typeface="Helvetica Neue"/>
              </a:defRPr>
            </a:lvl3pPr>
            <a:lvl4pPr>
              <a:defRPr sz="2100" b="0">
                <a:solidFill>
                  <a:srgbClr val="17243C"/>
                </a:solidFill>
                <a:latin typeface="Helvetica Neue"/>
                <a:ea typeface="Helvetica Neue"/>
                <a:cs typeface="Helvetica Neue"/>
              </a:defRPr>
            </a:lvl4pPr>
            <a:lvl5pPr>
              <a:defRPr sz="2100" b="0">
                <a:solidFill>
                  <a:srgbClr val="17243C"/>
                </a:solidFill>
                <a:latin typeface="Helvetica Neue"/>
                <a:ea typeface="Helvetica Neue"/>
                <a:cs typeface="Helvetica Neue"/>
              </a:defRPr>
            </a:lvl5pPr>
            <a:lvl6pPr>
              <a:defRPr sz="2100" b="0">
                <a:solidFill>
                  <a:srgbClr val="17243C"/>
                </a:solidFill>
                <a:latin typeface="Helvetica Neue"/>
                <a:ea typeface="Helvetica Neue"/>
                <a:cs typeface="Helvetica Neue"/>
              </a:defRPr>
            </a:lvl6pPr>
            <a:lvl7pPr>
              <a:defRPr sz="2100" b="0">
                <a:solidFill>
                  <a:srgbClr val="17243C"/>
                </a:solidFill>
                <a:latin typeface="Helvetica Neue"/>
                <a:ea typeface="Helvetica Neue"/>
                <a:cs typeface="Helvetica Neue"/>
              </a:defRPr>
            </a:lvl7pPr>
            <a:lvl8pPr>
              <a:defRPr sz="2100" b="0">
                <a:solidFill>
                  <a:srgbClr val="17243C"/>
                </a:solidFill>
                <a:latin typeface="Helvetica Neue"/>
                <a:ea typeface="Helvetica Neue"/>
                <a:cs typeface="Helvetica Neue"/>
              </a:defRPr>
            </a:lvl8pPr>
            <a:lvl9pPr>
              <a:defRPr sz="2100" b="0">
                <a:solidFill>
                  <a:srgbClr val="17243C"/>
                </a:solidFill>
                <a:latin typeface="Helvetica Neue"/>
                <a:ea typeface="Helvetica Neue"/>
                <a:cs typeface="Helvetica Neue"/>
              </a:defRPr>
            </a:lvl9pPr>
          </a:lstStyle>
          <a:p xmlns:a="http://schemas.openxmlformats.org/drawingml/2006/main">
            <a:pPr>
              <a:defRPr sz="2100" b="0">
                <a:solidFill>
                  <a:srgbClr val="17243C"/>
                </a:solidFill>
                <a:latin typeface="Helvetica Neue"/>
                <a:ea typeface="Helvetica Neue"/>
                <a:cs typeface="Helvetica Neue"/>
              </a:defRPr>
            </a:pPr>
            <a:r>
              <a:rPr sz="2100" b="0">
                <a:solidFill>
                  <a:srgbClr val="17243C"/>
                </a:solidFill>
                <a:latin typeface="Helvetica Neue"/>
                <a:ea typeface="Helvetica Neue"/>
                <a:cs typeface="Helvetica Neue"/>
              </a:rPr>
              <a:t>30,000 matched training cases per domain and seed. Two epochs.</a:t>
            </a:r>
          </a:p>
          <a:p xmlns:a="http://schemas.openxmlformats.org/drawingml/2006/main">
            <a:pPr>
              <a:defRPr sz="2100" b="0">
                <a:solidFill>
                  <a:srgbClr val="17243C"/>
                </a:solidFill>
                <a:latin typeface="Helvetica Neue"/>
                <a:ea typeface="Helvetica Neue"/>
                <a:cs typeface="Helvetica Neue"/>
              </a:defRPr>
            </a:pPr>
            <a:r>
              <a:rPr sz="2100" b="0">
                <a:solidFill>
                  <a:srgbClr val="17243C"/>
                </a:solidFill>
                <a:latin typeface="Helvetica Neue"/>
                <a:ea typeface="Helvetica Neue"/>
                <a:cs typeface="Helvetica Neue"/>
              </a:rPr>
              <a:t>Identical case order and sampled negatives across the three arms.</a:t>
            </a:r>
          </a:p>
        </p:txBody>
      </p:sp>
      <p:sp>
        <p:nvSpPr>
          <p:cNvPr id="7" name="text-34">
            <a:extLst xmlns:a="http://schemas.openxmlformats.org/drawingml/2006/main">
              <a:ext uri="{FF2B5EF4-FFF2-40B4-BE49-F238E27FC236}">
                <a16:creationId xmlns:a16="http://schemas.microsoft.com/office/drawing/2014/main" id="{690E9959-5679-4D7B-A57A-840ECC63B3E5}"/>
              </a:ext>
            </a:extLst>
          </p:cNvPr>
          <p:cNvSpPr>
            <a:spLocks xmlns:a="http://schemas.openxmlformats.org/drawingml/2006/main" noGrp="1"/>
          </p:cNvSpPr>
          <p:nvPr/>
        </p:nvSpPr>
        <p:spPr>
          <a:xfrm xmlns:a="http://schemas.openxmlformats.org/drawingml/2006/main">
            <a:off x="723900" y="55149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Full-catalogue validation NDCG@10 selects epoch 1 or 2.</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Three complete pipeline seeds per domain produce 27 formal test records.</a:t>
            </a:r>
          </a:p>
        </p:txBody>
      </p:sp>
    </p:spTree>
    <p:extLst>
      <p:ext uri="{BB962C8B-B14F-4D97-AF65-F5344CB8AC3E}">
        <p14:creationId xmlns:p14="http://schemas.microsoft.com/office/powerpoint/2010/main" val="389387349"/>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35">
            <a:extLst xmlns:a="http://schemas.openxmlformats.org/drawingml/2006/main">
              <a:ext uri="{FF2B5EF4-FFF2-40B4-BE49-F238E27FC236}">
                <a16:creationId xmlns:a16="http://schemas.microsoft.com/office/drawing/2014/main" id="{984ACA19-27E1-4B9B-9522-1B643FBBCDE2}"/>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Test recommendation quality</a:t>
            </a:r>
          </a:p>
        </p:txBody>
      </p:sp>
      <p:sp>
        <p:nvSpPr>
          <p:cNvPr id="2" name="text-36">
            <a:extLst xmlns:a="http://schemas.openxmlformats.org/drawingml/2006/main">
              <a:ext uri="{FF2B5EF4-FFF2-40B4-BE49-F238E27FC236}">
                <a16:creationId xmlns:a16="http://schemas.microsoft.com/office/drawing/2014/main" id="{5AE545FF-A5FB-4E5F-B4A1-51CAE2B353B0}"/>
              </a:ext>
            </a:extLst>
          </p:cNvPr>
          <p:cNvSpPr>
            <a:spLocks xmlns:a="http://schemas.openxmlformats.org/drawingml/2006/main" noGrp="1"/>
          </p:cNvSpPr>
          <p:nvPr/>
        </p:nvSpPr>
        <p:spPr>
          <a:xfrm xmlns:a="http://schemas.openxmlformats.org/drawingml/2006/main">
            <a:off x="704850" y="12858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86C7C"/>
                </a:solidFill>
                <a:latin typeface="Helvetica Neue"/>
                <a:ea typeface="Helvetica Neue"/>
                <a:cs typeface="Helvetica Neue"/>
              </a:defRPr>
            </a:defPPr>
            <a:lvl1pPr>
              <a:defRPr sz="1875" b="0">
                <a:solidFill>
                  <a:srgbClr val="586C7C"/>
                </a:solidFill>
                <a:latin typeface="Helvetica Neue"/>
                <a:ea typeface="Helvetica Neue"/>
                <a:cs typeface="Helvetica Neue"/>
              </a:defRPr>
            </a:lvl1pPr>
            <a:lvl2pPr>
              <a:defRPr sz="1875" b="0">
                <a:solidFill>
                  <a:srgbClr val="586C7C"/>
                </a:solidFill>
                <a:latin typeface="Helvetica Neue"/>
                <a:ea typeface="Helvetica Neue"/>
                <a:cs typeface="Helvetica Neue"/>
              </a:defRPr>
            </a:lvl2pPr>
            <a:lvl3pPr>
              <a:defRPr sz="1875" b="0">
                <a:solidFill>
                  <a:srgbClr val="586C7C"/>
                </a:solidFill>
                <a:latin typeface="Helvetica Neue"/>
                <a:ea typeface="Helvetica Neue"/>
                <a:cs typeface="Helvetica Neue"/>
              </a:defRPr>
            </a:lvl3pPr>
            <a:lvl4pPr>
              <a:defRPr sz="1875" b="0">
                <a:solidFill>
                  <a:srgbClr val="586C7C"/>
                </a:solidFill>
                <a:latin typeface="Helvetica Neue"/>
                <a:ea typeface="Helvetica Neue"/>
                <a:cs typeface="Helvetica Neue"/>
              </a:defRPr>
            </a:lvl4pPr>
            <a:lvl5pPr>
              <a:defRPr sz="1875" b="0">
                <a:solidFill>
                  <a:srgbClr val="586C7C"/>
                </a:solidFill>
                <a:latin typeface="Helvetica Neue"/>
                <a:ea typeface="Helvetica Neue"/>
                <a:cs typeface="Helvetica Neue"/>
              </a:defRPr>
            </a:lvl5pPr>
            <a:lvl6pPr>
              <a:defRPr sz="1875" b="0">
                <a:solidFill>
                  <a:srgbClr val="586C7C"/>
                </a:solidFill>
                <a:latin typeface="Helvetica Neue"/>
                <a:ea typeface="Helvetica Neue"/>
                <a:cs typeface="Helvetica Neue"/>
              </a:defRPr>
            </a:lvl6pPr>
            <a:lvl7pPr>
              <a:defRPr sz="1875" b="0">
                <a:solidFill>
                  <a:srgbClr val="586C7C"/>
                </a:solidFill>
                <a:latin typeface="Helvetica Neue"/>
                <a:ea typeface="Helvetica Neue"/>
                <a:cs typeface="Helvetica Neue"/>
              </a:defRPr>
            </a:lvl7pPr>
            <a:lvl8pPr>
              <a:defRPr sz="1875" b="0">
                <a:solidFill>
                  <a:srgbClr val="586C7C"/>
                </a:solidFill>
                <a:latin typeface="Helvetica Neue"/>
                <a:ea typeface="Helvetica Neue"/>
                <a:cs typeface="Helvetica Neue"/>
              </a:defRPr>
            </a:lvl8pPr>
            <a:lvl9pPr>
              <a:defRPr sz="1875" b="0">
                <a:solidFill>
                  <a:srgbClr val="586C7C"/>
                </a:solidFill>
                <a:latin typeface="Helvetica Neue"/>
                <a:ea typeface="Helvetica Neue"/>
                <a:cs typeface="Helvetica Neue"/>
              </a:defRPr>
            </a:lvl9pPr>
          </a:lstStyle>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User-macro NDCG@10. Mean across three complete pipeline seeds.</a:t>
            </a:r>
          </a:p>
        </p:txBody>
      </p:sp>
      <p:sp>
        <p:nvSpPr>
          <p:cNvPr id="3" name="text-37">
            <a:extLst xmlns:a="http://schemas.openxmlformats.org/drawingml/2006/main">
              <a:ext uri="{FF2B5EF4-FFF2-40B4-BE49-F238E27FC236}">
                <a16:creationId xmlns:a16="http://schemas.microsoft.com/office/drawing/2014/main" id="{5A28D766-E792-49CE-B7CA-685E7B0ABBE9}"/>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08  ShopLens</a:t>
            </a:r>
          </a:p>
        </p:txBody>
      </p:sp>
      <p:graphicFrame>
        <p:nvGraphicFramePr>
          <p:cNvPr id="4" name="Chart">
            <a:extLst xmlns:a="http://schemas.openxmlformats.org/drawingml/2006/main">
              <a:ext uri="{FF2B5EF4-FFF2-40B4-BE49-F238E27FC236}">
                <a16:creationId xmlns:a16="http://schemas.microsoft.com/office/drawing/2014/main" id="{00B36DC9-360B-4AF0-B3C0-F858AF08F3A9}"/>
              </a:ext>
            </a:extLst>
          </p:cNvPr>
          <p:cNvGraphicFramePr/>
          <p:nvPr/>
        </p:nvGraphicFramePr>
        <p:xfrm>
          <a:off xmlns:a="http://schemas.openxmlformats.org/drawingml/2006/main" x="685800" y="1952625"/>
          <a:ext xmlns:a="http://schemas.openxmlformats.org/drawingml/2006/main" cx="10820400" cy="3667125"/>
        </p:xfrm>
        <a:graphic xmlns:a="http://schemas.openxmlformats.org/drawingml/2006/main">
          <a:graphicData uri="http://schemas.openxmlformats.org/drawingml/2006/chart">
            <c:chart xmlns:r="http://schemas.openxmlformats.org/officeDocument/2006/relationships" xmlns:c="http://schemas.openxmlformats.org/drawingml/2006/chart" r:id="R068e32eb1e8b4231"/>
          </a:graphicData>
        </a:graphic>
      </p:graphicFrame>
      <p:sp>
        <p:nvSpPr>
          <p:cNvPr id="5" name="text-38">
            <a:extLst xmlns:a="http://schemas.openxmlformats.org/drawingml/2006/main">
              <a:ext uri="{FF2B5EF4-FFF2-40B4-BE49-F238E27FC236}">
                <a16:creationId xmlns:a16="http://schemas.microsoft.com/office/drawing/2014/main" id="{812619A9-B3A0-40D6-85B0-7D7C68A58E62}"/>
              </a:ext>
            </a:extLst>
          </p:cNvPr>
          <p:cNvSpPr>
            <a:spLocks xmlns:a="http://schemas.openxmlformats.org/drawingml/2006/main" noGrp="1"/>
          </p:cNvSpPr>
          <p:nvPr/>
        </p:nvSpPr>
        <p:spPr>
          <a:xfrm xmlns:a="http://schemas.openxmlformats.org/drawingml/2006/main">
            <a:off x="723900" y="58959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86C7C"/>
                </a:solidFill>
                <a:latin typeface="Helvetica Neue"/>
                <a:ea typeface="Helvetica Neue"/>
                <a:cs typeface="Helvetica Neue"/>
              </a:defRPr>
            </a:defPPr>
            <a:lvl1pPr>
              <a:defRPr sz="1875" b="0">
                <a:solidFill>
                  <a:srgbClr val="586C7C"/>
                </a:solidFill>
                <a:latin typeface="Helvetica Neue"/>
                <a:ea typeface="Helvetica Neue"/>
                <a:cs typeface="Helvetica Neue"/>
              </a:defRPr>
            </a:lvl1pPr>
            <a:lvl2pPr>
              <a:defRPr sz="1875" b="0">
                <a:solidFill>
                  <a:srgbClr val="586C7C"/>
                </a:solidFill>
                <a:latin typeface="Helvetica Neue"/>
                <a:ea typeface="Helvetica Neue"/>
                <a:cs typeface="Helvetica Neue"/>
              </a:defRPr>
            </a:lvl2pPr>
            <a:lvl3pPr>
              <a:defRPr sz="1875" b="0">
                <a:solidFill>
                  <a:srgbClr val="586C7C"/>
                </a:solidFill>
                <a:latin typeface="Helvetica Neue"/>
                <a:ea typeface="Helvetica Neue"/>
                <a:cs typeface="Helvetica Neue"/>
              </a:defRPr>
            </a:lvl3pPr>
            <a:lvl4pPr>
              <a:defRPr sz="1875" b="0">
                <a:solidFill>
                  <a:srgbClr val="586C7C"/>
                </a:solidFill>
                <a:latin typeface="Helvetica Neue"/>
                <a:ea typeface="Helvetica Neue"/>
                <a:cs typeface="Helvetica Neue"/>
              </a:defRPr>
            </a:lvl4pPr>
            <a:lvl5pPr>
              <a:defRPr sz="1875" b="0">
                <a:solidFill>
                  <a:srgbClr val="586C7C"/>
                </a:solidFill>
                <a:latin typeface="Helvetica Neue"/>
                <a:ea typeface="Helvetica Neue"/>
                <a:cs typeface="Helvetica Neue"/>
              </a:defRPr>
            </a:lvl5pPr>
            <a:lvl6pPr>
              <a:defRPr sz="1875" b="0">
                <a:solidFill>
                  <a:srgbClr val="586C7C"/>
                </a:solidFill>
                <a:latin typeface="Helvetica Neue"/>
                <a:ea typeface="Helvetica Neue"/>
                <a:cs typeface="Helvetica Neue"/>
              </a:defRPr>
            </a:lvl6pPr>
            <a:lvl7pPr>
              <a:defRPr sz="1875" b="0">
                <a:solidFill>
                  <a:srgbClr val="586C7C"/>
                </a:solidFill>
                <a:latin typeface="Helvetica Neue"/>
                <a:ea typeface="Helvetica Neue"/>
                <a:cs typeface="Helvetica Neue"/>
              </a:defRPr>
            </a:lvl7pPr>
            <a:lvl8pPr>
              <a:defRPr sz="1875" b="0">
                <a:solidFill>
                  <a:srgbClr val="586C7C"/>
                </a:solidFill>
                <a:latin typeface="Helvetica Neue"/>
                <a:ea typeface="Helvetica Neue"/>
                <a:cs typeface="Helvetica Neue"/>
              </a:defRPr>
            </a:lvl8pPr>
            <a:lvl9pPr>
              <a:defRPr sz="1875" b="0">
                <a:solidFill>
                  <a:srgbClr val="586C7C"/>
                </a:solidFill>
                <a:latin typeface="Helvetica Neue"/>
                <a:ea typeface="Helvetica Neue"/>
                <a:cs typeface="Helvetica Neue"/>
              </a:defRPr>
            </a:lvl9pPr>
          </a:lstStyle>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All arms share the data, image features, initialization and adaptation samples.</a:t>
            </a:r>
          </a:p>
        </p:txBody>
      </p:sp>
    </p:spTree>
    <p:extLst>
      <p:ext uri="{BB962C8B-B14F-4D97-AF65-F5344CB8AC3E}">
        <p14:creationId xmlns:p14="http://schemas.microsoft.com/office/powerpoint/2010/main" val="2119799939"/>
      </p:ext>
    </p:extLst>
  </p:cSld>
</p:sld>
</file>

<file path=ppt/slides/slide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39">
            <a:extLst xmlns:a="http://schemas.openxmlformats.org/drawingml/2006/main">
              <a:ext uri="{FF2B5EF4-FFF2-40B4-BE49-F238E27FC236}">
                <a16:creationId xmlns:a16="http://schemas.microsoft.com/office/drawing/2014/main" id="{DACC2154-4AB5-4E20-BA94-0E820CE650E6}"/>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Variation across complete pipeline seeds</a:t>
            </a:r>
          </a:p>
        </p:txBody>
      </p:sp>
      <p:sp>
        <p:nvSpPr>
          <p:cNvPr id="2" name="text-40">
            <a:extLst xmlns:a="http://schemas.openxmlformats.org/drawingml/2006/main">
              <a:ext uri="{FF2B5EF4-FFF2-40B4-BE49-F238E27FC236}">
                <a16:creationId xmlns:a16="http://schemas.microsoft.com/office/drawing/2014/main" id="{63C8D4BC-D497-426E-9479-C2E9BDF4A7FB}"/>
              </a:ext>
            </a:extLst>
          </p:cNvPr>
          <p:cNvSpPr>
            <a:spLocks xmlns:a="http://schemas.openxmlformats.org/drawingml/2006/main" noGrp="1"/>
          </p:cNvSpPr>
          <p:nvPr/>
        </p:nvSpPr>
        <p:spPr>
          <a:xfrm xmlns:a="http://schemas.openxmlformats.org/drawingml/2006/main">
            <a:off x="704850" y="12858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86C7C"/>
                </a:solidFill>
                <a:latin typeface="Helvetica Neue"/>
                <a:ea typeface="Helvetica Neue"/>
                <a:cs typeface="Helvetica Neue"/>
              </a:defRPr>
            </a:defPPr>
            <a:lvl1pPr>
              <a:defRPr sz="1875" b="0">
                <a:solidFill>
                  <a:srgbClr val="586C7C"/>
                </a:solidFill>
                <a:latin typeface="Helvetica Neue"/>
                <a:ea typeface="Helvetica Neue"/>
                <a:cs typeface="Helvetica Neue"/>
              </a:defRPr>
            </a:lvl1pPr>
            <a:lvl2pPr>
              <a:defRPr sz="1875" b="0">
                <a:solidFill>
                  <a:srgbClr val="586C7C"/>
                </a:solidFill>
                <a:latin typeface="Helvetica Neue"/>
                <a:ea typeface="Helvetica Neue"/>
                <a:cs typeface="Helvetica Neue"/>
              </a:defRPr>
            </a:lvl2pPr>
            <a:lvl3pPr>
              <a:defRPr sz="1875" b="0">
                <a:solidFill>
                  <a:srgbClr val="586C7C"/>
                </a:solidFill>
                <a:latin typeface="Helvetica Neue"/>
                <a:ea typeface="Helvetica Neue"/>
                <a:cs typeface="Helvetica Neue"/>
              </a:defRPr>
            </a:lvl3pPr>
            <a:lvl4pPr>
              <a:defRPr sz="1875" b="0">
                <a:solidFill>
                  <a:srgbClr val="586C7C"/>
                </a:solidFill>
                <a:latin typeface="Helvetica Neue"/>
                <a:ea typeface="Helvetica Neue"/>
                <a:cs typeface="Helvetica Neue"/>
              </a:defRPr>
            </a:lvl4pPr>
            <a:lvl5pPr>
              <a:defRPr sz="1875" b="0">
                <a:solidFill>
                  <a:srgbClr val="586C7C"/>
                </a:solidFill>
                <a:latin typeface="Helvetica Neue"/>
                <a:ea typeface="Helvetica Neue"/>
                <a:cs typeface="Helvetica Neue"/>
              </a:defRPr>
            </a:lvl5pPr>
            <a:lvl6pPr>
              <a:defRPr sz="1875" b="0">
                <a:solidFill>
                  <a:srgbClr val="586C7C"/>
                </a:solidFill>
                <a:latin typeface="Helvetica Neue"/>
                <a:ea typeface="Helvetica Neue"/>
                <a:cs typeface="Helvetica Neue"/>
              </a:defRPr>
            </a:lvl6pPr>
            <a:lvl7pPr>
              <a:defRPr sz="1875" b="0">
                <a:solidFill>
                  <a:srgbClr val="586C7C"/>
                </a:solidFill>
                <a:latin typeface="Helvetica Neue"/>
                <a:ea typeface="Helvetica Neue"/>
                <a:cs typeface="Helvetica Neue"/>
              </a:defRPr>
            </a:lvl7pPr>
            <a:lvl8pPr>
              <a:defRPr sz="1875" b="0">
                <a:solidFill>
                  <a:srgbClr val="586C7C"/>
                </a:solidFill>
                <a:latin typeface="Helvetica Neue"/>
                <a:ea typeface="Helvetica Neue"/>
                <a:cs typeface="Helvetica Neue"/>
              </a:defRPr>
            </a:lvl8pPr>
            <a:lvl9pPr>
              <a:defRPr sz="1875" b="0">
                <a:solidFill>
                  <a:srgbClr val="586C7C"/>
                </a:solidFill>
                <a:latin typeface="Helvetica Neue"/>
                <a:ea typeface="Helvetica Neue"/>
                <a:cs typeface="Helvetica Neue"/>
              </a:defRPr>
            </a:lvl9pPr>
          </a:lstStyle>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NDCG@10 mean ± sample standard deviation. Seeds 42, 43 and 44.</a:t>
            </a:r>
          </a:p>
        </p:txBody>
      </p:sp>
      <p:sp>
        <p:nvSpPr>
          <p:cNvPr id="3" name="text-41">
            <a:extLst xmlns:a="http://schemas.openxmlformats.org/drawingml/2006/main">
              <a:ext uri="{FF2B5EF4-FFF2-40B4-BE49-F238E27FC236}">
                <a16:creationId xmlns:a16="http://schemas.microsoft.com/office/drawing/2014/main" id="{FBE0B7C2-FDC1-4870-825C-79B6C78C7142}"/>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09  ShopLens</a:t>
            </a:r>
          </a:p>
        </p:txBody>
      </p:sp>
      <p:graphicFrame>
        <p:nvGraphicFramePr>
          <p:cNvPr id="4" name="">
            <a:extLst xmlns:a="http://schemas.openxmlformats.org/drawingml/2006/main">
              <a:ext uri="{FF2B5EF4-FFF2-40B4-BE49-F238E27FC236}">
                <a16:creationId xmlns:a16="http://schemas.microsoft.com/office/drawing/2014/main" id="{E4E2DCD3-EC34-4F50-BA0D-C19C20558F41}"/>
              </a:ext>
            </a:extLst>
          </p:cNvPr>
          <p:cNvGraphicFramePr/>
          <p:nvPr/>
        </p:nvGraphicFramePr>
        <p:xfrm>
          <a:off xmlns:a="http://schemas.openxmlformats.org/drawingml/2006/main" x="685800" y="2009775"/>
          <a:ext xmlns:a="http://schemas.openxmlformats.org/drawingml/2006/main" cx="10820400" cy="2238375"/>
        </p:xfrm>
        <a:graphic xmlns:a="http://schemas.openxmlformats.org/drawingml/2006/main">
          <a:graphicData uri="http://schemas.openxmlformats.org/drawingml/2006/table">
            <a:tbl>
              <a:tblPr firstRow="1" bandRow="0"/>
              <a:tblGrid>
                <a:gridCol w="2476500"/>
                <a:gridCol w="2781300"/>
                <a:gridCol w="2781300"/>
                <a:gridCol w="2781300"/>
              </a:tblGrid>
              <a:tr h="559594">
                <a:tc>
                  <a:txBody>
                    <a:bodyPr/>
                    <a:lstStyle/>
                    <a:p>
                      <a:r>
                        <a:rPr sz="1875" b="1">
                          <a:solidFill>
                            <a:srgbClr val="FFFFFF"/>
                          </a:solidFill>
                          <a:latin typeface="Helvetica Neue"/>
                          <a:ea typeface="Helvetica Neue"/>
                          <a:cs typeface="Helvetica Neue"/>
                        </a:rPr>
                        <a:t>Domain</a:t>
                      </a:r>
                    </a:p>
                  </a:txBody>
                  <a:tcPr marL="142875" marR="114300" marT="104775"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Frozen</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Semantic</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Preference</a:t>
                      </a:r>
                    </a:p>
                  </a:txBody>
                  <a:tcPr marL="142875" marR="114300" marT="104775"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559594">
                <a:tc>
                  <a:txBody>
                    <a:bodyPr/>
                    <a:lstStyle/>
                    <a:p>
                      <a:r>
                        <a:rPr sz="1875">
                          <a:solidFill>
                            <a:srgbClr val="17243C"/>
                          </a:solidFill>
                          <a:latin typeface="Helvetica Neue"/>
                          <a:ea typeface="Helvetica Neue"/>
                          <a:cs typeface="Helvetica Neue"/>
                        </a:rPr>
                        <a:t>Baby</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0.0128 ± 0.0010</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0.0099 ± 0.0007</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0.0125 ± 0.0008</a:t>
                      </a:r>
                    </a:p>
                  </a:txBody>
                  <a:tcPr marL="142875" marR="114300" marT="104775" marB="85725">
                    <a:lnR w="9525">
                      <a:solidFill>
                        <a:srgbClr val="DCE5E8"/>
                      </a:solidFill>
                      <a:prstDash val="solid"/>
                    </a:lnR>
                    <a:lnB w="9525">
                      <a:solidFill>
                        <a:srgbClr val="DCE5E8"/>
                      </a:solidFill>
                      <a:prstDash val="solid"/>
                    </a:lnB>
                    <a:solidFill>
                      <a:srgbClr val="FFFFFF"/>
                    </a:solidFill>
                  </a:tcPr>
                </a:tc>
              </a:tr>
              <a:tr h="559594">
                <a:tc>
                  <a:txBody>
                    <a:bodyPr/>
                    <a:lstStyle/>
                    <a:p>
                      <a:r>
                        <a:rPr sz="1875">
                          <a:solidFill>
                            <a:srgbClr val="17243C"/>
                          </a:solidFill>
                          <a:latin typeface="Helvetica Neue"/>
                          <a:ea typeface="Helvetica Neue"/>
                          <a:cs typeface="Helvetica Neue"/>
                        </a:rPr>
                        <a:t>Sports</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0.0071 ± 0.0007</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0.0069 ± 0.0006</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0.0070 ± 0.0006</a:t>
                      </a:r>
                    </a:p>
                  </a:txBody>
                  <a:tcPr marL="142875" marR="114300" marT="104775" marB="85725">
                    <a:lnR w="9525">
                      <a:solidFill>
                        <a:srgbClr val="DCE5E8"/>
                      </a:solidFill>
                      <a:prstDash val="solid"/>
                    </a:lnR>
                    <a:lnB w="9525">
                      <a:solidFill>
                        <a:srgbClr val="DCE5E8"/>
                      </a:solidFill>
                      <a:prstDash val="solid"/>
                    </a:lnB>
                    <a:solidFill>
                      <a:srgbClr val="FFFFFF"/>
                    </a:solidFill>
                  </a:tcPr>
                </a:tc>
              </a:tr>
              <a:tr h="559594">
                <a:tc>
                  <a:txBody>
                    <a:bodyPr/>
                    <a:lstStyle/>
                    <a:p>
                      <a:r>
                        <a:rPr sz="1875">
                          <a:solidFill>
                            <a:srgbClr val="17243C"/>
                          </a:solidFill>
                          <a:latin typeface="Helvetica Neue"/>
                          <a:ea typeface="Helvetica Neue"/>
                          <a:cs typeface="Helvetica Neue"/>
                        </a:rPr>
                        <a:t>Clothing</a:t>
                      </a:r>
                    </a:p>
                  </a:txBody>
                  <a:tcPr marL="142875" marR="114300" marT="104775"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0.0052 ± 0.0006</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0.0045 ± 0.0004</a:t>
                      </a:r>
                    </a:p>
                  </a:txBody>
                  <a:tcPr marL="142875" marR="114300" marT="104775"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0.0051 ± 0.0005</a:t>
                      </a:r>
                    </a:p>
                  </a:txBody>
                  <a:tcPr marL="142875" marR="114300" marT="104775"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5" name="text-42">
            <a:extLst xmlns:a="http://schemas.openxmlformats.org/drawingml/2006/main">
              <a:ext uri="{FF2B5EF4-FFF2-40B4-BE49-F238E27FC236}">
                <a16:creationId xmlns:a16="http://schemas.microsoft.com/office/drawing/2014/main" id="{D93A0035-1C96-4188-AA43-2CCD19410920}"/>
              </a:ext>
            </a:extLst>
          </p:cNvPr>
          <p:cNvSpPr>
            <a:spLocks xmlns:a="http://schemas.openxmlformats.org/drawingml/2006/main" noGrp="1"/>
          </p:cNvSpPr>
          <p:nvPr/>
        </p:nvSpPr>
        <p:spPr>
          <a:xfrm xmlns:a="http://schemas.openxmlformats.org/drawingml/2006/main">
            <a:off x="723900" y="46767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Paired changes relative to Frozen</a:t>
            </a:r>
          </a:p>
        </p:txBody>
      </p:sp>
      <p:sp>
        <p:nvSpPr>
          <p:cNvPr id="6" name="text-43">
            <a:extLst xmlns:a="http://schemas.openxmlformats.org/drawingml/2006/main">
              <a:ext uri="{FF2B5EF4-FFF2-40B4-BE49-F238E27FC236}">
                <a16:creationId xmlns:a16="http://schemas.microsoft.com/office/drawing/2014/main" id="{6E141FCB-F80A-4664-AEAC-102433D854EE}"/>
              </a:ext>
            </a:extLst>
          </p:cNvPr>
          <p:cNvSpPr>
            <a:spLocks xmlns:a="http://schemas.openxmlformats.org/drawingml/2006/main" noGrp="1"/>
          </p:cNvSpPr>
          <p:nvPr/>
        </p:nvSpPr>
        <p:spPr>
          <a:xfrm xmlns:a="http://schemas.openxmlformats.org/drawingml/2006/main">
            <a:off x="723900" y="52387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86C7C"/>
                </a:solidFill>
                <a:latin typeface="Helvetica Neue"/>
                <a:ea typeface="Helvetica Neue"/>
                <a:cs typeface="Helvetica Neue"/>
              </a:defRPr>
            </a:defPPr>
            <a:lvl1pPr>
              <a:defRPr sz="1950" b="0">
                <a:solidFill>
                  <a:srgbClr val="586C7C"/>
                </a:solidFill>
                <a:latin typeface="Helvetica Neue"/>
                <a:ea typeface="Helvetica Neue"/>
                <a:cs typeface="Helvetica Neue"/>
              </a:defRPr>
            </a:lvl1pPr>
            <a:lvl2pPr>
              <a:defRPr sz="1950" b="0">
                <a:solidFill>
                  <a:srgbClr val="586C7C"/>
                </a:solidFill>
                <a:latin typeface="Helvetica Neue"/>
                <a:ea typeface="Helvetica Neue"/>
                <a:cs typeface="Helvetica Neue"/>
              </a:defRPr>
            </a:lvl2pPr>
            <a:lvl3pPr>
              <a:defRPr sz="1950" b="0">
                <a:solidFill>
                  <a:srgbClr val="586C7C"/>
                </a:solidFill>
                <a:latin typeface="Helvetica Neue"/>
                <a:ea typeface="Helvetica Neue"/>
                <a:cs typeface="Helvetica Neue"/>
              </a:defRPr>
            </a:lvl3pPr>
            <a:lvl4pPr>
              <a:defRPr sz="1950" b="0">
                <a:solidFill>
                  <a:srgbClr val="586C7C"/>
                </a:solidFill>
                <a:latin typeface="Helvetica Neue"/>
                <a:ea typeface="Helvetica Neue"/>
                <a:cs typeface="Helvetica Neue"/>
              </a:defRPr>
            </a:lvl4pPr>
            <a:lvl5pPr>
              <a:defRPr sz="1950" b="0">
                <a:solidFill>
                  <a:srgbClr val="586C7C"/>
                </a:solidFill>
                <a:latin typeface="Helvetica Neue"/>
                <a:ea typeface="Helvetica Neue"/>
                <a:cs typeface="Helvetica Neue"/>
              </a:defRPr>
            </a:lvl5pPr>
            <a:lvl6pPr>
              <a:defRPr sz="1950" b="0">
                <a:solidFill>
                  <a:srgbClr val="586C7C"/>
                </a:solidFill>
                <a:latin typeface="Helvetica Neue"/>
                <a:ea typeface="Helvetica Neue"/>
                <a:cs typeface="Helvetica Neue"/>
              </a:defRPr>
            </a:lvl6pPr>
            <a:lvl7pPr>
              <a:defRPr sz="1950" b="0">
                <a:solidFill>
                  <a:srgbClr val="586C7C"/>
                </a:solidFill>
                <a:latin typeface="Helvetica Neue"/>
                <a:ea typeface="Helvetica Neue"/>
                <a:cs typeface="Helvetica Neue"/>
              </a:defRPr>
            </a:lvl7pPr>
            <a:lvl8pPr>
              <a:defRPr sz="1950" b="0">
                <a:solidFill>
                  <a:srgbClr val="586C7C"/>
                </a:solidFill>
                <a:latin typeface="Helvetica Neue"/>
                <a:ea typeface="Helvetica Neue"/>
                <a:cs typeface="Helvetica Neue"/>
              </a:defRPr>
            </a:lvl8pPr>
            <a:lvl9pPr>
              <a:defRPr sz="1950" b="0">
                <a:solidFill>
                  <a:srgbClr val="586C7C"/>
                </a:solidFill>
                <a:latin typeface="Helvetica Neue"/>
                <a:ea typeface="Helvetica Neue"/>
                <a:cs typeface="Helvetica Neue"/>
              </a:defRPr>
            </a:lvl9pPr>
          </a:lstStyle>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Baby: semantic −0.00287 (0/3 wins), preference −0.00032 (1/3 wins)</a:t>
            </a:r>
          </a:p>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Sports: semantic −0.00024 (2/3 wins), preference −0.00008 (1/3 wins)</a:t>
            </a:r>
          </a:p>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Clothing: semantic −0.00073 (0/3 wins), preference −0.00006 (1/3 wins)</a:t>
            </a:r>
          </a:p>
        </p:txBody>
      </p:sp>
    </p:spTree>
    <p:extLst>
      <p:ext uri="{BB962C8B-B14F-4D97-AF65-F5344CB8AC3E}">
        <p14:creationId xmlns:p14="http://schemas.microsoft.com/office/powerpoint/2010/main" val="455115492"/>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44">
            <a:extLst xmlns:a="http://schemas.openxmlformats.org/drawingml/2006/main">
              <a:ext uri="{FF2B5EF4-FFF2-40B4-BE49-F238E27FC236}">
                <a16:creationId xmlns:a16="http://schemas.microsoft.com/office/drawing/2014/main" id="{A7A220F9-AFD8-43E4-9938-7201E7580753}"/>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Products with few training interactions</a:t>
            </a:r>
          </a:p>
        </p:txBody>
      </p:sp>
      <p:sp>
        <p:nvSpPr>
          <p:cNvPr id="2" name="text-45">
            <a:extLst xmlns:a="http://schemas.openxmlformats.org/drawingml/2006/main">
              <a:ext uri="{FF2B5EF4-FFF2-40B4-BE49-F238E27FC236}">
                <a16:creationId xmlns:a16="http://schemas.microsoft.com/office/drawing/2014/main" id="{D2B3F7A0-2E8D-4DC0-AE3D-DC7EA6C0095C}"/>
              </a:ext>
            </a:extLst>
          </p:cNvPr>
          <p:cNvSpPr>
            <a:spLocks xmlns:a="http://schemas.openxmlformats.org/drawingml/2006/main" noGrp="1"/>
          </p:cNvSpPr>
          <p:nvPr/>
        </p:nvSpPr>
        <p:spPr>
          <a:xfrm xmlns:a="http://schemas.openxmlformats.org/drawingml/2006/main">
            <a:off x="704850" y="128587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86C7C"/>
                </a:solidFill>
                <a:latin typeface="Helvetica Neue"/>
                <a:ea typeface="Helvetica Neue"/>
                <a:cs typeface="Helvetica Neue"/>
              </a:defRPr>
            </a:defPPr>
            <a:lvl1pPr>
              <a:defRPr sz="1875" b="0">
                <a:solidFill>
                  <a:srgbClr val="586C7C"/>
                </a:solidFill>
                <a:latin typeface="Helvetica Neue"/>
                <a:ea typeface="Helvetica Neue"/>
                <a:cs typeface="Helvetica Neue"/>
              </a:defRPr>
            </a:lvl1pPr>
            <a:lvl2pPr>
              <a:defRPr sz="1875" b="0">
                <a:solidFill>
                  <a:srgbClr val="586C7C"/>
                </a:solidFill>
                <a:latin typeface="Helvetica Neue"/>
                <a:ea typeface="Helvetica Neue"/>
                <a:cs typeface="Helvetica Neue"/>
              </a:defRPr>
            </a:lvl2pPr>
            <a:lvl3pPr>
              <a:defRPr sz="1875" b="0">
                <a:solidFill>
                  <a:srgbClr val="586C7C"/>
                </a:solidFill>
                <a:latin typeface="Helvetica Neue"/>
                <a:ea typeface="Helvetica Neue"/>
                <a:cs typeface="Helvetica Neue"/>
              </a:defRPr>
            </a:lvl3pPr>
            <a:lvl4pPr>
              <a:defRPr sz="1875" b="0">
                <a:solidFill>
                  <a:srgbClr val="586C7C"/>
                </a:solidFill>
                <a:latin typeface="Helvetica Neue"/>
                <a:ea typeface="Helvetica Neue"/>
                <a:cs typeface="Helvetica Neue"/>
              </a:defRPr>
            </a:lvl4pPr>
            <a:lvl5pPr>
              <a:defRPr sz="1875" b="0">
                <a:solidFill>
                  <a:srgbClr val="586C7C"/>
                </a:solidFill>
                <a:latin typeface="Helvetica Neue"/>
                <a:ea typeface="Helvetica Neue"/>
                <a:cs typeface="Helvetica Neue"/>
              </a:defRPr>
            </a:lvl5pPr>
            <a:lvl6pPr>
              <a:defRPr sz="1875" b="0">
                <a:solidFill>
                  <a:srgbClr val="586C7C"/>
                </a:solidFill>
                <a:latin typeface="Helvetica Neue"/>
                <a:ea typeface="Helvetica Neue"/>
                <a:cs typeface="Helvetica Neue"/>
              </a:defRPr>
            </a:lvl6pPr>
            <a:lvl7pPr>
              <a:defRPr sz="1875" b="0">
                <a:solidFill>
                  <a:srgbClr val="586C7C"/>
                </a:solidFill>
                <a:latin typeface="Helvetica Neue"/>
                <a:ea typeface="Helvetica Neue"/>
                <a:cs typeface="Helvetica Neue"/>
              </a:defRPr>
            </a:lvl7pPr>
            <a:lvl8pPr>
              <a:defRPr sz="1875" b="0">
                <a:solidFill>
                  <a:srgbClr val="586C7C"/>
                </a:solidFill>
                <a:latin typeface="Helvetica Neue"/>
                <a:ea typeface="Helvetica Neue"/>
                <a:cs typeface="Helvetica Neue"/>
              </a:defRPr>
            </a:lvl8pPr>
            <a:lvl9pPr>
              <a:defRPr sz="1875" b="0">
                <a:solidFill>
                  <a:srgbClr val="586C7C"/>
                </a:solidFill>
                <a:latin typeface="Helvetica Neue"/>
                <a:ea typeface="Helvetica Neue"/>
                <a:cs typeface="Helvetica Neue"/>
              </a:defRPr>
            </a:lvl9pPr>
          </a:lstStyle>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Mean NDCG@10 for items with ≤5 distinct training-positive users, including zero</a:t>
            </a:r>
          </a:p>
        </p:txBody>
      </p:sp>
      <p:sp>
        <p:nvSpPr>
          <p:cNvPr id="3" name="text-46">
            <a:extLst xmlns:a="http://schemas.openxmlformats.org/drawingml/2006/main">
              <a:ext uri="{FF2B5EF4-FFF2-40B4-BE49-F238E27FC236}">
                <a16:creationId xmlns:a16="http://schemas.microsoft.com/office/drawing/2014/main" id="{5AD4449A-17B8-4078-A6BA-51D2059669EF}"/>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10  ShopLens</a:t>
            </a:r>
          </a:p>
        </p:txBody>
      </p:sp>
      <p:graphicFrame>
        <p:nvGraphicFramePr>
          <p:cNvPr id="4" name="Chart">
            <a:extLst xmlns:a="http://schemas.openxmlformats.org/drawingml/2006/main">
              <a:ext uri="{FF2B5EF4-FFF2-40B4-BE49-F238E27FC236}">
                <a16:creationId xmlns:a16="http://schemas.microsoft.com/office/drawing/2014/main" id="{94424C3E-6798-41D3-9EC8-454C59A5A5EB}"/>
              </a:ext>
            </a:extLst>
          </p:cNvPr>
          <p:cNvGraphicFramePr/>
          <p:nvPr/>
        </p:nvGraphicFramePr>
        <p:xfrm>
          <a:off xmlns:a="http://schemas.openxmlformats.org/drawingml/2006/main" x="685800" y="1952625"/>
          <a:ext xmlns:a="http://schemas.openxmlformats.org/drawingml/2006/main" cx="10820400" cy="3667125"/>
        </p:xfrm>
        <a:graphic xmlns:a="http://schemas.openxmlformats.org/drawingml/2006/main">
          <a:graphicData uri="http://schemas.openxmlformats.org/drawingml/2006/chart">
            <c:chart xmlns:r="http://schemas.openxmlformats.org/officeDocument/2006/relationships" xmlns:c="http://schemas.openxmlformats.org/drawingml/2006/chart" r:id="Rf077cd4313554a9d"/>
          </a:graphicData>
        </a:graphic>
      </p:graphicFrame>
      <p:sp>
        <p:nvSpPr>
          <p:cNvPr id="5" name="text-47">
            <a:extLst xmlns:a="http://schemas.openxmlformats.org/drawingml/2006/main">
              <a:ext uri="{FF2B5EF4-FFF2-40B4-BE49-F238E27FC236}">
                <a16:creationId xmlns:a16="http://schemas.microsoft.com/office/drawing/2014/main" id="{BAE0F2A9-FB93-4526-A890-D29EDCC31CC0}"/>
              </a:ext>
            </a:extLst>
          </p:cNvPr>
          <p:cNvSpPr>
            <a:spLocks xmlns:a="http://schemas.openxmlformats.org/drawingml/2006/main" noGrp="1"/>
          </p:cNvSpPr>
          <p:nvPr/>
        </p:nvSpPr>
        <p:spPr>
          <a:xfrm xmlns:a="http://schemas.openxmlformats.org/drawingml/2006/main">
            <a:off x="723900" y="57054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All three means are 0.00000 for Baby.</a:t>
            </a:r>
          </a:p>
        </p:txBody>
      </p:sp>
      <p:sp>
        <p:nvSpPr>
          <p:cNvPr id="6" name="text-48">
            <a:extLst xmlns:a="http://schemas.openxmlformats.org/drawingml/2006/main">
              <a:ext uri="{FF2B5EF4-FFF2-40B4-BE49-F238E27FC236}">
                <a16:creationId xmlns:a16="http://schemas.microsoft.com/office/drawing/2014/main" id="{8739361B-B3AC-483E-88E0-10F91C1DD311}"/>
              </a:ext>
            </a:extLst>
          </p:cNvPr>
          <p:cNvSpPr>
            <a:spLocks xmlns:a="http://schemas.openxmlformats.org/drawingml/2006/main" noGrp="1"/>
          </p:cNvSpPr>
          <p:nvPr/>
        </p:nvSpPr>
        <p:spPr>
          <a:xfrm xmlns:a="http://schemas.openxmlformats.org/drawingml/2006/main">
            <a:off x="723900" y="6057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C7C"/>
                </a:solidFill>
                <a:latin typeface="Helvetica Neue"/>
                <a:ea typeface="Helvetica Neue"/>
                <a:cs typeface="Helvetica Neue"/>
              </a:defRPr>
            </a:defPPr>
            <a:lvl1pPr>
              <a:defRPr sz="1725" b="0">
                <a:solidFill>
                  <a:srgbClr val="586C7C"/>
                </a:solidFill>
                <a:latin typeface="Helvetica Neue"/>
                <a:ea typeface="Helvetica Neue"/>
                <a:cs typeface="Helvetica Neue"/>
              </a:defRPr>
            </a:lvl1pPr>
            <a:lvl2pPr>
              <a:defRPr sz="1725" b="0">
                <a:solidFill>
                  <a:srgbClr val="586C7C"/>
                </a:solidFill>
                <a:latin typeface="Helvetica Neue"/>
                <a:ea typeface="Helvetica Neue"/>
                <a:cs typeface="Helvetica Neue"/>
              </a:defRPr>
            </a:lvl2pPr>
            <a:lvl3pPr>
              <a:defRPr sz="1725" b="0">
                <a:solidFill>
                  <a:srgbClr val="586C7C"/>
                </a:solidFill>
                <a:latin typeface="Helvetica Neue"/>
                <a:ea typeface="Helvetica Neue"/>
                <a:cs typeface="Helvetica Neue"/>
              </a:defRPr>
            </a:lvl3pPr>
            <a:lvl4pPr>
              <a:defRPr sz="1725" b="0">
                <a:solidFill>
                  <a:srgbClr val="586C7C"/>
                </a:solidFill>
                <a:latin typeface="Helvetica Neue"/>
                <a:ea typeface="Helvetica Neue"/>
                <a:cs typeface="Helvetica Neue"/>
              </a:defRPr>
            </a:lvl4pPr>
            <a:lvl5pPr>
              <a:defRPr sz="1725" b="0">
                <a:solidFill>
                  <a:srgbClr val="586C7C"/>
                </a:solidFill>
                <a:latin typeface="Helvetica Neue"/>
                <a:ea typeface="Helvetica Neue"/>
                <a:cs typeface="Helvetica Neue"/>
              </a:defRPr>
            </a:lvl5pPr>
            <a:lvl6pPr>
              <a:defRPr sz="1725" b="0">
                <a:solidFill>
                  <a:srgbClr val="586C7C"/>
                </a:solidFill>
                <a:latin typeface="Helvetica Neue"/>
                <a:ea typeface="Helvetica Neue"/>
                <a:cs typeface="Helvetica Neue"/>
              </a:defRPr>
            </a:lvl6pPr>
            <a:lvl7pPr>
              <a:defRPr sz="1725" b="0">
                <a:solidFill>
                  <a:srgbClr val="586C7C"/>
                </a:solidFill>
                <a:latin typeface="Helvetica Neue"/>
                <a:ea typeface="Helvetica Neue"/>
                <a:cs typeface="Helvetica Neue"/>
              </a:defRPr>
            </a:lvl7pPr>
            <a:lvl8pPr>
              <a:defRPr sz="1725" b="0">
                <a:solidFill>
                  <a:srgbClr val="586C7C"/>
                </a:solidFill>
                <a:latin typeface="Helvetica Neue"/>
                <a:ea typeface="Helvetica Neue"/>
                <a:cs typeface="Helvetica Neue"/>
              </a:defRPr>
            </a:lvl8pPr>
            <a:lvl9pPr>
              <a:defRPr sz="1725" b="0">
                <a:solidFill>
                  <a:srgbClr val="586C7C"/>
                </a:solidFill>
                <a:latin typeface="Helvetica Neue"/>
                <a:ea typeface="Helvetica Neue"/>
                <a:cs typeface="Helvetica Neue"/>
              </a:defRPr>
            </a:lvl9pPr>
          </a:lstStyle>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This cohort measures sparse-item ranking. It does not isolate strict unseen-item cold start.</a:t>
            </a:r>
          </a:p>
        </p:txBody>
      </p:sp>
    </p:spTree>
    <p:extLst>
      <p:ext uri="{BB962C8B-B14F-4D97-AF65-F5344CB8AC3E}">
        <p14:creationId xmlns:p14="http://schemas.microsoft.com/office/powerpoint/2010/main" val="1674723596"/>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49">
            <a:extLst xmlns:a="http://schemas.openxmlformats.org/drawingml/2006/main">
              <a:ext uri="{FF2B5EF4-FFF2-40B4-BE49-F238E27FC236}">
                <a16:creationId xmlns:a16="http://schemas.microsoft.com/office/drawing/2014/main" id="{21C82EB2-CD4B-419B-A81F-1994391A8239}"/>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Interactive comparison on a local machine</a:t>
            </a:r>
          </a:p>
        </p:txBody>
      </p:sp>
      <p:sp>
        <p:nvSpPr>
          <p:cNvPr id="2" name="text-50">
            <a:extLst xmlns:a="http://schemas.openxmlformats.org/drawingml/2006/main">
              <a:ext uri="{FF2B5EF4-FFF2-40B4-BE49-F238E27FC236}">
                <a16:creationId xmlns:a16="http://schemas.microsoft.com/office/drawing/2014/main" id="{ABAD8F59-F596-4F71-9A4B-CAC6B8B64126}"/>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11  ShopLens</a:t>
            </a:r>
          </a:p>
        </p:txBody>
      </p:sp>
      <p:pic>
        <p:nvPicPr>
          <p:cNvPr id="3" name="">
            <a:extLst xmlns:a="http://schemas.openxmlformats.org/drawingml/2006/main">
              <a:ext uri="{FF2B5EF4-FFF2-40B4-BE49-F238E27FC236}">
                <a16:creationId xmlns:a16="http://schemas.microsoft.com/office/drawing/2014/main" id="{8D46D609-2007-4E48-A9AB-D1580580ACB9}"/>
              </a:ext>
            </a:extLst>
          </p:cNvPr>
          <p:cNvPicPr>
            <a:picLocks xmlns:a="http://schemas.openxmlformats.org/drawingml/2006/main" noChangeAspect="1"/>
          </p:cNvPicPr>
          <p:nvPr/>
        </p:nvPicPr>
        <p:blipFill>
          <a:blip xmlns:r="http://schemas.openxmlformats.org/officeDocument/2006/relationships" xmlns:a="http://schemas.openxmlformats.org/drawingml/2006/main" r:embed="R375a05cd3de14ec6"/>
          <a:stretch xmlns:a="http://schemas.openxmlformats.org/drawingml/2006/main"/>
        </p:blipFill>
        <p:spPr>
          <a:xfrm xmlns:a="http://schemas.openxmlformats.org/drawingml/2006/main">
            <a:off x="1144905" y="1524000"/>
            <a:ext cx="6377940" cy="4429125"/>
          </a:xfrm>
          <a:prstGeom xmlns:a="http://schemas.openxmlformats.org/drawingml/2006/main" prst="rect">
            <a:avLst/>
          </a:prstGeom>
        </p:spPr>
      </p:pic>
      <p:sp>
        <p:nvSpPr>
          <p:cNvPr id="4" name="text-51">
            <a:extLst xmlns:a="http://schemas.openxmlformats.org/drawingml/2006/main">
              <a:ext uri="{FF2B5EF4-FFF2-40B4-BE49-F238E27FC236}">
                <a16:creationId xmlns:a16="http://schemas.microsoft.com/office/drawing/2014/main" id="{F4466775-4022-4ED3-9057-9F3CBB251DF5}"/>
              </a:ext>
            </a:extLst>
          </p:cNvPr>
          <p:cNvSpPr>
            <a:spLocks xmlns:a="http://schemas.openxmlformats.org/drawingml/2006/main" noGrp="1"/>
          </p:cNvSpPr>
          <p:nvPr/>
        </p:nvSpPr>
        <p:spPr>
          <a:xfrm xmlns:a="http://schemas.openxmlformats.org/drawingml/2006/main">
            <a:off x="8362950" y="1962150"/>
            <a:ext cx="304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One preference history</a:t>
            </a:r>
          </a:p>
        </p:txBody>
      </p:sp>
      <p:sp>
        <p:nvSpPr>
          <p:cNvPr id="5" name="text-52">
            <a:extLst xmlns:a="http://schemas.openxmlformats.org/drawingml/2006/main">
              <a:ext uri="{FF2B5EF4-FFF2-40B4-BE49-F238E27FC236}">
                <a16:creationId xmlns:a16="http://schemas.microsoft.com/office/drawing/2014/main" id="{25A4C186-AA54-44C1-B939-0399543FD5BC}"/>
              </a:ext>
            </a:extLst>
          </p:cNvPr>
          <p:cNvSpPr>
            <a:spLocks xmlns:a="http://schemas.openxmlformats.org/drawingml/2006/main" noGrp="1"/>
          </p:cNvSpPr>
          <p:nvPr/>
        </p:nvSpPr>
        <p:spPr>
          <a:xfrm xmlns:a="http://schemas.openxmlformats.org/drawingml/2006/main">
            <a:off x="8362950" y="3105150"/>
            <a:ext cx="304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defRPr sz="2100" b="0">
                <a:solidFill>
                  <a:srgbClr val="586C7C"/>
                </a:solidFill>
                <a:latin typeface="Helvetica Neue"/>
                <a:ea typeface="Helvetica Neue"/>
                <a:cs typeface="Helvetica Neue"/>
              </a:defRPr>
            </a:lvl1pPr>
            <a:lvl2pPr>
              <a:defRPr sz="2100" b="0">
                <a:solidFill>
                  <a:srgbClr val="586C7C"/>
                </a:solidFill>
                <a:latin typeface="Helvetica Neue"/>
                <a:ea typeface="Helvetica Neue"/>
                <a:cs typeface="Helvetica Neue"/>
              </a:defRPr>
            </a:lvl2pPr>
            <a:lvl3pPr>
              <a:defRPr sz="2100" b="0">
                <a:solidFill>
                  <a:srgbClr val="586C7C"/>
                </a:solidFill>
                <a:latin typeface="Helvetica Neue"/>
                <a:ea typeface="Helvetica Neue"/>
                <a:cs typeface="Helvetica Neue"/>
              </a:defRPr>
            </a:lvl3pPr>
            <a:lvl4pPr>
              <a:defRPr sz="2100" b="0">
                <a:solidFill>
                  <a:srgbClr val="586C7C"/>
                </a:solidFill>
                <a:latin typeface="Helvetica Neue"/>
                <a:ea typeface="Helvetica Neue"/>
                <a:cs typeface="Helvetica Neue"/>
              </a:defRPr>
            </a:lvl4pPr>
            <a:lvl5pPr>
              <a:defRPr sz="2100" b="0">
                <a:solidFill>
                  <a:srgbClr val="586C7C"/>
                </a:solidFill>
                <a:latin typeface="Helvetica Neue"/>
                <a:ea typeface="Helvetica Neue"/>
                <a:cs typeface="Helvetica Neue"/>
              </a:defRPr>
            </a:lvl5pPr>
            <a:lvl6pPr>
              <a:defRPr sz="2100" b="0">
                <a:solidFill>
                  <a:srgbClr val="586C7C"/>
                </a:solidFill>
                <a:latin typeface="Helvetica Neue"/>
                <a:ea typeface="Helvetica Neue"/>
                <a:cs typeface="Helvetica Neue"/>
              </a:defRPr>
            </a:lvl6pPr>
            <a:lvl7pPr>
              <a:defRPr sz="2100" b="0">
                <a:solidFill>
                  <a:srgbClr val="586C7C"/>
                </a:solidFill>
                <a:latin typeface="Helvetica Neue"/>
                <a:ea typeface="Helvetica Neue"/>
                <a:cs typeface="Helvetica Neue"/>
              </a:defRPr>
            </a:lvl7pPr>
            <a:lvl8pPr>
              <a:defRPr sz="2100" b="0">
                <a:solidFill>
                  <a:srgbClr val="586C7C"/>
                </a:solidFill>
                <a:latin typeface="Helvetica Neue"/>
                <a:ea typeface="Helvetica Neue"/>
                <a:cs typeface="Helvetica Neue"/>
              </a:defRPr>
            </a:lvl8pPr>
            <a:lvl9pPr>
              <a:defRPr sz="2100" b="0">
                <a:solidFill>
                  <a:srgbClr val="586C7C"/>
                </a:solidFill>
                <a:latin typeface="Helvetica Neue"/>
                <a:ea typeface="Helvetica Neue"/>
                <a:cs typeface="Helvetica Neue"/>
              </a:defRPr>
            </a:lvl9pPr>
          </a:lstStyle>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Compare the three objectives</a:t>
            </a:r>
          </a:p>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and inspect rank changes.</a:t>
            </a:r>
          </a:p>
        </p:txBody>
      </p:sp>
      <p:sp>
        <p:nvSpPr>
          <p:cNvPr id="6" name="text-53">
            <a:extLst xmlns:a="http://schemas.openxmlformats.org/drawingml/2006/main">
              <a:ext uri="{FF2B5EF4-FFF2-40B4-BE49-F238E27FC236}">
                <a16:creationId xmlns:a16="http://schemas.microsoft.com/office/drawing/2014/main" id="{2CA4D762-DC15-40F7-99C5-E3B79B04D526}"/>
              </a:ext>
            </a:extLst>
          </p:cNvPr>
          <p:cNvSpPr>
            <a:spLocks xmlns:a="http://schemas.openxmlformats.org/drawingml/2006/main" noGrp="1"/>
          </p:cNvSpPr>
          <p:nvPr/>
        </p:nvSpPr>
        <p:spPr>
          <a:xfrm xmlns:a="http://schemas.openxmlformats.org/drawingml/2006/main">
            <a:off x="8362950" y="4667250"/>
            <a:ext cx="304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347CDB"/>
                </a:solidFill>
                <a:latin typeface="Helvetica Neue"/>
                <a:ea typeface="Helvetica Neue"/>
                <a:cs typeface="Helvetica Neue"/>
              </a:defRPr>
            </a:defPPr>
            <a:lvl1pPr>
              <a:defRPr sz="2100" b="0">
                <a:solidFill>
                  <a:srgbClr val="347CDB"/>
                </a:solidFill>
                <a:latin typeface="Helvetica Neue"/>
                <a:ea typeface="Helvetica Neue"/>
                <a:cs typeface="Helvetica Neue"/>
              </a:defRPr>
            </a:lvl1pPr>
            <a:lvl2pPr>
              <a:defRPr sz="2100" b="0">
                <a:solidFill>
                  <a:srgbClr val="347CDB"/>
                </a:solidFill>
                <a:latin typeface="Helvetica Neue"/>
                <a:ea typeface="Helvetica Neue"/>
                <a:cs typeface="Helvetica Neue"/>
              </a:defRPr>
            </a:lvl2pPr>
            <a:lvl3pPr>
              <a:defRPr sz="2100" b="0">
                <a:solidFill>
                  <a:srgbClr val="347CDB"/>
                </a:solidFill>
                <a:latin typeface="Helvetica Neue"/>
                <a:ea typeface="Helvetica Neue"/>
                <a:cs typeface="Helvetica Neue"/>
              </a:defRPr>
            </a:lvl3pPr>
            <a:lvl4pPr>
              <a:defRPr sz="2100" b="0">
                <a:solidFill>
                  <a:srgbClr val="347CDB"/>
                </a:solidFill>
                <a:latin typeface="Helvetica Neue"/>
                <a:ea typeface="Helvetica Neue"/>
                <a:cs typeface="Helvetica Neue"/>
              </a:defRPr>
            </a:lvl4pPr>
            <a:lvl5pPr>
              <a:defRPr sz="2100" b="0">
                <a:solidFill>
                  <a:srgbClr val="347CDB"/>
                </a:solidFill>
                <a:latin typeface="Helvetica Neue"/>
                <a:ea typeface="Helvetica Neue"/>
                <a:cs typeface="Helvetica Neue"/>
              </a:defRPr>
            </a:lvl5pPr>
            <a:lvl6pPr>
              <a:defRPr sz="2100" b="0">
                <a:solidFill>
                  <a:srgbClr val="347CDB"/>
                </a:solidFill>
                <a:latin typeface="Helvetica Neue"/>
                <a:ea typeface="Helvetica Neue"/>
                <a:cs typeface="Helvetica Neue"/>
              </a:defRPr>
            </a:lvl6pPr>
            <a:lvl7pPr>
              <a:defRPr sz="2100" b="0">
                <a:solidFill>
                  <a:srgbClr val="347CDB"/>
                </a:solidFill>
                <a:latin typeface="Helvetica Neue"/>
                <a:ea typeface="Helvetica Neue"/>
                <a:cs typeface="Helvetica Neue"/>
              </a:defRPr>
            </a:lvl7pPr>
            <a:lvl8pPr>
              <a:defRPr sz="2100" b="0">
                <a:solidFill>
                  <a:srgbClr val="347CDB"/>
                </a:solidFill>
                <a:latin typeface="Helvetica Neue"/>
                <a:ea typeface="Helvetica Neue"/>
                <a:cs typeface="Helvetica Neue"/>
              </a:defRPr>
            </a:lvl8pPr>
            <a:lvl9pPr>
              <a:defRPr sz="2100" b="0">
                <a:solidFill>
                  <a:srgbClr val="347CDB"/>
                </a:solidFill>
                <a:latin typeface="Helvetica Neue"/>
                <a:ea typeface="Helvetica Neue"/>
                <a:cs typeface="Helvetica Neue"/>
              </a:defRPr>
            </a:lvl9pPr>
          </a:lstStyle>
          <a:p xmlns:a="http://schemas.openxmlformats.org/drawingml/2006/main">
            <a:pPr>
              <a:defRPr sz="2100" b="0">
                <a:solidFill>
                  <a:srgbClr val="347CDB"/>
                </a:solidFill>
                <a:latin typeface="Helvetica Neue"/>
                <a:ea typeface="Helvetica Neue"/>
                <a:cs typeface="Helvetica Neue"/>
              </a:defRPr>
            </a:pPr>
            <a:r>
              <a:rPr sz="2100" b="0">
                <a:solidFill>
                  <a:srgbClr val="347CDB"/>
                </a:solidFill>
                <a:latin typeface="Helvetica Neue"/>
                <a:ea typeface="Helvetica Neue"/>
                <a:cs typeface="Helvetica Neue"/>
              </a:rPr>
              <a:t>Cached vectors keep the</a:t>
            </a:r>
          </a:p>
          <a:p xmlns:a="http://schemas.openxmlformats.org/drawingml/2006/main">
            <a:pPr>
              <a:defRPr sz="2100" b="0">
                <a:solidFill>
                  <a:srgbClr val="347CDB"/>
                </a:solidFill>
                <a:latin typeface="Helvetica Neue"/>
                <a:ea typeface="Helvetica Neue"/>
                <a:cs typeface="Helvetica Neue"/>
              </a:defRPr>
            </a:pPr>
            <a:r>
              <a:rPr sz="2100" b="0">
                <a:solidFill>
                  <a:srgbClr val="347CDB"/>
                </a:solidFill>
                <a:latin typeface="Helvetica Neue"/>
                <a:ea typeface="Helvetica Neue"/>
                <a:cs typeface="Helvetica Neue"/>
              </a:rPr>
              <a:t>Qwen encoder off the</a:t>
            </a:r>
          </a:p>
          <a:p xmlns:a="http://schemas.openxmlformats.org/drawingml/2006/main">
            <a:pPr>
              <a:defRPr sz="2100" b="0">
                <a:solidFill>
                  <a:srgbClr val="347CDB"/>
                </a:solidFill>
                <a:latin typeface="Helvetica Neue"/>
                <a:ea typeface="Helvetica Neue"/>
                <a:cs typeface="Helvetica Neue"/>
              </a:defRPr>
            </a:pPr>
            <a:r>
              <a:rPr sz="2100" b="0">
                <a:solidFill>
                  <a:srgbClr val="347CDB"/>
                </a:solidFill>
                <a:latin typeface="Helvetica Neue"/>
                <a:ea typeface="Helvetica Neue"/>
                <a:cs typeface="Helvetica Neue"/>
              </a:rPr>
              <a:t>local inference path.</a:t>
            </a:r>
          </a:p>
        </p:txBody>
      </p:sp>
    </p:spTree>
    <p:extLst>
      <p:ext uri="{BB962C8B-B14F-4D97-AF65-F5344CB8AC3E}">
        <p14:creationId xmlns:p14="http://schemas.microsoft.com/office/powerpoint/2010/main" val="20932339"/>
      </p:ext>
    </p:extLst>
  </p:cSld>
</p:sld>
</file>

<file path=ppt/slides/slide1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54">
            <a:extLst xmlns:a="http://schemas.openxmlformats.org/drawingml/2006/main">
              <a:ext uri="{FF2B5EF4-FFF2-40B4-BE49-F238E27FC236}">
                <a16:creationId xmlns:a16="http://schemas.microsoft.com/office/drawing/2014/main" id="{D8D603AD-0E07-4CFF-9C79-D289C040E2E3}"/>
              </a:ext>
            </a:extLst>
          </p:cNvPr>
          <p:cNvSpPr>
            <a:spLocks xmlns:a="http://schemas.openxmlformats.org/drawingml/2006/main" noGrp="1"/>
          </p:cNvSpPr>
          <p:nvPr/>
        </p:nvSpPr>
        <p:spPr>
          <a:xfrm xmlns:a="http://schemas.openxmlformats.org/drawingml/2006/main">
            <a:off x="685800" y="495300"/>
            <a:ext cx="108204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243C"/>
                </a:solidFill>
                <a:latin typeface="Helvetica Neue"/>
                <a:ea typeface="Helvetica Neue"/>
                <a:cs typeface="Helvetica Neue"/>
              </a:defRPr>
            </a:defPPr>
            <a:lvl1pPr>
              <a:defRPr sz="3225" b="1">
                <a:solidFill>
                  <a:srgbClr val="17243C"/>
                </a:solidFill>
                <a:latin typeface="Helvetica Neue"/>
                <a:ea typeface="Helvetica Neue"/>
                <a:cs typeface="Helvetica Neue"/>
              </a:defRPr>
            </a:lvl1pPr>
            <a:lvl2pPr>
              <a:defRPr sz="3225" b="1">
                <a:solidFill>
                  <a:srgbClr val="17243C"/>
                </a:solidFill>
                <a:latin typeface="Helvetica Neue"/>
                <a:ea typeface="Helvetica Neue"/>
                <a:cs typeface="Helvetica Neue"/>
              </a:defRPr>
            </a:lvl2pPr>
            <a:lvl3pPr>
              <a:defRPr sz="3225" b="1">
                <a:solidFill>
                  <a:srgbClr val="17243C"/>
                </a:solidFill>
                <a:latin typeface="Helvetica Neue"/>
                <a:ea typeface="Helvetica Neue"/>
                <a:cs typeface="Helvetica Neue"/>
              </a:defRPr>
            </a:lvl3pPr>
            <a:lvl4pPr>
              <a:defRPr sz="3225" b="1">
                <a:solidFill>
                  <a:srgbClr val="17243C"/>
                </a:solidFill>
                <a:latin typeface="Helvetica Neue"/>
                <a:ea typeface="Helvetica Neue"/>
                <a:cs typeface="Helvetica Neue"/>
              </a:defRPr>
            </a:lvl4pPr>
            <a:lvl5pPr>
              <a:defRPr sz="3225" b="1">
                <a:solidFill>
                  <a:srgbClr val="17243C"/>
                </a:solidFill>
                <a:latin typeface="Helvetica Neue"/>
                <a:ea typeface="Helvetica Neue"/>
                <a:cs typeface="Helvetica Neue"/>
              </a:defRPr>
            </a:lvl5pPr>
            <a:lvl6pPr>
              <a:defRPr sz="3225" b="1">
                <a:solidFill>
                  <a:srgbClr val="17243C"/>
                </a:solidFill>
                <a:latin typeface="Helvetica Neue"/>
                <a:ea typeface="Helvetica Neue"/>
                <a:cs typeface="Helvetica Neue"/>
              </a:defRPr>
            </a:lvl6pPr>
            <a:lvl7pPr>
              <a:defRPr sz="3225" b="1">
                <a:solidFill>
                  <a:srgbClr val="17243C"/>
                </a:solidFill>
                <a:latin typeface="Helvetica Neue"/>
                <a:ea typeface="Helvetica Neue"/>
                <a:cs typeface="Helvetica Neue"/>
              </a:defRPr>
            </a:lvl7pPr>
            <a:lvl8pPr>
              <a:defRPr sz="3225" b="1">
                <a:solidFill>
                  <a:srgbClr val="17243C"/>
                </a:solidFill>
                <a:latin typeface="Helvetica Neue"/>
                <a:ea typeface="Helvetica Neue"/>
                <a:cs typeface="Helvetica Neue"/>
              </a:defRPr>
            </a:lvl8pPr>
            <a:lvl9pPr>
              <a:defRPr sz="3225" b="1">
                <a:solidFill>
                  <a:srgbClr val="17243C"/>
                </a:solidFill>
                <a:latin typeface="Helvetica Neue"/>
                <a:ea typeface="Helvetica Neue"/>
                <a:cs typeface="Helvetica Neue"/>
              </a:defRPr>
            </a:lvl9pPr>
          </a:lstStyle>
          <a:p xmlns:a="http://schemas.openxmlformats.org/drawingml/2006/main">
            <a:pPr>
              <a:defRPr sz="3225" b="1">
                <a:solidFill>
                  <a:srgbClr val="17243C"/>
                </a:solidFill>
                <a:latin typeface="Helvetica Neue"/>
                <a:ea typeface="Helvetica Neue"/>
                <a:cs typeface="Helvetica Neue"/>
              </a:defRPr>
            </a:pPr>
            <a:r>
              <a:rPr sz="3225" b="1">
                <a:solidFill>
                  <a:srgbClr val="17243C"/>
                </a:solidFill>
                <a:latin typeface="Helvetica Neue"/>
                <a:ea typeface="Helvetica Neue"/>
                <a:cs typeface="Helvetica Neue"/>
              </a:rPr>
              <a:t>Findings and scope</a:t>
            </a:r>
          </a:p>
        </p:txBody>
      </p:sp>
      <p:sp>
        <p:nvSpPr>
          <p:cNvPr id="2" name="text-55">
            <a:extLst xmlns:a="http://schemas.openxmlformats.org/drawingml/2006/main">
              <a:ext uri="{FF2B5EF4-FFF2-40B4-BE49-F238E27FC236}">
                <a16:creationId xmlns:a16="http://schemas.microsoft.com/office/drawing/2014/main" id="{51EC7678-2E5C-4CA1-A79B-95974E6D8F73}"/>
              </a:ext>
            </a:extLst>
          </p:cNvPr>
          <p:cNvSpPr>
            <a:spLocks xmlns:a="http://schemas.openxmlformats.org/drawingml/2006/main" noGrp="1"/>
          </p:cNvSpPr>
          <p:nvPr/>
        </p:nvSpPr>
        <p:spPr>
          <a:xfrm xmlns:a="http://schemas.openxmlformats.org/drawingml/2006/main">
            <a:off x="10096500" y="6419850"/>
            <a:ext cx="1409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12  ShopLens</a:t>
            </a:r>
          </a:p>
        </p:txBody>
      </p:sp>
      <p:sp>
        <p:nvSpPr>
          <p:cNvPr id="3" name="text-56">
            <a:extLst xmlns:a="http://schemas.openxmlformats.org/drawingml/2006/main">
              <a:ext uri="{FF2B5EF4-FFF2-40B4-BE49-F238E27FC236}">
                <a16:creationId xmlns:a16="http://schemas.microsoft.com/office/drawing/2014/main" id="{03B283E0-040A-40EB-9317-D2B4D6F28B58}"/>
              </a:ext>
            </a:extLst>
          </p:cNvPr>
          <p:cNvSpPr>
            <a:spLocks xmlns:a="http://schemas.openxmlformats.org/drawingml/2006/main" noGrp="1"/>
          </p:cNvSpPr>
          <p:nvPr/>
        </p:nvSpPr>
        <p:spPr>
          <a:xfrm xmlns:a="http://schemas.openxmlformats.org/drawingml/2006/main">
            <a:off x="723900" y="17526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347CDB"/>
                </a:solidFill>
                <a:latin typeface="Helvetica Neue"/>
                <a:ea typeface="Helvetica Neue"/>
                <a:cs typeface="Helvetica Neue"/>
              </a:defRPr>
            </a:defPPr>
            <a:lvl1pPr>
              <a:defRPr sz="2325" b="1">
                <a:solidFill>
                  <a:srgbClr val="347CDB"/>
                </a:solidFill>
                <a:latin typeface="Helvetica Neue"/>
                <a:ea typeface="Helvetica Neue"/>
                <a:cs typeface="Helvetica Neue"/>
              </a:defRPr>
            </a:lvl1pPr>
            <a:lvl2pPr>
              <a:defRPr sz="2325" b="1">
                <a:solidFill>
                  <a:srgbClr val="347CDB"/>
                </a:solidFill>
                <a:latin typeface="Helvetica Neue"/>
                <a:ea typeface="Helvetica Neue"/>
                <a:cs typeface="Helvetica Neue"/>
              </a:defRPr>
            </a:lvl2pPr>
            <a:lvl3pPr>
              <a:defRPr sz="2325" b="1">
                <a:solidFill>
                  <a:srgbClr val="347CDB"/>
                </a:solidFill>
                <a:latin typeface="Helvetica Neue"/>
                <a:ea typeface="Helvetica Neue"/>
                <a:cs typeface="Helvetica Neue"/>
              </a:defRPr>
            </a:lvl3pPr>
            <a:lvl4pPr>
              <a:defRPr sz="2325" b="1">
                <a:solidFill>
                  <a:srgbClr val="347CDB"/>
                </a:solidFill>
                <a:latin typeface="Helvetica Neue"/>
                <a:ea typeface="Helvetica Neue"/>
                <a:cs typeface="Helvetica Neue"/>
              </a:defRPr>
            </a:lvl4pPr>
            <a:lvl5pPr>
              <a:defRPr sz="2325" b="1">
                <a:solidFill>
                  <a:srgbClr val="347CDB"/>
                </a:solidFill>
                <a:latin typeface="Helvetica Neue"/>
                <a:ea typeface="Helvetica Neue"/>
                <a:cs typeface="Helvetica Neue"/>
              </a:defRPr>
            </a:lvl5pPr>
            <a:lvl6pPr>
              <a:defRPr sz="2325" b="1">
                <a:solidFill>
                  <a:srgbClr val="347CDB"/>
                </a:solidFill>
                <a:latin typeface="Helvetica Neue"/>
                <a:ea typeface="Helvetica Neue"/>
                <a:cs typeface="Helvetica Neue"/>
              </a:defRPr>
            </a:lvl6pPr>
            <a:lvl7pPr>
              <a:defRPr sz="2325" b="1">
                <a:solidFill>
                  <a:srgbClr val="347CDB"/>
                </a:solidFill>
                <a:latin typeface="Helvetica Neue"/>
                <a:ea typeface="Helvetica Neue"/>
                <a:cs typeface="Helvetica Neue"/>
              </a:defRPr>
            </a:lvl7pPr>
            <a:lvl8pPr>
              <a:defRPr sz="2325" b="1">
                <a:solidFill>
                  <a:srgbClr val="347CDB"/>
                </a:solidFill>
                <a:latin typeface="Helvetica Neue"/>
                <a:ea typeface="Helvetica Neue"/>
                <a:cs typeface="Helvetica Neue"/>
              </a:defRPr>
            </a:lvl8pPr>
            <a:lvl9pPr>
              <a:defRPr sz="2325" b="1">
                <a:solidFill>
                  <a:srgbClr val="347CDB"/>
                </a:solidFill>
                <a:latin typeface="Helvetica Neue"/>
                <a:ea typeface="Helvetica Neue"/>
                <a:cs typeface="Helvetica Neue"/>
              </a:defRPr>
            </a:lvl9pPr>
          </a:lstStyle>
          <a:p xmlns:a="http://schemas.openxmlformats.org/drawingml/2006/main">
            <a:pPr>
              <a:defRPr sz="2325" b="1">
                <a:solidFill>
                  <a:srgbClr val="347CDB"/>
                </a:solidFill>
                <a:latin typeface="Helvetica Neue"/>
                <a:ea typeface="Helvetica Neue"/>
                <a:cs typeface="Helvetica Neue"/>
              </a:defRPr>
            </a:pPr>
            <a:r>
              <a:rPr sz="2325" b="1">
                <a:solidFill>
                  <a:srgbClr val="347CDB"/>
                </a:solidFill>
                <a:latin typeface="Helvetica Neue"/>
                <a:ea typeface="Helvetica Neue"/>
                <a:cs typeface="Helvetica Neue"/>
              </a:rPr>
              <a:t>Semantic alignment exceeds frozen NDCG@10 in 2 of 9 matched domain-and-seed comparisons.</a:t>
            </a:r>
          </a:p>
        </p:txBody>
      </p:sp>
      <p:sp>
        <p:nvSpPr>
          <p:cNvPr id="4" name="text-57">
            <a:extLst xmlns:a="http://schemas.openxmlformats.org/drawingml/2006/main">
              <a:ext uri="{FF2B5EF4-FFF2-40B4-BE49-F238E27FC236}">
                <a16:creationId xmlns:a16="http://schemas.microsoft.com/office/drawing/2014/main" id="{4810351A-25F3-465B-AC4D-F6798B7B6256}"/>
              </a:ext>
            </a:extLst>
          </p:cNvPr>
          <p:cNvSpPr>
            <a:spLocks xmlns:a="http://schemas.openxmlformats.org/drawingml/2006/main" noGrp="1"/>
          </p:cNvSpPr>
          <p:nvPr/>
        </p:nvSpPr>
        <p:spPr>
          <a:xfrm xmlns:a="http://schemas.openxmlformats.org/drawingml/2006/main">
            <a:off x="723900" y="29241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A967B"/>
                </a:solidFill>
                <a:latin typeface="Helvetica Neue"/>
                <a:ea typeface="Helvetica Neue"/>
                <a:cs typeface="Helvetica Neue"/>
              </a:defRPr>
            </a:defPPr>
            <a:lvl1pPr>
              <a:defRPr sz="2325" b="1">
                <a:solidFill>
                  <a:srgbClr val="1A967B"/>
                </a:solidFill>
                <a:latin typeface="Helvetica Neue"/>
                <a:ea typeface="Helvetica Neue"/>
                <a:cs typeface="Helvetica Neue"/>
              </a:defRPr>
            </a:lvl1pPr>
            <a:lvl2pPr>
              <a:defRPr sz="2325" b="1">
                <a:solidFill>
                  <a:srgbClr val="1A967B"/>
                </a:solidFill>
                <a:latin typeface="Helvetica Neue"/>
                <a:ea typeface="Helvetica Neue"/>
                <a:cs typeface="Helvetica Neue"/>
              </a:defRPr>
            </a:lvl2pPr>
            <a:lvl3pPr>
              <a:defRPr sz="2325" b="1">
                <a:solidFill>
                  <a:srgbClr val="1A967B"/>
                </a:solidFill>
                <a:latin typeface="Helvetica Neue"/>
                <a:ea typeface="Helvetica Neue"/>
                <a:cs typeface="Helvetica Neue"/>
              </a:defRPr>
            </a:lvl3pPr>
            <a:lvl4pPr>
              <a:defRPr sz="2325" b="1">
                <a:solidFill>
                  <a:srgbClr val="1A967B"/>
                </a:solidFill>
                <a:latin typeface="Helvetica Neue"/>
                <a:ea typeface="Helvetica Neue"/>
                <a:cs typeface="Helvetica Neue"/>
              </a:defRPr>
            </a:lvl4pPr>
            <a:lvl5pPr>
              <a:defRPr sz="2325" b="1">
                <a:solidFill>
                  <a:srgbClr val="1A967B"/>
                </a:solidFill>
                <a:latin typeface="Helvetica Neue"/>
                <a:ea typeface="Helvetica Neue"/>
                <a:cs typeface="Helvetica Neue"/>
              </a:defRPr>
            </a:lvl5pPr>
            <a:lvl6pPr>
              <a:defRPr sz="2325" b="1">
                <a:solidFill>
                  <a:srgbClr val="1A967B"/>
                </a:solidFill>
                <a:latin typeface="Helvetica Neue"/>
                <a:ea typeface="Helvetica Neue"/>
                <a:cs typeface="Helvetica Neue"/>
              </a:defRPr>
            </a:lvl6pPr>
            <a:lvl7pPr>
              <a:defRPr sz="2325" b="1">
                <a:solidFill>
                  <a:srgbClr val="1A967B"/>
                </a:solidFill>
                <a:latin typeface="Helvetica Neue"/>
                <a:ea typeface="Helvetica Neue"/>
                <a:cs typeface="Helvetica Neue"/>
              </a:defRPr>
            </a:lvl7pPr>
            <a:lvl8pPr>
              <a:defRPr sz="2325" b="1">
                <a:solidFill>
                  <a:srgbClr val="1A967B"/>
                </a:solidFill>
                <a:latin typeface="Helvetica Neue"/>
                <a:ea typeface="Helvetica Neue"/>
                <a:cs typeface="Helvetica Neue"/>
              </a:defRPr>
            </a:lvl8pPr>
            <a:lvl9pPr>
              <a:defRPr sz="2325" b="1">
                <a:solidFill>
                  <a:srgbClr val="1A967B"/>
                </a:solidFill>
                <a:latin typeface="Helvetica Neue"/>
                <a:ea typeface="Helvetica Neue"/>
                <a:cs typeface="Helvetica Neue"/>
              </a:defRPr>
            </a:lvl9pPr>
          </a:lstStyle>
          <a:p xmlns:a="http://schemas.openxmlformats.org/drawingml/2006/main">
            <a:pPr>
              <a:defRPr sz="2325" b="1">
                <a:solidFill>
                  <a:srgbClr val="1A967B"/>
                </a:solidFill>
                <a:latin typeface="Helvetica Neue"/>
                <a:ea typeface="Helvetica Neue"/>
                <a:cs typeface="Helvetica Neue"/>
              </a:defRPr>
            </a:pPr>
            <a:r>
              <a:rPr sz="2325" b="1">
                <a:solidFill>
                  <a:srgbClr val="1A967B"/>
                </a:solidFill>
                <a:latin typeface="Helvetica Neue"/>
                <a:ea typeface="Helvetica Neue"/>
                <a:cs typeface="Helvetica Neue"/>
              </a:rPr>
              <a:t>Preference ranking exceeds frozen NDCG@10 in 3 of 9 matched domain-and-seed comparisons.</a:t>
            </a:r>
          </a:p>
        </p:txBody>
      </p:sp>
      <p:sp>
        <p:nvSpPr>
          <p:cNvPr id="5" name="text-58">
            <a:extLst xmlns:a="http://schemas.openxmlformats.org/drawingml/2006/main">
              <a:ext uri="{FF2B5EF4-FFF2-40B4-BE49-F238E27FC236}">
                <a16:creationId xmlns:a16="http://schemas.microsoft.com/office/drawing/2014/main" id="{7396DC4C-F132-4565-A1B1-C6C4920FF074}"/>
              </a:ext>
            </a:extLst>
          </p:cNvPr>
          <p:cNvSpPr>
            <a:spLocks xmlns:a="http://schemas.openxmlformats.org/drawingml/2006/main" noGrp="1"/>
          </p:cNvSpPr>
          <p:nvPr/>
        </p:nvSpPr>
        <p:spPr>
          <a:xfrm xmlns:a="http://schemas.openxmlformats.org/drawingml/2006/main">
            <a:off x="723900" y="40767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7243C"/>
                </a:solidFill>
                <a:latin typeface="Helvetica Neue"/>
                <a:ea typeface="Helvetica Neue"/>
                <a:cs typeface="Helvetica Neue"/>
              </a:defRPr>
            </a:defPPr>
            <a:lvl1pPr>
              <a:defRPr sz="2025" b="0">
                <a:solidFill>
                  <a:srgbClr val="17243C"/>
                </a:solidFill>
                <a:latin typeface="Helvetica Neue"/>
                <a:ea typeface="Helvetica Neue"/>
                <a:cs typeface="Helvetica Neue"/>
              </a:defRPr>
            </a:lvl1pPr>
            <a:lvl2pPr>
              <a:defRPr sz="2025" b="0">
                <a:solidFill>
                  <a:srgbClr val="17243C"/>
                </a:solidFill>
                <a:latin typeface="Helvetica Neue"/>
                <a:ea typeface="Helvetica Neue"/>
                <a:cs typeface="Helvetica Neue"/>
              </a:defRPr>
            </a:lvl2pPr>
            <a:lvl3pPr>
              <a:defRPr sz="2025" b="0">
                <a:solidFill>
                  <a:srgbClr val="17243C"/>
                </a:solidFill>
                <a:latin typeface="Helvetica Neue"/>
                <a:ea typeface="Helvetica Neue"/>
                <a:cs typeface="Helvetica Neue"/>
              </a:defRPr>
            </a:lvl3pPr>
            <a:lvl4pPr>
              <a:defRPr sz="2025" b="0">
                <a:solidFill>
                  <a:srgbClr val="17243C"/>
                </a:solidFill>
                <a:latin typeface="Helvetica Neue"/>
                <a:ea typeface="Helvetica Neue"/>
                <a:cs typeface="Helvetica Neue"/>
              </a:defRPr>
            </a:lvl4pPr>
            <a:lvl5pPr>
              <a:defRPr sz="2025" b="0">
                <a:solidFill>
                  <a:srgbClr val="17243C"/>
                </a:solidFill>
                <a:latin typeface="Helvetica Neue"/>
                <a:ea typeface="Helvetica Neue"/>
                <a:cs typeface="Helvetica Neue"/>
              </a:defRPr>
            </a:lvl5pPr>
            <a:lvl6pPr>
              <a:defRPr sz="2025" b="0">
                <a:solidFill>
                  <a:srgbClr val="17243C"/>
                </a:solidFill>
                <a:latin typeface="Helvetica Neue"/>
                <a:ea typeface="Helvetica Neue"/>
                <a:cs typeface="Helvetica Neue"/>
              </a:defRPr>
            </a:lvl6pPr>
            <a:lvl7pPr>
              <a:defRPr sz="2025" b="0">
                <a:solidFill>
                  <a:srgbClr val="17243C"/>
                </a:solidFill>
                <a:latin typeface="Helvetica Neue"/>
                <a:ea typeface="Helvetica Neue"/>
                <a:cs typeface="Helvetica Neue"/>
              </a:defRPr>
            </a:lvl7pPr>
            <a:lvl8pPr>
              <a:defRPr sz="2025" b="0">
                <a:solidFill>
                  <a:srgbClr val="17243C"/>
                </a:solidFill>
                <a:latin typeface="Helvetica Neue"/>
                <a:ea typeface="Helvetica Neue"/>
                <a:cs typeface="Helvetica Neue"/>
              </a:defRPr>
            </a:lvl8pPr>
            <a:lvl9pPr>
              <a:defRPr sz="2025" b="0">
                <a:solidFill>
                  <a:srgbClr val="17243C"/>
                </a:solidFill>
                <a:latin typeface="Helvetica Neue"/>
                <a:ea typeface="Helvetica Neue"/>
                <a:cs typeface="Helvetica Neue"/>
              </a:defRPr>
            </a:lvl9pPr>
          </a:lstStyle>
          <a:p xmlns:a="http://schemas.openxmlformats.org/drawingml/2006/main">
            <a:pPr>
              <a:defRPr sz="2025" b="0">
                <a:solidFill>
                  <a:srgbClr val="17243C"/>
                </a:solidFill>
                <a:latin typeface="Helvetica Neue"/>
                <a:ea typeface="Helvetica Neue"/>
                <a:cs typeface="Helvetica Neue"/>
              </a:defRPr>
            </a:pPr>
            <a:r>
              <a:rPr sz="2025" b="0">
                <a:solidFill>
                  <a:srgbClr val="17243C"/>
                </a:solidFill>
                <a:latin typeface="Helvetica Neue"/>
                <a:ea typeface="Helvetica Neue"/>
                <a:cs typeface="Helvetica Neue"/>
              </a:rPr>
              <a:t>The earlier baselines remain available. Their training budgets differ,</a:t>
            </a:r>
          </a:p>
          <a:p xmlns:a="http://schemas.openxmlformats.org/drawingml/2006/main">
            <a:pPr>
              <a:defRPr sz="2025" b="0">
                <a:solidFill>
                  <a:srgbClr val="17243C"/>
                </a:solidFill>
                <a:latin typeface="Helvetica Neue"/>
                <a:ea typeface="Helvetica Neue"/>
                <a:cs typeface="Helvetica Neue"/>
              </a:defRPr>
            </a:pPr>
            <a:r>
              <a:rPr sz="2025" b="0">
                <a:solidFill>
                  <a:srgbClr val="17243C"/>
                </a:solidFill>
                <a:latin typeface="Helvetica Neue"/>
                <a:ea typeface="Helvetica Neue"/>
                <a:cs typeface="Helvetica Neue"/>
              </a:rPr>
              <a:t>so a new-versus-old score cannot isolate a Qwen model effect.</a:t>
            </a:r>
          </a:p>
        </p:txBody>
      </p:sp>
      <p:sp>
        <p:nvSpPr>
          <p:cNvPr id="6" name="text-59">
            <a:extLst xmlns:a="http://schemas.openxmlformats.org/drawingml/2006/main">
              <a:ext uri="{FF2B5EF4-FFF2-40B4-BE49-F238E27FC236}">
                <a16:creationId xmlns:a16="http://schemas.microsoft.com/office/drawing/2014/main" id="{96E0DEF4-16B3-41B7-AA5F-BDD0E0D51586}"/>
              </a:ext>
            </a:extLst>
          </p:cNvPr>
          <p:cNvSpPr>
            <a:spLocks xmlns:a="http://schemas.openxmlformats.org/drawingml/2006/main" noGrp="1"/>
          </p:cNvSpPr>
          <p:nvPr/>
        </p:nvSpPr>
        <p:spPr>
          <a:xfrm xmlns:a="http://schemas.openxmlformats.org/drawingml/2006/main">
            <a:off x="723900" y="50292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86C7C"/>
                </a:solidFill>
                <a:latin typeface="Helvetica Neue"/>
                <a:ea typeface="Helvetica Neue"/>
                <a:cs typeface="Helvetica Neue"/>
              </a:defRPr>
            </a:defPPr>
            <a:lvl1pPr>
              <a:defRPr sz="1875" b="0">
                <a:solidFill>
                  <a:srgbClr val="586C7C"/>
                </a:solidFill>
                <a:latin typeface="Helvetica Neue"/>
                <a:ea typeface="Helvetica Neue"/>
                <a:cs typeface="Helvetica Neue"/>
              </a:defRPr>
            </a:lvl1pPr>
            <a:lvl2pPr>
              <a:defRPr sz="1875" b="0">
                <a:solidFill>
                  <a:srgbClr val="586C7C"/>
                </a:solidFill>
                <a:latin typeface="Helvetica Neue"/>
                <a:ea typeface="Helvetica Neue"/>
                <a:cs typeface="Helvetica Neue"/>
              </a:defRPr>
            </a:lvl2pPr>
            <a:lvl3pPr>
              <a:defRPr sz="1875" b="0">
                <a:solidFill>
                  <a:srgbClr val="586C7C"/>
                </a:solidFill>
                <a:latin typeface="Helvetica Neue"/>
                <a:ea typeface="Helvetica Neue"/>
                <a:cs typeface="Helvetica Neue"/>
              </a:defRPr>
            </a:lvl3pPr>
            <a:lvl4pPr>
              <a:defRPr sz="1875" b="0">
                <a:solidFill>
                  <a:srgbClr val="586C7C"/>
                </a:solidFill>
                <a:latin typeface="Helvetica Neue"/>
                <a:ea typeface="Helvetica Neue"/>
                <a:cs typeface="Helvetica Neue"/>
              </a:defRPr>
            </a:lvl4pPr>
            <a:lvl5pPr>
              <a:defRPr sz="1875" b="0">
                <a:solidFill>
                  <a:srgbClr val="586C7C"/>
                </a:solidFill>
                <a:latin typeface="Helvetica Neue"/>
                <a:ea typeface="Helvetica Neue"/>
                <a:cs typeface="Helvetica Neue"/>
              </a:defRPr>
            </a:lvl5pPr>
            <a:lvl6pPr>
              <a:defRPr sz="1875" b="0">
                <a:solidFill>
                  <a:srgbClr val="586C7C"/>
                </a:solidFill>
                <a:latin typeface="Helvetica Neue"/>
                <a:ea typeface="Helvetica Neue"/>
                <a:cs typeface="Helvetica Neue"/>
              </a:defRPr>
            </a:lvl6pPr>
            <a:lvl7pPr>
              <a:defRPr sz="1875" b="0">
                <a:solidFill>
                  <a:srgbClr val="586C7C"/>
                </a:solidFill>
                <a:latin typeface="Helvetica Neue"/>
                <a:ea typeface="Helvetica Neue"/>
                <a:cs typeface="Helvetica Neue"/>
              </a:defRPr>
            </a:lvl7pPr>
            <a:lvl8pPr>
              <a:defRPr sz="1875" b="0">
                <a:solidFill>
                  <a:srgbClr val="586C7C"/>
                </a:solidFill>
                <a:latin typeface="Helvetica Neue"/>
                <a:ea typeface="Helvetica Neue"/>
                <a:cs typeface="Helvetica Neue"/>
              </a:defRPr>
            </a:lvl8pPr>
            <a:lvl9pPr>
              <a:defRPr sz="1875" b="0">
                <a:solidFill>
                  <a:srgbClr val="586C7C"/>
                </a:solidFill>
                <a:latin typeface="Helvetica Neue"/>
                <a:ea typeface="Helvetica Neue"/>
                <a:cs typeface="Helvetica Neue"/>
              </a:defRPr>
            </a:lvl9pPr>
          </a:lstStyle>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Clothing LoRA training used MATH SDPA after a reproduced gradient failure.</a:t>
            </a:r>
          </a:p>
          <a:p xmlns:a="http://schemas.openxmlformats.org/drawingml/2006/main">
            <a:pPr>
              <a:defRPr sz="1875" b="0">
                <a:solidFill>
                  <a:srgbClr val="586C7C"/>
                </a:solidFill>
                <a:latin typeface="Helvetica Neue"/>
                <a:ea typeface="Helvetica Neue"/>
                <a:cs typeface="Helvetica Neue"/>
              </a:defRPr>
            </a:pPr>
            <a:r>
              <a:rPr sz="1875" b="0">
                <a:solidFill>
                  <a:srgbClr val="586C7C"/>
                </a:solidFill>
                <a:latin typeface="Helvetica Neue"/>
                <a:ea typeface="Helvetica Neue"/>
                <a:cs typeface="Helvetica Neue"/>
              </a:rPr>
              <a:t>Earlier completed runs kept automatic dispatch. Bitwise trajectories may differ.</a:t>
            </a:r>
          </a:p>
        </p:txBody>
      </p:sp>
      <p:sp>
        <p:nvSpPr>
          <p:cNvPr id="7" name="text-60">
            <a:extLst xmlns:a="http://schemas.openxmlformats.org/drawingml/2006/main">
              <a:ext uri="{FF2B5EF4-FFF2-40B4-BE49-F238E27FC236}">
                <a16:creationId xmlns:a16="http://schemas.microsoft.com/office/drawing/2014/main" id="{FE8C5DEC-EF2B-438D-BC81-4F0A19A30267}"/>
              </a:ext>
            </a:extLst>
          </p:cNvPr>
          <p:cNvSpPr>
            <a:spLocks xmlns:a="http://schemas.openxmlformats.org/drawingml/2006/main" noGrp="1"/>
          </p:cNvSpPr>
          <p:nvPr/>
        </p:nvSpPr>
        <p:spPr>
          <a:xfrm xmlns:a="http://schemas.openxmlformats.org/drawingml/2006/main">
            <a:off x="723900" y="58578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C7C"/>
                </a:solidFill>
                <a:latin typeface="Helvetica Neue"/>
                <a:ea typeface="Helvetica Neue"/>
                <a:cs typeface="Helvetica Neue"/>
              </a:defRPr>
            </a:defPPr>
            <a:lvl1pPr>
              <a:defRPr sz="1725" b="0">
                <a:solidFill>
                  <a:srgbClr val="586C7C"/>
                </a:solidFill>
                <a:latin typeface="Helvetica Neue"/>
                <a:ea typeface="Helvetica Neue"/>
                <a:cs typeface="Helvetica Neue"/>
              </a:defRPr>
            </a:lvl1pPr>
            <a:lvl2pPr>
              <a:defRPr sz="1725" b="0">
                <a:solidFill>
                  <a:srgbClr val="586C7C"/>
                </a:solidFill>
                <a:latin typeface="Helvetica Neue"/>
                <a:ea typeface="Helvetica Neue"/>
                <a:cs typeface="Helvetica Neue"/>
              </a:defRPr>
            </a:lvl2pPr>
            <a:lvl3pPr>
              <a:defRPr sz="1725" b="0">
                <a:solidFill>
                  <a:srgbClr val="586C7C"/>
                </a:solidFill>
                <a:latin typeface="Helvetica Neue"/>
                <a:ea typeface="Helvetica Neue"/>
                <a:cs typeface="Helvetica Neue"/>
              </a:defRPr>
            </a:lvl3pPr>
            <a:lvl4pPr>
              <a:defRPr sz="1725" b="0">
                <a:solidFill>
                  <a:srgbClr val="586C7C"/>
                </a:solidFill>
                <a:latin typeface="Helvetica Neue"/>
                <a:ea typeface="Helvetica Neue"/>
                <a:cs typeface="Helvetica Neue"/>
              </a:defRPr>
            </a:lvl4pPr>
            <a:lvl5pPr>
              <a:defRPr sz="1725" b="0">
                <a:solidFill>
                  <a:srgbClr val="586C7C"/>
                </a:solidFill>
                <a:latin typeface="Helvetica Neue"/>
                <a:ea typeface="Helvetica Neue"/>
                <a:cs typeface="Helvetica Neue"/>
              </a:defRPr>
            </a:lvl5pPr>
            <a:lvl6pPr>
              <a:defRPr sz="1725" b="0">
                <a:solidFill>
                  <a:srgbClr val="586C7C"/>
                </a:solidFill>
                <a:latin typeface="Helvetica Neue"/>
                <a:ea typeface="Helvetica Neue"/>
                <a:cs typeface="Helvetica Neue"/>
              </a:defRPr>
            </a:lvl6pPr>
            <a:lvl7pPr>
              <a:defRPr sz="1725" b="0">
                <a:solidFill>
                  <a:srgbClr val="586C7C"/>
                </a:solidFill>
                <a:latin typeface="Helvetica Neue"/>
                <a:ea typeface="Helvetica Neue"/>
                <a:cs typeface="Helvetica Neue"/>
              </a:defRPr>
            </a:lvl7pPr>
            <a:lvl8pPr>
              <a:defRPr sz="1725" b="0">
                <a:solidFill>
                  <a:srgbClr val="586C7C"/>
                </a:solidFill>
                <a:latin typeface="Helvetica Neue"/>
                <a:ea typeface="Helvetica Neue"/>
                <a:cs typeface="Helvetica Neue"/>
              </a:defRPr>
            </a:lvl8pPr>
            <a:lvl9pPr>
              <a:defRPr sz="1725" b="0">
                <a:solidFill>
                  <a:srgbClr val="586C7C"/>
                </a:solidFill>
                <a:latin typeface="Helvetica Neue"/>
                <a:ea typeface="Helvetica Neue"/>
                <a:cs typeface="Helvetica Neue"/>
              </a:defRPr>
            </a:lvl9pPr>
          </a:lstStyle>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One Amazon source. Static metadata. Offline ranking cannot establish</a:t>
            </a:r>
          </a:p>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online conversion, causal explanations or broad cold-start gains.</a:t>
            </a:r>
          </a:p>
        </p:txBody>
      </p:sp>
    </p:spTree>
    <p:extLst>
      <p:ext uri="{BB962C8B-B14F-4D97-AF65-F5344CB8AC3E}">
        <p14:creationId xmlns:p14="http://schemas.microsoft.com/office/powerpoint/2010/main" val="5152207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2026-10-24T10:25:19.1300000Z</dcterms:created>
  <dcterms:modified xsi:type="dcterms:W3CDTF">2026-10-24T10:25:19.1300000Z</dcterms:modified>
</coreProperties>
</file>