
<file path=[Content_Types].xml><?xml version="1.0" encoding="utf-8"?>
<Types xmlns="http://schemas.openxmlformats.org/package/2006/content-types">
  <Default Extension="xml" ContentType="application/vnd.openxmlformats-package.core-properties+xml"/>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slides/charts/chart1.xml" ContentType="application/vnd.openxmlformats-officedocument.drawingml.chart+xml"/>
  <Override PartName="/ppt/notesSlides/notesSlide10.xml" ContentType="application/vnd.openxmlformats-officedocument.presentationml.notesSlide+xml"/>
  <Override PartName="/ppt/slides/slide11.xml" ContentType="application/vnd.openxmlformats-officedocument.presentationml.slide+xml"/>
  <Override PartName="/ppt/slides/charts/chart2.xml" ContentType="application/vnd.openxmlformats-officedocument.drawingml.chart+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slides/charts/chart3.xml" ContentType="application/vnd.openxmlformats-officedocument.drawingml.chart+xml"/>
  <Override PartName="/ppt/notesSlides/notesSlide15.xml" ContentType="application/vnd.openxmlformats-officedocument.presentationml.notesSlide+xml"/>
  <Override PartName="/ppt/slides/slide16.xml" ContentType="application/vnd.openxmlformats-officedocument.presentationml.slide+xml"/>
  <Override PartName="/ppt/slides/charts/chart4.xml" ContentType="application/vnd.openxmlformats-officedocument.drawingml.chart+xml"/>
  <Override PartName="/ppt/slides/charts/chart5.xml" ContentType="application/vnd.openxmlformats-officedocument.drawingml.chart+xml"/>
  <Override PartName="/ppt/notesSlides/notesSlide16.xml" ContentType="application/vnd.openxmlformats-officedocument.presentationml.notesSlide+xml"/>
  <Override PartName="/ppt/slides/slide17.xml" ContentType="application/vnd.openxmlformats-officedocument.presentationml.slide+xml"/>
  <Override PartName="/ppt/slides/charts/chart6.xml" ContentType="application/vnd.openxmlformats-officedocument.drawingml.chart+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9f14e5694df44cd4" /><Relationship Type="http://schemas.openxmlformats.org/officeDocument/2006/relationships/extended-properties" Target="/docProps/app.xml" Id="R6e4f0eed0f6b45f1" /><Relationship Type="http://schemas.openxmlformats.org/officeDocument/2006/relationships/officeDocument" Target="/ppt/presentation.xml" Id="R589fef36caa241b9" /></Relationships>
</file>

<file path=ppt/presentation.xml><?xml version="1.0" encoding="utf-8"?>
<p:presentation xmlns:p="http://schemas.openxmlformats.org/presentationml/2006/main">
  <p:sldMasterIdLst>
    <p:sldMasterId xmlns:r="http://schemas.openxmlformats.org/officeDocument/2006/relationships" id="2147483648" r:id="R3b8c4229cb044bbe"/>
  </p:sldMasterIdLst>
  <p:notesMasterIdLst>
    <p:notesMasterId xmlns:r="http://schemas.openxmlformats.org/officeDocument/2006/relationships" r:id="R9603a7a8f58343ad"/>
  </p:notesMasterIdLst>
  <p:sldIdLst>
    <p:sldId xmlns:r="http://schemas.openxmlformats.org/officeDocument/2006/relationships" id="256" r:id="R3cd9a364f15f4968"/>
    <p:sldId xmlns:r="http://schemas.openxmlformats.org/officeDocument/2006/relationships" id="257" r:id="R8a4c5b6d8dc145f2"/>
    <p:sldId xmlns:r="http://schemas.openxmlformats.org/officeDocument/2006/relationships" id="258" r:id="R9177eada1dab499c"/>
    <p:sldId xmlns:r="http://schemas.openxmlformats.org/officeDocument/2006/relationships" id="259" r:id="Re2012456ea524041"/>
    <p:sldId xmlns:r="http://schemas.openxmlformats.org/officeDocument/2006/relationships" id="260" r:id="R87a87aa74ac94073"/>
    <p:sldId xmlns:r="http://schemas.openxmlformats.org/officeDocument/2006/relationships" id="261" r:id="Rb544cfaf0edf4038"/>
    <p:sldId xmlns:r="http://schemas.openxmlformats.org/officeDocument/2006/relationships" id="262" r:id="R7860677c67394eb7"/>
    <p:sldId xmlns:r="http://schemas.openxmlformats.org/officeDocument/2006/relationships" id="263" r:id="Re90eec514154456d"/>
    <p:sldId xmlns:r="http://schemas.openxmlformats.org/officeDocument/2006/relationships" id="264" r:id="R066a03cfa05140c0"/>
    <p:sldId xmlns:r="http://schemas.openxmlformats.org/officeDocument/2006/relationships" id="265" r:id="R87bc5664e17a4edd"/>
    <p:sldId xmlns:r="http://schemas.openxmlformats.org/officeDocument/2006/relationships" id="266" r:id="R8ef459ca374643cb"/>
    <p:sldId xmlns:r="http://schemas.openxmlformats.org/officeDocument/2006/relationships" id="267" r:id="R82e60b16494d42b7"/>
    <p:sldId xmlns:r="http://schemas.openxmlformats.org/officeDocument/2006/relationships" id="268" r:id="R2c58fe50be464aa0"/>
    <p:sldId xmlns:r="http://schemas.openxmlformats.org/officeDocument/2006/relationships" id="269" r:id="R48a207d16fdc4c4f"/>
    <p:sldId xmlns:r="http://schemas.openxmlformats.org/officeDocument/2006/relationships" id="270" r:id="R861b3624eb63451b"/>
    <p:sldId xmlns:r="http://schemas.openxmlformats.org/officeDocument/2006/relationships" id="271" r:id="R593830d7bc304d82"/>
    <p:sldId xmlns:r="http://schemas.openxmlformats.org/officeDocument/2006/relationships" id="272" r:id="R950bdd5bcbbb4ed7"/>
    <p:sldId xmlns:r="http://schemas.openxmlformats.org/officeDocument/2006/relationships" id="273" r:id="Rfe70abf076484915"/>
    <p:sldId xmlns:r="http://schemas.openxmlformats.org/officeDocument/2006/relationships" id="274" r:id="R08ba06bd35a740ae"/>
    <p:sldId xmlns:r="http://schemas.openxmlformats.org/officeDocument/2006/relationships" id="275" r:id="Rc44af3e56eb04470"/>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4f8cbf52f05c4e02" /><Relationship Type="http://schemas.openxmlformats.org/officeDocument/2006/relationships/slideMaster" Target="/ppt/slideMasters/slideMaster1.xml" Id="R3b8c4229cb044bbe" /><Relationship Type="http://schemas.openxmlformats.org/officeDocument/2006/relationships/notesMaster" Target="/ppt/notesMasters/notesMaster1.xml" Id="R9603a7a8f58343ad" /><Relationship Type="http://schemas.openxmlformats.org/officeDocument/2006/relationships/presProps" Target="/ppt/presProps.xml" Id="R5ae2cd1e50df49b4" /><Relationship Type="http://schemas.openxmlformats.org/officeDocument/2006/relationships/tableStyles" Target="/ppt/tableStyles.xml" Id="R9dab7d54dd3d46f7" /><Relationship Type="http://schemas.openxmlformats.org/officeDocument/2006/relationships/slide" Target="/ppt/slides/slide1.xml" Id="R3cd9a364f15f4968" /><Relationship Type="http://schemas.openxmlformats.org/officeDocument/2006/relationships/slide" Target="/ppt/slides/slide2.xml" Id="R8a4c5b6d8dc145f2" /><Relationship Type="http://schemas.openxmlformats.org/officeDocument/2006/relationships/slide" Target="/ppt/slides/slide3.xml" Id="R9177eada1dab499c" /><Relationship Type="http://schemas.openxmlformats.org/officeDocument/2006/relationships/slide" Target="/ppt/slides/slide4.xml" Id="Re2012456ea524041" /><Relationship Type="http://schemas.openxmlformats.org/officeDocument/2006/relationships/slide" Target="/ppt/slides/slide5.xml" Id="R87a87aa74ac94073" /><Relationship Type="http://schemas.openxmlformats.org/officeDocument/2006/relationships/slide" Target="/ppt/slides/slide6.xml" Id="Rb544cfaf0edf4038" /><Relationship Type="http://schemas.openxmlformats.org/officeDocument/2006/relationships/slide" Target="/ppt/slides/slide7.xml" Id="R7860677c67394eb7" /><Relationship Type="http://schemas.openxmlformats.org/officeDocument/2006/relationships/slide" Target="/ppt/slides/slide8.xml" Id="Re90eec514154456d" /><Relationship Type="http://schemas.openxmlformats.org/officeDocument/2006/relationships/slide" Target="/ppt/slides/slide9.xml" Id="R066a03cfa05140c0" /><Relationship Type="http://schemas.openxmlformats.org/officeDocument/2006/relationships/slide" Target="/ppt/slides/slide10.xml" Id="R87bc5664e17a4edd" /><Relationship Type="http://schemas.openxmlformats.org/officeDocument/2006/relationships/slide" Target="/ppt/slides/slide11.xml" Id="R8ef459ca374643cb" /><Relationship Type="http://schemas.openxmlformats.org/officeDocument/2006/relationships/slide" Target="/ppt/slides/slide12.xml" Id="R82e60b16494d42b7" /><Relationship Type="http://schemas.openxmlformats.org/officeDocument/2006/relationships/slide" Target="/ppt/slides/slide13.xml" Id="R2c58fe50be464aa0" /><Relationship Type="http://schemas.openxmlformats.org/officeDocument/2006/relationships/slide" Target="/ppt/slides/slide14.xml" Id="R48a207d16fdc4c4f" /><Relationship Type="http://schemas.openxmlformats.org/officeDocument/2006/relationships/slide" Target="/ppt/slides/slide15.xml" Id="R861b3624eb63451b" /><Relationship Type="http://schemas.openxmlformats.org/officeDocument/2006/relationships/slide" Target="/ppt/slides/slide16.xml" Id="R593830d7bc304d82" /><Relationship Type="http://schemas.openxmlformats.org/officeDocument/2006/relationships/slide" Target="/ppt/slides/slide17.xml" Id="R950bdd5bcbbb4ed7" /><Relationship Type="http://schemas.openxmlformats.org/officeDocument/2006/relationships/slide" Target="/ppt/slides/slide18.xml" Id="Rfe70abf076484915" /><Relationship Type="http://schemas.openxmlformats.org/officeDocument/2006/relationships/slide" Target="/ppt/slides/slide19.xml" Id="R08ba06bd35a740ae" /><Relationship Type="http://schemas.openxmlformats.org/officeDocument/2006/relationships/slide" Target="/ppt/slides/slide20.xml" Id="Rc44af3e56eb04470"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e7070ea4aae6428c"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8e0c8cefc2d44575" /><Relationship Type="http://schemas.openxmlformats.org/officeDocument/2006/relationships/notesMaster" Target="/ppt/notesMasters/notesMaster1.xml" Id="R3ed8a925c7f6407b" /></Relationships>
</file>

<file path=ppt/notesSlides/_rels/notesSlide2.xml.rels>&#65279;<?xml version="1.0" encoding="utf-8"?><Relationships xmlns="http://schemas.openxmlformats.org/package/2006/relationships"><Relationship Type="http://schemas.openxmlformats.org/officeDocument/2006/relationships/slide" Target="/ppt/slides/slide2.xml" Id="R395e13ad64174011" /><Relationship Type="http://schemas.openxmlformats.org/officeDocument/2006/relationships/notesMaster" Target="/ppt/notesMasters/notesMaster1.xml" Id="Rca295323ed254ad1" /></Relationships>
</file>

<file path=ppt/notesSlides/_rels/notesSlide3.xml.rels>&#65279;<?xml version="1.0" encoding="utf-8"?><Relationships xmlns="http://schemas.openxmlformats.org/package/2006/relationships"><Relationship Type="http://schemas.openxmlformats.org/officeDocument/2006/relationships/slide" Target="/ppt/slides/slide3.xml" Id="R3cc2e3360ae748d1" /><Relationship Type="http://schemas.openxmlformats.org/officeDocument/2006/relationships/notesMaster" Target="/ppt/notesMasters/notesMaster1.xml" Id="R1bee8b6d6e9440ae" /></Relationships>
</file>

<file path=ppt/notesSlides/_rels/notesSlide4.xml.rels>&#65279;<?xml version="1.0" encoding="utf-8"?><Relationships xmlns="http://schemas.openxmlformats.org/package/2006/relationships"><Relationship Type="http://schemas.openxmlformats.org/officeDocument/2006/relationships/slide" Target="/ppt/slides/slide4.xml" Id="Re2b151c6af7842c6" /><Relationship Type="http://schemas.openxmlformats.org/officeDocument/2006/relationships/notesMaster" Target="/ppt/notesMasters/notesMaster1.xml" Id="R910487e4cbac4179" /></Relationships>
</file>

<file path=ppt/notesSlides/_rels/notesSlide5.xml.rels>&#65279;<?xml version="1.0" encoding="utf-8"?><Relationships xmlns="http://schemas.openxmlformats.org/package/2006/relationships"><Relationship Type="http://schemas.openxmlformats.org/officeDocument/2006/relationships/slide" Target="/ppt/slides/slide5.xml" Id="R325665ff3cc240ae" /><Relationship Type="http://schemas.openxmlformats.org/officeDocument/2006/relationships/notesMaster" Target="/ppt/notesMasters/notesMaster1.xml" Id="Rdf3c96f1a27c4e61" /></Relationships>
</file>

<file path=ppt/notesSlides/_rels/notesSlide6.xml.rels>&#65279;<?xml version="1.0" encoding="utf-8"?><Relationships xmlns="http://schemas.openxmlformats.org/package/2006/relationships"><Relationship Type="http://schemas.openxmlformats.org/officeDocument/2006/relationships/slide" Target="/ppt/slides/slide6.xml" Id="R78d30de927b74317" /><Relationship Type="http://schemas.openxmlformats.org/officeDocument/2006/relationships/notesMaster" Target="/ppt/notesMasters/notesMaster1.xml" Id="R80a1b015d09d4374" /></Relationships>
</file>

<file path=ppt/notesSlides/_rels/notesSlide7.xml.rels>&#65279;<?xml version="1.0" encoding="utf-8"?><Relationships xmlns="http://schemas.openxmlformats.org/package/2006/relationships"><Relationship Type="http://schemas.openxmlformats.org/officeDocument/2006/relationships/slide" Target="/ppt/slides/slide7.xml" Id="Rbd774b7deb76413c" /><Relationship Type="http://schemas.openxmlformats.org/officeDocument/2006/relationships/notesMaster" Target="/ppt/notesMasters/notesMaster1.xml" Id="R88fadb8321d745cc" /></Relationships>
</file>

<file path=ppt/notesSlides/_rels/notesSlide8.xml.rels>&#65279;<?xml version="1.0" encoding="utf-8"?><Relationships xmlns="http://schemas.openxmlformats.org/package/2006/relationships"><Relationship Type="http://schemas.openxmlformats.org/officeDocument/2006/relationships/slide" Target="/ppt/slides/slide8.xml" Id="R5b74060949ac428c" /><Relationship Type="http://schemas.openxmlformats.org/officeDocument/2006/relationships/notesMaster" Target="/ppt/notesMasters/notesMaster1.xml" Id="R3f9b613c56f24fe5" /></Relationships>
</file>

<file path=ppt/notesSlides/_rels/notesSlide9.xml.rels>&#65279;<?xml version="1.0" encoding="utf-8"?><Relationships xmlns="http://schemas.openxmlformats.org/package/2006/relationships"><Relationship Type="http://schemas.openxmlformats.org/officeDocument/2006/relationships/slide" Target="/ppt/slides/slide9.xml" Id="Rf5adbb6566ab4088" /><Relationship Type="http://schemas.openxmlformats.org/officeDocument/2006/relationships/notesMaster" Target="/ppt/notesMasters/notesMaster1.xml" Id="Rbcd8a1897f0c4694"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69d7e51bb8da4cfc" /><Relationship Type="http://schemas.openxmlformats.org/officeDocument/2006/relationships/notesMaster" Target="/ppt/notesMasters/notesMaster1.xml" Id="R80279bbeb4204668"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f31b6ad93aaf4dcf" /><Relationship Type="http://schemas.openxmlformats.org/officeDocument/2006/relationships/notesMaster" Target="/ppt/notesMasters/notesMaster1.xml" Id="R7c563084d20a4aed"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dd25982e266c4102" /><Relationship Type="http://schemas.openxmlformats.org/officeDocument/2006/relationships/notesMaster" Target="/ppt/notesMasters/notesMaster1.xml" Id="R37c7d0de3de842dd"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37f249cba4ad487e" /><Relationship Type="http://schemas.openxmlformats.org/officeDocument/2006/relationships/notesMaster" Target="/ppt/notesMasters/notesMaster1.xml" Id="Ra0580a8af2ec4475"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cc05f8930dc74076" /><Relationship Type="http://schemas.openxmlformats.org/officeDocument/2006/relationships/notesMaster" Target="/ppt/notesMasters/notesMaster1.xml" Id="Ra6124c892f9f4209"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6ddb0f88fad44369" /><Relationship Type="http://schemas.openxmlformats.org/officeDocument/2006/relationships/notesMaster" Target="/ppt/notesMasters/notesMaster1.xml" Id="Rf6c53d0d48c04840"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72cc47d391574790" /><Relationship Type="http://schemas.openxmlformats.org/officeDocument/2006/relationships/notesMaster" Target="/ppt/notesMasters/notesMaster1.xml" Id="R452526b0bd8c4a95"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a751c92b99154136" /><Relationship Type="http://schemas.openxmlformats.org/officeDocument/2006/relationships/notesMaster" Target="/ppt/notesMasters/notesMaster1.xml" Id="Rbe403958f03e4a4c"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1aee778d4648417f" /><Relationship Type="http://schemas.openxmlformats.org/officeDocument/2006/relationships/notesMaster" Target="/ppt/notesMasters/notesMaster1.xml" Id="R0e9b21e550b04f7a"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2165951bf8cd4caa" /><Relationship Type="http://schemas.openxmlformats.org/officeDocument/2006/relationships/notesMaster" Target="/ppt/notesMasters/notesMaster1.xml" Id="R355396d04fb8428e"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28aa308011634075" /><Relationship Type="http://schemas.openxmlformats.org/officeDocument/2006/relationships/notesMaster" Target="/ppt/notesMasters/notesMaster1.xml" Id="Rac27b7287d2440a7"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ShopLens is a local shopping and recommendation lab using Qwen3-Embedding 0.6B, LoRA and frozen CLIP. The application supports model comparison, visual references and history-based recommendations. The experiments distinguish observed interface differences from labeled retrieval quality. Repository: https://github.com/cjk041212/ShopLens.</a:t>
            </a:r>
          </a:p>
          <a:p xmlns:a="http://schemas.openxmlformats.org/drawingml/2006/main">
            <a:r>
              <a:t/>
            </a:r>
          </a:p>
          <a:p xmlns:a="http://schemas.openxmlformats.org/drawingml/2006/main">
            <a:r>
              <a:t>Sources</a:t>
            </a:r>
          </a:p>
          <a:p xmlns:a="http://schemas.openxmlformats.org/drawingml/2006/main">
            <a:r>
              <a:t>README.md</a:t>
            </a:r>
          </a:p>
          <a:p xmlns:a="http://schemas.openxmlformats.org/drawingml/2006/main">
            <a:r>
              <a:t>reports/ShopLens_Qwen_report_en.md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Actual historical application captures from the project. These independent recorded sessions predate the new Benchmark lab routes. Exact capture timestamps are not recorded. The images document interface behavior and historical catalogue values, not current price or availability. The literal request is “Find a stroller for everyday outings.” Brief interpretation uses deterministic keyword and budget rules. The extracted query then enters the live retrieval encoders. An LLM does not parse this brief.</a:t>
            </a:r>
          </a:p>
          <a:p xmlns:a="http://schemas.openxmlformats.org/drawingml/2006/main">
            <a:r>
              <a:t/>
            </a:r>
          </a:p>
          <a:p xmlns:a="http://schemas.openxmlformats.org/drawingml/2006/main">
            <a:r>
              <a:t>Sources</a:t>
            </a:r>
          </a:p>
          <a:p xmlns:a="http://schemas.openxmlformats.org/drawingml/2006/main">
            <a:r>
              <a:t>reports/assets/studio_brief.png</a:t>
            </a:r>
          </a:p>
          <a:p xmlns:a="http://schemas.openxmlformats.org/drawingml/2006/main">
            <a:r>
              <a:t>src/shoplens/studio.py</a:t>
            </a:r>
          </a:p>
          <a:p xmlns:a="http://schemas.openxmlformats.org/drawingml/2006/main">
            <a:r>
              <a:t>src/shoplens/ui.py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Actual historical application captures from the project. These independent recorded sessions predate the new Benchmark lab routes. Exact capture timestamps are not recorded. The images document interface behavior and historical catalogue values, not current price or availability. The arena follows Dream On Me / Mia Moda Veloce Stroller, Mint Java, product B002UHJ0HK, for the same stroller request. This Baby catalogue contains 7,037 products. Recorded ranks are Frozen 5, Semantic 1 and Preference 6, with no preference feedback active in this capture. These visible differences do not provide a held-out quality estimate.</a:t>
            </a:r>
          </a:p>
          <a:p xmlns:a="http://schemas.openxmlformats.org/drawingml/2006/main">
            <a:r>
              <a:t/>
            </a:r>
          </a:p>
          <a:p xmlns:a="http://schemas.openxmlformats.org/drawingml/2006/main">
            <a:r>
              <a:t>Sources</a:t>
            </a:r>
          </a:p>
          <a:p xmlns:a="http://schemas.openxmlformats.org/drawingml/2006/main">
            <a:r>
              <a:t>reports/assets/studio_model_arena.png</a:t>
            </a:r>
          </a:p>
          <a:p xmlns:a="http://schemas.openxmlformats.org/drawingml/2006/main">
            <a:r>
              <a:t>src/shoplens/studio.py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Actual historical application captures from the project. These independent recorded sessions predate the new Benchmark lab routes. Exact capture timestamps are not recorded. The images document interface behavior and historical catalogue values, not current price or availability. The left capture shows the catalogue reference-photo controls. The right comes from a separate session with one positive, one negative and one hidden item. Its trained user head scores the active positive history. Feedback changes session scoring without retraining Qwen. Historical prices can support a budget filter. Avoid terms are soft scoring preferences rather than guaranteed exclusions by product attribute.</a:t>
            </a:r>
          </a:p>
          <a:p xmlns:a="http://schemas.openxmlformats.org/drawingml/2006/main">
            <a:r>
              <a:t/>
            </a:r>
          </a:p>
          <a:p xmlns:a="http://schemas.openxmlformats.org/drawingml/2006/main">
            <a:r>
              <a:t>Sources</a:t>
            </a:r>
          </a:p>
          <a:p xmlns:a="http://schemas.openxmlformats.org/drawingml/2006/main">
            <a:r>
              <a:t>reports/assets/studio_visual_filters.png</a:t>
            </a:r>
          </a:p>
          <a:p xmlns:a="http://schemas.openxmlformats.org/drawingml/2006/main">
            <a:r>
              <a:t>reports/assets/studio_feedback.png</a:t>
            </a:r>
          </a:p>
          <a:p xmlns:a="http://schemas.openxmlformats.org/drawingml/2006/main">
            <a:r>
              <a:t>src/shoplens/studio.py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Actual historical application captures from the project. These independent recorded sessions predate the new Benchmark lab routes. Exact capture timestamps are not recorded. The images document interface behavior and historical catalogue values, not current price or availability. The shortlist shows Aprica Presto Stroller, Metro Orange, B004ANB21Y, and Joovy Scooter Single Stroller Greenie, B0043YVL7U. The export capture confirms Aprica and offers JSON, CSV and an HTML result card. Export records a session decision rather than completing a purchase.</a:t>
            </a:r>
          </a:p>
          <a:p xmlns:a="http://schemas.openxmlformats.org/drawingml/2006/main">
            <a:r>
              <a:t/>
            </a:r>
          </a:p>
          <a:p xmlns:a="http://schemas.openxmlformats.org/drawingml/2006/main">
            <a:r>
              <a:t>Sources</a:t>
            </a:r>
          </a:p>
          <a:p xmlns:a="http://schemas.openxmlformats.org/drawingml/2006/main">
            <a:r>
              <a:t>reports/assets/studio_shortlist.png</a:t>
            </a:r>
          </a:p>
          <a:p xmlns:a="http://schemas.openxmlformats.org/drawingml/2006/main">
            <a:r>
              <a:t>reports/assets/studio_export.png</a:t>
            </a:r>
          </a:p>
          <a:p xmlns:a="http://schemas.openxmlformats.org/drawingml/2006/main">
            <a:r>
              <a:t>src/shoplens/studio.py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Actual historical application captures from the project. These independent recorded sessions predate the new Benchmark lab routes. Exact capture timestamps are not recorded. The images document interface behavior and historical catalogue values, not current price or availability. The Baby atlas uses a fixed 500-product background sample plus selected products and current Top K. The original capture reports 512 displayed products and 43.3% variance retained in two dimensions. A fixed PCA of Frozen candidate features defines the coordinates. Switching models changes recommendation highlights rather than refitting the map. Rankings use the full eligible catalogue. Geometric proximity is descriptive and does not establish causality.</a:t>
            </a:r>
          </a:p>
          <a:p xmlns:a="http://schemas.openxmlformats.org/drawingml/2006/main">
            <a:r>
              <a:t/>
            </a:r>
          </a:p>
          <a:p xmlns:a="http://schemas.openxmlformats.org/drawingml/2006/main">
            <a:r>
              <a:t>Sources</a:t>
            </a:r>
          </a:p>
          <a:p xmlns:a="http://schemas.openxmlformats.org/drawingml/2006/main">
            <a:r>
              <a:t>reports/assets/research_atlas_complete.jpg</a:t>
            </a:r>
          </a:p>
          <a:p xmlns:a="http://schemas.openxmlformats.org/drawingml/2006/main">
            <a:r>
              <a:t>src/shoplens/ui.py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Amazon Reviews 2014 contributes three domains within one dataset release: Baby 7,037, Sports 18,273 and Clothing 22,491 products, totaling 47,801. The study has 27 runs across three arms and seeds 42, 43 and 44. ESCI supplies 500 official query-title test lists with 9,766 judged candidates. FashionIQ supplies existing reference-image, relative-caption and target triples, with final query counts 850 train, 82 internal development and 287 evaluation. These dataset releases can share underlying Amazon products. Their task metrics remain separate. No new manual annotation enters the experiments.</a:t>
            </a:r>
          </a:p>
          <a:p xmlns:a="http://schemas.openxmlformats.org/drawingml/2006/main">
            <a:r>
              <a:t/>
            </a:r>
          </a:p>
          <a:p xmlns:a="http://schemas.openxmlformats.org/drawingml/2006/main">
            <a:r>
              <a:t>Sources</a:t>
            </a:r>
          </a:p>
          <a:p xmlns:a="http://schemas.openxmlformats.org/drawingml/2006/main">
            <a:r>
              <a:t>results/qwen/results_qwen_summary.json</a:t>
            </a:r>
          </a:p>
          <a:p xmlns:a="http://schemas.openxmlformats.org/drawingml/2006/main">
            <a:r>
              <a:t>src/shoplens/qwen_pipeline.py</a:t>
            </a:r>
          </a:p>
          <a:p xmlns:a="http://schemas.openxmlformats.org/drawingml/2006/main">
            <a:r>
              <a:t>src/shoplens/qwen_models.py</a:t>
            </a:r>
          </a:p>
          <a:p xmlns:a="http://schemas.openxmlformats.org/drawingml/2006/main">
            <a:r>
              <a:t>reports/ShopLens_Qwen_report_en.md</a:t>
            </a:r>
          </a:p>
          <a:p xmlns:a="http://schemas.openxmlformats.org/drawingml/2006/main">
            <a:r>
              <a:t>results/esci/summary.json</a:t>
            </a:r>
          </a:p>
          <a:p xmlns:a="http://schemas.openxmlformats.org/drawingml/2006/main">
            <a:r>
              <a:t>results/fashion/summary.json</a:t>
            </a:r>
          </a:p>
          <a:p xmlns:a="http://schemas.openxmlformats.org/drawingml/2006/main">
            <a:r>
              <a:t>results/fashion/queries.json</a:t>
            </a:r>
          </a:p>
          <a:p xmlns:a="http://schemas.openxmlformats.org/drawingml/2006/main">
            <a:r>
              <a:t>assets/benchmarks/fashion/manifest.json</a:t>
            </a:r>
          </a:p>
          <a:p xmlns:a="http://schemas.openxmlformats.org/drawingml/2006/main">
            <a:r>
              <a:t>models/fashion/fusion.pt</a:t>
            </a:r>
          </a:p>
          <a:p xmlns:a="http://schemas.openxmlformats.org/drawingml/2006/main">
            <a:r>
              <a:t>scripts/run_fashion_experiment.py</a:t>
            </a:r>
          </a:p>
          <a:p xmlns:a="http://schemas.openxmlformats.org/drawingml/2006/main">
            <a:r>
              <a:t>https://github.com/XiaoxiaoGuo/fashion-iq/tree/f71b16c3b09ef03b02c0fed160fa072fb3b8aa16</a:t>
            </a:r>
          </a:p>
          <a:p xmlns:a="http://schemas.openxmlformats.org/drawingml/2006/main">
            <a:r>
              <a:t>https://cseweb.ucsd.edu/~jmcauley/datasets/amazon/links.html</a:t>
            </a:r>
          </a:p>
          <a:p xmlns:a="http://schemas.openxmlformats.org/drawingml/2006/main">
            <a:r>
              <a:t>https://github.com/amazon-science/esci-data/tree/7916cdf6ab75a462e77f20ab40428a10923998d5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recommendation head learns separate towers for heterogeneous text and image features. Qwen text has 1,024 dimensions, frozen CLIP images have 512, and trained projections produce a common 128-dimensional recommendation space. Raw Qwen and CLIP vectors are not added directly. The history tower always consumes frozen base features. The candidate tower consumes the selected base or LoRA Qwen features and frozen CLIP. Studio text requests use matching query and candidate encoders. Session feedback activates the trained history/user head.</a:t>
            </a:r>
          </a:p>
          <a:p xmlns:a="http://schemas.openxmlformats.org/drawingml/2006/main">
            <a:r>
              <a:t/>
            </a:r>
          </a:p>
          <a:p xmlns:a="http://schemas.openxmlformats.org/drawingml/2006/main">
            <a:r>
              <a:t>Sources</a:t>
            </a:r>
          </a:p>
          <a:p xmlns:a="http://schemas.openxmlformats.org/drawingml/2006/main">
            <a:r>
              <a:t>results/qwen/results_qwen_summary.json</a:t>
            </a:r>
          </a:p>
          <a:p xmlns:a="http://schemas.openxmlformats.org/drawingml/2006/main">
            <a:r>
              <a:t>src/shoplens/qwen_pipeline.py</a:t>
            </a:r>
          </a:p>
          <a:p xmlns:a="http://schemas.openxmlformats.org/drawingml/2006/main">
            <a:r>
              <a:t>src/shoplens/qwen_models.py</a:t>
            </a:r>
          </a:p>
          <a:p xmlns:a="http://schemas.openxmlformats.org/drawingml/2006/main">
            <a:r>
              <a:t>reports/ShopLens_Qwen_report_en.md</a:t>
            </a:r>
          </a:p>
          <a:p xmlns:a="http://schemas.openxmlformats.org/drawingml/2006/main">
            <a:r>
              <a:t>src/shoplens/studio.py</a:t>
            </a:r>
          </a:p>
          <a:p xmlns:a="http://schemas.openxmlformats.org/drawingml/2006/main">
            <a:r>
              <a:t>src/shoplens/qwen_text.py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Frozen is a trained-head baseline. It keeps the Qwen encoder fixed and trains the recommendation head with BPR. Semantic LoRA receives review-description InfoNCE gradients. Its recommendation branch detaches Qwen candidate features while training the head with BPR. Preference LoRA receives BPR gradients jointly with its head. CLIP stays frozen in every arm. The matched adaptation budget uses 30,000 cases per domain and seed for two epochs, with validation checkpoint selection. Each LoRA adapter has 1,146,880 trainable parameters. Clothing candidate training uses MATH SDPA after a documented numerical recovery, so numerical configurations across domains are not assumed bitwise equivalent.</a:t>
            </a:r>
          </a:p>
          <a:p xmlns:a="http://schemas.openxmlformats.org/drawingml/2006/main">
            <a:r>
              <a:t/>
            </a:r>
          </a:p>
          <a:p xmlns:a="http://schemas.openxmlformats.org/drawingml/2006/main">
            <a:r>
              <a:t>Sources</a:t>
            </a:r>
          </a:p>
          <a:p xmlns:a="http://schemas.openxmlformats.org/drawingml/2006/main">
            <a:r>
              <a:t>results/qwen/results_qwen_summary.json</a:t>
            </a:r>
          </a:p>
          <a:p xmlns:a="http://schemas.openxmlformats.org/drawingml/2006/main">
            <a:r>
              <a:t>src/shoplens/qwen_pipeline.py</a:t>
            </a:r>
          </a:p>
          <a:p xmlns:a="http://schemas.openxmlformats.org/drawingml/2006/main">
            <a:r>
              <a:t>src/shoplens/qwen_models.py</a:t>
            </a:r>
          </a:p>
          <a:p xmlns:a="http://schemas.openxmlformats.org/drawingml/2006/main">
            <a:r>
              <a:t>reports/ShopLens_Qwen_report_en.md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native bars show actual mean user-macro NDCG@10. The table gives each arm’s sample standard deviation across training seeds 42, 43 and 44. Sample SD is not a confidence interval. Frozen has the highest mean in all three domains. In matched-seed NDCG comparisons, Semantic wins 2 of 9 and Preference 3 of 9. The chronological split is 80/10/10. Histories include strictly earlier positive interactions, capped at 20 distinct products. Ranking excludes earlier positives and uses the full eligible catalogue. The original 27-run study does not establish a consistent LoRA improvement.</a:t>
            </a:r>
          </a:p>
          <a:p xmlns:a="http://schemas.openxmlformats.org/drawingml/2006/main">
            <a:r>
              <a:t/>
            </a:r>
          </a:p>
          <a:p xmlns:a="http://schemas.openxmlformats.org/drawingml/2006/main">
            <a:r>
              <a:t>Sources</a:t>
            </a:r>
          </a:p>
          <a:p xmlns:a="http://schemas.openxmlformats.org/drawingml/2006/main">
            <a:r>
              <a:t>results/qwen/results_qwen_summary.json</a:t>
            </a:r>
          </a:p>
          <a:p xmlns:a="http://schemas.openxmlformats.org/drawingml/2006/main">
            <a:r>
              <a:t>src/shoplens/qwen_pipeline.py</a:t>
            </a:r>
          </a:p>
          <a:p xmlns:a="http://schemas.openxmlformats.org/drawingml/2006/main">
            <a:r>
              <a:t>src/shoplens/qwen_models.py</a:t>
            </a:r>
          </a:p>
          <a:p xmlns:a="http://schemas.openxmlformats.org/drawingml/2006/main">
            <a:r>
              <a:t>reports/ShopLens_Qwen_report_en.md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label-blind deterministic hash sample selects 500 queries from 8,758 eligible official US Task1 test queries. Of 8,956 original test queries, 198 fall outside the predeclared complete-pool size of 2–40 candidates. Every method ranks the same complete list. TF-IDF fits only selected official training titles. Dense methods use matching query/title encoders, with the Clothing seed42 adapters fixed before ESCI labels. No ESCI fine-tuning occurs. Primary linear gains are E=1, S=0.1, C=0.01 and I=0, following ranking/train.py. A separate official helper reverses S/C, so results include that sensitivity. Measured NDCG@10 is 0.69158379, 0.72445990, 0.72417327 and 0.73044115 for TF-IDF, Frozen, Semantic and Preference. Frozen has the highest exact MRR@10, 0.78914762. Small metric differences do not establish significance or whole-catalogue search quality.</a:t>
            </a:r>
          </a:p>
          <a:p xmlns:a="http://schemas.openxmlformats.org/drawingml/2006/main">
            <a:r>
              <a:t/>
            </a:r>
          </a:p>
          <a:p xmlns:a="http://schemas.openxmlformats.org/drawingml/2006/main">
            <a:r>
              <a:t>Sources</a:t>
            </a:r>
          </a:p>
          <a:p xmlns:a="http://schemas.openxmlformats.org/drawingml/2006/main">
            <a:r>
              <a:t>results/esci/summary.json</a:t>
            </a:r>
          </a:p>
          <a:p xmlns:a="http://schemas.openxmlformats.org/drawingml/2006/main">
            <a:r>
              <a:t>results/esci/protocol.json</a:t>
            </a:r>
          </a:p>
          <a:p xmlns:a="http://schemas.openxmlformats.org/drawingml/2006/main">
            <a:r>
              <a:t>results/esci/queries.jsonl</a:t>
            </a:r>
          </a:p>
          <a:p xmlns:a="http://schemas.openxmlformats.org/drawingml/2006/main">
            <a:r>
              <a:t>scripts/run_esci_benchmark.py</a:t>
            </a:r>
          </a:p>
          <a:p xmlns:a="http://schemas.openxmlformats.org/drawingml/2006/main">
            <a:r>
              <a:t>src/shoplens/search_benchmark.py</a:t>
            </a:r>
          </a:p>
          <a:p xmlns:a="http://schemas.openxmlformats.org/drawingml/2006/main">
            <a:r>
              <a:t>https://github.com/amazon-science/esci-data/blob/7916cdf6ab75a462e77f20ab40428a10923998d5/ranking/train.py#L45-L50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Query 5722 comes first in the fixed hash sample, without selecting an apparent model win. It has 39 official candidates and retains its original spelling. The table shows actual rank-one titles, official labels and each method’s first exact-match rank. Long titles shorten only for display. TF-IDF, Frozen and Preference rank an E item first. Semantic ranks an S item first and an E item second. The full source record preserves every title, candidate, score and rank.</a:t>
            </a:r>
          </a:p>
          <a:p xmlns:a="http://schemas.openxmlformats.org/drawingml/2006/main">
            <a:r>
              <a:t/>
            </a:r>
          </a:p>
          <a:p xmlns:a="http://schemas.openxmlformats.org/drawingml/2006/main">
            <a:r>
              <a:t>Sources</a:t>
            </a:r>
          </a:p>
          <a:p xmlns:a="http://schemas.openxmlformats.org/drawingml/2006/main">
            <a:r>
              <a:t>results/esci/queries.jsonl</a:t>
            </a:r>
          </a:p>
          <a:p xmlns:a="http://schemas.openxmlformats.org/drawingml/2006/main">
            <a:r>
              <a:t>results/esci/selected_query_ids.json</a:t>
            </a:r>
          </a:p>
          <a:p xmlns:a="http://schemas.openxmlformats.org/drawingml/2006/main">
            <a:r>
              <a:t>results/esci/summary.json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fixed example is evaluation-dress-0000. Reference B00801W1H6 pairs with target B00CFL3FDQ and the caption “is red with black buttons and has longer sleeves.” The photographs illustrate the official labeled task. The reference image is excluded from candidates. This individual example does not estimate aggregate accuracy. The later custom inputs deliberately reuse this same reference photograph.</a:t>
            </a:r>
          </a:p>
          <a:p xmlns:a="http://schemas.openxmlformats.org/drawingml/2006/main">
            <a:r>
              <a:t/>
            </a:r>
          </a:p>
          <a:p xmlns:a="http://schemas.openxmlformats.org/drawingml/2006/main">
            <a:r>
              <a:t>Sources</a:t>
            </a:r>
          </a:p>
          <a:p xmlns:a="http://schemas.openxmlformats.org/drawingml/2006/main">
            <a:r>
              <a:t>results/fashion/summary.json</a:t>
            </a:r>
          </a:p>
          <a:p xmlns:a="http://schemas.openxmlformats.org/drawingml/2006/main">
            <a:r>
              <a:t>results/fashion/queries.json</a:t>
            </a:r>
          </a:p>
          <a:p xmlns:a="http://schemas.openxmlformats.org/drawingml/2006/main">
            <a:r>
              <a:t>assets/benchmarks/fashion/manifest.json</a:t>
            </a:r>
          </a:p>
          <a:p xmlns:a="http://schemas.openxmlformats.org/drawingml/2006/main">
            <a:r>
              <a:t>models/fashion/fusion.pt</a:t>
            </a:r>
          </a:p>
          <a:p xmlns:a="http://schemas.openxmlformats.org/drawingml/2006/main">
            <a:r>
              <a:t>scripts/run_fashion_experiment.py</a:t>
            </a:r>
          </a:p>
          <a:p xmlns:a="http://schemas.openxmlformats.org/drawingml/2006/main">
            <a:r>
              <a:t>https://github.com/XiaoxiaoGuo/fashion-iq/tree/f71b16c3b09ef03b02c0fed160fa072fb3b8aa16</a:t>
            </a:r>
          </a:p>
          <a:p xmlns:a="http://schemas.openxmlformats.org/drawingml/2006/main">
            <a:r>
              <a:t>assets/benchmarks/fashion/images/B00801W1H6.jpg</a:t>
            </a:r>
          </a:p>
          <a:p xmlns:a="http://schemas.openxmlformats.org/drawingml/2006/main">
            <a:r>
              <a:t>assets/benchmarks/fashion/images/B00CFL3FDQ.jpg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residual fusion MLP consumes reference features, text features and their elementwise product, for 1,536 input dimensions. It maps 1,536 to 128 to 512 dimensions and has 262,784 trainable parameters. A zero residual starts at fixed image-plus-text fusion. Training uses seed42, 40 epochs, AdamW with learning rate 0.001 and weight decay 0.01, temperature 0.07 and batch size 64. Internal development macro Recall@10 selects epoch12. Official validation never selects a checkpoint.</a:t>
            </a:r>
          </a:p>
          <a:p xmlns:a="http://schemas.openxmlformats.org/drawingml/2006/main">
            <a:r>
              <a:t/>
            </a:r>
          </a:p>
          <a:p xmlns:a="http://schemas.openxmlformats.org/drawingml/2006/main">
            <a:r>
              <a:t>A byte-level audit after initial result inspection found five pairwise cross-split overlap counts: train/dev 1, train/eval 3 and dev/eval 1. These are pairwise counts, not five distinct hashes. An outcome-independent deterministic repair protected all 287 evaluation queries and their complete gallery, then prioritized development over training. It removed three training image IDs and three related queries, plus one development distractor with no query removal. The final counts are 850/82/287, with zero image-ID or image-SHA intersections across all three candidate pools. No replacement sampling, hyperparameter change or checkpoint-rule change occurred. One fusion rerun reused existing frozen CLIP features. Published results come from that repaired run. Earlier download failures omitted 85 HTTP404 images and one timeout without replacement. Final model SHA256: c11883011c50fdb7c4e2125313870f1a14eb2b51a9811c1951fd1f2416994c0a.</a:t>
            </a:r>
          </a:p>
          <a:p xmlns:a="http://schemas.openxmlformats.org/drawingml/2006/main">
            <a:r>
              <a:t/>
            </a:r>
          </a:p>
          <a:p xmlns:a="http://schemas.openxmlformats.org/drawingml/2006/main">
            <a:r>
              <a:t>Sources</a:t>
            </a:r>
          </a:p>
          <a:p xmlns:a="http://schemas.openxmlformats.org/drawingml/2006/main">
            <a:r>
              <a:t>results/fashion/summary.json</a:t>
            </a:r>
          </a:p>
          <a:p xmlns:a="http://schemas.openxmlformats.org/drawingml/2006/main">
            <a:r>
              <a:t>results/fashion/queries.json</a:t>
            </a:r>
          </a:p>
          <a:p xmlns:a="http://schemas.openxmlformats.org/drawingml/2006/main">
            <a:r>
              <a:t>assets/benchmarks/fashion/manifest.json</a:t>
            </a:r>
          </a:p>
          <a:p xmlns:a="http://schemas.openxmlformats.org/drawingml/2006/main">
            <a:r>
              <a:t>models/fashion/fusion.pt</a:t>
            </a:r>
          </a:p>
          <a:p xmlns:a="http://schemas.openxmlformats.org/drawingml/2006/main">
            <a:r>
              <a:t>scripts/run_fashion_experiment.py</a:t>
            </a:r>
          </a:p>
          <a:p xmlns:a="http://schemas.openxmlformats.org/drawingml/2006/main">
            <a:r>
              <a:t>https://github.com/XiaoxiaoGuo/fashion-iq/tree/f71b16c3b09ef03b02c0fed160fa072fb3b8aa16</a:t>
            </a:r>
          </a:p>
          <a:p xmlns:a="http://schemas.openxmlformats.org/drawingml/2006/main">
            <a:r>
              <a:t>src/shoplens/fashion_retrieval.py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Four prespecified methods share each query’s candidate list: image only, text only, fixed fusion and learned fusion. Category-macro means average dress, shirt and toptee. R@10 is 21.2529%, 56.0545%, 40.1012% and 52.2706%. R@50 is 41.7897%, 78.0090%, 64.1290% and 80.1331%. Learned fusion improves fixed fusion by 12.1694 percentage points at R@10 and 16.0041 at R@50. Text only remains higher at R@10, while learned fusion is higher at R@50. Galleries contain 281 dress, 292 shirt and 293 toptee images before excluding the reference. There is one known target per query. One training seed, reduced galleries, missing downloads and possible CLIP pretraining overlap limit generalization. These subset scores are not official full-leaderboard results.</a:t>
            </a:r>
          </a:p>
          <a:p xmlns:a="http://schemas.openxmlformats.org/drawingml/2006/main">
            <a:r>
              <a:t/>
            </a:r>
          </a:p>
          <a:p xmlns:a="http://schemas.openxmlformats.org/drawingml/2006/main">
            <a:r>
              <a:t>Sources</a:t>
            </a:r>
          </a:p>
          <a:p xmlns:a="http://schemas.openxmlformats.org/drawingml/2006/main">
            <a:r>
              <a:t>results/fashion/summary.json</a:t>
            </a:r>
          </a:p>
          <a:p xmlns:a="http://schemas.openxmlformats.org/drawingml/2006/main">
            <a:r>
              <a:t>results/fashion/queries.json</a:t>
            </a:r>
          </a:p>
          <a:p xmlns:a="http://schemas.openxmlformats.org/drawingml/2006/main">
            <a:r>
              <a:t>assets/benchmarks/fashion/manifest.json</a:t>
            </a:r>
          </a:p>
          <a:p xmlns:a="http://schemas.openxmlformats.org/drawingml/2006/main">
            <a:r>
              <a:t>models/fashion/fusion.pt</a:t>
            </a:r>
          </a:p>
          <a:p xmlns:a="http://schemas.openxmlformats.org/drawingml/2006/main">
            <a:r>
              <a:t>scripts/run_fashion_experiment.py</a:t>
            </a:r>
          </a:p>
          <a:p xmlns:a="http://schemas.openxmlformats.org/drawingml/2006/main">
            <a:r>
              <a:t>https://github.com/XiaoxiaoGuo/fashion-iq/tree/f71b16c3b09ef03b02c0fed160fa072fb3b8aa16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same selected 1,000 Clothing users and all 1,865 eligible targets remain fixed across history caps 1, 3, 5, 10 and 20. Only the visible model history changes. All earlier positives stay excluded from candidates. The diagnostic reuses fixed seed42 checkpoints without retraining. The left chart reports user-macro NDCG@10. The right reports distinct products receiving any Top10 exposure, divided by the full 22,491-item catalogue, at cap20. Broader exposure does not establish user satisfaction. Paired user-bootstrap uncertainty in the full result is conditional on this checkpoint and cohort, not uncertainty over training seeds. Semantic coverage exceeds Frozen in all three domains, but Preference has the highest coverage in Baby. Concentration in the most-exposed 1% refers to actual measured exposure rather than training popularity.</a:t>
            </a:r>
          </a:p>
          <a:p xmlns:a="http://schemas.openxmlformats.org/drawingml/2006/main">
            <a:r>
              <a:t/>
            </a:r>
          </a:p>
          <a:p xmlns:a="http://schemas.openxmlformats.org/drawingml/2006/main">
            <a:r>
              <a:t>Sources</a:t>
            </a:r>
          </a:p>
          <a:p xmlns:a="http://schemas.openxmlformats.org/drawingml/2006/main">
            <a:r>
              <a:t>results/diagnostics/recommendation_diagnostics.json</a:t>
            </a:r>
          </a:p>
          <a:p xmlns:a="http://schemas.openxmlformats.org/drawingml/2006/main">
            <a:r>
              <a:t>scripts/run_recommendation_diagnostics.py</a:t>
            </a:r>
          </a:p>
          <a:p xmlns:a="http://schemas.openxmlformats.org/drawingml/2006/main">
            <a:r>
              <a:t>src/shoplens/recommendation_diagnostics.py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chart compares only the pure three-model CPU ranking stage. Twelve paired repetitions alternate execution order on identical prepared inputs. Text median changes from 393.405 to 103.617 ms, image-plus-feedback from 418.258 to 127.773 ms, and avoid-plus-budget from 864.727 to 109.407 ms. Complete returned rows match exactly in all three scenarios. Ratios are 3.797x, 3.273x and 7.904x for this stage only. The baseline is src/shoplens/studio.py at commit eb53149346207b2500d8e160682e3894fb30125d.</a:t>
            </a:r>
          </a:p>
          <a:p xmlns:a="http://schemas.openxmlformats.org/drawingml/2006/main">
            <a:r>
              <a:t/>
            </a:r>
          </a:p>
          <a:p xmlns:a="http://schemas.openxmlformats.org/drawingml/2006/main">
            <a:r>
              <a:t>The optimized full engine has warm new-request median 367.420 ms and p95 409.483 ms over 12 requests. Exact-repeat engine median is 137.054 ms. Three text encoders take 6,818.820 ms for one cold observation, 231.185 ms for distinct warm inputs and 1.799 ms for exact embedding-cache hits. New input and cached repeats are separate measurements. CPU execution uses four Torch threads on a separately verified Apple M4 with 16 GiB memory. Timings exclude browser/Streamlit rendering, network and downloads. No end-to-end baseline speedup or MPS performance claim follows.</a:t>
            </a:r>
          </a:p>
          <a:p xmlns:a="http://schemas.openxmlformats.org/drawingml/2006/main">
            <a:r>
              <a:t/>
            </a:r>
          </a:p>
          <a:p xmlns:a="http://schemas.openxmlformats.org/drawingml/2006/main">
            <a:r>
              <a:t>Sources</a:t>
            </a:r>
          </a:p>
          <a:p xmlns:a="http://schemas.openxmlformats.org/drawingml/2006/main">
            <a:r>
              <a:t>results/performance/studio.json</a:t>
            </a:r>
          </a:p>
          <a:p xmlns:a="http://schemas.openxmlformats.org/drawingml/2006/main">
            <a:r>
              <a:t>scripts/benchmark_studio.py</a:t>
            </a:r>
          </a:p>
          <a:p xmlns:a="http://schemas.openxmlformats.org/drawingml/2006/main">
            <a:r>
              <a:t>src/shoplens/studio.py</a:t>
            </a:r>
          </a:p>
          <a:p xmlns:a="http://schemas.openxmlformats.org/drawingml/2006/main">
            <a:r>
              <a:t>https://github.com/cjk041212/ShopLens/blob/eb53149346207b2500d8e160682e3894fb30125d/src/shoplens/studio.py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Both actual custom requests use the final fusion model with SHA256 c11883011c50fdb7c4e2125313870f1a14eb2b51a9811c1951fd1f2416994c0a. They share reference B00801W1H6 in dress and rank 280 eligible candidates. For “is blue with long sleeves,” learned fusion returns B00H2FUGOQ first. For “is red and sleeveless,” it returns B00BLNL7G6 first. The second result visibly need not satisfy the requested attributes. No new paired target or manual relevance label exists, so these requests have no target rank or accuracy score. Image-only Top1 stays B00BLNL7G6. Text-only Top1 stays B003BKNUVC, even though its Top12 list changes.</a:t>
            </a:r>
          </a:p>
          <a:p xmlns:a="http://schemas.openxmlformats.org/drawingml/2006/main">
            <a:r>
              <a:t/>
            </a:r>
          </a:p>
          <a:p xmlns:a="http://schemas.openxmlformats.org/drawingml/2006/main">
            <a:r>
              <a:t>The public API is compose_fashion_query(repo_root, runtime_root, reference_id, text, category, limit=12) in src/shoplens/fashion_retrieval.py. It explicitly loads the prepared local frozen CLIP text encoder, reuses cached reference-image features and safely loads the fusion head with weights_only. Searches do not automatically download models. The photographed outputs record actual inference rather than labeled evaluation.</a:t>
            </a:r>
          </a:p>
          <a:p xmlns:a="http://schemas.openxmlformats.org/drawingml/2006/main">
            <a:r>
              <a:t/>
            </a:r>
          </a:p>
          <a:p xmlns:a="http://schemas.openxmlformats.org/drawingml/2006/main">
            <a:r>
              <a:t>Sources</a:t>
            </a:r>
          </a:p>
          <a:p xmlns:a="http://schemas.openxmlformats.org/drawingml/2006/main">
            <a:r>
              <a:t>src/shoplens/fashion_retrieval.py</a:t>
            </a:r>
          </a:p>
          <a:p xmlns:a="http://schemas.openxmlformats.org/drawingml/2006/main">
            <a:r>
              <a:t>src/shoplens/benchmark_ui.py</a:t>
            </a:r>
          </a:p>
          <a:p xmlns:a="http://schemas.openxmlformats.org/drawingml/2006/main">
            <a:r>
              <a:t>models/fashion/fusion.pt</a:t>
            </a:r>
          </a:p>
          <a:p xmlns:a="http://schemas.openxmlformats.org/drawingml/2006/main">
            <a:r>
              <a:t>results/fashion/summary.json</a:t>
            </a:r>
          </a:p>
          <a:p xmlns:a="http://schemas.openxmlformats.org/drawingml/2006/main">
            <a:r>
              <a:t>assets/benchmarks/fashion/images/B00801W1H6.jpg</a:t>
            </a:r>
          </a:p>
          <a:p xmlns:a="http://schemas.openxmlformats.org/drawingml/2006/main">
            <a:r>
              <a:t>assets/benchmarks/fashion/images/B00H2FUGOQ.jpg</a:t>
            </a:r>
          </a:p>
          <a:p xmlns:a="http://schemas.openxmlformats.org/drawingml/2006/main">
            <a:r>
              <a:t>assets/benchmarks/fashion/images/B00BLNL7G6.jpg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original 27-run recommendation study does not show a universal LoRA gain. Frozen has the highest mean NDCG@10 in every domain. ESCI candidate-list transfer yields small differences and different metrics favor different arms. FashionIQ includes a strong text-only baseline. Learned fusion improves fixed fusion, while text only remains stronger at Recall@10. Custom requests show changed outputs without new relevance labels.</a:t>
            </a:r>
          </a:p>
          <a:p xmlns:a="http://schemas.openxmlformats.org/drawingml/2006/main">
            <a:r>
              <a:t/>
            </a:r>
          </a:p>
          <a:p xmlns:a="http://schemas.openxmlformats.org/drawingml/2006/main">
            <a:r>
              <a:t>The results depend on selected galleries and cohorts, one fusion seed and existing source labels. Dataset releases may share Amazon products, and encoder pretraining contamination cannot be excluded. The deterministic FashionIQ photo repair occurred after preliminary result inspection, without outcome-based selection or altered hyperparameters. Maps and input-removal diagnostics remain descriptive. Exposure is not satisfaction. Ranking-stage speedups do not imply faster browser rendering or a measured complete-application baseline speedup.</a:t>
            </a:r>
          </a:p>
          <a:p xmlns:a="http://schemas.openxmlformats.org/drawingml/2006/main">
            <a:r>
              <a:t/>
            </a:r>
          </a:p>
          <a:p xmlns:a="http://schemas.openxmlformats.org/drawingml/2006/main">
            <a:r>
              <a:t>Sources</a:t>
            </a:r>
          </a:p>
          <a:p xmlns:a="http://schemas.openxmlformats.org/drawingml/2006/main">
            <a:r>
              <a:t>results/qwen/results_qwen_summary.json</a:t>
            </a:r>
          </a:p>
          <a:p xmlns:a="http://schemas.openxmlformats.org/drawingml/2006/main">
            <a:r>
              <a:t>src/shoplens/qwen_pipeline.py</a:t>
            </a:r>
          </a:p>
          <a:p xmlns:a="http://schemas.openxmlformats.org/drawingml/2006/main">
            <a:r>
              <a:t>src/shoplens/qwen_models.py</a:t>
            </a:r>
          </a:p>
          <a:p xmlns:a="http://schemas.openxmlformats.org/drawingml/2006/main">
            <a:r>
              <a:t>reports/ShopLens_Qwen_report_en.md</a:t>
            </a:r>
          </a:p>
          <a:p xmlns:a="http://schemas.openxmlformats.org/drawingml/2006/main">
            <a:r>
              <a:t>results/esci/summary.json</a:t>
            </a:r>
          </a:p>
          <a:p xmlns:a="http://schemas.openxmlformats.org/drawingml/2006/main">
            <a:r>
              <a:t>results/fashion/summary.json</a:t>
            </a:r>
          </a:p>
          <a:p xmlns:a="http://schemas.openxmlformats.org/drawingml/2006/main">
            <a:r>
              <a:t>results/fashion/queries.json</a:t>
            </a:r>
          </a:p>
          <a:p xmlns:a="http://schemas.openxmlformats.org/drawingml/2006/main">
            <a:r>
              <a:t>assets/benchmarks/fashion/manifest.json</a:t>
            </a:r>
          </a:p>
          <a:p xmlns:a="http://schemas.openxmlformats.org/drawingml/2006/main">
            <a:r>
              <a:t>models/fashion/fusion.pt</a:t>
            </a:r>
          </a:p>
          <a:p xmlns:a="http://schemas.openxmlformats.org/drawingml/2006/main">
            <a:r>
              <a:t>scripts/run_fashion_experiment.py</a:t>
            </a:r>
          </a:p>
          <a:p xmlns:a="http://schemas.openxmlformats.org/drawingml/2006/main">
            <a:r>
              <a:t>https://github.com/XiaoxiaoGuo/fashion-iq/tree/f71b16c3b09ef03b02c0fed160fa072fb3b8aa16</a:t>
            </a:r>
          </a:p>
          <a:p xmlns:a="http://schemas.openxmlformats.org/drawingml/2006/main">
            <a:r>
              <a:t>results/diagnostics/recommendation_diagnostics.json</a:t>
            </a:r>
          </a:p>
          <a:p xmlns:a="http://schemas.openxmlformats.org/drawingml/2006/main">
            <a:r>
              <a:t>results/performance/studio.json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repository is https://github.com/cjk041212/ShopLens. README.md provides installation and local model-preparation commands. Recorded Experiment gallery and Benchmark lab views open without loading foundation encoders. Live Shopping Studio and custom fashion edits require restoring the Git-versioned runtime and preparing official Qwen/CLIP base encoders once. No retraining or Release package is required. Base encoders download only during explicit preparation.</a:t>
            </a:r>
          </a:p>
          <a:p xmlns:a="http://schemas.openxmlformats.org/drawingml/2006/main">
            <a:r>
              <a:t/>
            </a:r>
          </a:p>
          <a:p xmlns:a="http://schemas.openxmlformats.org/drawingml/2006/main">
            <a:r>
              <a:t>Experiment entry points are scripts/run_esci_benchmark.py, scripts/run_fashion_experiment.py, scripts/run_recommendation_diagnostics.py and scripts/benchmark_studio.py. A separate checkout preserves published measurements during reproduction. Recommendation diagnostics additionally require separately prepared chronological interactions, which are excluded from Git. Results preserve protocols and query-level evidence. ATTRIBUTION.md records data and model credits and terms.</a:t>
            </a:r>
          </a:p>
          <a:p xmlns:a="http://schemas.openxmlformats.org/drawingml/2006/main">
            <a:r>
              <a:t/>
            </a:r>
          </a:p>
          <a:p xmlns:a="http://schemas.openxmlformats.org/drawingml/2006/main">
            <a:r>
              <a:t>Sources</a:t>
            </a:r>
          </a:p>
          <a:p xmlns:a="http://schemas.openxmlformats.org/drawingml/2006/main">
            <a:r>
              <a:t>README.md</a:t>
            </a:r>
          </a:p>
          <a:p xmlns:a="http://schemas.openxmlformats.org/drawingml/2006/main">
            <a:r>
              <a:t>ATTRIBUTION.md</a:t>
            </a:r>
          </a:p>
          <a:p xmlns:a="http://schemas.openxmlformats.org/drawingml/2006/main">
            <a:r>
              <a:t>reports/ShopLens_Qwen_report_en.md</a:t>
            </a:r>
          </a:p>
          <a:p xmlns:a="http://schemas.openxmlformats.org/drawingml/2006/main">
            <a:r>
              <a:t>https://github.com/cjk041212/ShopLens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c88c2baec5004727"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5cdb0a4f3d8d4248"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c3c376d63b724bf6"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45134313e04f4a30"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148a3307bf314340"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efc2561a08854699"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439DBE2-6E50-4ABD-96C0-46BEC2624705}"/>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355A7123-8421-4784-950C-E5DBFAC4CB4E}"/>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5162F2EE-7952-45AC-B95E-3BF6C2AD3CB8}"/>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3395A63D-0FC7-49E7-B992-CB1CD3CA3B6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9203AE52-D599-44F6-865F-742E36FA0CAB}"/>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FDB7D386-DF90-42A3-A8BC-0E38BC6956BB}"/>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A9ED5B48-158B-4C59-8DCB-59A313E068F7}"/>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4C01092E-73E5-414E-8033-A2E21889AC2A}"/>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2AA1ED49-B5E4-4D8A-8062-87D8A7785455}"/>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108C609D-D823-4CEC-8A2C-E312D7C814E0}"/>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30debe8e627a4583" /><Relationship Type="http://schemas.openxmlformats.org/officeDocument/2006/relationships/slideLayout" Target="/ppt/slideLayouts/slideLayout1.xml" Id="Reffc4591e6d640e3" /><Relationship Type="http://schemas.openxmlformats.org/officeDocument/2006/relationships/slideLayout" Target="/ppt/slideLayouts/slideLayout2.xml" Id="R70e94c273d4a447c" /><Relationship Type="http://schemas.openxmlformats.org/officeDocument/2006/relationships/slideLayout" Target="/ppt/slideLayouts/slideLayout3.xml" Id="R66c59bf7af924005" /><Relationship Type="http://schemas.openxmlformats.org/officeDocument/2006/relationships/slideLayout" Target="/ppt/slideLayouts/slideLayout4.xml" Id="R03fa6055cee94da1" /><Relationship Type="http://schemas.openxmlformats.org/officeDocument/2006/relationships/slideLayout" Target="/ppt/slideLayouts/slideLayout5.xml" Id="R2ba5c124b64d4e68" /><Relationship Type="http://schemas.openxmlformats.org/officeDocument/2006/relationships/slideLayout" Target="/ppt/slideLayouts/slideLayout6.xml" Id="R5ef7270755bf4506"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effc4591e6d640e3"/>
    <p:sldLayoutId xmlns:r="http://schemas.openxmlformats.org/officeDocument/2006/relationships" id="2147483650" r:id="R70e94c273d4a447c"/>
    <p:sldLayoutId xmlns:r="http://schemas.openxmlformats.org/officeDocument/2006/relationships" id="2147483651" r:id="R66c59bf7af924005"/>
    <p:sldLayoutId xmlns:r="http://schemas.openxmlformats.org/officeDocument/2006/relationships" id="2147483652" r:id="R03fa6055cee94da1"/>
    <p:sldLayoutId xmlns:r="http://schemas.openxmlformats.org/officeDocument/2006/relationships" id="2147483653" r:id="R2ba5c124b64d4e68"/>
    <p:sldLayoutId xmlns:r="http://schemas.openxmlformats.org/officeDocument/2006/relationships" id="2147483654" r:id="R5ef7270755bf4506"/>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1f8bd8dcd54e459e" /><Relationship Type="http://schemas.openxmlformats.org/officeDocument/2006/relationships/notesSlide" Target="/ppt/notesSlides/notesSlide1.xml" Id="R10d75e8a3d614f97"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dcb4ea7a7a494a4a" /><Relationship Type="http://schemas.openxmlformats.org/officeDocument/2006/relationships/image" Target="/ppt/media/image.jpeg" Id="R4066d56358c244ed" /><Relationship Type="http://schemas.openxmlformats.org/officeDocument/2006/relationships/notesSlide" Target="/ppt/notesSlides/notesSlide2.xml" Id="R627dc0b7d2664148"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253bbdc6cb764905" /><Relationship Type="http://schemas.openxmlformats.org/officeDocument/2006/relationships/image" Target="/ppt/media/image2.jpeg" Id="R0eb3c3065c544560" /><Relationship Type="http://schemas.openxmlformats.org/officeDocument/2006/relationships/notesSlide" Target="/ppt/notesSlides/notesSlide3.xml" Id="R55d300b2842e4acc"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1dc071d342814c01" /><Relationship Type="http://schemas.openxmlformats.org/officeDocument/2006/relationships/image" Target="/ppt/media/image3.jpeg" Id="R8406e0f48a684e26" /><Relationship Type="http://schemas.openxmlformats.org/officeDocument/2006/relationships/image" Target="/ppt/media/image4.jpeg" Id="R3caa0a187caf4238" /><Relationship Type="http://schemas.openxmlformats.org/officeDocument/2006/relationships/notesSlide" Target="/ppt/notesSlides/notesSlide4.xml" Id="Rfdbb01789c664dd2"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afaae0e208e64444" /><Relationship Type="http://schemas.openxmlformats.org/officeDocument/2006/relationships/image" Target="/ppt/media/image5.jpeg" Id="Rbea6a784281c4138" /><Relationship Type="http://schemas.openxmlformats.org/officeDocument/2006/relationships/image" Target="/ppt/media/image6.jpeg" Id="Rdbbbac4573a04914" /><Relationship Type="http://schemas.openxmlformats.org/officeDocument/2006/relationships/notesSlide" Target="/ppt/notesSlides/notesSlide5.xml" Id="R39731c8e57244fee"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bc6dc200723e4fa2" /><Relationship Type="http://schemas.openxmlformats.org/officeDocument/2006/relationships/image" Target="/ppt/media/image7.jpeg" Id="R02dec5f20b2647ac" /><Relationship Type="http://schemas.openxmlformats.org/officeDocument/2006/relationships/notesSlide" Target="/ppt/notesSlides/notesSlide6.xml" Id="Re35bcee1f75f4e4c"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c9b49dbaa6e1427f" /><Relationship Type="http://schemas.openxmlformats.org/officeDocument/2006/relationships/notesSlide" Target="/ppt/notesSlides/notesSlide7.xml" Id="Rb94af3dc20aa4e48"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e9b23bc7b04c4036" /><Relationship Type="http://schemas.openxmlformats.org/officeDocument/2006/relationships/notesSlide" Target="/ppt/notesSlides/notesSlide8.xml" Id="Re2dce408847c4be7"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6fa8cd472e574a14" /><Relationship Type="http://schemas.openxmlformats.org/officeDocument/2006/relationships/notesSlide" Target="/ppt/notesSlides/notesSlide9.xml" Id="Rdab0120d272442ee"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fb09ad752cd74205" /><Relationship Type="http://schemas.openxmlformats.org/officeDocument/2006/relationships/chart" Target="/ppt/slides/charts/chart1.xml" Id="R8b3b3d1c3a2247f1" /><Relationship Type="http://schemas.openxmlformats.org/officeDocument/2006/relationships/notesSlide" Target="/ppt/notesSlides/notesSlide10.xml" Id="Rdbd7f6266b61448a"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600bf2e83f8b41a1" /><Relationship Type="http://schemas.openxmlformats.org/officeDocument/2006/relationships/chart" Target="/ppt/slides/charts/chart2.xml" Id="R9a8427feeb75411a" /><Relationship Type="http://schemas.openxmlformats.org/officeDocument/2006/relationships/notesSlide" Target="/ppt/notesSlides/notesSlide11.xml" Id="R2d3bb429b1ad4a86"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8f8e61d5c3df4fc4" /><Relationship Type="http://schemas.openxmlformats.org/officeDocument/2006/relationships/notesSlide" Target="/ppt/notesSlides/notesSlide12.xml" Id="R571d4c0e6ca546b0"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20f42809cb384c5f" /><Relationship Type="http://schemas.openxmlformats.org/officeDocument/2006/relationships/image" Target="/ppt/media/image8.jpeg" Id="R71987f62b9104a5d" /><Relationship Type="http://schemas.openxmlformats.org/officeDocument/2006/relationships/image" Target="/ppt/media/image9.jpeg" Id="R68ba851e47214c7d" /><Relationship Type="http://schemas.openxmlformats.org/officeDocument/2006/relationships/notesSlide" Target="/ppt/notesSlides/notesSlide13.xml" Id="R63a6784eb2ce40d8"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84cf4530a9d34d38" /><Relationship Type="http://schemas.openxmlformats.org/officeDocument/2006/relationships/notesSlide" Target="/ppt/notesSlides/notesSlide14.xml" Id="R6afe6ced4b0e4e63"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b40203246218457d" /><Relationship Type="http://schemas.openxmlformats.org/officeDocument/2006/relationships/chart" Target="/ppt/slides/charts/chart3.xml" Id="R0e45944b7a294b2f" /><Relationship Type="http://schemas.openxmlformats.org/officeDocument/2006/relationships/notesSlide" Target="/ppt/notesSlides/notesSlide15.xml" Id="R911c199ea3084c32"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38e05bfd92a24083" /><Relationship Type="http://schemas.openxmlformats.org/officeDocument/2006/relationships/chart" Target="/ppt/slides/charts/chart4.xml" Id="Rbd19fd4ba6884434" /><Relationship Type="http://schemas.openxmlformats.org/officeDocument/2006/relationships/chart" Target="/ppt/slides/charts/chart5.xml" Id="R2af4caf5ec0f4c2b" /><Relationship Type="http://schemas.openxmlformats.org/officeDocument/2006/relationships/notesSlide" Target="/ppt/notesSlides/notesSlide16.xml" Id="R9682f95d47dc4a96"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3e0f13862fc4471c" /><Relationship Type="http://schemas.openxmlformats.org/officeDocument/2006/relationships/chart" Target="/ppt/slides/charts/chart6.xml" Id="Re793ca7db7704b73" /><Relationship Type="http://schemas.openxmlformats.org/officeDocument/2006/relationships/notesSlide" Target="/ppt/notesSlides/notesSlide17.xml" Id="Ra89f70bb8f8446f5"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df59ba54ea744811" /><Relationship Type="http://schemas.openxmlformats.org/officeDocument/2006/relationships/image" Target="/ppt/media/image10.jpeg" Id="R4080d492e54c402c" /><Relationship Type="http://schemas.openxmlformats.org/officeDocument/2006/relationships/image" Target="/ppt/media/image11.jpeg" Id="R12baad94552a49b2" /><Relationship Type="http://schemas.openxmlformats.org/officeDocument/2006/relationships/image" Target="/ppt/media/image12.jpeg" Id="R89aa4770fb7f4f1d" /><Relationship Type="http://schemas.openxmlformats.org/officeDocument/2006/relationships/notesSlide" Target="/ppt/notesSlides/notesSlide18.xml" Id="R308f0dd2357f4673"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79b7df53f834407c" /><Relationship Type="http://schemas.openxmlformats.org/officeDocument/2006/relationships/notesSlide" Target="/ppt/notesSlides/notesSlide19.xml" Id="R8db28170032045b3"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739167f538854467" /><Relationship Type="http://schemas.openxmlformats.org/officeDocument/2006/relationships/notesSlide" Target="/ppt/notesSlides/notesSlide20.xml" Id="R7d80ad8eff864d9c"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_rels/chart3.xml.rels><Relationships xmlns="http://schemas.openxmlformats.org/package/2006/relationships"><Relationship Id="rIdChartSnapshot1" Type="http://schemas.openxmlformats.org/officeDocument/2006/relationships/package" Target="../../embeddings/chart-data-snapshot-003.xlsx"/></Relationships>
</file>

<file path=ppt/slides/charts/_rels/chart4.xml.rels><Relationships xmlns="http://schemas.openxmlformats.org/package/2006/relationships"><Relationship Id="rIdChartSnapshot1" Type="http://schemas.openxmlformats.org/officeDocument/2006/relationships/package" Target="../../embeddings/chart-data-snapshot-004.xlsx"/></Relationships>
</file>

<file path=ppt/slides/charts/_rels/chart5.xml.rels><Relationships xmlns="http://schemas.openxmlformats.org/package/2006/relationships"><Relationship Id="rIdChartSnapshot1" Type="http://schemas.openxmlformats.org/officeDocument/2006/relationships/package" Target="../../embeddings/chart-data-snapshot-005.xlsx"/></Relationships>
</file>

<file path=ppt/slides/charts/_rels/chart6.xml.rels><Relationships xmlns="http://schemas.openxmlformats.org/package/2006/relationships"><Relationship Id="rIdChartSnapshot1" Type="http://schemas.openxmlformats.org/officeDocument/2006/relationships/package" Target="../../embeddings/chart-data-snapshot-006.xlsx"/></Relationships>
</file>

<file path=ppt/slides/charts/chart1.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725">
                <a:solidFill>
                  <a:srgbClr val="17251F"/>
                </a:solidFill>
                <a:latin typeface="Helvetica Neue"/>
                <a:ea typeface="Helvetica Neue"/>
                <a:cs typeface="Helvetica Neue"/>
              </a:rPr>
              <a:t>Mean user-macro NDCG@10</a:t>
            </a:r>
          </a:p>
        </c:rich>
      </c:tx>
      <c:overlay val="0"/>
      <c:txPr>
        <a:bodyPr xmlns:a="http://schemas.openxmlformats.org/drawingml/2006/main" anchorCtr="1"/>
        <a:lstStyle xmlns:a="http://schemas.openxmlformats.org/drawingml/2006/main"/>
        <a:p xmlns:a="http://schemas.openxmlformats.org/drawingml/2006/main">
          <a:pPr>
            <a:defRPr sz="1725">
              <a:solidFill>
                <a:srgbClr val="17251F"/>
              </a:solidFill>
              <a:latin typeface="Helvetica Neue"/>
              <a:ea typeface="Helvetica Neue"/>
              <a:cs typeface="Helvetica Neue"/>
            </a:defRPr>
          </a:pPr>
        </a:p>
      </c:txPr>
    </c:title>
    <c:plotArea>
      <c:barChart>
        <c:barDir val="col"/>
        <c:grouping val="clustered"/>
        <c:varyColors val="0"/>
        <c:ser>
          <c:idx val="0"/>
          <c:order val="0"/>
          <c:tx>
            <c:v>Frozen</c:v>
          </c:tx>
          <c:spPr>
            <a:solidFill xmlns:a="http://schemas.openxmlformats.org/drawingml/2006/main">
              <a:srgbClr val="6F7F8B"/>
            </a:solidFill>
          </c:spPr>
          <c:invertIfNegative val="0"/>
          <c:cat>
            <c:strRef>
              <c:f>'Chart Data'!$A$2:$A$4</c:f>
              <c:strCache>
                <c:ptCount val="3"/>
                <c:pt idx="0">
                  <c:v>Baby</c:v>
                </c:pt>
                <c:pt idx="1">
                  <c:v>Sports</c:v>
                </c:pt>
                <c:pt idx="2">
                  <c:v>Clothing</c:v>
                </c:pt>
              </c:strCache>
            </c:strRef>
          </c:cat>
          <c:val>
            <c:numRef>
              <c:f>'Chart Data'!$B$2:$B$4</c:f>
              <c:numCache>
                <c:formatCode>0.000</c:formatCode>
                <c:ptCount val="3"/>
                <c:pt idx="0">
                  <c:v>0.012796430214663</c:v>
                </c:pt>
                <c:pt idx="1">
                  <c:v>0.0071156647645873</c:v>
                </c:pt>
                <c:pt idx="2">
                  <c:v>0.0051863723773545</c:v>
                </c:pt>
              </c:numCache>
            </c:numRef>
          </c:val>
        </c:ser>
        <c:ser>
          <c:idx val="1"/>
          <c:order val="1"/>
          <c:tx>
            <c:v>Semantic</c:v>
          </c:tx>
          <c:spPr>
            <a:solidFill xmlns:a="http://schemas.openxmlformats.org/drawingml/2006/main">
              <a:srgbClr val="087E80"/>
            </a:solidFill>
          </c:spPr>
          <c:invertIfNegative val="0"/>
          <c:cat>
            <c:strRef>
              <c:f>'Chart Data'!$C$2:$C$4</c:f>
              <c:strCache>
                <c:ptCount val="3"/>
                <c:pt idx="0">
                  <c:v>Baby</c:v>
                </c:pt>
                <c:pt idx="1">
                  <c:v>Sports</c:v>
                </c:pt>
                <c:pt idx="2">
                  <c:v>Clothing</c:v>
                </c:pt>
              </c:strCache>
            </c:strRef>
          </c:cat>
          <c:val>
            <c:numRef>
              <c:f>'Chart Data'!$D$2:$D$4</c:f>
              <c:numCache>
                <c:formatCode>0.000</c:formatCode>
                <c:ptCount val="3"/>
                <c:pt idx="0">
                  <c:v>0.0099300727821851</c:v>
                </c:pt>
                <c:pt idx="1">
                  <c:v>0.0068715516487604</c:v>
                </c:pt>
                <c:pt idx="2">
                  <c:v>0.004460339412695</c:v>
                </c:pt>
              </c:numCache>
            </c:numRef>
          </c:val>
        </c:ser>
        <c:ser>
          <c:idx val="2"/>
          <c:order val="2"/>
          <c:tx>
            <c:v>Preference</c:v>
          </c:tx>
          <c:spPr>
            <a:solidFill xmlns:a="http://schemas.openxmlformats.org/drawingml/2006/main">
              <a:srgbClr val="233F39"/>
            </a:solidFill>
          </c:spPr>
          <c:invertIfNegative val="0"/>
          <c:cat>
            <c:strRef>
              <c:f>'Chart Data'!$E$2:$E$4</c:f>
              <c:strCache>
                <c:ptCount val="3"/>
                <c:pt idx="0">
                  <c:v>Baby</c:v>
                </c:pt>
                <c:pt idx="1">
                  <c:v>Sports</c:v>
                </c:pt>
                <c:pt idx="2">
                  <c:v>Clothing</c:v>
                </c:pt>
              </c:strCache>
            </c:strRef>
          </c:cat>
          <c:val>
            <c:numRef>
              <c:f>'Chart Data'!$F$2:$F$4</c:f>
              <c:numCache>
                <c:formatCode>0.000</c:formatCode>
                <c:ptCount val="3"/>
                <c:pt idx="0">
                  <c:v>0.012474848225823</c:v>
                </c:pt>
                <c:pt idx="1">
                  <c:v>0.0070393445750287</c:v>
                </c:pt>
                <c:pt idx="2">
                  <c:v>0.0051244196143561</c:v>
                </c:pt>
              </c:numCache>
            </c:numRef>
          </c:val>
        </c:ser>
        <c:dLbls>
          <c:numFmt formatCode="0.000" sourceLinked="0"/>
          <c:txPr>
            <a:bodyPr xmlns:a="http://schemas.openxmlformats.org/drawingml/2006/main" anchorCtr="1"/>
            <a:lstStyle xmlns:a="http://schemas.openxmlformats.org/drawingml/2006/main"/>
            <a:p xmlns:a="http://schemas.openxmlformats.org/drawingml/2006/main">
              <a:pPr>
                <a:defRPr sz="1500">
                  <a:solidFill>
                    <a:srgbClr val="17251F"/>
                  </a:solidFill>
                  <a:latin typeface="Helvetica Neue"/>
                  <a:ea typeface="Helvetica Neue"/>
                  <a:cs typeface="Helvetica Neue"/>
                </a:defRPr>
              </a:pPr>
            </a:p>
          </c:txPr>
          <c:dLblPos val="outEnd"/>
          <c:showLegendKey val="0"/>
          <c:showVal val="0"/>
          <c:showCatName val="0"/>
          <c:showSerName val="0"/>
          <c:showPercent val="0"/>
          <c:showBubbleSize val="0"/>
          <c:showLeaderLines val="0"/>
        </c:dLbls>
        <c:gapWidth val="85"/>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E3E8E2"/>
            </a:solidFill>
          </a:ln>
        </c:spPr>
        <c:txPr>
          <a:bodyPr xmlns:a="http://schemas.openxmlformats.org/drawingml/2006/main" anchorCtr="1"/>
          <a:lstStyle xmlns:a="http://schemas.openxmlformats.org/drawingml/2006/main"/>
          <a:p xmlns:a="http://schemas.openxmlformats.org/drawingml/2006/main">
            <a:pPr>
              <a:defRPr sz="1575">
                <a:solidFill>
                  <a:srgbClr val="17251F"/>
                </a:solidFill>
                <a:latin typeface="Helvetica Neue"/>
                <a:ea typeface="Helvetica Neue"/>
                <a:cs typeface="Helvetica Neue"/>
              </a:defRPr>
            </a:pPr>
          </a:p>
        </c:txPr>
        <c:crossAx val="48672768"/>
      </c:catAx>
      <c:valAx>
        <c:axId val="48672768"/>
        <c:scaling>
          <c:orientation val="minMax"/>
          <c:max val="0.016"/>
          <c:min val="0"/>
        </c:scaling>
        <c:delete val="0"/>
        <c:axPos val="l"/>
        <c:majorGridlines>
          <c:spPr>
            <a:ln xmlns:a="http://schemas.openxmlformats.org/drawingml/2006/main" w="9525">
              <a:solidFill>
                <a:srgbClr val="E3E8E2"/>
              </a:solidFill>
            </a:ln>
          </c:spPr>
        </c:majorGridlines>
        <c:numFmt formatCode="0.0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425">
                <a:solidFill>
                  <a:srgbClr val="566760"/>
                </a:solidFill>
                <a:latin typeface="Helvetica Neue"/>
                <a:ea typeface="Helvetica Neue"/>
                <a:cs typeface="Helvetica Neue"/>
              </a:defRPr>
            </a:pPr>
          </a:p>
        </c:txPr>
        <c:crossAx val="48650112"/>
        <c:crossBetween val="between"/>
      </c:valAx>
      <c:spPr>
        <a:solidFill xmlns:a="http://schemas.openxmlformats.org/drawingml/2006/main">
          <a:srgbClr val="FAF8F3"/>
        </a:solidFill>
        <a:ln xmlns:a="http://schemas.openxmlformats.org/drawingml/2006/main" w="0">
          <a:noFill/>
        </a:ln>
      </c:spPr>
    </c:plotArea>
    <c:legend>
      <c:legendPos val="b"/>
      <c:overlay val="0"/>
      <c:txPr>
        <a:bodyPr xmlns:a="http://schemas.openxmlformats.org/drawingml/2006/main" anchorCtr="1"/>
        <a:lstStyle xmlns:a="http://schemas.openxmlformats.org/drawingml/2006/main"/>
        <a:p xmlns:a="http://schemas.openxmlformats.org/drawingml/2006/main">
          <a:pPr>
            <a:defRPr sz="1575">
              <a:solidFill>
                <a:srgbClr val="566760"/>
              </a:solidFill>
              <a:latin typeface="Helvetica Neue"/>
              <a:ea typeface="Helvetica Neue"/>
              <a:cs typeface="Helvetica Neue"/>
            </a:defRPr>
          </a:pPr>
        </a:p>
      </c:txPr>
    </c:legend>
    <c:plotVisOnly val="1"/>
  </c:chart>
  <c:spPr>
    <a:solidFill xmlns:a="http://schemas.openxmlformats.org/drawingml/2006/main">
      <a:srgbClr val="FAF8F3"/>
    </a:solidFill>
    <a:ln xmlns:a="http://schemas.openxmlformats.org/drawingml/2006/main" w="0">
      <a:noFill/>
    </a:ln>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725">
                <a:solidFill>
                  <a:srgbClr val="17251F"/>
                </a:solidFill>
                <a:latin typeface="Helvetica Neue"/>
                <a:ea typeface="Helvetica Neue"/>
                <a:cs typeface="Helvetica Neue"/>
              </a:rPr>
              <a:t>NDCG@10 within the official candidate list</a:t>
            </a:r>
          </a:p>
        </c:rich>
      </c:tx>
      <c:overlay val="0"/>
      <c:txPr>
        <a:bodyPr xmlns:a="http://schemas.openxmlformats.org/drawingml/2006/main" anchorCtr="1"/>
        <a:lstStyle xmlns:a="http://schemas.openxmlformats.org/drawingml/2006/main"/>
        <a:p xmlns:a="http://schemas.openxmlformats.org/drawingml/2006/main">
          <a:pPr>
            <a:defRPr sz="1725">
              <a:solidFill>
                <a:srgbClr val="17251F"/>
              </a:solidFill>
              <a:latin typeface="Helvetica Neue"/>
              <a:ea typeface="Helvetica Neue"/>
              <a:cs typeface="Helvetica Neue"/>
            </a:defRPr>
          </a:pPr>
        </a:p>
      </c:txPr>
    </c:title>
    <c:plotArea>
      <c:barChart>
        <c:barDir val="col"/>
        <c:grouping val="clustered"/>
        <c:varyColors val="0"/>
        <c:ser>
          <c:idx val="0"/>
          <c:order val="0"/>
          <c:tx>
            <c:v>Mean NDCG@10</c:v>
          </c:tx>
          <c:spPr>
            <a:solidFill xmlns:a="http://schemas.openxmlformats.org/drawingml/2006/main">
              <a:srgbClr val="6F7F8B"/>
            </a:solidFill>
          </c:spPr>
          <c:invertIfNegative val="0"/>
          <c:dPt>
            <c:idx val="0"/>
            <c:invertIfNegative val="0"/>
            <c:spPr>
              <a:solidFill xmlns:a="http://schemas.openxmlformats.org/drawingml/2006/main">
                <a:srgbClr val="B68B48"/>
              </a:solidFill>
            </c:spPr>
          </c:dPt>
          <c:dPt>
            <c:idx val="1"/>
            <c:invertIfNegative val="0"/>
            <c:spPr>
              <a:solidFill xmlns:a="http://schemas.openxmlformats.org/drawingml/2006/main">
                <a:srgbClr val="6F7F8B"/>
              </a:solidFill>
            </c:spPr>
          </c:dPt>
          <c:dPt>
            <c:idx val="2"/>
            <c:invertIfNegative val="0"/>
            <c:spPr>
              <a:solidFill xmlns:a="http://schemas.openxmlformats.org/drawingml/2006/main">
                <a:srgbClr val="087E80"/>
              </a:solidFill>
            </c:spPr>
          </c:dPt>
          <c:dPt>
            <c:idx val="3"/>
            <c:invertIfNegative val="0"/>
            <c:spPr>
              <a:solidFill xmlns:a="http://schemas.openxmlformats.org/drawingml/2006/main">
                <a:srgbClr val="233F39"/>
              </a:solidFill>
            </c:spPr>
          </c:dPt>
          <c:cat>
            <c:strRef>
              <c:f>'Chart Data'!$A$2:$A$5</c:f>
              <c:strCache>
                <c:ptCount val="4"/>
                <c:pt idx="0">
                  <c:v>TF-IDF</c:v>
                </c:pt>
                <c:pt idx="1">
                  <c:v>Frozen</c:v>
                </c:pt>
                <c:pt idx="2">
                  <c:v>Semantic</c:v>
                </c:pt>
                <c:pt idx="3">
                  <c:v>Preference</c:v>
                </c:pt>
              </c:strCache>
            </c:strRef>
          </c:cat>
          <c:val>
            <c:numRef>
              <c:f>'Chart Data'!$B$2:$B$5</c:f>
              <c:numCache>
                <c:formatCode>0.0000</c:formatCode>
                <c:ptCount val="4"/>
                <c:pt idx="0">
                  <c:v>0.69158379041813</c:v>
                </c:pt>
                <c:pt idx="1">
                  <c:v>0.72445989688711</c:v>
                </c:pt>
                <c:pt idx="2">
                  <c:v>0.72417326795461</c:v>
                </c:pt>
                <c:pt idx="3">
                  <c:v>0.73044115480075</c:v>
                </c:pt>
              </c:numCache>
            </c:numRef>
          </c:val>
        </c:ser>
        <c:dLbls>
          <c:numFmt formatCode="0.0000" sourceLinked="0"/>
          <c:txPr>
            <a:bodyPr xmlns:a="http://schemas.openxmlformats.org/drawingml/2006/main" anchorCtr="1"/>
            <a:lstStyle xmlns:a="http://schemas.openxmlformats.org/drawingml/2006/main"/>
            <a:p xmlns:a="http://schemas.openxmlformats.org/drawingml/2006/main">
              <a:pPr>
                <a:defRPr sz="1500">
                  <a:solidFill>
                    <a:srgbClr val="17251F"/>
                  </a:solidFill>
                  <a:latin typeface="Helvetica Neue"/>
                  <a:ea typeface="Helvetica Neue"/>
                  <a:cs typeface="Helvetica Neue"/>
                </a:defRPr>
              </a:pPr>
            </a:p>
          </c:txPr>
          <c:dLblPos val="outEnd"/>
          <c:showLegendKey val="0"/>
          <c:showVal val="1"/>
          <c:showCatName val="0"/>
          <c:showSerName val="0"/>
          <c:showPercent val="0"/>
          <c:showBubbleSize val="0"/>
          <c:showLeaderLines val="0"/>
        </c:dLbls>
        <c:gapWidth val="85"/>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E3E8E2"/>
            </a:solidFill>
          </a:ln>
        </c:spPr>
        <c:txPr>
          <a:bodyPr xmlns:a="http://schemas.openxmlformats.org/drawingml/2006/main" anchorCtr="1"/>
          <a:lstStyle xmlns:a="http://schemas.openxmlformats.org/drawingml/2006/main"/>
          <a:p xmlns:a="http://schemas.openxmlformats.org/drawingml/2006/main">
            <a:pPr>
              <a:defRPr sz="1575">
                <a:solidFill>
                  <a:srgbClr val="17251F"/>
                </a:solidFill>
                <a:latin typeface="Helvetica Neue"/>
                <a:ea typeface="Helvetica Neue"/>
                <a:cs typeface="Helvetica Neue"/>
              </a:defRPr>
            </a:pPr>
          </a:p>
        </c:txPr>
        <c:crossAx val="48672768"/>
      </c:catAx>
      <c:valAx>
        <c:axId val="48672768"/>
        <c:scaling>
          <c:orientation val="minMax"/>
          <c:max val="0.85"/>
          <c:min val="0"/>
        </c:scaling>
        <c:delete val="0"/>
        <c:axPos val="l"/>
        <c:majorGridlines>
          <c:spPr>
            <a:ln xmlns:a="http://schemas.openxmlformats.org/drawingml/2006/main" w="9525">
              <a:solidFill>
                <a:srgbClr val="E3E8E2"/>
              </a:solidFill>
            </a:ln>
          </c:spPr>
        </c:majorGridlines>
        <c:numFmt formatCode="0.00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425">
                <a:solidFill>
                  <a:srgbClr val="566760"/>
                </a:solidFill>
                <a:latin typeface="Helvetica Neue"/>
                <a:ea typeface="Helvetica Neue"/>
                <a:cs typeface="Helvetica Neue"/>
              </a:defRPr>
            </a:pPr>
          </a:p>
        </c:txPr>
        <c:crossAx val="48650112"/>
        <c:crossBetween val="between"/>
      </c:valAx>
      <c:spPr>
        <a:solidFill xmlns:a="http://schemas.openxmlformats.org/drawingml/2006/main">
          <a:srgbClr val="FAF8F3"/>
        </a:solidFill>
        <a:ln xmlns:a="http://schemas.openxmlformats.org/drawingml/2006/main" w="0">
          <a:noFill/>
        </a:ln>
      </c:spPr>
    </c:plotArea>
    <c:plotVisOnly val="1"/>
  </c:chart>
  <c:spPr>
    <a:solidFill xmlns:a="http://schemas.openxmlformats.org/drawingml/2006/main">
      <a:srgbClr val="FAF8F3"/>
    </a:solidFill>
    <a:ln xmlns:a="http://schemas.openxmlformats.org/drawingml/2006/main" w="0">
      <a:noFill/>
    </a:ln>
  </c:spPr>
  <c:externalData r:id="rIdChartSnapshot1">
    <c:autoUpdate val="0"/>
  </c:externalData>
</c:chartSpace>
</file>

<file path=ppt/slides/charts/chart3.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725">
                <a:solidFill>
                  <a:srgbClr val="17251F"/>
                </a:solidFill>
                <a:latin typeface="Helvetica Neue"/>
                <a:ea typeface="Helvetica Neue"/>
                <a:cs typeface="Helvetica Neue"/>
              </a:rPr>
              <a:t>Known paired target retrieved within Top K</a:t>
            </a:r>
          </a:p>
        </c:rich>
      </c:tx>
      <c:overlay val="0"/>
      <c:txPr>
        <a:bodyPr xmlns:a="http://schemas.openxmlformats.org/drawingml/2006/main" anchorCtr="1"/>
        <a:lstStyle xmlns:a="http://schemas.openxmlformats.org/drawingml/2006/main"/>
        <a:p xmlns:a="http://schemas.openxmlformats.org/drawingml/2006/main">
          <a:pPr>
            <a:defRPr sz="1725">
              <a:solidFill>
                <a:srgbClr val="17251F"/>
              </a:solidFill>
              <a:latin typeface="Helvetica Neue"/>
              <a:ea typeface="Helvetica Neue"/>
              <a:cs typeface="Helvetica Neue"/>
            </a:defRPr>
          </a:pPr>
        </a:p>
      </c:txPr>
    </c:title>
    <c:plotArea>
      <c:barChart>
        <c:barDir val="col"/>
        <c:grouping val="clustered"/>
        <c:varyColors val="0"/>
        <c:ser>
          <c:idx val="0"/>
          <c:order val="0"/>
          <c:tx>
            <c:v>Recall@10</c:v>
          </c:tx>
          <c:spPr>
            <a:solidFill xmlns:a="http://schemas.openxmlformats.org/drawingml/2006/main">
              <a:srgbClr val="087E80"/>
            </a:solidFill>
          </c:spPr>
          <c:invertIfNegative val="0"/>
          <c:cat>
            <c:strRef>
              <c:f>'Chart Data'!$A$2:$A$5</c:f>
              <c:strCache>
                <c:ptCount val="4"/>
                <c:pt idx="0">
                  <c:v>Image only</c:v>
                </c:pt>
                <c:pt idx="1">
                  <c:v>Text only</c:v>
                </c:pt>
                <c:pt idx="2">
                  <c:v>Fixed fusion</c:v>
                </c:pt>
                <c:pt idx="3">
                  <c:v>Learned fusion</c:v>
                </c:pt>
              </c:strCache>
            </c:strRef>
          </c:cat>
          <c:val>
            <c:numRef>
              <c:f>'Chart Data'!$B$2:$B$5</c:f>
              <c:numCache>
                <c:formatCode>0.0%</c:formatCode>
                <c:ptCount val="4"/>
                <c:pt idx="0">
                  <c:v>0.21252909385587</c:v>
                </c:pt>
                <c:pt idx="1">
                  <c:v>0.56054492335064</c:v>
                </c:pt>
                <c:pt idx="2">
                  <c:v>0.40101234432502</c:v>
                </c:pt>
                <c:pt idx="3">
                  <c:v>0.52270615510224</c:v>
                </c:pt>
              </c:numCache>
            </c:numRef>
          </c:val>
        </c:ser>
        <c:ser>
          <c:idx val="1"/>
          <c:order val="1"/>
          <c:tx>
            <c:v>Recall@50</c:v>
          </c:tx>
          <c:spPr>
            <a:solidFill xmlns:a="http://schemas.openxmlformats.org/drawingml/2006/main">
              <a:srgbClr val="6F7F8B"/>
            </a:solidFill>
          </c:spPr>
          <c:invertIfNegative val="0"/>
          <c:cat>
            <c:strRef>
              <c:f>'Chart Data'!$C$2:$C$5</c:f>
              <c:strCache>
                <c:ptCount val="4"/>
                <c:pt idx="0">
                  <c:v>Image only</c:v>
                </c:pt>
                <c:pt idx="1">
                  <c:v>Text only</c:v>
                </c:pt>
                <c:pt idx="2">
                  <c:v>Fixed fusion</c:v>
                </c:pt>
                <c:pt idx="3">
                  <c:v>Learned fusion</c:v>
                </c:pt>
              </c:strCache>
            </c:strRef>
          </c:cat>
          <c:val>
            <c:numRef>
              <c:f>'Chart Data'!$D$2:$D$5</c:f>
              <c:numCache>
                <c:formatCode>0.0%</c:formatCode>
                <c:ptCount val="4"/>
                <c:pt idx="0">
                  <c:v>0.41789668177719</c:v>
                </c:pt>
                <c:pt idx="1">
                  <c:v>0.78009005386171</c:v>
                </c:pt>
                <c:pt idx="2">
                  <c:v>0.64129027442665</c:v>
                </c:pt>
                <c:pt idx="3">
                  <c:v>0.80133085350101</c:v>
                </c:pt>
              </c:numCache>
            </c:numRef>
          </c:val>
        </c:ser>
        <c:dLbls>
          <c:numFmt formatCode="0.0%" sourceLinked="0"/>
          <c:txPr>
            <a:bodyPr xmlns:a="http://schemas.openxmlformats.org/drawingml/2006/main" anchorCtr="1"/>
            <a:lstStyle xmlns:a="http://schemas.openxmlformats.org/drawingml/2006/main"/>
            <a:p xmlns:a="http://schemas.openxmlformats.org/drawingml/2006/main">
              <a:pPr>
                <a:defRPr sz="1500">
                  <a:solidFill>
                    <a:srgbClr val="17251F"/>
                  </a:solidFill>
                  <a:latin typeface="Helvetica Neue"/>
                  <a:ea typeface="Helvetica Neue"/>
                  <a:cs typeface="Helvetica Neue"/>
                </a:defRPr>
              </a:pPr>
            </a:p>
          </c:txPr>
          <c:dLblPos val="outEnd"/>
          <c:showLegendKey val="0"/>
          <c:showVal val="1"/>
          <c:showCatName val="0"/>
          <c:showSerName val="0"/>
          <c:showPercent val="0"/>
          <c:showBubbleSize val="0"/>
          <c:showLeaderLines val="0"/>
        </c:dLbls>
        <c:gapWidth val="85"/>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E3E8E2"/>
            </a:solidFill>
          </a:ln>
        </c:spPr>
        <c:txPr>
          <a:bodyPr xmlns:a="http://schemas.openxmlformats.org/drawingml/2006/main" anchorCtr="1"/>
          <a:lstStyle xmlns:a="http://schemas.openxmlformats.org/drawingml/2006/main"/>
          <a:p xmlns:a="http://schemas.openxmlformats.org/drawingml/2006/main">
            <a:pPr>
              <a:defRPr sz="1575">
                <a:solidFill>
                  <a:srgbClr val="17251F"/>
                </a:solidFill>
                <a:latin typeface="Helvetica Neue"/>
                <a:ea typeface="Helvetica Neue"/>
                <a:cs typeface="Helvetica Neue"/>
              </a:defRPr>
            </a:pPr>
          </a:p>
        </c:txPr>
        <c:crossAx val="48672768"/>
      </c:catAx>
      <c:valAx>
        <c:axId val="48672768"/>
        <c:scaling>
          <c:orientation val="minMax"/>
          <c:max val="1"/>
          <c:min val="0"/>
        </c:scaling>
        <c:delete val="0"/>
        <c:axPos val="l"/>
        <c:majorGridlines>
          <c:spPr>
            <a:ln xmlns:a="http://schemas.openxmlformats.org/drawingml/2006/main" w="9525">
              <a:solidFill>
                <a:srgbClr val="E3E8E2"/>
              </a:solidFill>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425">
                <a:solidFill>
                  <a:srgbClr val="566760"/>
                </a:solidFill>
                <a:latin typeface="Helvetica Neue"/>
                <a:ea typeface="Helvetica Neue"/>
                <a:cs typeface="Helvetica Neue"/>
              </a:defRPr>
            </a:pPr>
          </a:p>
        </c:txPr>
        <c:crossAx val="48650112"/>
        <c:crossBetween val="between"/>
      </c:valAx>
      <c:spPr>
        <a:solidFill xmlns:a="http://schemas.openxmlformats.org/drawingml/2006/main">
          <a:srgbClr val="FAF8F3"/>
        </a:solidFill>
        <a:ln xmlns:a="http://schemas.openxmlformats.org/drawingml/2006/main" w="0">
          <a:noFill/>
        </a:ln>
      </c:spPr>
    </c:plotArea>
    <c:legend>
      <c:legendPos val="b"/>
      <c:overlay val="0"/>
      <c:txPr>
        <a:bodyPr xmlns:a="http://schemas.openxmlformats.org/drawingml/2006/main" anchorCtr="1"/>
        <a:lstStyle xmlns:a="http://schemas.openxmlformats.org/drawingml/2006/main"/>
        <a:p xmlns:a="http://schemas.openxmlformats.org/drawingml/2006/main">
          <a:pPr>
            <a:defRPr sz="1575">
              <a:solidFill>
                <a:srgbClr val="566760"/>
              </a:solidFill>
              <a:latin typeface="Helvetica Neue"/>
              <a:ea typeface="Helvetica Neue"/>
              <a:cs typeface="Helvetica Neue"/>
            </a:defRPr>
          </a:pPr>
        </a:p>
      </c:txPr>
    </c:legend>
    <c:plotVisOnly val="1"/>
  </c:chart>
  <c:spPr>
    <a:solidFill xmlns:a="http://schemas.openxmlformats.org/drawingml/2006/main">
      <a:srgbClr val="FAF8F3"/>
    </a:solidFill>
    <a:ln xmlns:a="http://schemas.openxmlformats.org/drawingml/2006/main" w="0">
      <a:noFill/>
    </a:ln>
  </c:spPr>
  <c:externalData r:id="rIdChartSnapshot1">
    <c:autoUpdate val="0"/>
  </c:externalData>
</c:chartSpace>
</file>

<file path=ppt/slides/charts/chart4.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725">
                <a:solidFill>
                  <a:srgbClr val="17251F"/>
                </a:solidFill>
                <a:latin typeface="Helvetica Neue"/>
                <a:ea typeface="Helvetica Neue"/>
                <a:cs typeface="Helvetica Neue"/>
              </a:rPr>
              <a:t>History cap and NDCG@10</a:t>
            </a:r>
          </a:p>
        </c:rich>
      </c:tx>
      <c:overlay val="0"/>
      <c:txPr>
        <a:bodyPr xmlns:a="http://schemas.openxmlformats.org/drawingml/2006/main" anchorCtr="1"/>
        <a:lstStyle xmlns:a="http://schemas.openxmlformats.org/drawingml/2006/main"/>
        <a:p xmlns:a="http://schemas.openxmlformats.org/drawingml/2006/main">
          <a:pPr>
            <a:defRPr sz="1725">
              <a:solidFill>
                <a:srgbClr val="17251F"/>
              </a:solidFill>
              <a:latin typeface="Helvetica Neue"/>
              <a:ea typeface="Helvetica Neue"/>
              <a:cs typeface="Helvetica Neue"/>
            </a:defRPr>
          </a:pPr>
        </a:p>
      </c:txPr>
    </c:title>
    <c:plotArea>
      <c:lineChart>
        <c:grouping val="standard"/>
        <c:varyColors val="0"/>
        <c:ser>
          <c:idx val="0"/>
          <c:order val="0"/>
          <c:tx>
            <c:v>Frozen</c:v>
          </c:tx>
          <c:spPr>
            <a:ln xmlns:a="http://schemas.openxmlformats.org/drawingml/2006/main" w="28575">
              <a:solidFill>
                <a:srgbClr val="6F7F8B"/>
              </a:solidFill>
            </a:ln>
          </c:spPr>
          <c:marker>
            <c:symbol val="circle"/>
            <c:size val="6"/>
            <c:spPr>
              <a:solidFill xmlns:a="http://schemas.openxmlformats.org/drawingml/2006/main">
                <a:srgbClr val="6F7F8B"/>
              </a:solidFill>
            </c:spPr>
          </c:marker>
          <c:cat>
            <c:numRef>
              <c:f>'Chart Data'!$A$2:$A$6</c:f>
              <c:numCache>
                <c:formatCode>General</c:formatCode>
                <c:ptCount val="5"/>
                <c:pt idx="0">
                  <c:v>1</c:v>
                </c:pt>
                <c:pt idx="1">
                  <c:v>3</c:v>
                </c:pt>
                <c:pt idx="2">
                  <c:v>5</c:v>
                </c:pt>
                <c:pt idx="3">
                  <c:v>10</c:v>
                </c:pt>
                <c:pt idx="4">
                  <c:v>20</c:v>
                </c:pt>
              </c:numCache>
            </c:numRef>
          </c:cat>
          <c:val>
            <c:numRef>
              <c:f>'Chart Data'!$B$2:$B$6</c:f>
              <c:numCache>
                <c:formatCode>0.0000</c:formatCode>
                <c:ptCount val="5"/>
                <c:pt idx="0">
                  <c:v>0.0055866345455935</c:v>
                </c:pt>
                <c:pt idx="1">
                  <c:v>0.0043569999654432</c:v>
                </c:pt>
                <c:pt idx="2">
                  <c:v>0.0058464679461839</c:v>
                </c:pt>
                <c:pt idx="3">
                  <c:v>0.0055471715637723</c:v>
                </c:pt>
                <c:pt idx="4">
                  <c:v>0.0055041672786774</c:v>
                </c:pt>
              </c:numCache>
            </c:numRef>
          </c:val>
          <c:smooth val="0"/>
        </c:ser>
        <c:ser>
          <c:idx val="1"/>
          <c:order val="1"/>
          <c:tx>
            <c:v>Semantic</c:v>
          </c:tx>
          <c:spPr>
            <a:ln xmlns:a="http://schemas.openxmlformats.org/drawingml/2006/main" w="28575">
              <a:solidFill>
                <a:srgbClr val="087E80"/>
              </a:solidFill>
            </a:ln>
          </c:spPr>
          <c:marker>
            <c:symbol val="circle"/>
            <c:size val="6"/>
            <c:spPr>
              <a:solidFill xmlns:a="http://schemas.openxmlformats.org/drawingml/2006/main">
                <a:srgbClr val="087E80"/>
              </a:solidFill>
            </c:spPr>
          </c:marker>
          <c:cat>
            <c:numRef>
              <c:f>'Chart Data'!$C$2:$C$6</c:f>
              <c:numCache>
                <c:formatCode>General</c:formatCode>
                <c:ptCount val="5"/>
                <c:pt idx="0">
                  <c:v>1</c:v>
                </c:pt>
                <c:pt idx="1">
                  <c:v>3</c:v>
                </c:pt>
                <c:pt idx="2">
                  <c:v>5</c:v>
                </c:pt>
                <c:pt idx="3">
                  <c:v>10</c:v>
                </c:pt>
                <c:pt idx="4">
                  <c:v>20</c:v>
                </c:pt>
              </c:numCache>
            </c:numRef>
          </c:cat>
          <c:val>
            <c:numRef>
              <c:f>'Chart Data'!$D$2:$D$6</c:f>
              <c:numCache>
                <c:formatCode>0.0000</c:formatCode>
                <c:ptCount val="5"/>
                <c:pt idx="0">
                  <c:v>0.0036914230247824</c:v>
                </c:pt>
                <c:pt idx="1">
                  <c:v>0.0030225654173837</c:v>
                </c:pt>
                <c:pt idx="2">
                  <c:v>0.0030897430709079</c:v>
                </c:pt>
                <c:pt idx="3">
                  <c:v>0.0030885911029551</c:v>
                </c:pt>
                <c:pt idx="4">
                  <c:v>0.0030380716281788</c:v>
                </c:pt>
              </c:numCache>
            </c:numRef>
          </c:val>
          <c:smooth val="0"/>
        </c:ser>
        <c:ser>
          <c:idx val="2"/>
          <c:order val="2"/>
          <c:tx>
            <c:v>Preference</c:v>
          </c:tx>
          <c:spPr>
            <a:ln xmlns:a="http://schemas.openxmlformats.org/drawingml/2006/main" w="28575">
              <a:solidFill>
                <a:srgbClr val="233F39"/>
              </a:solidFill>
            </a:ln>
          </c:spPr>
          <c:marker>
            <c:symbol val="circle"/>
            <c:size val="6"/>
            <c:spPr>
              <a:solidFill xmlns:a="http://schemas.openxmlformats.org/drawingml/2006/main">
                <a:srgbClr val="233F39"/>
              </a:solidFill>
            </c:spPr>
          </c:marker>
          <c:cat>
            <c:numRef>
              <c:f>'Chart Data'!$E$2:$E$6</c:f>
              <c:numCache>
                <c:formatCode>General</c:formatCode>
                <c:ptCount val="5"/>
                <c:pt idx="0">
                  <c:v>1</c:v>
                </c:pt>
                <c:pt idx="1">
                  <c:v>3</c:v>
                </c:pt>
                <c:pt idx="2">
                  <c:v>5</c:v>
                </c:pt>
                <c:pt idx="3">
                  <c:v>10</c:v>
                </c:pt>
                <c:pt idx="4">
                  <c:v>20</c:v>
                </c:pt>
              </c:numCache>
            </c:numRef>
          </c:cat>
          <c:val>
            <c:numRef>
              <c:f>'Chart Data'!$F$2:$F$6</c:f>
              <c:numCache>
                <c:formatCode>0.0000</c:formatCode>
                <c:ptCount val="5"/>
                <c:pt idx="0">
                  <c:v>0.0050396663436679</c:v>
                </c:pt>
                <c:pt idx="1">
                  <c:v>0.0047298590349916</c:v>
                </c:pt>
                <c:pt idx="2">
                  <c:v>0.0061138375330909</c:v>
                </c:pt>
                <c:pt idx="3">
                  <c:v>0.0054363667254039</c:v>
                </c:pt>
                <c:pt idx="4">
                  <c:v>0.0054002345427083</c:v>
                </c:pt>
              </c:numCache>
            </c:numRef>
          </c:val>
          <c:smooth val="0"/>
        </c:ser>
        <c:dLbls>
          <c:numFmt formatCode="0.0000" sourceLinked="0"/>
          <c:txPr>
            <a:bodyPr xmlns:a="http://schemas.openxmlformats.org/drawingml/2006/main" anchorCtr="1"/>
            <a:lstStyle xmlns:a="http://schemas.openxmlformats.org/drawingml/2006/main"/>
            <a:p xmlns:a="http://schemas.openxmlformats.org/drawingml/2006/main">
              <a:pPr>
                <a:defRPr sz="1500">
                  <a:solidFill>
                    <a:srgbClr val="17251F"/>
                  </a:solidFill>
                  <a:latin typeface="Helvetica Neue"/>
                  <a:ea typeface="Helvetica Neue"/>
                  <a:cs typeface="Helvetica Neue"/>
                </a:defRPr>
              </a:pPr>
            </a:p>
          </c:txPr>
          <c:showLegendKey val="0"/>
          <c:showVal val="0"/>
          <c:showCatName val="0"/>
          <c:showSerName val="0"/>
          <c:showPercent val="0"/>
          <c:showBubbleSize val="0"/>
          <c:showLeaderLines val="0"/>
        </c:dLbls>
        <c:smooth val="0"/>
        <c:axId val="48650112"/>
        <c:axId val="48672768"/>
      </c:lineChart>
      <c:catAx>
        <c:axId val="48650112"/>
        <c:scaling>
          <c:orientation val="minMax"/>
        </c:scaling>
        <c:delete val="0"/>
        <c:axPos val="b"/>
        <c:numFmt formatCode="General"/>
        <c:majorTickMark val="none"/>
        <c:minorTickMark val="none"/>
        <c:spPr>
          <a:ln xmlns:a="http://schemas.openxmlformats.org/drawingml/2006/main" w="9525">
            <a:solidFill>
              <a:srgbClr val="E3E8E2"/>
            </a:solidFill>
          </a:ln>
        </c:spPr>
        <c:txPr>
          <a:bodyPr xmlns:a="http://schemas.openxmlformats.org/drawingml/2006/main" anchorCtr="1"/>
          <a:lstStyle xmlns:a="http://schemas.openxmlformats.org/drawingml/2006/main"/>
          <a:p xmlns:a="http://schemas.openxmlformats.org/drawingml/2006/main">
            <a:pPr>
              <a:defRPr sz="1575">
                <a:solidFill>
                  <a:srgbClr val="17251F"/>
                </a:solidFill>
                <a:latin typeface="Helvetica Neue"/>
                <a:ea typeface="Helvetica Neue"/>
                <a:cs typeface="Helvetica Neue"/>
              </a:defRPr>
            </a:pPr>
          </a:p>
        </c:txPr>
        <c:crossAx val="48672768"/>
      </c:catAx>
      <c:valAx>
        <c:axId val="48672768"/>
        <c:scaling>
          <c:orientation val="minMax"/>
          <c:min val="0"/>
        </c:scaling>
        <c:delete val="0"/>
        <c:axPos val="l"/>
        <c:majorGridlines>
          <c:spPr>
            <a:ln xmlns:a="http://schemas.openxmlformats.org/drawingml/2006/main" w="9525">
              <a:solidFill>
                <a:srgbClr val="E3E8E2"/>
              </a:solidFill>
            </a:ln>
          </c:spPr>
        </c:majorGridlines>
        <c:numFmt formatCode="0.00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425">
                <a:solidFill>
                  <a:srgbClr val="566760"/>
                </a:solidFill>
                <a:latin typeface="Helvetica Neue"/>
                <a:ea typeface="Helvetica Neue"/>
                <a:cs typeface="Helvetica Neue"/>
              </a:defRPr>
            </a:pPr>
          </a:p>
        </c:txPr>
        <c:crossAx val="48650112"/>
        <c:crossBetween val="between"/>
      </c:valAx>
      <c:spPr>
        <a:solidFill xmlns:a="http://schemas.openxmlformats.org/drawingml/2006/main">
          <a:srgbClr val="FAF8F3"/>
        </a:solidFill>
        <a:ln xmlns:a="http://schemas.openxmlformats.org/drawingml/2006/main" w="0">
          <a:noFill/>
        </a:ln>
      </c:spPr>
    </c:plotArea>
    <c:legend>
      <c:legendPos val="b"/>
      <c:overlay val="0"/>
      <c:txPr>
        <a:bodyPr xmlns:a="http://schemas.openxmlformats.org/drawingml/2006/main" anchorCtr="1"/>
        <a:lstStyle xmlns:a="http://schemas.openxmlformats.org/drawingml/2006/main"/>
        <a:p xmlns:a="http://schemas.openxmlformats.org/drawingml/2006/main">
          <a:pPr>
            <a:defRPr sz="1575">
              <a:solidFill>
                <a:srgbClr val="566760"/>
              </a:solidFill>
              <a:latin typeface="Helvetica Neue"/>
              <a:ea typeface="Helvetica Neue"/>
              <a:cs typeface="Helvetica Neue"/>
            </a:defRPr>
          </a:pPr>
        </a:p>
      </c:txPr>
    </c:legend>
    <c:plotVisOnly val="1"/>
  </c:chart>
  <c:spPr>
    <a:solidFill xmlns:a="http://schemas.openxmlformats.org/drawingml/2006/main">
      <a:srgbClr val="FAF8F3"/>
    </a:solidFill>
    <a:ln xmlns:a="http://schemas.openxmlformats.org/drawingml/2006/main" w="0">
      <a:noFill/>
    </a:ln>
  </c:spPr>
  <c:externalData r:id="rIdChartSnapshot1">
    <c:autoUpdate val="0"/>
  </c:externalData>
</c:chartSpace>
</file>

<file path=ppt/slides/charts/chart5.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725">
                <a:solidFill>
                  <a:srgbClr val="17251F"/>
                </a:solidFill>
                <a:latin typeface="Helvetica Neue"/>
                <a:ea typeface="Helvetica Neue"/>
                <a:cs typeface="Helvetica Neue"/>
              </a:rPr>
              <a:t>Catalogue coverage at history cap 20</a:t>
            </a:r>
          </a:p>
        </c:rich>
      </c:tx>
      <c:overlay val="0"/>
      <c:txPr>
        <a:bodyPr xmlns:a="http://schemas.openxmlformats.org/drawingml/2006/main" anchorCtr="1"/>
        <a:lstStyle xmlns:a="http://schemas.openxmlformats.org/drawingml/2006/main"/>
        <a:p xmlns:a="http://schemas.openxmlformats.org/drawingml/2006/main">
          <a:pPr>
            <a:defRPr sz="1725">
              <a:solidFill>
                <a:srgbClr val="17251F"/>
              </a:solidFill>
              <a:latin typeface="Helvetica Neue"/>
              <a:ea typeface="Helvetica Neue"/>
              <a:cs typeface="Helvetica Neue"/>
            </a:defRPr>
          </a:pPr>
        </a:p>
      </c:txPr>
    </c:title>
    <c:plotArea>
      <c:barChart>
        <c:barDir val="col"/>
        <c:grouping val="clustered"/>
        <c:varyColors val="0"/>
        <c:ser>
          <c:idx val="0"/>
          <c:order val="0"/>
          <c:tx>
            <c:v>Top 10 catalogue coverage</c:v>
          </c:tx>
          <c:spPr>
            <a:solidFill xmlns:a="http://schemas.openxmlformats.org/drawingml/2006/main">
              <a:srgbClr val="6F7F8B"/>
            </a:solidFill>
          </c:spPr>
          <c:invertIfNegative val="0"/>
          <c:dPt>
            <c:idx val="0"/>
            <c:invertIfNegative val="0"/>
            <c:spPr>
              <a:solidFill xmlns:a="http://schemas.openxmlformats.org/drawingml/2006/main">
                <a:srgbClr val="6F7F8B"/>
              </a:solidFill>
            </c:spPr>
          </c:dPt>
          <c:dPt>
            <c:idx val="1"/>
            <c:invertIfNegative val="0"/>
            <c:spPr>
              <a:solidFill xmlns:a="http://schemas.openxmlformats.org/drawingml/2006/main">
                <a:srgbClr val="087E80"/>
              </a:solidFill>
            </c:spPr>
          </c:dPt>
          <c:dPt>
            <c:idx val="2"/>
            <c:invertIfNegative val="0"/>
            <c:spPr>
              <a:solidFill xmlns:a="http://schemas.openxmlformats.org/drawingml/2006/main">
                <a:srgbClr val="233F39"/>
              </a:solidFill>
            </c:spPr>
          </c:dPt>
          <c:cat>
            <c:strRef>
              <c:f>'Chart Data'!$A$2:$A$4</c:f>
              <c:strCache>
                <c:ptCount val="3"/>
                <c:pt idx="0">
                  <c:v>Frozen</c:v>
                </c:pt>
                <c:pt idx="1">
                  <c:v>Semantic</c:v>
                </c:pt>
                <c:pt idx="2">
                  <c:v>Preference</c:v>
                </c:pt>
              </c:strCache>
            </c:strRef>
          </c:cat>
          <c:val>
            <c:numRef>
              <c:f>'Chart Data'!$B$2:$B$4</c:f>
              <c:numCache>
                <c:formatCode>0.0%</c:formatCode>
                <c:ptCount val="3"/>
                <c:pt idx="0">
                  <c:v>0.022320039126762</c:v>
                </c:pt>
                <c:pt idx="1">
                  <c:v>0.026588413143035</c:v>
                </c:pt>
                <c:pt idx="2">
                  <c:v>0.022008803521409</c:v>
                </c:pt>
              </c:numCache>
            </c:numRef>
          </c:val>
        </c:ser>
        <c:dLbls>
          <c:numFmt formatCode="0.0%" sourceLinked="0"/>
          <c:txPr>
            <a:bodyPr xmlns:a="http://schemas.openxmlformats.org/drawingml/2006/main" anchorCtr="1"/>
            <a:lstStyle xmlns:a="http://schemas.openxmlformats.org/drawingml/2006/main"/>
            <a:p xmlns:a="http://schemas.openxmlformats.org/drawingml/2006/main">
              <a:pPr>
                <a:defRPr sz="1500">
                  <a:solidFill>
                    <a:srgbClr val="17251F"/>
                  </a:solidFill>
                  <a:latin typeface="Helvetica Neue"/>
                  <a:ea typeface="Helvetica Neue"/>
                  <a:cs typeface="Helvetica Neue"/>
                </a:defRPr>
              </a:pPr>
            </a:p>
          </c:txPr>
          <c:dLblPos val="outEnd"/>
          <c:showLegendKey val="0"/>
          <c:showVal val="1"/>
          <c:showCatName val="0"/>
          <c:showSerName val="0"/>
          <c:showPercent val="0"/>
          <c:showBubbleSize val="0"/>
          <c:showLeaderLines val="0"/>
        </c:dLbls>
        <c:gapWidth val="85"/>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E3E8E2"/>
            </a:solidFill>
          </a:ln>
        </c:spPr>
        <c:txPr>
          <a:bodyPr xmlns:a="http://schemas.openxmlformats.org/drawingml/2006/main" anchorCtr="1"/>
          <a:lstStyle xmlns:a="http://schemas.openxmlformats.org/drawingml/2006/main"/>
          <a:p xmlns:a="http://schemas.openxmlformats.org/drawingml/2006/main">
            <a:pPr>
              <a:defRPr sz="1575">
                <a:solidFill>
                  <a:srgbClr val="17251F"/>
                </a:solidFill>
                <a:latin typeface="Helvetica Neue"/>
                <a:ea typeface="Helvetica Neue"/>
                <a:cs typeface="Helvetica Neue"/>
              </a:defRPr>
            </a:pPr>
          </a:p>
        </c:txPr>
        <c:crossAx val="48672768"/>
      </c:catAx>
      <c:valAx>
        <c:axId val="48672768"/>
        <c:scaling>
          <c:orientation val="minMax"/>
          <c:max val="0.035"/>
          <c:min val="0"/>
        </c:scaling>
        <c:delete val="0"/>
        <c:axPos val="l"/>
        <c:majorGridlines>
          <c:spPr>
            <a:ln xmlns:a="http://schemas.openxmlformats.org/drawingml/2006/main" w="9525">
              <a:solidFill>
                <a:srgbClr val="E3E8E2"/>
              </a:solidFill>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425">
                <a:solidFill>
                  <a:srgbClr val="566760"/>
                </a:solidFill>
                <a:latin typeface="Helvetica Neue"/>
                <a:ea typeface="Helvetica Neue"/>
                <a:cs typeface="Helvetica Neue"/>
              </a:defRPr>
            </a:pPr>
          </a:p>
        </c:txPr>
        <c:crossAx val="48650112"/>
        <c:crossBetween val="between"/>
      </c:valAx>
      <c:spPr>
        <a:solidFill xmlns:a="http://schemas.openxmlformats.org/drawingml/2006/main">
          <a:srgbClr val="FAF8F3"/>
        </a:solidFill>
        <a:ln xmlns:a="http://schemas.openxmlformats.org/drawingml/2006/main" w="0">
          <a:noFill/>
        </a:ln>
      </c:spPr>
    </c:plotArea>
    <c:plotVisOnly val="1"/>
  </c:chart>
  <c:spPr>
    <a:solidFill xmlns:a="http://schemas.openxmlformats.org/drawingml/2006/main">
      <a:srgbClr val="FAF8F3"/>
    </a:solidFill>
    <a:ln xmlns:a="http://schemas.openxmlformats.org/drawingml/2006/main" w="0">
      <a:noFill/>
    </a:ln>
  </c:spPr>
  <c:externalData r:id="rIdChartSnapshot1">
    <c:autoUpdate val="0"/>
  </c:externalData>
</c:chartSpace>
</file>

<file path=ppt/slides/charts/chart6.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725">
                <a:solidFill>
                  <a:srgbClr val="17251F"/>
                </a:solidFill>
                <a:latin typeface="Helvetica Neue"/>
                <a:ea typeface="Helvetica Neue"/>
                <a:cs typeface="Helvetica Neue"/>
              </a:rPr>
              <a:t>Pure three-ranker stage, median milliseconds</a:t>
            </a:r>
          </a:p>
        </c:rich>
      </c:tx>
      <c:overlay val="0"/>
      <c:txPr>
        <a:bodyPr xmlns:a="http://schemas.openxmlformats.org/drawingml/2006/main" anchorCtr="1"/>
        <a:lstStyle xmlns:a="http://schemas.openxmlformats.org/drawingml/2006/main"/>
        <a:p xmlns:a="http://schemas.openxmlformats.org/drawingml/2006/main">
          <a:pPr>
            <a:defRPr sz="1725">
              <a:solidFill>
                <a:srgbClr val="17251F"/>
              </a:solidFill>
              <a:latin typeface="Helvetica Neue"/>
              <a:ea typeface="Helvetica Neue"/>
              <a:cs typeface="Helvetica Neue"/>
            </a:defRPr>
          </a:pPr>
        </a:p>
      </c:txPr>
    </c:title>
    <c:plotArea>
      <c:barChart>
        <c:barDir val="col"/>
        <c:grouping val="clustered"/>
        <c:varyColors val="0"/>
        <c:ser>
          <c:idx val="0"/>
          <c:order val="0"/>
          <c:tx>
            <c:v>Before</c:v>
          </c:tx>
          <c:spPr>
            <a:solidFill xmlns:a="http://schemas.openxmlformats.org/drawingml/2006/main">
              <a:srgbClr val="6F7F8B"/>
            </a:solidFill>
          </c:spPr>
          <c:invertIfNegative val="0"/>
          <c:cat>
            <c:strRef>
              <c:f>'Chart Data'!$A$2:$A$4</c:f>
              <c:strCache>
                <c:ptCount val="3"/>
                <c:pt idx="0">
                  <c:v>Text</c:v>
                </c:pt>
                <c:pt idx="1">
                  <c:v>Image + feedback</c:v>
                </c:pt>
                <c:pt idx="2">
                  <c:v>Avoid + budget</c:v>
                </c:pt>
              </c:strCache>
            </c:strRef>
          </c:cat>
          <c:val>
            <c:numRef>
              <c:f>'Chart Data'!$B$2:$B$4</c:f>
              <c:numCache>
                <c:formatCode>0</c:formatCode>
                <c:ptCount val="3"/>
                <c:pt idx="0">
                  <c:v>393.40497949161</c:v>
                </c:pt>
                <c:pt idx="1">
                  <c:v>418.25783310924</c:v>
                </c:pt>
                <c:pt idx="2">
                  <c:v>864.72677055281</c:v>
                </c:pt>
              </c:numCache>
            </c:numRef>
          </c:val>
        </c:ser>
        <c:ser>
          <c:idx val="1"/>
          <c:order val="1"/>
          <c:tx>
            <c:v>After</c:v>
          </c:tx>
          <c:spPr>
            <a:solidFill xmlns:a="http://schemas.openxmlformats.org/drawingml/2006/main">
              <a:srgbClr val="087E80"/>
            </a:solidFill>
          </c:spPr>
          <c:invertIfNegative val="0"/>
          <c:cat>
            <c:strRef>
              <c:f>'Chart Data'!$C$2:$C$4</c:f>
              <c:strCache>
                <c:ptCount val="3"/>
                <c:pt idx="0">
                  <c:v>Text</c:v>
                </c:pt>
                <c:pt idx="1">
                  <c:v>Image + feedback</c:v>
                </c:pt>
                <c:pt idx="2">
                  <c:v>Avoid + budget</c:v>
                </c:pt>
              </c:strCache>
            </c:strRef>
          </c:cat>
          <c:val>
            <c:numRef>
              <c:f>'Chart Data'!$D$2:$D$4</c:f>
              <c:numCache>
                <c:formatCode>0</c:formatCode>
                <c:ptCount val="3"/>
                <c:pt idx="0">
                  <c:v>103.61739608925</c:v>
                </c:pt>
                <c:pt idx="1">
                  <c:v>127.77345802169</c:v>
                </c:pt>
                <c:pt idx="2">
                  <c:v>109.40710408613</c:v>
                </c:pt>
              </c:numCache>
            </c:numRef>
          </c:val>
        </c:ser>
        <c:dLbls>
          <c:numFmt formatCode="0" sourceLinked="0"/>
          <c:txPr>
            <a:bodyPr xmlns:a="http://schemas.openxmlformats.org/drawingml/2006/main" anchorCtr="1"/>
            <a:lstStyle xmlns:a="http://schemas.openxmlformats.org/drawingml/2006/main"/>
            <a:p xmlns:a="http://schemas.openxmlformats.org/drawingml/2006/main">
              <a:pPr>
                <a:defRPr sz="1500">
                  <a:solidFill>
                    <a:srgbClr val="17251F"/>
                  </a:solidFill>
                  <a:latin typeface="Helvetica Neue"/>
                  <a:ea typeface="Helvetica Neue"/>
                  <a:cs typeface="Helvetica Neue"/>
                </a:defRPr>
              </a:pPr>
            </a:p>
          </c:txPr>
          <c:dLblPos val="outEnd"/>
          <c:showLegendKey val="0"/>
          <c:showVal val="1"/>
          <c:showCatName val="0"/>
          <c:showSerName val="0"/>
          <c:showPercent val="0"/>
          <c:showBubbleSize val="0"/>
          <c:showLeaderLines val="0"/>
        </c:dLbls>
        <c:gapWidth val="85"/>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E3E8E2"/>
            </a:solidFill>
          </a:ln>
        </c:spPr>
        <c:txPr>
          <a:bodyPr xmlns:a="http://schemas.openxmlformats.org/drawingml/2006/main" anchorCtr="1"/>
          <a:lstStyle xmlns:a="http://schemas.openxmlformats.org/drawingml/2006/main"/>
          <a:p xmlns:a="http://schemas.openxmlformats.org/drawingml/2006/main">
            <a:pPr>
              <a:defRPr sz="1575">
                <a:solidFill>
                  <a:srgbClr val="17251F"/>
                </a:solidFill>
                <a:latin typeface="Helvetica Neue"/>
                <a:ea typeface="Helvetica Neue"/>
                <a:cs typeface="Helvetica Neue"/>
              </a:defRPr>
            </a:pPr>
          </a:p>
        </c:txPr>
        <c:crossAx val="48672768"/>
      </c:catAx>
      <c:valAx>
        <c:axId val="48672768"/>
        <c:scaling>
          <c:orientation val="minMax"/>
          <c:max val="1000"/>
          <c:min val="0"/>
        </c:scaling>
        <c:delete val="0"/>
        <c:axPos val="l"/>
        <c:majorGridlines>
          <c:spPr>
            <a:ln xmlns:a="http://schemas.openxmlformats.org/drawingml/2006/main" w="9525">
              <a:solidFill>
                <a:srgbClr val="E3E8E2"/>
              </a:solidFill>
            </a:ln>
          </c:spPr>
        </c:majorGridlines>
        <c:title>
          <c:tx>
            <c:rich>
              <a:bodyPr xmlns:a="http://schemas.openxmlformats.org/drawingml/2006/main"/>
              <a:lstStyle xmlns:a="http://schemas.openxmlformats.org/drawingml/2006/main"/>
              <a:p xmlns:a="http://schemas.openxmlformats.org/drawingml/2006/main">
                <a:r>
                  <a:rPr sz="1350">
                    <a:solidFill>
                      <a:srgbClr val="566760"/>
                    </a:solidFill>
                    <a:latin typeface="Helvetica Neue"/>
                    <a:ea typeface="Helvetica Neue"/>
                    <a:cs typeface="Helvetica Neue"/>
                  </a:rPr>
                  <a:t>Milliseconds</a:t>
                </a:r>
              </a:p>
            </c:rich>
          </c:tx>
          <c:overlay val="0"/>
          <c:txPr>
            <a:bodyPr xmlns:a="http://schemas.openxmlformats.org/drawingml/2006/main" anchorCtr="1"/>
            <a:lstStyle xmlns:a="http://schemas.openxmlformats.org/drawingml/2006/main"/>
            <a:p xmlns:a="http://schemas.openxmlformats.org/drawingml/2006/main">
              <a:pPr>
                <a:defRPr sz="1350">
                  <a:solidFill>
                    <a:srgbClr val="566760"/>
                  </a:solidFill>
                  <a:latin typeface="Helvetica Neue"/>
                  <a:ea typeface="Helvetica Neue"/>
                  <a:cs typeface="Helvetica Neue"/>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425">
                <a:solidFill>
                  <a:srgbClr val="566760"/>
                </a:solidFill>
                <a:latin typeface="Helvetica Neue"/>
                <a:ea typeface="Helvetica Neue"/>
                <a:cs typeface="Helvetica Neue"/>
              </a:defRPr>
            </a:pPr>
          </a:p>
        </c:txPr>
        <c:crossAx val="48650112"/>
        <c:crossBetween val="between"/>
      </c:valAx>
      <c:spPr>
        <a:solidFill xmlns:a="http://schemas.openxmlformats.org/drawingml/2006/main">
          <a:srgbClr val="FAF8F3"/>
        </a:solidFill>
        <a:ln xmlns:a="http://schemas.openxmlformats.org/drawingml/2006/main" w="0">
          <a:noFill/>
        </a:ln>
      </c:spPr>
    </c:plotArea>
    <c:legend>
      <c:legendPos val="b"/>
      <c:overlay val="0"/>
      <c:txPr>
        <a:bodyPr xmlns:a="http://schemas.openxmlformats.org/drawingml/2006/main" anchorCtr="1"/>
        <a:lstStyle xmlns:a="http://schemas.openxmlformats.org/drawingml/2006/main"/>
        <a:p xmlns:a="http://schemas.openxmlformats.org/drawingml/2006/main">
          <a:pPr>
            <a:defRPr sz="1575">
              <a:solidFill>
                <a:srgbClr val="566760"/>
              </a:solidFill>
              <a:latin typeface="Helvetica Neue"/>
              <a:ea typeface="Helvetica Neue"/>
              <a:cs typeface="Helvetica Neue"/>
            </a:defRPr>
          </a:pPr>
        </a:p>
      </c:txPr>
    </c:legend>
    <c:plotVisOnly val="1"/>
  </c:chart>
  <c:spPr>
    <a:solidFill xmlns:a="http://schemas.openxmlformats.org/drawingml/2006/main">
      <a:srgbClr val="FAF8F3"/>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AF8F3"/>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1221AAFB-B0C5-4504-A34D-0EE668734E1B}"/>
              </a:ext>
            </a:extLst>
          </p:cNvPr>
          <p:cNvSpPr>
            <a:spLocks xmlns:a="http://schemas.openxmlformats.org/drawingml/2006/main" noGrp="1"/>
          </p:cNvSpPr>
          <p:nvPr/>
        </p:nvSpPr>
        <p:spPr>
          <a:xfrm xmlns:a="http://schemas.openxmlformats.org/drawingml/2006/main">
            <a:off x="609600" y="3810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150" b="1">
                <a:solidFill>
                  <a:srgbClr val="17251F"/>
                </a:solidFill>
                <a:latin typeface="Helvetica Neue"/>
                <a:ea typeface="Helvetica Neue"/>
                <a:cs typeface="Helvetica Neue"/>
              </a:defRPr>
            </a:defPPr>
            <a:lvl1pPr>
              <a:defRPr sz="3150" b="1">
                <a:solidFill>
                  <a:srgbClr val="17251F"/>
                </a:solidFill>
                <a:latin typeface="Helvetica Neue"/>
                <a:ea typeface="Helvetica Neue"/>
                <a:cs typeface="Helvetica Neue"/>
              </a:defRPr>
            </a:lvl1pPr>
            <a:lvl2pPr>
              <a:defRPr sz="3150" b="1">
                <a:solidFill>
                  <a:srgbClr val="17251F"/>
                </a:solidFill>
                <a:latin typeface="Helvetica Neue"/>
                <a:ea typeface="Helvetica Neue"/>
                <a:cs typeface="Helvetica Neue"/>
              </a:defRPr>
            </a:lvl2pPr>
            <a:lvl3pPr>
              <a:defRPr sz="3150" b="1">
                <a:solidFill>
                  <a:srgbClr val="17251F"/>
                </a:solidFill>
                <a:latin typeface="Helvetica Neue"/>
                <a:ea typeface="Helvetica Neue"/>
                <a:cs typeface="Helvetica Neue"/>
              </a:defRPr>
            </a:lvl3pPr>
            <a:lvl4pPr>
              <a:defRPr sz="3150" b="1">
                <a:solidFill>
                  <a:srgbClr val="17251F"/>
                </a:solidFill>
                <a:latin typeface="Helvetica Neue"/>
                <a:ea typeface="Helvetica Neue"/>
                <a:cs typeface="Helvetica Neue"/>
              </a:defRPr>
            </a:lvl4pPr>
            <a:lvl5pPr>
              <a:defRPr sz="3150" b="1">
                <a:solidFill>
                  <a:srgbClr val="17251F"/>
                </a:solidFill>
                <a:latin typeface="Helvetica Neue"/>
                <a:ea typeface="Helvetica Neue"/>
                <a:cs typeface="Helvetica Neue"/>
              </a:defRPr>
            </a:lvl5pPr>
            <a:lvl6pPr>
              <a:defRPr sz="3150" b="1">
                <a:solidFill>
                  <a:srgbClr val="17251F"/>
                </a:solidFill>
                <a:latin typeface="Helvetica Neue"/>
                <a:ea typeface="Helvetica Neue"/>
                <a:cs typeface="Helvetica Neue"/>
              </a:defRPr>
            </a:lvl6pPr>
            <a:lvl7pPr>
              <a:defRPr sz="3150" b="1">
                <a:solidFill>
                  <a:srgbClr val="17251F"/>
                </a:solidFill>
                <a:latin typeface="Helvetica Neue"/>
                <a:ea typeface="Helvetica Neue"/>
                <a:cs typeface="Helvetica Neue"/>
              </a:defRPr>
            </a:lvl7pPr>
            <a:lvl8pPr>
              <a:defRPr sz="3150" b="1">
                <a:solidFill>
                  <a:srgbClr val="17251F"/>
                </a:solidFill>
                <a:latin typeface="Helvetica Neue"/>
                <a:ea typeface="Helvetica Neue"/>
                <a:cs typeface="Helvetica Neue"/>
              </a:defRPr>
            </a:lvl8pPr>
            <a:lvl9pPr>
              <a:defRPr sz="3150" b="1">
                <a:solidFill>
                  <a:srgbClr val="17251F"/>
                </a:solidFill>
                <a:latin typeface="Helvetica Neue"/>
                <a:ea typeface="Helvetica Neue"/>
                <a:cs typeface="Helvetica Neue"/>
              </a:defRPr>
            </a:lvl9pPr>
          </a:lstStyle>
          <a:p xmlns:a="http://schemas.openxmlformats.org/drawingml/2006/main">
            <a:r>
              <a:t/>
            </a:r>
          </a:p>
        </p:txBody>
      </p:sp>
      <p:sp>
        <p:nvSpPr>
          <p:cNvPr id="2" name="">
            <a:extLst xmlns:a="http://schemas.openxmlformats.org/drawingml/2006/main">
              <a:ext uri="{FF2B5EF4-FFF2-40B4-BE49-F238E27FC236}">
                <a16:creationId xmlns:a16="http://schemas.microsoft.com/office/drawing/2014/main" id="{68C97133-63D0-4C62-BE96-1ABBE87903A4}"/>
              </a:ext>
            </a:extLst>
          </p:cNvPr>
          <p:cNvSpPr>
            <a:spLocks xmlns:a="http://schemas.openxmlformats.org/drawingml/2006/main" noGrp="1"/>
          </p:cNvSpPr>
          <p:nvPr/>
        </p:nvSpPr>
        <p:spPr>
          <a:xfrm xmlns:a="http://schemas.openxmlformats.org/drawingml/2006/main">
            <a:off x="11106150" y="6457950"/>
            <a:ext cx="47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00" b="0">
                <a:solidFill>
                  <a:srgbClr val="566760"/>
                </a:solidFill>
                <a:latin typeface="Helvetica Neue"/>
                <a:ea typeface="Helvetica Neue"/>
                <a:cs typeface="Helvetica Neue"/>
              </a:defRPr>
            </a:defPPr>
            <a:lvl1pPr algn="r">
              <a:defRPr sz="1200" b="0">
                <a:solidFill>
                  <a:srgbClr val="566760"/>
                </a:solidFill>
                <a:latin typeface="Helvetica Neue"/>
                <a:ea typeface="Helvetica Neue"/>
                <a:cs typeface="Helvetica Neue"/>
              </a:defRPr>
            </a:lvl1pPr>
            <a:lvl2pPr algn="r">
              <a:defRPr sz="1200" b="0">
                <a:solidFill>
                  <a:srgbClr val="566760"/>
                </a:solidFill>
                <a:latin typeface="Helvetica Neue"/>
                <a:ea typeface="Helvetica Neue"/>
                <a:cs typeface="Helvetica Neue"/>
              </a:defRPr>
            </a:lvl2pPr>
            <a:lvl3pPr algn="r">
              <a:defRPr sz="1200" b="0">
                <a:solidFill>
                  <a:srgbClr val="566760"/>
                </a:solidFill>
                <a:latin typeface="Helvetica Neue"/>
                <a:ea typeface="Helvetica Neue"/>
                <a:cs typeface="Helvetica Neue"/>
              </a:defRPr>
            </a:lvl3pPr>
            <a:lvl4pPr algn="r">
              <a:defRPr sz="1200" b="0">
                <a:solidFill>
                  <a:srgbClr val="566760"/>
                </a:solidFill>
                <a:latin typeface="Helvetica Neue"/>
                <a:ea typeface="Helvetica Neue"/>
                <a:cs typeface="Helvetica Neue"/>
              </a:defRPr>
            </a:lvl4pPr>
            <a:lvl5pPr algn="r">
              <a:defRPr sz="1200" b="0">
                <a:solidFill>
                  <a:srgbClr val="566760"/>
                </a:solidFill>
                <a:latin typeface="Helvetica Neue"/>
                <a:ea typeface="Helvetica Neue"/>
                <a:cs typeface="Helvetica Neue"/>
              </a:defRPr>
            </a:lvl5pPr>
            <a:lvl6pPr algn="r">
              <a:defRPr sz="1200" b="0">
                <a:solidFill>
                  <a:srgbClr val="566760"/>
                </a:solidFill>
                <a:latin typeface="Helvetica Neue"/>
                <a:ea typeface="Helvetica Neue"/>
                <a:cs typeface="Helvetica Neue"/>
              </a:defRPr>
            </a:lvl6pPr>
            <a:lvl7pPr algn="r">
              <a:defRPr sz="1200" b="0">
                <a:solidFill>
                  <a:srgbClr val="566760"/>
                </a:solidFill>
                <a:latin typeface="Helvetica Neue"/>
                <a:ea typeface="Helvetica Neue"/>
                <a:cs typeface="Helvetica Neue"/>
              </a:defRPr>
            </a:lvl7pPr>
            <a:lvl8pPr algn="r">
              <a:defRPr sz="1200" b="0">
                <a:solidFill>
                  <a:srgbClr val="566760"/>
                </a:solidFill>
                <a:latin typeface="Helvetica Neue"/>
                <a:ea typeface="Helvetica Neue"/>
                <a:cs typeface="Helvetica Neue"/>
              </a:defRPr>
            </a:lvl8pPr>
            <a:lvl9pPr algn="r">
              <a:defRPr sz="1200" b="0">
                <a:solidFill>
                  <a:srgbClr val="566760"/>
                </a:solidFill>
                <a:latin typeface="Helvetica Neue"/>
                <a:ea typeface="Helvetica Neue"/>
                <a:cs typeface="Helvetica Neue"/>
              </a:defRPr>
            </a:lvl9pPr>
          </a:lstStyle>
          <a:p xmlns:a="http://schemas.openxmlformats.org/drawingml/2006/main">
            <a:pPr algn="r">
              <a:defRPr sz="1200" b="0">
                <a:solidFill>
                  <a:srgbClr val="566760"/>
                </a:solidFill>
                <a:latin typeface="Helvetica Neue"/>
                <a:ea typeface="Helvetica Neue"/>
                <a:cs typeface="Helvetica Neue"/>
              </a:defRPr>
            </a:pPr>
            <a:r>
              <a:rPr sz="1200" b="0">
                <a:solidFill>
                  <a:srgbClr val="566760"/>
                </a:solidFill>
                <a:latin typeface="Helvetica Neue"/>
                <a:ea typeface="Helvetica Neue"/>
                <a:cs typeface="Helvetica Neue"/>
              </a:rPr>
              <a:t>01</a:t>
            </a:r>
          </a:p>
        </p:txBody>
      </p:sp>
      <p:sp>
        <p:nvSpPr>
          <p:cNvPr id="3" name="">
            <a:extLst xmlns:a="http://schemas.openxmlformats.org/drawingml/2006/main">
              <a:ext uri="{FF2B5EF4-FFF2-40B4-BE49-F238E27FC236}">
                <a16:creationId xmlns:a16="http://schemas.microsoft.com/office/drawing/2014/main" id="{54216BCA-5113-41AC-A712-CD712FB22893}"/>
              </a:ext>
            </a:extLst>
          </p:cNvPr>
          <p:cNvSpPr>
            <a:spLocks xmlns:a="http://schemas.openxmlformats.org/drawingml/2006/main" noGrp="1"/>
          </p:cNvSpPr>
          <p:nvPr/>
        </p:nvSpPr>
        <p:spPr>
          <a:xfrm xmlns:a="http://schemas.openxmlformats.org/drawingml/2006/main">
            <a:off x="609600" y="1857375"/>
            <a:ext cx="106680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8400" b="1">
                <a:solidFill>
                  <a:srgbClr val="17251F"/>
                </a:solidFill>
                <a:latin typeface="Helvetica Neue"/>
                <a:ea typeface="Helvetica Neue"/>
                <a:cs typeface="Helvetica Neue"/>
              </a:defRPr>
            </a:defPPr>
            <a:lvl1pPr>
              <a:defRPr sz="8400" b="1">
                <a:solidFill>
                  <a:srgbClr val="17251F"/>
                </a:solidFill>
                <a:latin typeface="Helvetica Neue"/>
                <a:ea typeface="Helvetica Neue"/>
                <a:cs typeface="Helvetica Neue"/>
              </a:defRPr>
            </a:lvl1pPr>
            <a:lvl2pPr>
              <a:defRPr sz="8400" b="1">
                <a:solidFill>
                  <a:srgbClr val="17251F"/>
                </a:solidFill>
                <a:latin typeface="Helvetica Neue"/>
                <a:ea typeface="Helvetica Neue"/>
                <a:cs typeface="Helvetica Neue"/>
              </a:defRPr>
            </a:lvl2pPr>
            <a:lvl3pPr>
              <a:defRPr sz="8400" b="1">
                <a:solidFill>
                  <a:srgbClr val="17251F"/>
                </a:solidFill>
                <a:latin typeface="Helvetica Neue"/>
                <a:ea typeface="Helvetica Neue"/>
                <a:cs typeface="Helvetica Neue"/>
              </a:defRPr>
            </a:lvl3pPr>
            <a:lvl4pPr>
              <a:defRPr sz="8400" b="1">
                <a:solidFill>
                  <a:srgbClr val="17251F"/>
                </a:solidFill>
                <a:latin typeface="Helvetica Neue"/>
                <a:ea typeface="Helvetica Neue"/>
                <a:cs typeface="Helvetica Neue"/>
              </a:defRPr>
            </a:lvl4pPr>
            <a:lvl5pPr>
              <a:defRPr sz="8400" b="1">
                <a:solidFill>
                  <a:srgbClr val="17251F"/>
                </a:solidFill>
                <a:latin typeface="Helvetica Neue"/>
                <a:ea typeface="Helvetica Neue"/>
                <a:cs typeface="Helvetica Neue"/>
              </a:defRPr>
            </a:lvl5pPr>
            <a:lvl6pPr>
              <a:defRPr sz="8400" b="1">
                <a:solidFill>
                  <a:srgbClr val="17251F"/>
                </a:solidFill>
                <a:latin typeface="Helvetica Neue"/>
                <a:ea typeface="Helvetica Neue"/>
                <a:cs typeface="Helvetica Neue"/>
              </a:defRPr>
            </a:lvl6pPr>
            <a:lvl7pPr>
              <a:defRPr sz="8400" b="1">
                <a:solidFill>
                  <a:srgbClr val="17251F"/>
                </a:solidFill>
                <a:latin typeface="Helvetica Neue"/>
                <a:ea typeface="Helvetica Neue"/>
                <a:cs typeface="Helvetica Neue"/>
              </a:defRPr>
            </a:lvl7pPr>
            <a:lvl8pPr>
              <a:defRPr sz="8400" b="1">
                <a:solidFill>
                  <a:srgbClr val="17251F"/>
                </a:solidFill>
                <a:latin typeface="Helvetica Neue"/>
                <a:ea typeface="Helvetica Neue"/>
                <a:cs typeface="Helvetica Neue"/>
              </a:defRPr>
            </a:lvl8pPr>
            <a:lvl9pPr>
              <a:defRPr sz="8400" b="1">
                <a:solidFill>
                  <a:srgbClr val="17251F"/>
                </a:solidFill>
                <a:latin typeface="Helvetica Neue"/>
                <a:ea typeface="Helvetica Neue"/>
                <a:cs typeface="Helvetica Neue"/>
              </a:defRPr>
            </a:lvl9pPr>
          </a:lstStyle>
          <a:p xmlns:a="http://schemas.openxmlformats.org/drawingml/2006/main">
            <a:pPr>
              <a:defRPr sz="8400" b="1">
                <a:solidFill>
                  <a:srgbClr val="17251F"/>
                </a:solidFill>
                <a:latin typeface="Helvetica Neue"/>
                <a:ea typeface="Helvetica Neue"/>
                <a:cs typeface="Helvetica Neue"/>
              </a:defRPr>
            </a:pPr>
            <a:r>
              <a:rPr sz="8400" b="1">
                <a:solidFill>
                  <a:srgbClr val="17251F"/>
                </a:solidFill>
                <a:latin typeface="Helvetica Neue"/>
                <a:ea typeface="Helvetica Neue"/>
                <a:cs typeface="Helvetica Neue"/>
              </a:rPr>
              <a:t>ShopLens</a:t>
            </a:r>
          </a:p>
        </p:txBody>
      </p:sp>
      <p:sp>
        <p:nvSpPr>
          <p:cNvPr id="4" name="">
            <a:extLst xmlns:a="http://schemas.openxmlformats.org/drawingml/2006/main">
              <a:ext uri="{FF2B5EF4-FFF2-40B4-BE49-F238E27FC236}">
                <a16:creationId xmlns:a16="http://schemas.microsoft.com/office/drawing/2014/main" id="{D50A60A4-204E-4F6E-AF49-0F54A7925822}"/>
              </a:ext>
            </a:extLst>
          </p:cNvPr>
          <p:cNvSpPr>
            <a:spLocks xmlns:a="http://schemas.openxmlformats.org/drawingml/2006/main" noGrp="1"/>
          </p:cNvSpPr>
          <p:nvPr/>
        </p:nvSpPr>
        <p:spPr>
          <a:xfrm xmlns:a="http://schemas.openxmlformats.org/drawingml/2006/main">
            <a:off x="666750" y="3419475"/>
            <a:ext cx="10572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925" b="0">
                <a:solidFill>
                  <a:srgbClr val="087E80"/>
                </a:solidFill>
                <a:latin typeface="Helvetica Neue"/>
                <a:ea typeface="Helvetica Neue"/>
                <a:cs typeface="Helvetica Neue"/>
              </a:defRPr>
            </a:defPPr>
            <a:lvl1pPr>
              <a:defRPr sz="2925" b="0">
                <a:solidFill>
                  <a:srgbClr val="087E80"/>
                </a:solidFill>
                <a:latin typeface="Helvetica Neue"/>
                <a:ea typeface="Helvetica Neue"/>
                <a:cs typeface="Helvetica Neue"/>
              </a:defRPr>
            </a:lvl1pPr>
            <a:lvl2pPr>
              <a:defRPr sz="2925" b="0">
                <a:solidFill>
                  <a:srgbClr val="087E80"/>
                </a:solidFill>
                <a:latin typeface="Helvetica Neue"/>
                <a:ea typeface="Helvetica Neue"/>
                <a:cs typeface="Helvetica Neue"/>
              </a:defRPr>
            </a:lvl2pPr>
            <a:lvl3pPr>
              <a:defRPr sz="2925" b="0">
                <a:solidFill>
                  <a:srgbClr val="087E80"/>
                </a:solidFill>
                <a:latin typeface="Helvetica Neue"/>
                <a:ea typeface="Helvetica Neue"/>
                <a:cs typeface="Helvetica Neue"/>
              </a:defRPr>
            </a:lvl3pPr>
            <a:lvl4pPr>
              <a:defRPr sz="2925" b="0">
                <a:solidFill>
                  <a:srgbClr val="087E80"/>
                </a:solidFill>
                <a:latin typeface="Helvetica Neue"/>
                <a:ea typeface="Helvetica Neue"/>
                <a:cs typeface="Helvetica Neue"/>
              </a:defRPr>
            </a:lvl4pPr>
            <a:lvl5pPr>
              <a:defRPr sz="2925" b="0">
                <a:solidFill>
                  <a:srgbClr val="087E80"/>
                </a:solidFill>
                <a:latin typeface="Helvetica Neue"/>
                <a:ea typeface="Helvetica Neue"/>
                <a:cs typeface="Helvetica Neue"/>
              </a:defRPr>
            </a:lvl5pPr>
            <a:lvl6pPr>
              <a:defRPr sz="2925" b="0">
                <a:solidFill>
                  <a:srgbClr val="087E80"/>
                </a:solidFill>
                <a:latin typeface="Helvetica Neue"/>
                <a:ea typeface="Helvetica Neue"/>
                <a:cs typeface="Helvetica Neue"/>
              </a:defRPr>
            </a:lvl6pPr>
            <a:lvl7pPr>
              <a:defRPr sz="2925" b="0">
                <a:solidFill>
                  <a:srgbClr val="087E80"/>
                </a:solidFill>
                <a:latin typeface="Helvetica Neue"/>
                <a:ea typeface="Helvetica Neue"/>
                <a:cs typeface="Helvetica Neue"/>
              </a:defRPr>
            </a:lvl7pPr>
            <a:lvl8pPr>
              <a:defRPr sz="2925" b="0">
                <a:solidFill>
                  <a:srgbClr val="087E80"/>
                </a:solidFill>
                <a:latin typeface="Helvetica Neue"/>
                <a:ea typeface="Helvetica Neue"/>
                <a:cs typeface="Helvetica Neue"/>
              </a:defRPr>
            </a:lvl8pPr>
            <a:lvl9pPr>
              <a:defRPr sz="2925" b="0">
                <a:solidFill>
                  <a:srgbClr val="087E80"/>
                </a:solidFill>
                <a:latin typeface="Helvetica Neue"/>
                <a:ea typeface="Helvetica Neue"/>
                <a:cs typeface="Helvetica Neue"/>
              </a:defRPr>
            </a:lvl9pPr>
          </a:lstStyle>
          <a:p xmlns:a="http://schemas.openxmlformats.org/drawingml/2006/main">
            <a:pPr>
              <a:defRPr sz="2925" b="0">
                <a:solidFill>
                  <a:srgbClr val="087E80"/>
                </a:solidFill>
                <a:latin typeface="Helvetica Neue"/>
                <a:ea typeface="Helvetica Neue"/>
                <a:cs typeface="Helvetica Neue"/>
              </a:defRPr>
            </a:pPr>
            <a:r>
              <a:rPr sz="2925" b="0">
                <a:solidFill>
                  <a:srgbClr val="087E80"/>
                </a:solidFill>
                <a:latin typeface="Helvetica Neue"/>
                <a:ea typeface="Helvetica Neue"/>
                <a:cs typeface="Helvetica Neue"/>
              </a:rPr>
              <a:t>Multimodal shopping and recommendation</a:t>
            </a:r>
          </a:p>
        </p:txBody>
      </p:sp>
      <p:sp>
        <p:nvSpPr>
          <p:cNvPr id="5" name="">
            <a:extLst xmlns:a="http://schemas.openxmlformats.org/drawingml/2006/main">
              <a:ext uri="{FF2B5EF4-FFF2-40B4-BE49-F238E27FC236}">
                <a16:creationId xmlns:a16="http://schemas.microsoft.com/office/drawing/2014/main" id="{C56DD407-AED6-4DB9-A9E2-86468B62DB0C}"/>
              </a:ext>
            </a:extLst>
          </p:cNvPr>
          <p:cNvSpPr>
            <a:spLocks xmlns:a="http://schemas.openxmlformats.org/drawingml/2006/main" noGrp="1"/>
          </p:cNvSpPr>
          <p:nvPr/>
        </p:nvSpPr>
        <p:spPr>
          <a:xfrm xmlns:a="http://schemas.openxmlformats.org/drawingml/2006/main">
            <a:off x="685800" y="4191000"/>
            <a:ext cx="10191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025" b="0">
                <a:solidFill>
                  <a:srgbClr val="566760"/>
                </a:solidFill>
                <a:latin typeface="Helvetica Neue"/>
                <a:ea typeface="Helvetica Neue"/>
                <a:cs typeface="Helvetica Neue"/>
              </a:defRPr>
            </a:defPPr>
            <a:lvl1pPr>
              <a:defRPr sz="2025" b="0">
                <a:solidFill>
                  <a:srgbClr val="566760"/>
                </a:solidFill>
                <a:latin typeface="Helvetica Neue"/>
                <a:ea typeface="Helvetica Neue"/>
                <a:cs typeface="Helvetica Neue"/>
              </a:defRPr>
            </a:lvl1pPr>
            <a:lvl2pPr>
              <a:defRPr sz="2025" b="0">
                <a:solidFill>
                  <a:srgbClr val="566760"/>
                </a:solidFill>
                <a:latin typeface="Helvetica Neue"/>
                <a:ea typeface="Helvetica Neue"/>
                <a:cs typeface="Helvetica Neue"/>
              </a:defRPr>
            </a:lvl2pPr>
            <a:lvl3pPr>
              <a:defRPr sz="2025" b="0">
                <a:solidFill>
                  <a:srgbClr val="566760"/>
                </a:solidFill>
                <a:latin typeface="Helvetica Neue"/>
                <a:ea typeface="Helvetica Neue"/>
                <a:cs typeface="Helvetica Neue"/>
              </a:defRPr>
            </a:lvl3pPr>
            <a:lvl4pPr>
              <a:defRPr sz="2025" b="0">
                <a:solidFill>
                  <a:srgbClr val="566760"/>
                </a:solidFill>
                <a:latin typeface="Helvetica Neue"/>
                <a:ea typeface="Helvetica Neue"/>
                <a:cs typeface="Helvetica Neue"/>
              </a:defRPr>
            </a:lvl4pPr>
            <a:lvl5pPr>
              <a:defRPr sz="2025" b="0">
                <a:solidFill>
                  <a:srgbClr val="566760"/>
                </a:solidFill>
                <a:latin typeface="Helvetica Neue"/>
                <a:ea typeface="Helvetica Neue"/>
                <a:cs typeface="Helvetica Neue"/>
              </a:defRPr>
            </a:lvl5pPr>
            <a:lvl6pPr>
              <a:defRPr sz="2025" b="0">
                <a:solidFill>
                  <a:srgbClr val="566760"/>
                </a:solidFill>
                <a:latin typeface="Helvetica Neue"/>
                <a:ea typeface="Helvetica Neue"/>
                <a:cs typeface="Helvetica Neue"/>
              </a:defRPr>
            </a:lvl6pPr>
            <a:lvl7pPr>
              <a:defRPr sz="2025" b="0">
                <a:solidFill>
                  <a:srgbClr val="566760"/>
                </a:solidFill>
                <a:latin typeface="Helvetica Neue"/>
                <a:ea typeface="Helvetica Neue"/>
                <a:cs typeface="Helvetica Neue"/>
              </a:defRPr>
            </a:lvl7pPr>
            <a:lvl8pPr>
              <a:defRPr sz="2025" b="0">
                <a:solidFill>
                  <a:srgbClr val="566760"/>
                </a:solidFill>
                <a:latin typeface="Helvetica Neue"/>
                <a:ea typeface="Helvetica Neue"/>
                <a:cs typeface="Helvetica Neue"/>
              </a:defRPr>
            </a:lvl8pPr>
            <a:lvl9pPr>
              <a:defRPr sz="2025" b="0">
                <a:solidFill>
                  <a:srgbClr val="566760"/>
                </a:solidFill>
                <a:latin typeface="Helvetica Neue"/>
                <a:ea typeface="Helvetica Neue"/>
                <a:cs typeface="Helvetica Neue"/>
              </a:defRPr>
            </a:lvl9pPr>
          </a:lstStyle>
          <a:p xmlns:a="http://schemas.openxmlformats.org/drawingml/2006/main">
            <a:pPr>
              <a:defRPr sz="2025" b="0">
                <a:solidFill>
                  <a:srgbClr val="566760"/>
                </a:solidFill>
                <a:latin typeface="Helvetica Neue"/>
                <a:ea typeface="Helvetica Neue"/>
                <a:cs typeface="Helvetica Neue"/>
              </a:defRPr>
            </a:pPr>
            <a:r>
              <a:rPr sz="2025" b="0">
                <a:solidFill>
                  <a:srgbClr val="566760"/>
                </a:solidFill>
                <a:latin typeface="Helvetica Neue"/>
                <a:ea typeface="Helvetica Neue"/>
                <a:cs typeface="Helvetica Neue"/>
              </a:rPr>
              <a:t>Qwen3-Embedding 0.6B, LoRA and frozen CLIP</a:t>
            </a:r>
          </a:p>
        </p:txBody>
      </p:sp>
      <p:sp>
        <p:nvSpPr>
          <p:cNvPr id="6" name="">
            <a:extLst xmlns:a="http://schemas.openxmlformats.org/drawingml/2006/main">
              <a:ext uri="{FF2B5EF4-FFF2-40B4-BE49-F238E27FC236}">
                <a16:creationId xmlns:a16="http://schemas.microsoft.com/office/drawing/2014/main" id="{2EBDFEAB-F3B6-4486-B4F0-87508393B54B}"/>
              </a:ext>
            </a:extLst>
          </p:cNvPr>
          <p:cNvSpPr>
            <a:spLocks xmlns:a="http://schemas.openxmlformats.org/drawingml/2006/main" noGrp="1"/>
          </p:cNvSpPr>
          <p:nvPr/>
        </p:nvSpPr>
        <p:spPr>
          <a:xfrm xmlns:a="http://schemas.openxmlformats.org/drawingml/2006/main">
            <a:off x="685800" y="5257800"/>
            <a:ext cx="9525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566760"/>
                </a:solidFill>
                <a:latin typeface="Helvetica Neue"/>
                <a:ea typeface="Helvetica Neue"/>
                <a:cs typeface="Helvetica Neue"/>
              </a:defRPr>
            </a:defPPr>
            <a:lvl1pPr>
              <a:defRPr sz="1800" b="0">
                <a:solidFill>
                  <a:srgbClr val="566760"/>
                </a:solidFill>
                <a:latin typeface="Helvetica Neue"/>
                <a:ea typeface="Helvetica Neue"/>
                <a:cs typeface="Helvetica Neue"/>
              </a:defRPr>
            </a:lvl1pPr>
            <a:lvl2pPr>
              <a:defRPr sz="1800" b="0">
                <a:solidFill>
                  <a:srgbClr val="566760"/>
                </a:solidFill>
                <a:latin typeface="Helvetica Neue"/>
                <a:ea typeface="Helvetica Neue"/>
                <a:cs typeface="Helvetica Neue"/>
              </a:defRPr>
            </a:lvl2pPr>
            <a:lvl3pPr>
              <a:defRPr sz="1800" b="0">
                <a:solidFill>
                  <a:srgbClr val="566760"/>
                </a:solidFill>
                <a:latin typeface="Helvetica Neue"/>
                <a:ea typeface="Helvetica Neue"/>
                <a:cs typeface="Helvetica Neue"/>
              </a:defRPr>
            </a:lvl3pPr>
            <a:lvl4pPr>
              <a:defRPr sz="1800" b="0">
                <a:solidFill>
                  <a:srgbClr val="566760"/>
                </a:solidFill>
                <a:latin typeface="Helvetica Neue"/>
                <a:ea typeface="Helvetica Neue"/>
                <a:cs typeface="Helvetica Neue"/>
              </a:defRPr>
            </a:lvl4pPr>
            <a:lvl5pPr>
              <a:defRPr sz="1800" b="0">
                <a:solidFill>
                  <a:srgbClr val="566760"/>
                </a:solidFill>
                <a:latin typeface="Helvetica Neue"/>
                <a:ea typeface="Helvetica Neue"/>
                <a:cs typeface="Helvetica Neue"/>
              </a:defRPr>
            </a:lvl5pPr>
            <a:lvl6pPr>
              <a:defRPr sz="1800" b="0">
                <a:solidFill>
                  <a:srgbClr val="566760"/>
                </a:solidFill>
                <a:latin typeface="Helvetica Neue"/>
                <a:ea typeface="Helvetica Neue"/>
                <a:cs typeface="Helvetica Neue"/>
              </a:defRPr>
            </a:lvl6pPr>
            <a:lvl7pPr>
              <a:defRPr sz="1800" b="0">
                <a:solidFill>
                  <a:srgbClr val="566760"/>
                </a:solidFill>
                <a:latin typeface="Helvetica Neue"/>
                <a:ea typeface="Helvetica Neue"/>
                <a:cs typeface="Helvetica Neue"/>
              </a:defRPr>
            </a:lvl7pPr>
            <a:lvl8pPr>
              <a:defRPr sz="1800" b="0">
                <a:solidFill>
                  <a:srgbClr val="566760"/>
                </a:solidFill>
                <a:latin typeface="Helvetica Neue"/>
                <a:ea typeface="Helvetica Neue"/>
                <a:cs typeface="Helvetica Neue"/>
              </a:defRPr>
            </a:lvl8pPr>
            <a:lvl9pPr>
              <a:defRPr sz="1800" b="0">
                <a:solidFill>
                  <a:srgbClr val="566760"/>
                </a:solidFill>
                <a:latin typeface="Helvetica Neue"/>
                <a:ea typeface="Helvetica Neue"/>
                <a:cs typeface="Helvetica Neue"/>
              </a:defRPr>
            </a:lvl9pPr>
          </a:lstStyle>
          <a:p xmlns:a="http://schemas.openxmlformats.org/drawingml/2006/main">
            <a:pPr>
              <a:defRPr sz="1800" b="0">
                <a:solidFill>
                  <a:srgbClr val="566760"/>
                </a:solidFill>
                <a:latin typeface="Helvetica Neue"/>
                <a:ea typeface="Helvetica Neue"/>
                <a:cs typeface="Helvetica Neue"/>
              </a:defRPr>
            </a:pPr>
            <a:r>
              <a:rPr sz="1800" b="0">
                <a:solidFill>
                  <a:srgbClr val="566760"/>
                </a:solidFill>
                <a:latin typeface="Helvetica Neue"/>
                <a:ea typeface="Helvetica Neue"/>
                <a:cs typeface="Helvetica Neue"/>
              </a:rPr>
              <a:t>Application demo and measured experiments</a:t>
            </a:r>
          </a:p>
        </p:txBody>
      </p:sp>
    </p:spTree>
    <p:extLst>
      <p:ext uri="{BB962C8B-B14F-4D97-AF65-F5344CB8AC3E}">
        <p14:creationId xmlns:p14="http://schemas.microsoft.com/office/powerpoint/2010/main" val="566534445"/>
      </p:ext>
    </p:extLst>
  </p:cSld>
</p:sld>
</file>

<file path=ppt/slides/slide2.xml><?xml version="1.0" encoding="utf-8"?>
<p:sld xmlns:p="http://schemas.openxmlformats.org/presentationml/2006/main">
  <p:cSld>
    <p:bg>
      <p:bgPr>
        <a:solidFill xmlns:a="http://schemas.openxmlformats.org/drawingml/2006/main">
          <a:srgbClr val="FAF8F3"/>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6D2381A-2371-4E7F-B05B-05630A1AE960}"/>
              </a:ext>
            </a:extLst>
          </p:cNvPr>
          <p:cNvSpPr>
            <a:spLocks xmlns:a="http://schemas.openxmlformats.org/drawingml/2006/main" noGrp="1"/>
          </p:cNvSpPr>
          <p:nvPr/>
        </p:nvSpPr>
        <p:spPr>
          <a:xfrm xmlns:a="http://schemas.openxmlformats.org/drawingml/2006/main">
            <a:off x="609600" y="3810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150" b="1">
                <a:solidFill>
                  <a:srgbClr val="17251F"/>
                </a:solidFill>
                <a:latin typeface="Helvetica Neue"/>
                <a:ea typeface="Helvetica Neue"/>
                <a:cs typeface="Helvetica Neue"/>
              </a:defRPr>
            </a:defPPr>
            <a:lvl1pPr>
              <a:defRPr sz="3150" b="1">
                <a:solidFill>
                  <a:srgbClr val="17251F"/>
                </a:solidFill>
                <a:latin typeface="Helvetica Neue"/>
                <a:ea typeface="Helvetica Neue"/>
                <a:cs typeface="Helvetica Neue"/>
              </a:defRPr>
            </a:lvl1pPr>
            <a:lvl2pPr>
              <a:defRPr sz="3150" b="1">
                <a:solidFill>
                  <a:srgbClr val="17251F"/>
                </a:solidFill>
                <a:latin typeface="Helvetica Neue"/>
                <a:ea typeface="Helvetica Neue"/>
                <a:cs typeface="Helvetica Neue"/>
              </a:defRPr>
            </a:lvl2pPr>
            <a:lvl3pPr>
              <a:defRPr sz="3150" b="1">
                <a:solidFill>
                  <a:srgbClr val="17251F"/>
                </a:solidFill>
                <a:latin typeface="Helvetica Neue"/>
                <a:ea typeface="Helvetica Neue"/>
                <a:cs typeface="Helvetica Neue"/>
              </a:defRPr>
            </a:lvl3pPr>
            <a:lvl4pPr>
              <a:defRPr sz="3150" b="1">
                <a:solidFill>
                  <a:srgbClr val="17251F"/>
                </a:solidFill>
                <a:latin typeface="Helvetica Neue"/>
                <a:ea typeface="Helvetica Neue"/>
                <a:cs typeface="Helvetica Neue"/>
              </a:defRPr>
            </a:lvl4pPr>
            <a:lvl5pPr>
              <a:defRPr sz="3150" b="1">
                <a:solidFill>
                  <a:srgbClr val="17251F"/>
                </a:solidFill>
                <a:latin typeface="Helvetica Neue"/>
                <a:ea typeface="Helvetica Neue"/>
                <a:cs typeface="Helvetica Neue"/>
              </a:defRPr>
            </a:lvl5pPr>
            <a:lvl6pPr>
              <a:defRPr sz="3150" b="1">
                <a:solidFill>
                  <a:srgbClr val="17251F"/>
                </a:solidFill>
                <a:latin typeface="Helvetica Neue"/>
                <a:ea typeface="Helvetica Neue"/>
                <a:cs typeface="Helvetica Neue"/>
              </a:defRPr>
            </a:lvl6pPr>
            <a:lvl7pPr>
              <a:defRPr sz="3150" b="1">
                <a:solidFill>
                  <a:srgbClr val="17251F"/>
                </a:solidFill>
                <a:latin typeface="Helvetica Neue"/>
                <a:ea typeface="Helvetica Neue"/>
                <a:cs typeface="Helvetica Neue"/>
              </a:defRPr>
            </a:lvl7pPr>
            <a:lvl8pPr>
              <a:defRPr sz="3150" b="1">
                <a:solidFill>
                  <a:srgbClr val="17251F"/>
                </a:solidFill>
                <a:latin typeface="Helvetica Neue"/>
                <a:ea typeface="Helvetica Neue"/>
                <a:cs typeface="Helvetica Neue"/>
              </a:defRPr>
            </a:lvl8pPr>
            <a:lvl9pPr>
              <a:defRPr sz="3150" b="1">
                <a:solidFill>
                  <a:srgbClr val="17251F"/>
                </a:solidFill>
                <a:latin typeface="Helvetica Neue"/>
                <a:ea typeface="Helvetica Neue"/>
                <a:cs typeface="Helvetica Neue"/>
              </a:defRPr>
            </a:lvl9pPr>
          </a:lstStyle>
          <a:p xmlns:a="http://schemas.openxmlformats.org/drawingml/2006/main">
            <a:pPr>
              <a:defRPr sz="3150" b="1">
                <a:solidFill>
                  <a:srgbClr val="17251F"/>
                </a:solidFill>
                <a:latin typeface="Helvetica Neue"/>
                <a:ea typeface="Helvetica Neue"/>
                <a:cs typeface="Helvetica Neue"/>
              </a:defRPr>
            </a:pPr>
            <a:r>
              <a:rPr sz="3150" b="1">
                <a:solidFill>
                  <a:srgbClr val="17251F"/>
                </a:solidFill>
                <a:latin typeface="Helvetica Neue"/>
                <a:ea typeface="Helvetica Neue"/>
                <a:cs typeface="Helvetica Neue"/>
              </a:rPr>
              <a:t>A request becomes a recommendation query</a:t>
            </a:r>
          </a:p>
        </p:txBody>
      </p:sp>
      <p:sp>
        <p:nvSpPr>
          <p:cNvPr id="2" name="">
            <a:extLst xmlns:a="http://schemas.openxmlformats.org/drawingml/2006/main">
              <a:ext uri="{FF2B5EF4-FFF2-40B4-BE49-F238E27FC236}">
                <a16:creationId xmlns:a16="http://schemas.microsoft.com/office/drawing/2014/main" id="{173F0518-FE11-4B48-82C1-7FA7AAB8D1A5}"/>
              </a:ext>
            </a:extLst>
          </p:cNvPr>
          <p:cNvSpPr>
            <a:spLocks xmlns:a="http://schemas.openxmlformats.org/drawingml/2006/main" noGrp="1"/>
          </p:cNvSpPr>
          <p:nvPr/>
        </p:nvSpPr>
        <p:spPr>
          <a:xfrm xmlns:a="http://schemas.openxmlformats.org/drawingml/2006/main">
            <a:off x="11106150" y="6457950"/>
            <a:ext cx="47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00" b="0">
                <a:solidFill>
                  <a:srgbClr val="566760"/>
                </a:solidFill>
                <a:latin typeface="Helvetica Neue"/>
                <a:ea typeface="Helvetica Neue"/>
                <a:cs typeface="Helvetica Neue"/>
              </a:defRPr>
            </a:defPPr>
            <a:lvl1pPr algn="r">
              <a:defRPr sz="1200" b="0">
                <a:solidFill>
                  <a:srgbClr val="566760"/>
                </a:solidFill>
                <a:latin typeface="Helvetica Neue"/>
                <a:ea typeface="Helvetica Neue"/>
                <a:cs typeface="Helvetica Neue"/>
              </a:defRPr>
            </a:lvl1pPr>
            <a:lvl2pPr algn="r">
              <a:defRPr sz="1200" b="0">
                <a:solidFill>
                  <a:srgbClr val="566760"/>
                </a:solidFill>
                <a:latin typeface="Helvetica Neue"/>
                <a:ea typeface="Helvetica Neue"/>
                <a:cs typeface="Helvetica Neue"/>
              </a:defRPr>
            </a:lvl2pPr>
            <a:lvl3pPr algn="r">
              <a:defRPr sz="1200" b="0">
                <a:solidFill>
                  <a:srgbClr val="566760"/>
                </a:solidFill>
                <a:latin typeface="Helvetica Neue"/>
                <a:ea typeface="Helvetica Neue"/>
                <a:cs typeface="Helvetica Neue"/>
              </a:defRPr>
            </a:lvl3pPr>
            <a:lvl4pPr algn="r">
              <a:defRPr sz="1200" b="0">
                <a:solidFill>
                  <a:srgbClr val="566760"/>
                </a:solidFill>
                <a:latin typeface="Helvetica Neue"/>
                <a:ea typeface="Helvetica Neue"/>
                <a:cs typeface="Helvetica Neue"/>
              </a:defRPr>
            </a:lvl4pPr>
            <a:lvl5pPr algn="r">
              <a:defRPr sz="1200" b="0">
                <a:solidFill>
                  <a:srgbClr val="566760"/>
                </a:solidFill>
                <a:latin typeface="Helvetica Neue"/>
                <a:ea typeface="Helvetica Neue"/>
                <a:cs typeface="Helvetica Neue"/>
              </a:defRPr>
            </a:lvl5pPr>
            <a:lvl6pPr algn="r">
              <a:defRPr sz="1200" b="0">
                <a:solidFill>
                  <a:srgbClr val="566760"/>
                </a:solidFill>
                <a:latin typeface="Helvetica Neue"/>
                <a:ea typeface="Helvetica Neue"/>
                <a:cs typeface="Helvetica Neue"/>
              </a:defRPr>
            </a:lvl6pPr>
            <a:lvl7pPr algn="r">
              <a:defRPr sz="1200" b="0">
                <a:solidFill>
                  <a:srgbClr val="566760"/>
                </a:solidFill>
                <a:latin typeface="Helvetica Neue"/>
                <a:ea typeface="Helvetica Neue"/>
                <a:cs typeface="Helvetica Neue"/>
              </a:defRPr>
            </a:lvl7pPr>
            <a:lvl8pPr algn="r">
              <a:defRPr sz="1200" b="0">
                <a:solidFill>
                  <a:srgbClr val="566760"/>
                </a:solidFill>
                <a:latin typeface="Helvetica Neue"/>
                <a:ea typeface="Helvetica Neue"/>
                <a:cs typeface="Helvetica Neue"/>
              </a:defRPr>
            </a:lvl8pPr>
            <a:lvl9pPr algn="r">
              <a:defRPr sz="1200" b="0">
                <a:solidFill>
                  <a:srgbClr val="566760"/>
                </a:solidFill>
                <a:latin typeface="Helvetica Neue"/>
                <a:ea typeface="Helvetica Neue"/>
                <a:cs typeface="Helvetica Neue"/>
              </a:defRPr>
            </a:lvl9pPr>
          </a:lstStyle>
          <a:p xmlns:a="http://schemas.openxmlformats.org/drawingml/2006/main">
            <a:pPr algn="r">
              <a:defRPr sz="1200" b="0">
                <a:solidFill>
                  <a:srgbClr val="566760"/>
                </a:solidFill>
                <a:latin typeface="Helvetica Neue"/>
                <a:ea typeface="Helvetica Neue"/>
                <a:cs typeface="Helvetica Neue"/>
              </a:defRPr>
            </a:pPr>
            <a:r>
              <a:rPr sz="1200" b="0">
                <a:solidFill>
                  <a:srgbClr val="566760"/>
                </a:solidFill>
                <a:latin typeface="Helvetica Neue"/>
                <a:ea typeface="Helvetica Neue"/>
                <a:cs typeface="Helvetica Neue"/>
              </a:rPr>
              <a:t>02</a:t>
            </a:r>
          </a:p>
        </p:txBody>
      </p:sp>
      <p:sp>
        <p:nvSpPr>
          <p:cNvPr id="3" name="">
            <a:extLst xmlns:a="http://schemas.openxmlformats.org/drawingml/2006/main">
              <a:ext uri="{FF2B5EF4-FFF2-40B4-BE49-F238E27FC236}">
                <a16:creationId xmlns:a16="http://schemas.microsoft.com/office/drawing/2014/main" id="{A2E024DD-CD09-4117-9F51-314363DBAD38}"/>
              </a:ext>
            </a:extLst>
          </p:cNvPr>
          <p:cNvSpPr>
            <a:spLocks xmlns:a="http://schemas.openxmlformats.org/drawingml/2006/main" noGrp="1"/>
          </p:cNvSpPr>
          <p:nvPr/>
        </p:nvSpPr>
        <p:spPr>
          <a:xfrm xmlns:a="http://schemas.openxmlformats.org/drawingml/2006/main">
            <a:off x="628650" y="1885950"/>
            <a:ext cx="4333875" cy="1485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000" b="1">
                <a:solidFill>
                  <a:srgbClr val="17251F"/>
                </a:solidFill>
                <a:latin typeface="Helvetica Neue"/>
                <a:ea typeface="Helvetica Neue"/>
                <a:cs typeface="Helvetica Neue"/>
              </a:defRPr>
            </a:defPPr>
            <a:lvl1pPr>
              <a:defRPr sz="3000" b="1">
                <a:solidFill>
                  <a:srgbClr val="17251F"/>
                </a:solidFill>
                <a:latin typeface="Helvetica Neue"/>
                <a:ea typeface="Helvetica Neue"/>
                <a:cs typeface="Helvetica Neue"/>
              </a:defRPr>
            </a:lvl1pPr>
            <a:lvl2pPr>
              <a:defRPr sz="3000" b="1">
                <a:solidFill>
                  <a:srgbClr val="17251F"/>
                </a:solidFill>
                <a:latin typeface="Helvetica Neue"/>
                <a:ea typeface="Helvetica Neue"/>
                <a:cs typeface="Helvetica Neue"/>
              </a:defRPr>
            </a:lvl2pPr>
            <a:lvl3pPr>
              <a:defRPr sz="3000" b="1">
                <a:solidFill>
                  <a:srgbClr val="17251F"/>
                </a:solidFill>
                <a:latin typeface="Helvetica Neue"/>
                <a:ea typeface="Helvetica Neue"/>
                <a:cs typeface="Helvetica Neue"/>
              </a:defRPr>
            </a:lvl3pPr>
            <a:lvl4pPr>
              <a:defRPr sz="3000" b="1">
                <a:solidFill>
                  <a:srgbClr val="17251F"/>
                </a:solidFill>
                <a:latin typeface="Helvetica Neue"/>
                <a:ea typeface="Helvetica Neue"/>
                <a:cs typeface="Helvetica Neue"/>
              </a:defRPr>
            </a:lvl4pPr>
            <a:lvl5pPr>
              <a:defRPr sz="3000" b="1">
                <a:solidFill>
                  <a:srgbClr val="17251F"/>
                </a:solidFill>
                <a:latin typeface="Helvetica Neue"/>
                <a:ea typeface="Helvetica Neue"/>
                <a:cs typeface="Helvetica Neue"/>
              </a:defRPr>
            </a:lvl5pPr>
            <a:lvl6pPr>
              <a:defRPr sz="3000" b="1">
                <a:solidFill>
                  <a:srgbClr val="17251F"/>
                </a:solidFill>
                <a:latin typeface="Helvetica Neue"/>
                <a:ea typeface="Helvetica Neue"/>
                <a:cs typeface="Helvetica Neue"/>
              </a:defRPr>
            </a:lvl6pPr>
            <a:lvl7pPr>
              <a:defRPr sz="3000" b="1">
                <a:solidFill>
                  <a:srgbClr val="17251F"/>
                </a:solidFill>
                <a:latin typeface="Helvetica Neue"/>
                <a:ea typeface="Helvetica Neue"/>
                <a:cs typeface="Helvetica Neue"/>
              </a:defRPr>
            </a:lvl7pPr>
            <a:lvl8pPr>
              <a:defRPr sz="3000" b="1">
                <a:solidFill>
                  <a:srgbClr val="17251F"/>
                </a:solidFill>
                <a:latin typeface="Helvetica Neue"/>
                <a:ea typeface="Helvetica Neue"/>
                <a:cs typeface="Helvetica Neue"/>
              </a:defRPr>
            </a:lvl8pPr>
            <a:lvl9pPr>
              <a:defRPr sz="3000" b="1">
                <a:solidFill>
                  <a:srgbClr val="17251F"/>
                </a:solidFill>
                <a:latin typeface="Helvetica Neue"/>
                <a:ea typeface="Helvetica Neue"/>
                <a:cs typeface="Helvetica Neue"/>
              </a:defRPr>
            </a:lvl9pPr>
          </a:lstStyle>
          <a:p xmlns:a="http://schemas.openxmlformats.org/drawingml/2006/main">
            <a:pPr>
              <a:defRPr sz="3000" b="1">
                <a:solidFill>
                  <a:srgbClr val="17251F"/>
                </a:solidFill>
                <a:latin typeface="Helvetica Neue"/>
                <a:ea typeface="Helvetica Neue"/>
                <a:cs typeface="Helvetica Neue"/>
              </a:defRPr>
            </a:pPr>
            <a:r>
              <a:rPr sz="3000" b="1">
                <a:solidFill>
                  <a:srgbClr val="17251F"/>
                </a:solidFill>
                <a:latin typeface="Helvetica Neue"/>
                <a:ea typeface="Helvetica Neue"/>
                <a:cs typeface="Helvetica Neue"/>
              </a:rPr>
              <a:t>“Find a stroller for</a:t>
            </a:r>
          </a:p>
          <a:p xmlns:a="http://schemas.openxmlformats.org/drawingml/2006/main">
            <a:pPr>
              <a:defRPr sz="3000" b="1">
                <a:solidFill>
                  <a:srgbClr val="17251F"/>
                </a:solidFill>
                <a:latin typeface="Helvetica Neue"/>
                <a:ea typeface="Helvetica Neue"/>
                <a:cs typeface="Helvetica Neue"/>
              </a:defRPr>
            </a:pPr>
            <a:r>
              <a:rPr sz="3000" b="1">
                <a:solidFill>
                  <a:srgbClr val="17251F"/>
                </a:solidFill>
                <a:latin typeface="Helvetica Neue"/>
                <a:ea typeface="Helvetica Neue"/>
                <a:cs typeface="Helvetica Neue"/>
              </a:rPr>
              <a:t>everyday outings.”</a:t>
            </a:r>
          </a:p>
        </p:txBody>
      </p:sp>
      <p:sp>
        <p:nvSpPr>
          <p:cNvPr id="4" name="">
            <a:extLst xmlns:a="http://schemas.openxmlformats.org/drawingml/2006/main">
              <a:ext uri="{FF2B5EF4-FFF2-40B4-BE49-F238E27FC236}">
                <a16:creationId xmlns:a16="http://schemas.microsoft.com/office/drawing/2014/main" id="{B90C3477-AF4B-4EE4-9836-E67E6FF9EDA0}"/>
              </a:ext>
            </a:extLst>
          </p:cNvPr>
          <p:cNvSpPr>
            <a:spLocks xmlns:a="http://schemas.openxmlformats.org/drawingml/2006/main" noGrp="1"/>
          </p:cNvSpPr>
          <p:nvPr/>
        </p:nvSpPr>
        <p:spPr>
          <a:xfrm xmlns:a="http://schemas.openxmlformats.org/drawingml/2006/main">
            <a:off x="628650" y="3790950"/>
            <a:ext cx="428625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00" b="0">
                <a:solidFill>
                  <a:srgbClr val="566760"/>
                </a:solidFill>
                <a:latin typeface="Helvetica Neue"/>
                <a:ea typeface="Helvetica Neue"/>
                <a:cs typeface="Helvetica Neue"/>
              </a:defRPr>
            </a:defPPr>
            <a:lvl1pPr>
              <a:defRPr sz="2100" b="0">
                <a:solidFill>
                  <a:srgbClr val="566760"/>
                </a:solidFill>
                <a:latin typeface="Helvetica Neue"/>
                <a:ea typeface="Helvetica Neue"/>
                <a:cs typeface="Helvetica Neue"/>
              </a:defRPr>
            </a:lvl1pPr>
            <a:lvl2pPr>
              <a:defRPr sz="2100" b="0">
                <a:solidFill>
                  <a:srgbClr val="566760"/>
                </a:solidFill>
                <a:latin typeface="Helvetica Neue"/>
                <a:ea typeface="Helvetica Neue"/>
                <a:cs typeface="Helvetica Neue"/>
              </a:defRPr>
            </a:lvl2pPr>
            <a:lvl3pPr>
              <a:defRPr sz="2100" b="0">
                <a:solidFill>
                  <a:srgbClr val="566760"/>
                </a:solidFill>
                <a:latin typeface="Helvetica Neue"/>
                <a:ea typeface="Helvetica Neue"/>
                <a:cs typeface="Helvetica Neue"/>
              </a:defRPr>
            </a:lvl3pPr>
            <a:lvl4pPr>
              <a:defRPr sz="2100" b="0">
                <a:solidFill>
                  <a:srgbClr val="566760"/>
                </a:solidFill>
                <a:latin typeface="Helvetica Neue"/>
                <a:ea typeface="Helvetica Neue"/>
                <a:cs typeface="Helvetica Neue"/>
              </a:defRPr>
            </a:lvl4pPr>
            <a:lvl5pPr>
              <a:defRPr sz="2100" b="0">
                <a:solidFill>
                  <a:srgbClr val="566760"/>
                </a:solidFill>
                <a:latin typeface="Helvetica Neue"/>
                <a:ea typeface="Helvetica Neue"/>
                <a:cs typeface="Helvetica Neue"/>
              </a:defRPr>
            </a:lvl5pPr>
            <a:lvl6pPr>
              <a:defRPr sz="2100" b="0">
                <a:solidFill>
                  <a:srgbClr val="566760"/>
                </a:solidFill>
                <a:latin typeface="Helvetica Neue"/>
                <a:ea typeface="Helvetica Neue"/>
                <a:cs typeface="Helvetica Neue"/>
              </a:defRPr>
            </a:lvl6pPr>
            <a:lvl7pPr>
              <a:defRPr sz="2100" b="0">
                <a:solidFill>
                  <a:srgbClr val="566760"/>
                </a:solidFill>
                <a:latin typeface="Helvetica Neue"/>
                <a:ea typeface="Helvetica Neue"/>
                <a:cs typeface="Helvetica Neue"/>
              </a:defRPr>
            </a:lvl7pPr>
            <a:lvl8pPr>
              <a:defRPr sz="2100" b="0">
                <a:solidFill>
                  <a:srgbClr val="566760"/>
                </a:solidFill>
                <a:latin typeface="Helvetica Neue"/>
                <a:ea typeface="Helvetica Neue"/>
                <a:cs typeface="Helvetica Neue"/>
              </a:defRPr>
            </a:lvl8pPr>
            <a:lvl9pPr>
              <a:defRPr sz="2100" b="0">
                <a:solidFill>
                  <a:srgbClr val="566760"/>
                </a:solidFill>
                <a:latin typeface="Helvetica Neue"/>
                <a:ea typeface="Helvetica Neue"/>
                <a:cs typeface="Helvetica Neue"/>
              </a:defRPr>
            </a:lvl9pPr>
          </a:lstStyle>
          <a:p xmlns:a="http://schemas.openxmlformats.org/drawingml/2006/main">
            <a:pPr>
              <a:defRPr sz="2100" b="0">
                <a:solidFill>
                  <a:srgbClr val="566760"/>
                </a:solidFill>
                <a:latin typeface="Helvetica Neue"/>
                <a:ea typeface="Helvetica Neue"/>
                <a:cs typeface="Helvetica Neue"/>
              </a:defRPr>
            </a:pPr>
            <a:r>
              <a:rPr sz="2100" b="0">
                <a:solidFill>
                  <a:srgbClr val="566760"/>
                </a:solidFill>
                <a:latin typeface="Helvetica Neue"/>
                <a:ea typeface="Helvetica Neue"/>
                <a:cs typeface="Helvetica Neue"/>
              </a:rPr>
              <a:t>The brief supplies search text.</a:t>
            </a:r>
          </a:p>
          <a:p xmlns:a="http://schemas.openxmlformats.org/drawingml/2006/main">
            <a:pPr>
              <a:defRPr sz="2100" b="0">
                <a:solidFill>
                  <a:srgbClr val="566760"/>
                </a:solidFill>
                <a:latin typeface="Helvetica Neue"/>
                <a:ea typeface="Helvetica Neue"/>
                <a:cs typeface="Helvetica Neue"/>
              </a:defRPr>
            </a:pPr>
            <a:r>
              <a:rPr sz="2100" b="0">
                <a:solidFill>
                  <a:srgbClr val="566760"/>
                </a:solidFill>
                <a:latin typeface="Helvetica Neue"/>
                <a:ea typeface="Helvetica Neue"/>
                <a:cs typeface="Helvetica Neue"/>
              </a:rPr>
              <a:t>Optional controls add a photo,</a:t>
            </a:r>
          </a:p>
          <a:p xmlns:a="http://schemas.openxmlformats.org/drawingml/2006/main">
            <a:pPr>
              <a:defRPr sz="2100" b="0">
                <a:solidFill>
                  <a:srgbClr val="566760"/>
                </a:solidFill>
                <a:latin typeface="Helvetica Neue"/>
                <a:ea typeface="Helvetica Neue"/>
                <a:cs typeface="Helvetica Neue"/>
              </a:defRPr>
            </a:pPr>
            <a:r>
              <a:rPr sz="2100" b="0">
                <a:solidFill>
                  <a:srgbClr val="566760"/>
                </a:solidFill>
                <a:latin typeface="Helvetica Neue"/>
                <a:ea typeface="Helvetica Neue"/>
                <a:cs typeface="Helvetica Neue"/>
              </a:rPr>
              <a:t>budget and preferences.</a:t>
            </a:r>
          </a:p>
        </p:txBody>
      </p:sp>
      <p:pic>
        <p:nvPicPr>
          <p:cNvPr id="5" name="">
            <a:extLst xmlns:a="http://schemas.openxmlformats.org/drawingml/2006/main">
              <a:ext uri="{FF2B5EF4-FFF2-40B4-BE49-F238E27FC236}">
                <a16:creationId xmlns:a16="http://schemas.microsoft.com/office/drawing/2014/main" id="{CD951432-8DC8-415A-AE81-3456FF0999B5}"/>
              </a:ext>
            </a:extLst>
          </p:cNvPr>
          <p:cNvPicPr>
            <a:picLocks xmlns:a="http://schemas.openxmlformats.org/drawingml/2006/main" noChangeAspect="1"/>
          </p:cNvPicPr>
          <p:nvPr/>
        </p:nvPicPr>
        <p:blipFill>
          <a:blip xmlns:r="http://schemas.openxmlformats.org/officeDocument/2006/relationships" xmlns:a="http://schemas.openxmlformats.org/drawingml/2006/main" r:embed="R4066d56358c244ed"/>
          <a:srcRect xmlns:a="http://schemas.openxmlformats.org/drawingml/2006/main" l="1800" t="11500" r="1800" b="5500"/>
          <a:stretch xmlns:a="http://schemas.openxmlformats.org/drawingml/2006/main"/>
        </p:blipFill>
        <p:spPr>
          <a:xfrm xmlns:a="http://schemas.openxmlformats.org/drawingml/2006/main">
            <a:off x="5499557" y="1352550"/>
            <a:ext cx="5926811" cy="4791075"/>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98186CA0-FC69-4EF7-B545-3377F9860F87}"/>
              </a:ext>
            </a:extLst>
          </p:cNvPr>
          <p:cNvSpPr>
            <a:spLocks xmlns:a="http://schemas.openxmlformats.org/drawingml/2006/main" noGrp="1"/>
          </p:cNvSpPr>
          <p:nvPr/>
        </p:nvSpPr>
        <p:spPr>
          <a:xfrm xmlns:a="http://schemas.openxmlformats.org/drawingml/2006/main">
            <a:off x="628650" y="6162675"/>
            <a:ext cx="10572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566760"/>
                </a:solidFill>
                <a:latin typeface="Helvetica Neue"/>
                <a:ea typeface="Helvetica Neue"/>
                <a:cs typeface="Helvetica Neue"/>
              </a:defRPr>
            </a:defPPr>
            <a:lvl1pPr>
              <a:defRPr sz="1500" b="0">
                <a:solidFill>
                  <a:srgbClr val="566760"/>
                </a:solidFill>
                <a:latin typeface="Helvetica Neue"/>
                <a:ea typeface="Helvetica Neue"/>
                <a:cs typeface="Helvetica Neue"/>
              </a:defRPr>
            </a:lvl1pPr>
            <a:lvl2pPr>
              <a:defRPr sz="1500" b="0">
                <a:solidFill>
                  <a:srgbClr val="566760"/>
                </a:solidFill>
                <a:latin typeface="Helvetica Neue"/>
                <a:ea typeface="Helvetica Neue"/>
                <a:cs typeface="Helvetica Neue"/>
              </a:defRPr>
            </a:lvl2pPr>
            <a:lvl3pPr>
              <a:defRPr sz="1500" b="0">
                <a:solidFill>
                  <a:srgbClr val="566760"/>
                </a:solidFill>
                <a:latin typeface="Helvetica Neue"/>
                <a:ea typeface="Helvetica Neue"/>
                <a:cs typeface="Helvetica Neue"/>
              </a:defRPr>
            </a:lvl3pPr>
            <a:lvl4pPr>
              <a:defRPr sz="1500" b="0">
                <a:solidFill>
                  <a:srgbClr val="566760"/>
                </a:solidFill>
                <a:latin typeface="Helvetica Neue"/>
                <a:ea typeface="Helvetica Neue"/>
                <a:cs typeface="Helvetica Neue"/>
              </a:defRPr>
            </a:lvl4pPr>
            <a:lvl5pPr>
              <a:defRPr sz="1500" b="0">
                <a:solidFill>
                  <a:srgbClr val="566760"/>
                </a:solidFill>
                <a:latin typeface="Helvetica Neue"/>
                <a:ea typeface="Helvetica Neue"/>
                <a:cs typeface="Helvetica Neue"/>
              </a:defRPr>
            </a:lvl5pPr>
            <a:lvl6pPr>
              <a:defRPr sz="1500" b="0">
                <a:solidFill>
                  <a:srgbClr val="566760"/>
                </a:solidFill>
                <a:latin typeface="Helvetica Neue"/>
                <a:ea typeface="Helvetica Neue"/>
                <a:cs typeface="Helvetica Neue"/>
              </a:defRPr>
            </a:lvl6pPr>
            <a:lvl7pPr>
              <a:defRPr sz="1500" b="0">
                <a:solidFill>
                  <a:srgbClr val="566760"/>
                </a:solidFill>
                <a:latin typeface="Helvetica Neue"/>
                <a:ea typeface="Helvetica Neue"/>
                <a:cs typeface="Helvetica Neue"/>
              </a:defRPr>
            </a:lvl7pPr>
            <a:lvl8pPr>
              <a:defRPr sz="1500" b="0">
                <a:solidFill>
                  <a:srgbClr val="566760"/>
                </a:solidFill>
                <a:latin typeface="Helvetica Neue"/>
                <a:ea typeface="Helvetica Neue"/>
                <a:cs typeface="Helvetica Neue"/>
              </a:defRPr>
            </a:lvl8pPr>
            <a:lvl9pPr>
              <a:defRPr sz="1500" b="0">
                <a:solidFill>
                  <a:srgbClr val="566760"/>
                </a:solidFill>
                <a:latin typeface="Helvetica Neue"/>
                <a:ea typeface="Helvetica Neue"/>
                <a:cs typeface="Helvetica Neue"/>
              </a:defRPr>
            </a:lvl9pPr>
          </a:lstStyle>
          <a:p xmlns:a="http://schemas.openxmlformats.org/drawingml/2006/main">
            <a:pPr>
              <a:defRPr sz="1500" b="0">
                <a:solidFill>
                  <a:srgbClr val="566760"/>
                </a:solidFill>
                <a:latin typeface="Helvetica Neue"/>
                <a:ea typeface="Helvetica Neue"/>
                <a:cs typeface="Helvetica Neue"/>
              </a:defRPr>
            </a:pPr>
            <a:r>
              <a:rPr sz="1500" b="0">
                <a:solidFill>
                  <a:srgbClr val="566760"/>
                </a:solidFill>
                <a:latin typeface="Helvetica Neue"/>
                <a:ea typeface="Helvetica Neue"/>
                <a:cs typeface="Helvetica Neue"/>
              </a:rPr>
              <a:t>Actual application capture. Brief interpretation uses transparent rules.</a:t>
            </a:r>
          </a:p>
        </p:txBody>
      </p:sp>
    </p:spTree>
    <p:extLst>
      <p:ext uri="{BB962C8B-B14F-4D97-AF65-F5344CB8AC3E}">
        <p14:creationId xmlns:p14="http://schemas.microsoft.com/office/powerpoint/2010/main" val="2093333802"/>
      </p:ext>
    </p:extLst>
  </p:cSld>
</p:sld>
</file>

<file path=ppt/slides/slide3.xml><?xml version="1.0" encoding="utf-8"?>
<p:sld xmlns:p="http://schemas.openxmlformats.org/presentationml/2006/main">
  <p:cSld>
    <p:bg>
      <p:bgPr>
        <a:solidFill xmlns:a="http://schemas.openxmlformats.org/drawingml/2006/main">
          <a:srgbClr val="FAF8F3"/>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6D65D94D-B9B6-4D86-8F96-C6F58D904BDC}"/>
              </a:ext>
            </a:extLst>
          </p:cNvPr>
          <p:cNvSpPr>
            <a:spLocks xmlns:a="http://schemas.openxmlformats.org/drawingml/2006/main" noGrp="1"/>
          </p:cNvSpPr>
          <p:nvPr/>
        </p:nvSpPr>
        <p:spPr>
          <a:xfrm xmlns:a="http://schemas.openxmlformats.org/drawingml/2006/main">
            <a:off x="609600" y="3810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150" b="1">
                <a:solidFill>
                  <a:srgbClr val="17251F"/>
                </a:solidFill>
                <a:latin typeface="Helvetica Neue"/>
                <a:ea typeface="Helvetica Neue"/>
                <a:cs typeface="Helvetica Neue"/>
              </a:defRPr>
            </a:defPPr>
            <a:lvl1pPr>
              <a:defRPr sz="3150" b="1">
                <a:solidFill>
                  <a:srgbClr val="17251F"/>
                </a:solidFill>
                <a:latin typeface="Helvetica Neue"/>
                <a:ea typeface="Helvetica Neue"/>
                <a:cs typeface="Helvetica Neue"/>
              </a:defRPr>
            </a:lvl1pPr>
            <a:lvl2pPr>
              <a:defRPr sz="3150" b="1">
                <a:solidFill>
                  <a:srgbClr val="17251F"/>
                </a:solidFill>
                <a:latin typeface="Helvetica Neue"/>
                <a:ea typeface="Helvetica Neue"/>
                <a:cs typeface="Helvetica Neue"/>
              </a:defRPr>
            </a:lvl2pPr>
            <a:lvl3pPr>
              <a:defRPr sz="3150" b="1">
                <a:solidFill>
                  <a:srgbClr val="17251F"/>
                </a:solidFill>
                <a:latin typeface="Helvetica Neue"/>
                <a:ea typeface="Helvetica Neue"/>
                <a:cs typeface="Helvetica Neue"/>
              </a:defRPr>
            </a:lvl3pPr>
            <a:lvl4pPr>
              <a:defRPr sz="3150" b="1">
                <a:solidFill>
                  <a:srgbClr val="17251F"/>
                </a:solidFill>
                <a:latin typeface="Helvetica Neue"/>
                <a:ea typeface="Helvetica Neue"/>
                <a:cs typeface="Helvetica Neue"/>
              </a:defRPr>
            </a:lvl4pPr>
            <a:lvl5pPr>
              <a:defRPr sz="3150" b="1">
                <a:solidFill>
                  <a:srgbClr val="17251F"/>
                </a:solidFill>
                <a:latin typeface="Helvetica Neue"/>
                <a:ea typeface="Helvetica Neue"/>
                <a:cs typeface="Helvetica Neue"/>
              </a:defRPr>
            </a:lvl5pPr>
            <a:lvl6pPr>
              <a:defRPr sz="3150" b="1">
                <a:solidFill>
                  <a:srgbClr val="17251F"/>
                </a:solidFill>
                <a:latin typeface="Helvetica Neue"/>
                <a:ea typeface="Helvetica Neue"/>
                <a:cs typeface="Helvetica Neue"/>
              </a:defRPr>
            </a:lvl6pPr>
            <a:lvl7pPr>
              <a:defRPr sz="3150" b="1">
                <a:solidFill>
                  <a:srgbClr val="17251F"/>
                </a:solidFill>
                <a:latin typeface="Helvetica Neue"/>
                <a:ea typeface="Helvetica Neue"/>
                <a:cs typeface="Helvetica Neue"/>
              </a:defRPr>
            </a:lvl7pPr>
            <a:lvl8pPr>
              <a:defRPr sz="3150" b="1">
                <a:solidFill>
                  <a:srgbClr val="17251F"/>
                </a:solidFill>
                <a:latin typeface="Helvetica Neue"/>
                <a:ea typeface="Helvetica Neue"/>
                <a:cs typeface="Helvetica Neue"/>
              </a:defRPr>
            </a:lvl8pPr>
            <a:lvl9pPr>
              <a:defRPr sz="3150" b="1">
                <a:solidFill>
                  <a:srgbClr val="17251F"/>
                </a:solidFill>
                <a:latin typeface="Helvetica Neue"/>
                <a:ea typeface="Helvetica Neue"/>
                <a:cs typeface="Helvetica Neue"/>
              </a:defRPr>
            </a:lvl9pPr>
          </a:lstStyle>
          <a:p xmlns:a="http://schemas.openxmlformats.org/drawingml/2006/main">
            <a:pPr>
              <a:defRPr sz="3150" b="1">
                <a:solidFill>
                  <a:srgbClr val="17251F"/>
                </a:solidFill>
                <a:latin typeface="Helvetica Neue"/>
                <a:ea typeface="Helvetica Neue"/>
                <a:cs typeface="Helvetica Neue"/>
              </a:defRPr>
            </a:pPr>
            <a:r>
              <a:rPr sz="3150" b="1">
                <a:solidFill>
                  <a:srgbClr val="17251F"/>
                </a:solidFill>
                <a:latin typeface="Helvetica Neue"/>
                <a:ea typeface="Helvetica Neue"/>
                <a:cs typeface="Helvetica Neue"/>
              </a:rPr>
              <a:t>Model arena shows ranking differences</a:t>
            </a:r>
          </a:p>
        </p:txBody>
      </p:sp>
      <p:sp>
        <p:nvSpPr>
          <p:cNvPr id="2" name="">
            <a:extLst xmlns:a="http://schemas.openxmlformats.org/drawingml/2006/main">
              <a:ext uri="{FF2B5EF4-FFF2-40B4-BE49-F238E27FC236}">
                <a16:creationId xmlns:a16="http://schemas.microsoft.com/office/drawing/2014/main" id="{6EA8CE9B-6D21-407B-8D83-C3AE95214BED}"/>
              </a:ext>
            </a:extLst>
          </p:cNvPr>
          <p:cNvSpPr>
            <a:spLocks xmlns:a="http://schemas.openxmlformats.org/drawingml/2006/main" noGrp="1"/>
          </p:cNvSpPr>
          <p:nvPr/>
        </p:nvSpPr>
        <p:spPr>
          <a:xfrm xmlns:a="http://schemas.openxmlformats.org/drawingml/2006/main">
            <a:off x="11106150" y="6457950"/>
            <a:ext cx="47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00" b="0">
                <a:solidFill>
                  <a:srgbClr val="566760"/>
                </a:solidFill>
                <a:latin typeface="Helvetica Neue"/>
                <a:ea typeface="Helvetica Neue"/>
                <a:cs typeface="Helvetica Neue"/>
              </a:defRPr>
            </a:defPPr>
            <a:lvl1pPr algn="r">
              <a:defRPr sz="1200" b="0">
                <a:solidFill>
                  <a:srgbClr val="566760"/>
                </a:solidFill>
                <a:latin typeface="Helvetica Neue"/>
                <a:ea typeface="Helvetica Neue"/>
                <a:cs typeface="Helvetica Neue"/>
              </a:defRPr>
            </a:lvl1pPr>
            <a:lvl2pPr algn="r">
              <a:defRPr sz="1200" b="0">
                <a:solidFill>
                  <a:srgbClr val="566760"/>
                </a:solidFill>
                <a:latin typeface="Helvetica Neue"/>
                <a:ea typeface="Helvetica Neue"/>
                <a:cs typeface="Helvetica Neue"/>
              </a:defRPr>
            </a:lvl2pPr>
            <a:lvl3pPr algn="r">
              <a:defRPr sz="1200" b="0">
                <a:solidFill>
                  <a:srgbClr val="566760"/>
                </a:solidFill>
                <a:latin typeface="Helvetica Neue"/>
                <a:ea typeface="Helvetica Neue"/>
                <a:cs typeface="Helvetica Neue"/>
              </a:defRPr>
            </a:lvl3pPr>
            <a:lvl4pPr algn="r">
              <a:defRPr sz="1200" b="0">
                <a:solidFill>
                  <a:srgbClr val="566760"/>
                </a:solidFill>
                <a:latin typeface="Helvetica Neue"/>
                <a:ea typeface="Helvetica Neue"/>
                <a:cs typeface="Helvetica Neue"/>
              </a:defRPr>
            </a:lvl4pPr>
            <a:lvl5pPr algn="r">
              <a:defRPr sz="1200" b="0">
                <a:solidFill>
                  <a:srgbClr val="566760"/>
                </a:solidFill>
                <a:latin typeface="Helvetica Neue"/>
                <a:ea typeface="Helvetica Neue"/>
                <a:cs typeface="Helvetica Neue"/>
              </a:defRPr>
            </a:lvl5pPr>
            <a:lvl6pPr algn="r">
              <a:defRPr sz="1200" b="0">
                <a:solidFill>
                  <a:srgbClr val="566760"/>
                </a:solidFill>
                <a:latin typeface="Helvetica Neue"/>
                <a:ea typeface="Helvetica Neue"/>
                <a:cs typeface="Helvetica Neue"/>
              </a:defRPr>
            </a:lvl6pPr>
            <a:lvl7pPr algn="r">
              <a:defRPr sz="1200" b="0">
                <a:solidFill>
                  <a:srgbClr val="566760"/>
                </a:solidFill>
                <a:latin typeface="Helvetica Neue"/>
                <a:ea typeface="Helvetica Neue"/>
                <a:cs typeface="Helvetica Neue"/>
              </a:defRPr>
            </a:lvl7pPr>
            <a:lvl8pPr algn="r">
              <a:defRPr sz="1200" b="0">
                <a:solidFill>
                  <a:srgbClr val="566760"/>
                </a:solidFill>
                <a:latin typeface="Helvetica Neue"/>
                <a:ea typeface="Helvetica Neue"/>
                <a:cs typeface="Helvetica Neue"/>
              </a:defRPr>
            </a:lvl8pPr>
            <a:lvl9pPr algn="r">
              <a:defRPr sz="1200" b="0">
                <a:solidFill>
                  <a:srgbClr val="566760"/>
                </a:solidFill>
                <a:latin typeface="Helvetica Neue"/>
                <a:ea typeface="Helvetica Neue"/>
                <a:cs typeface="Helvetica Neue"/>
              </a:defRPr>
            </a:lvl9pPr>
          </a:lstStyle>
          <a:p xmlns:a="http://schemas.openxmlformats.org/drawingml/2006/main">
            <a:pPr algn="r">
              <a:defRPr sz="1200" b="0">
                <a:solidFill>
                  <a:srgbClr val="566760"/>
                </a:solidFill>
                <a:latin typeface="Helvetica Neue"/>
                <a:ea typeface="Helvetica Neue"/>
                <a:cs typeface="Helvetica Neue"/>
              </a:defRPr>
            </a:pPr>
            <a:r>
              <a:rPr sz="1200" b="0">
                <a:solidFill>
                  <a:srgbClr val="566760"/>
                </a:solidFill>
                <a:latin typeface="Helvetica Neue"/>
                <a:ea typeface="Helvetica Neue"/>
                <a:cs typeface="Helvetica Neue"/>
              </a:rPr>
              <a:t>03</a:t>
            </a:r>
          </a:p>
        </p:txBody>
      </p:sp>
      <p:sp>
        <p:nvSpPr>
          <p:cNvPr id="3" name="">
            <a:extLst xmlns:a="http://schemas.openxmlformats.org/drawingml/2006/main">
              <a:ext uri="{FF2B5EF4-FFF2-40B4-BE49-F238E27FC236}">
                <a16:creationId xmlns:a16="http://schemas.microsoft.com/office/drawing/2014/main" id="{2D2E3818-1DF3-4F49-9F66-75A8978DE7B9}"/>
              </a:ext>
            </a:extLst>
          </p:cNvPr>
          <p:cNvSpPr>
            <a:spLocks xmlns:a="http://schemas.openxmlformats.org/drawingml/2006/main" noGrp="1"/>
          </p:cNvSpPr>
          <p:nvPr/>
        </p:nvSpPr>
        <p:spPr>
          <a:xfrm xmlns:a="http://schemas.openxmlformats.org/drawingml/2006/main">
            <a:off x="628650" y="1857375"/>
            <a:ext cx="28575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850" b="1">
                <a:solidFill>
                  <a:srgbClr val="17251F"/>
                </a:solidFill>
                <a:latin typeface="Helvetica Neue"/>
                <a:ea typeface="Helvetica Neue"/>
                <a:cs typeface="Helvetica Neue"/>
              </a:defRPr>
            </a:defPPr>
            <a:lvl1pPr>
              <a:defRPr sz="2850" b="1">
                <a:solidFill>
                  <a:srgbClr val="17251F"/>
                </a:solidFill>
                <a:latin typeface="Helvetica Neue"/>
                <a:ea typeface="Helvetica Neue"/>
                <a:cs typeface="Helvetica Neue"/>
              </a:defRPr>
            </a:lvl1pPr>
            <a:lvl2pPr>
              <a:defRPr sz="2850" b="1">
                <a:solidFill>
                  <a:srgbClr val="17251F"/>
                </a:solidFill>
                <a:latin typeface="Helvetica Neue"/>
                <a:ea typeface="Helvetica Neue"/>
                <a:cs typeface="Helvetica Neue"/>
              </a:defRPr>
            </a:lvl2pPr>
            <a:lvl3pPr>
              <a:defRPr sz="2850" b="1">
                <a:solidFill>
                  <a:srgbClr val="17251F"/>
                </a:solidFill>
                <a:latin typeface="Helvetica Neue"/>
                <a:ea typeface="Helvetica Neue"/>
                <a:cs typeface="Helvetica Neue"/>
              </a:defRPr>
            </a:lvl3pPr>
            <a:lvl4pPr>
              <a:defRPr sz="2850" b="1">
                <a:solidFill>
                  <a:srgbClr val="17251F"/>
                </a:solidFill>
                <a:latin typeface="Helvetica Neue"/>
                <a:ea typeface="Helvetica Neue"/>
                <a:cs typeface="Helvetica Neue"/>
              </a:defRPr>
            </a:lvl4pPr>
            <a:lvl5pPr>
              <a:defRPr sz="2850" b="1">
                <a:solidFill>
                  <a:srgbClr val="17251F"/>
                </a:solidFill>
                <a:latin typeface="Helvetica Neue"/>
                <a:ea typeface="Helvetica Neue"/>
                <a:cs typeface="Helvetica Neue"/>
              </a:defRPr>
            </a:lvl5pPr>
            <a:lvl6pPr>
              <a:defRPr sz="2850" b="1">
                <a:solidFill>
                  <a:srgbClr val="17251F"/>
                </a:solidFill>
                <a:latin typeface="Helvetica Neue"/>
                <a:ea typeface="Helvetica Neue"/>
                <a:cs typeface="Helvetica Neue"/>
              </a:defRPr>
            </a:lvl6pPr>
            <a:lvl7pPr>
              <a:defRPr sz="2850" b="1">
                <a:solidFill>
                  <a:srgbClr val="17251F"/>
                </a:solidFill>
                <a:latin typeface="Helvetica Neue"/>
                <a:ea typeface="Helvetica Neue"/>
                <a:cs typeface="Helvetica Neue"/>
              </a:defRPr>
            </a:lvl7pPr>
            <a:lvl8pPr>
              <a:defRPr sz="2850" b="1">
                <a:solidFill>
                  <a:srgbClr val="17251F"/>
                </a:solidFill>
                <a:latin typeface="Helvetica Neue"/>
                <a:ea typeface="Helvetica Neue"/>
                <a:cs typeface="Helvetica Neue"/>
              </a:defRPr>
            </a:lvl8pPr>
            <a:lvl9pPr>
              <a:defRPr sz="2850" b="1">
                <a:solidFill>
                  <a:srgbClr val="17251F"/>
                </a:solidFill>
                <a:latin typeface="Helvetica Neue"/>
                <a:ea typeface="Helvetica Neue"/>
                <a:cs typeface="Helvetica Neue"/>
              </a:defRPr>
            </a:lvl9pPr>
          </a:lstStyle>
          <a:p xmlns:a="http://schemas.openxmlformats.org/drawingml/2006/main">
            <a:pPr>
              <a:defRPr sz="2850" b="1">
                <a:solidFill>
                  <a:srgbClr val="17251F"/>
                </a:solidFill>
                <a:latin typeface="Helvetica Neue"/>
                <a:ea typeface="Helvetica Neue"/>
                <a:cs typeface="Helvetica Neue"/>
              </a:defRPr>
            </a:pPr>
            <a:r>
              <a:rPr sz="2850" b="1">
                <a:solidFill>
                  <a:srgbClr val="17251F"/>
                </a:solidFill>
                <a:latin typeface="Helvetica Neue"/>
                <a:ea typeface="Helvetica Neue"/>
                <a:cs typeface="Helvetica Neue"/>
              </a:rPr>
              <a:t>One product,</a:t>
            </a:r>
          </a:p>
          <a:p xmlns:a="http://schemas.openxmlformats.org/drawingml/2006/main">
            <a:pPr>
              <a:defRPr sz="2850" b="1">
                <a:solidFill>
                  <a:srgbClr val="17251F"/>
                </a:solidFill>
                <a:latin typeface="Helvetica Neue"/>
                <a:ea typeface="Helvetica Neue"/>
                <a:cs typeface="Helvetica Neue"/>
              </a:defRPr>
            </a:pPr>
            <a:r>
              <a:rPr sz="2850" b="1">
                <a:solidFill>
                  <a:srgbClr val="17251F"/>
                </a:solidFill>
                <a:latin typeface="Helvetica Neue"/>
                <a:ea typeface="Helvetica Neue"/>
                <a:cs typeface="Helvetica Neue"/>
              </a:rPr>
              <a:t>three positions</a:t>
            </a:r>
          </a:p>
        </p:txBody>
      </p:sp>
      <p:sp>
        <p:nvSpPr>
          <p:cNvPr id="4" name="">
            <a:extLst xmlns:a="http://schemas.openxmlformats.org/drawingml/2006/main">
              <a:ext uri="{FF2B5EF4-FFF2-40B4-BE49-F238E27FC236}">
                <a16:creationId xmlns:a16="http://schemas.microsoft.com/office/drawing/2014/main" id="{DA94BB8B-17F9-4560-8943-88861DC728BB}"/>
              </a:ext>
            </a:extLst>
          </p:cNvPr>
          <p:cNvSpPr>
            <a:spLocks xmlns:a="http://schemas.openxmlformats.org/drawingml/2006/main" noGrp="1"/>
          </p:cNvSpPr>
          <p:nvPr/>
        </p:nvSpPr>
        <p:spPr>
          <a:xfrm xmlns:a="http://schemas.openxmlformats.org/drawingml/2006/main">
            <a:off x="628650" y="3419475"/>
            <a:ext cx="26670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250" b="0">
                <a:solidFill>
                  <a:srgbClr val="087E80"/>
                </a:solidFill>
                <a:latin typeface="Helvetica Neue"/>
                <a:ea typeface="Helvetica Neue"/>
                <a:cs typeface="Helvetica Neue"/>
              </a:defRPr>
            </a:defPPr>
            <a:lvl1pPr>
              <a:defRPr sz="2250" b="0">
                <a:solidFill>
                  <a:srgbClr val="087E80"/>
                </a:solidFill>
                <a:latin typeface="Helvetica Neue"/>
                <a:ea typeface="Helvetica Neue"/>
                <a:cs typeface="Helvetica Neue"/>
              </a:defRPr>
            </a:lvl1pPr>
            <a:lvl2pPr>
              <a:defRPr sz="2250" b="0">
                <a:solidFill>
                  <a:srgbClr val="087E80"/>
                </a:solidFill>
                <a:latin typeface="Helvetica Neue"/>
                <a:ea typeface="Helvetica Neue"/>
                <a:cs typeface="Helvetica Neue"/>
              </a:defRPr>
            </a:lvl2pPr>
            <a:lvl3pPr>
              <a:defRPr sz="2250" b="0">
                <a:solidFill>
                  <a:srgbClr val="087E80"/>
                </a:solidFill>
                <a:latin typeface="Helvetica Neue"/>
                <a:ea typeface="Helvetica Neue"/>
                <a:cs typeface="Helvetica Neue"/>
              </a:defRPr>
            </a:lvl3pPr>
            <a:lvl4pPr>
              <a:defRPr sz="2250" b="0">
                <a:solidFill>
                  <a:srgbClr val="087E80"/>
                </a:solidFill>
                <a:latin typeface="Helvetica Neue"/>
                <a:ea typeface="Helvetica Neue"/>
                <a:cs typeface="Helvetica Neue"/>
              </a:defRPr>
            </a:lvl4pPr>
            <a:lvl5pPr>
              <a:defRPr sz="2250" b="0">
                <a:solidFill>
                  <a:srgbClr val="087E80"/>
                </a:solidFill>
                <a:latin typeface="Helvetica Neue"/>
                <a:ea typeface="Helvetica Neue"/>
                <a:cs typeface="Helvetica Neue"/>
              </a:defRPr>
            </a:lvl5pPr>
            <a:lvl6pPr>
              <a:defRPr sz="2250" b="0">
                <a:solidFill>
                  <a:srgbClr val="087E80"/>
                </a:solidFill>
                <a:latin typeface="Helvetica Neue"/>
                <a:ea typeface="Helvetica Neue"/>
                <a:cs typeface="Helvetica Neue"/>
              </a:defRPr>
            </a:lvl6pPr>
            <a:lvl7pPr>
              <a:defRPr sz="2250" b="0">
                <a:solidFill>
                  <a:srgbClr val="087E80"/>
                </a:solidFill>
                <a:latin typeface="Helvetica Neue"/>
                <a:ea typeface="Helvetica Neue"/>
                <a:cs typeface="Helvetica Neue"/>
              </a:defRPr>
            </a:lvl7pPr>
            <a:lvl8pPr>
              <a:defRPr sz="2250" b="0">
                <a:solidFill>
                  <a:srgbClr val="087E80"/>
                </a:solidFill>
                <a:latin typeface="Helvetica Neue"/>
                <a:ea typeface="Helvetica Neue"/>
                <a:cs typeface="Helvetica Neue"/>
              </a:defRPr>
            </a:lvl8pPr>
            <a:lvl9pPr>
              <a:defRPr sz="2250" b="0">
                <a:solidFill>
                  <a:srgbClr val="087E80"/>
                </a:solidFill>
                <a:latin typeface="Helvetica Neue"/>
                <a:ea typeface="Helvetica Neue"/>
                <a:cs typeface="Helvetica Neue"/>
              </a:defRPr>
            </a:lvl9pPr>
          </a:lstStyle>
          <a:p xmlns:a="http://schemas.openxmlformats.org/drawingml/2006/main">
            <a:pPr>
              <a:defRPr sz="2250" b="0">
                <a:solidFill>
                  <a:srgbClr val="087E80"/>
                </a:solidFill>
                <a:latin typeface="Helvetica Neue"/>
                <a:ea typeface="Helvetica Neue"/>
                <a:cs typeface="Helvetica Neue"/>
              </a:defRPr>
            </a:pPr>
            <a:r>
              <a:rPr sz="2250" b="0">
                <a:solidFill>
                  <a:srgbClr val="087E80"/>
                </a:solidFill>
                <a:latin typeface="Helvetica Neue"/>
                <a:ea typeface="Helvetica Neue"/>
                <a:cs typeface="Helvetica Neue"/>
              </a:rPr>
              <a:t>Frozen 5</a:t>
            </a:r>
          </a:p>
          <a:p xmlns:a="http://schemas.openxmlformats.org/drawingml/2006/main">
            <a:pPr>
              <a:defRPr sz="2250" b="0">
                <a:solidFill>
                  <a:srgbClr val="087E80"/>
                </a:solidFill>
                <a:latin typeface="Helvetica Neue"/>
                <a:ea typeface="Helvetica Neue"/>
                <a:cs typeface="Helvetica Neue"/>
              </a:defRPr>
            </a:pPr>
            <a:r>
              <a:rPr sz="2250" b="0">
                <a:solidFill>
                  <a:srgbClr val="087E80"/>
                </a:solidFill>
                <a:latin typeface="Helvetica Neue"/>
                <a:ea typeface="Helvetica Neue"/>
                <a:cs typeface="Helvetica Neue"/>
              </a:rPr>
              <a:t>Semantic 1</a:t>
            </a:r>
          </a:p>
          <a:p xmlns:a="http://schemas.openxmlformats.org/drawingml/2006/main">
            <a:pPr>
              <a:defRPr sz="2250" b="0">
                <a:solidFill>
                  <a:srgbClr val="087E80"/>
                </a:solidFill>
                <a:latin typeface="Helvetica Neue"/>
                <a:ea typeface="Helvetica Neue"/>
                <a:cs typeface="Helvetica Neue"/>
              </a:defRPr>
            </a:pPr>
            <a:r>
              <a:rPr sz="2250" b="0">
                <a:solidFill>
                  <a:srgbClr val="087E80"/>
                </a:solidFill>
                <a:latin typeface="Helvetica Neue"/>
                <a:ea typeface="Helvetica Neue"/>
                <a:cs typeface="Helvetica Neue"/>
              </a:rPr>
              <a:t>Preference 6</a:t>
            </a:r>
          </a:p>
        </p:txBody>
      </p:sp>
      <p:sp>
        <p:nvSpPr>
          <p:cNvPr id="5" name="">
            <a:extLst xmlns:a="http://schemas.openxmlformats.org/drawingml/2006/main">
              <a:ext uri="{FF2B5EF4-FFF2-40B4-BE49-F238E27FC236}">
                <a16:creationId xmlns:a16="http://schemas.microsoft.com/office/drawing/2014/main" id="{D83BC484-19F9-4EA5-AB5C-5B851FF3E547}"/>
              </a:ext>
            </a:extLst>
          </p:cNvPr>
          <p:cNvSpPr>
            <a:spLocks xmlns:a="http://schemas.openxmlformats.org/drawingml/2006/main" noGrp="1"/>
          </p:cNvSpPr>
          <p:nvPr/>
        </p:nvSpPr>
        <p:spPr>
          <a:xfrm xmlns:a="http://schemas.openxmlformats.org/drawingml/2006/main">
            <a:off x="628650" y="5181600"/>
            <a:ext cx="268605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566760"/>
                </a:solidFill>
                <a:latin typeface="Helvetica Neue"/>
                <a:ea typeface="Helvetica Neue"/>
                <a:cs typeface="Helvetica Neue"/>
              </a:defRPr>
            </a:defPPr>
            <a:lvl1pPr>
              <a:defRPr sz="1800" b="0">
                <a:solidFill>
                  <a:srgbClr val="566760"/>
                </a:solidFill>
                <a:latin typeface="Helvetica Neue"/>
                <a:ea typeface="Helvetica Neue"/>
                <a:cs typeface="Helvetica Neue"/>
              </a:defRPr>
            </a:lvl1pPr>
            <a:lvl2pPr>
              <a:defRPr sz="1800" b="0">
                <a:solidFill>
                  <a:srgbClr val="566760"/>
                </a:solidFill>
                <a:latin typeface="Helvetica Neue"/>
                <a:ea typeface="Helvetica Neue"/>
                <a:cs typeface="Helvetica Neue"/>
              </a:defRPr>
            </a:lvl2pPr>
            <a:lvl3pPr>
              <a:defRPr sz="1800" b="0">
                <a:solidFill>
                  <a:srgbClr val="566760"/>
                </a:solidFill>
                <a:latin typeface="Helvetica Neue"/>
                <a:ea typeface="Helvetica Neue"/>
                <a:cs typeface="Helvetica Neue"/>
              </a:defRPr>
            </a:lvl3pPr>
            <a:lvl4pPr>
              <a:defRPr sz="1800" b="0">
                <a:solidFill>
                  <a:srgbClr val="566760"/>
                </a:solidFill>
                <a:latin typeface="Helvetica Neue"/>
                <a:ea typeface="Helvetica Neue"/>
                <a:cs typeface="Helvetica Neue"/>
              </a:defRPr>
            </a:lvl4pPr>
            <a:lvl5pPr>
              <a:defRPr sz="1800" b="0">
                <a:solidFill>
                  <a:srgbClr val="566760"/>
                </a:solidFill>
                <a:latin typeface="Helvetica Neue"/>
                <a:ea typeface="Helvetica Neue"/>
                <a:cs typeface="Helvetica Neue"/>
              </a:defRPr>
            </a:lvl5pPr>
            <a:lvl6pPr>
              <a:defRPr sz="1800" b="0">
                <a:solidFill>
                  <a:srgbClr val="566760"/>
                </a:solidFill>
                <a:latin typeface="Helvetica Neue"/>
                <a:ea typeface="Helvetica Neue"/>
                <a:cs typeface="Helvetica Neue"/>
              </a:defRPr>
            </a:lvl6pPr>
            <a:lvl7pPr>
              <a:defRPr sz="1800" b="0">
                <a:solidFill>
                  <a:srgbClr val="566760"/>
                </a:solidFill>
                <a:latin typeface="Helvetica Neue"/>
                <a:ea typeface="Helvetica Neue"/>
                <a:cs typeface="Helvetica Neue"/>
              </a:defRPr>
            </a:lvl7pPr>
            <a:lvl8pPr>
              <a:defRPr sz="1800" b="0">
                <a:solidFill>
                  <a:srgbClr val="566760"/>
                </a:solidFill>
                <a:latin typeface="Helvetica Neue"/>
                <a:ea typeface="Helvetica Neue"/>
                <a:cs typeface="Helvetica Neue"/>
              </a:defRPr>
            </a:lvl8pPr>
            <a:lvl9pPr>
              <a:defRPr sz="1800" b="0">
                <a:solidFill>
                  <a:srgbClr val="566760"/>
                </a:solidFill>
                <a:latin typeface="Helvetica Neue"/>
                <a:ea typeface="Helvetica Neue"/>
                <a:cs typeface="Helvetica Neue"/>
              </a:defRPr>
            </a:lvl9pPr>
          </a:lstStyle>
          <a:p xmlns:a="http://schemas.openxmlformats.org/drawingml/2006/main">
            <a:pPr>
              <a:defRPr sz="1800" b="0">
                <a:solidFill>
                  <a:srgbClr val="566760"/>
                </a:solidFill>
                <a:latin typeface="Helvetica Neue"/>
                <a:ea typeface="Helvetica Neue"/>
                <a:cs typeface="Helvetica Neue"/>
              </a:defRPr>
            </a:pPr>
            <a:r>
              <a:rPr sz="1800" b="0">
                <a:solidFill>
                  <a:srgbClr val="566760"/>
                </a:solidFill>
                <a:latin typeface="Helvetica Neue"/>
                <a:ea typeface="Helvetica Neue"/>
                <a:cs typeface="Helvetica Neue"/>
              </a:rPr>
              <a:t>A visible difference</a:t>
            </a:r>
          </a:p>
          <a:p xmlns:a="http://schemas.openxmlformats.org/drawingml/2006/main">
            <a:pPr>
              <a:defRPr sz="1800" b="0">
                <a:solidFill>
                  <a:srgbClr val="566760"/>
                </a:solidFill>
                <a:latin typeface="Helvetica Neue"/>
                <a:ea typeface="Helvetica Neue"/>
                <a:cs typeface="Helvetica Neue"/>
              </a:defRPr>
            </a:pPr>
            <a:r>
              <a:rPr sz="1800" b="0">
                <a:solidFill>
                  <a:srgbClr val="566760"/>
                </a:solidFill>
                <a:latin typeface="Helvetica Neue"/>
                <a:ea typeface="Helvetica Neue"/>
                <a:cs typeface="Helvetica Neue"/>
              </a:rPr>
              <a:t>needs a labeled test</a:t>
            </a:r>
          </a:p>
          <a:p xmlns:a="http://schemas.openxmlformats.org/drawingml/2006/main">
            <a:pPr>
              <a:defRPr sz="1800" b="0">
                <a:solidFill>
                  <a:srgbClr val="566760"/>
                </a:solidFill>
                <a:latin typeface="Helvetica Neue"/>
                <a:ea typeface="Helvetica Neue"/>
                <a:cs typeface="Helvetica Neue"/>
              </a:defRPr>
            </a:pPr>
            <a:r>
              <a:rPr sz="1800" b="0">
                <a:solidFill>
                  <a:srgbClr val="566760"/>
                </a:solidFill>
                <a:latin typeface="Helvetica Neue"/>
                <a:ea typeface="Helvetica Neue"/>
                <a:cs typeface="Helvetica Neue"/>
              </a:rPr>
              <a:t>to establish quality.</a:t>
            </a:r>
          </a:p>
        </p:txBody>
      </p:sp>
      <p:pic>
        <p:nvPicPr>
          <p:cNvPr id="6" name="">
            <a:extLst xmlns:a="http://schemas.openxmlformats.org/drawingml/2006/main">
              <a:ext uri="{FF2B5EF4-FFF2-40B4-BE49-F238E27FC236}">
                <a16:creationId xmlns:a16="http://schemas.microsoft.com/office/drawing/2014/main" id="{888BAD8F-CA70-4A65-9C3E-5F4DEE87597B}"/>
              </a:ext>
            </a:extLst>
          </p:cNvPr>
          <p:cNvPicPr>
            <a:picLocks xmlns:a="http://schemas.openxmlformats.org/drawingml/2006/main" noChangeAspect="1"/>
          </p:cNvPicPr>
          <p:nvPr/>
        </p:nvPicPr>
        <p:blipFill>
          <a:blip xmlns:r="http://schemas.openxmlformats.org/officeDocument/2006/relationships" xmlns:a="http://schemas.openxmlformats.org/drawingml/2006/main" r:embed="R0eb3c3065c544560"/>
          <a:srcRect xmlns:a="http://schemas.openxmlformats.org/drawingml/2006/main" l="6250" t="43611" r="30625" b="833"/>
          <a:stretch xmlns:a="http://schemas.openxmlformats.org/drawingml/2006/main"/>
        </p:blipFill>
        <p:spPr>
          <a:xfrm xmlns:a="http://schemas.openxmlformats.org/drawingml/2006/main">
            <a:off x="3629025" y="1714500"/>
            <a:ext cx="7953375" cy="3937314"/>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3206C3DC-722E-48B4-8E89-A2B7C88717D8}"/>
              </a:ext>
            </a:extLst>
          </p:cNvPr>
          <p:cNvSpPr>
            <a:spLocks xmlns:a="http://schemas.openxmlformats.org/drawingml/2006/main" noGrp="1"/>
          </p:cNvSpPr>
          <p:nvPr/>
        </p:nvSpPr>
        <p:spPr>
          <a:xfrm xmlns:a="http://schemas.openxmlformats.org/drawingml/2006/main">
            <a:off x="628650" y="6162675"/>
            <a:ext cx="10572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566760"/>
                </a:solidFill>
                <a:latin typeface="Helvetica Neue"/>
                <a:ea typeface="Helvetica Neue"/>
                <a:cs typeface="Helvetica Neue"/>
              </a:defRPr>
            </a:defPPr>
            <a:lvl1pPr>
              <a:defRPr sz="1500" b="0">
                <a:solidFill>
                  <a:srgbClr val="566760"/>
                </a:solidFill>
                <a:latin typeface="Helvetica Neue"/>
                <a:ea typeface="Helvetica Neue"/>
                <a:cs typeface="Helvetica Neue"/>
              </a:defRPr>
            </a:lvl1pPr>
            <a:lvl2pPr>
              <a:defRPr sz="1500" b="0">
                <a:solidFill>
                  <a:srgbClr val="566760"/>
                </a:solidFill>
                <a:latin typeface="Helvetica Neue"/>
                <a:ea typeface="Helvetica Neue"/>
                <a:cs typeface="Helvetica Neue"/>
              </a:defRPr>
            </a:lvl2pPr>
            <a:lvl3pPr>
              <a:defRPr sz="1500" b="0">
                <a:solidFill>
                  <a:srgbClr val="566760"/>
                </a:solidFill>
                <a:latin typeface="Helvetica Neue"/>
                <a:ea typeface="Helvetica Neue"/>
                <a:cs typeface="Helvetica Neue"/>
              </a:defRPr>
            </a:lvl3pPr>
            <a:lvl4pPr>
              <a:defRPr sz="1500" b="0">
                <a:solidFill>
                  <a:srgbClr val="566760"/>
                </a:solidFill>
                <a:latin typeface="Helvetica Neue"/>
                <a:ea typeface="Helvetica Neue"/>
                <a:cs typeface="Helvetica Neue"/>
              </a:defRPr>
            </a:lvl4pPr>
            <a:lvl5pPr>
              <a:defRPr sz="1500" b="0">
                <a:solidFill>
                  <a:srgbClr val="566760"/>
                </a:solidFill>
                <a:latin typeface="Helvetica Neue"/>
                <a:ea typeface="Helvetica Neue"/>
                <a:cs typeface="Helvetica Neue"/>
              </a:defRPr>
            </a:lvl5pPr>
            <a:lvl6pPr>
              <a:defRPr sz="1500" b="0">
                <a:solidFill>
                  <a:srgbClr val="566760"/>
                </a:solidFill>
                <a:latin typeface="Helvetica Neue"/>
                <a:ea typeface="Helvetica Neue"/>
                <a:cs typeface="Helvetica Neue"/>
              </a:defRPr>
            </a:lvl6pPr>
            <a:lvl7pPr>
              <a:defRPr sz="1500" b="0">
                <a:solidFill>
                  <a:srgbClr val="566760"/>
                </a:solidFill>
                <a:latin typeface="Helvetica Neue"/>
                <a:ea typeface="Helvetica Neue"/>
                <a:cs typeface="Helvetica Neue"/>
              </a:defRPr>
            </a:lvl7pPr>
            <a:lvl8pPr>
              <a:defRPr sz="1500" b="0">
                <a:solidFill>
                  <a:srgbClr val="566760"/>
                </a:solidFill>
                <a:latin typeface="Helvetica Neue"/>
                <a:ea typeface="Helvetica Neue"/>
                <a:cs typeface="Helvetica Neue"/>
              </a:defRPr>
            </a:lvl8pPr>
            <a:lvl9pPr>
              <a:defRPr sz="1500" b="0">
                <a:solidFill>
                  <a:srgbClr val="566760"/>
                </a:solidFill>
                <a:latin typeface="Helvetica Neue"/>
                <a:ea typeface="Helvetica Neue"/>
                <a:cs typeface="Helvetica Neue"/>
              </a:defRPr>
            </a:lvl9pPr>
          </a:lstStyle>
          <a:p xmlns:a="http://schemas.openxmlformats.org/drawingml/2006/main">
            <a:pPr>
              <a:defRPr sz="1500" b="0">
                <a:solidFill>
                  <a:srgbClr val="566760"/>
                </a:solidFill>
                <a:latin typeface="Helvetica Neue"/>
                <a:ea typeface="Helvetica Neue"/>
                <a:cs typeface="Helvetica Neue"/>
              </a:defRPr>
            </a:pPr>
            <a:r>
              <a:rPr sz="1500" b="0">
                <a:solidFill>
                  <a:srgbClr val="566760"/>
                </a:solidFill>
                <a:latin typeface="Helvetica Neue"/>
                <a:ea typeface="Helvetica Neue"/>
                <a:cs typeface="Helvetica Neue"/>
              </a:rPr>
              <a:t>Actual stroller example, same request and product. Rank changes alone do not establish improvement.</a:t>
            </a:r>
          </a:p>
        </p:txBody>
      </p:sp>
    </p:spTree>
    <p:extLst>
      <p:ext uri="{BB962C8B-B14F-4D97-AF65-F5344CB8AC3E}">
        <p14:creationId xmlns:p14="http://schemas.microsoft.com/office/powerpoint/2010/main" val="169275566"/>
      </p:ext>
    </p:extLst>
  </p:cSld>
</p:sld>
</file>

<file path=ppt/slides/slide4.xml><?xml version="1.0" encoding="utf-8"?>
<p:sld xmlns:p="http://schemas.openxmlformats.org/presentationml/2006/main">
  <p:cSld>
    <p:bg>
      <p:bgPr>
        <a:solidFill xmlns:a="http://schemas.openxmlformats.org/drawingml/2006/main">
          <a:srgbClr val="FAF8F3"/>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BDF9B484-739D-4F81-A6EC-99743828FCEB}"/>
              </a:ext>
            </a:extLst>
          </p:cNvPr>
          <p:cNvSpPr>
            <a:spLocks xmlns:a="http://schemas.openxmlformats.org/drawingml/2006/main" noGrp="1"/>
          </p:cNvSpPr>
          <p:nvPr/>
        </p:nvSpPr>
        <p:spPr>
          <a:xfrm xmlns:a="http://schemas.openxmlformats.org/drawingml/2006/main">
            <a:off x="609600" y="3810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150" b="1">
                <a:solidFill>
                  <a:srgbClr val="17251F"/>
                </a:solidFill>
                <a:latin typeface="Helvetica Neue"/>
                <a:ea typeface="Helvetica Neue"/>
                <a:cs typeface="Helvetica Neue"/>
              </a:defRPr>
            </a:defPPr>
            <a:lvl1pPr>
              <a:defRPr sz="3150" b="1">
                <a:solidFill>
                  <a:srgbClr val="17251F"/>
                </a:solidFill>
                <a:latin typeface="Helvetica Neue"/>
                <a:ea typeface="Helvetica Neue"/>
                <a:cs typeface="Helvetica Neue"/>
              </a:defRPr>
            </a:lvl1pPr>
            <a:lvl2pPr>
              <a:defRPr sz="3150" b="1">
                <a:solidFill>
                  <a:srgbClr val="17251F"/>
                </a:solidFill>
                <a:latin typeface="Helvetica Neue"/>
                <a:ea typeface="Helvetica Neue"/>
                <a:cs typeface="Helvetica Neue"/>
              </a:defRPr>
            </a:lvl2pPr>
            <a:lvl3pPr>
              <a:defRPr sz="3150" b="1">
                <a:solidFill>
                  <a:srgbClr val="17251F"/>
                </a:solidFill>
                <a:latin typeface="Helvetica Neue"/>
                <a:ea typeface="Helvetica Neue"/>
                <a:cs typeface="Helvetica Neue"/>
              </a:defRPr>
            </a:lvl3pPr>
            <a:lvl4pPr>
              <a:defRPr sz="3150" b="1">
                <a:solidFill>
                  <a:srgbClr val="17251F"/>
                </a:solidFill>
                <a:latin typeface="Helvetica Neue"/>
                <a:ea typeface="Helvetica Neue"/>
                <a:cs typeface="Helvetica Neue"/>
              </a:defRPr>
            </a:lvl4pPr>
            <a:lvl5pPr>
              <a:defRPr sz="3150" b="1">
                <a:solidFill>
                  <a:srgbClr val="17251F"/>
                </a:solidFill>
                <a:latin typeface="Helvetica Neue"/>
                <a:ea typeface="Helvetica Neue"/>
                <a:cs typeface="Helvetica Neue"/>
              </a:defRPr>
            </a:lvl5pPr>
            <a:lvl6pPr>
              <a:defRPr sz="3150" b="1">
                <a:solidFill>
                  <a:srgbClr val="17251F"/>
                </a:solidFill>
                <a:latin typeface="Helvetica Neue"/>
                <a:ea typeface="Helvetica Neue"/>
                <a:cs typeface="Helvetica Neue"/>
              </a:defRPr>
            </a:lvl6pPr>
            <a:lvl7pPr>
              <a:defRPr sz="3150" b="1">
                <a:solidFill>
                  <a:srgbClr val="17251F"/>
                </a:solidFill>
                <a:latin typeface="Helvetica Neue"/>
                <a:ea typeface="Helvetica Neue"/>
                <a:cs typeface="Helvetica Neue"/>
              </a:defRPr>
            </a:lvl7pPr>
            <a:lvl8pPr>
              <a:defRPr sz="3150" b="1">
                <a:solidFill>
                  <a:srgbClr val="17251F"/>
                </a:solidFill>
                <a:latin typeface="Helvetica Neue"/>
                <a:ea typeface="Helvetica Neue"/>
                <a:cs typeface="Helvetica Neue"/>
              </a:defRPr>
            </a:lvl8pPr>
            <a:lvl9pPr>
              <a:defRPr sz="3150" b="1">
                <a:solidFill>
                  <a:srgbClr val="17251F"/>
                </a:solidFill>
                <a:latin typeface="Helvetica Neue"/>
                <a:ea typeface="Helvetica Neue"/>
                <a:cs typeface="Helvetica Neue"/>
              </a:defRPr>
            </a:lvl9pPr>
          </a:lstStyle>
          <a:p xmlns:a="http://schemas.openxmlformats.org/drawingml/2006/main">
            <a:pPr>
              <a:defRPr sz="3150" b="1">
                <a:solidFill>
                  <a:srgbClr val="17251F"/>
                </a:solidFill>
                <a:latin typeface="Helvetica Neue"/>
                <a:ea typeface="Helvetica Neue"/>
                <a:cs typeface="Helvetica Neue"/>
              </a:defRPr>
            </a:pPr>
            <a:r>
              <a:rPr sz="3150" b="1">
                <a:solidFill>
                  <a:srgbClr val="17251F"/>
                </a:solidFill>
                <a:latin typeface="Helvetica Neue"/>
                <a:ea typeface="Helvetica Neue"/>
                <a:cs typeface="Helvetica Neue"/>
              </a:rPr>
              <a:t>A photo and feedback refine the request</a:t>
            </a:r>
          </a:p>
        </p:txBody>
      </p:sp>
      <p:sp>
        <p:nvSpPr>
          <p:cNvPr id="2" name="">
            <a:extLst xmlns:a="http://schemas.openxmlformats.org/drawingml/2006/main">
              <a:ext uri="{FF2B5EF4-FFF2-40B4-BE49-F238E27FC236}">
                <a16:creationId xmlns:a16="http://schemas.microsoft.com/office/drawing/2014/main" id="{05B0A7CB-8830-4EEC-A74F-5666D52FA8DA}"/>
              </a:ext>
            </a:extLst>
          </p:cNvPr>
          <p:cNvSpPr>
            <a:spLocks xmlns:a="http://schemas.openxmlformats.org/drawingml/2006/main" noGrp="1"/>
          </p:cNvSpPr>
          <p:nvPr/>
        </p:nvSpPr>
        <p:spPr>
          <a:xfrm xmlns:a="http://schemas.openxmlformats.org/drawingml/2006/main">
            <a:off x="11106150" y="6457950"/>
            <a:ext cx="47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00" b="0">
                <a:solidFill>
                  <a:srgbClr val="566760"/>
                </a:solidFill>
                <a:latin typeface="Helvetica Neue"/>
                <a:ea typeface="Helvetica Neue"/>
                <a:cs typeface="Helvetica Neue"/>
              </a:defRPr>
            </a:defPPr>
            <a:lvl1pPr algn="r">
              <a:defRPr sz="1200" b="0">
                <a:solidFill>
                  <a:srgbClr val="566760"/>
                </a:solidFill>
                <a:latin typeface="Helvetica Neue"/>
                <a:ea typeface="Helvetica Neue"/>
                <a:cs typeface="Helvetica Neue"/>
              </a:defRPr>
            </a:lvl1pPr>
            <a:lvl2pPr algn="r">
              <a:defRPr sz="1200" b="0">
                <a:solidFill>
                  <a:srgbClr val="566760"/>
                </a:solidFill>
                <a:latin typeface="Helvetica Neue"/>
                <a:ea typeface="Helvetica Neue"/>
                <a:cs typeface="Helvetica Neue"/>
              </a:defRPr>
            </a:lvl2pPr>
            <a:lvl3pPr algn="r">
              <a:defRPr sz="1200" b="0">
                <a:solidFill>
                  <a:srgbClr val="566760"/>
                </a:solidFill>
                <a:latin typeface="Helvetica Neue"/>
                <a:ea typeface="Helvetica Neue"/>
                <a:cs typeface="Helvetica Neue"/>
              </a:defRPr>
            </a:lvl3pPr>
            <a:lvl4pPr algn="r">
              <a:defRPr sz="1200" b="0">
                <a:solidFill>
                  <a:srgbClr val="566760"/>
                </a:solidFill>
                <a:latin typeface="Helvetica Neue"/>
                <a:ea typeface="Helvetica Neue"/>
                <a:cs typeface="Helvetica Neue"/>
              </a:defRPr>
            </a:lvl4pPr>
            <a:lvl5pPr algn="r">
              <a:defRPr sz="1200" b="0">
                <a:solidFill>
                  <a:srgbClr val="566760"/>
                </a:solidFill>
                <a:latin typeface="Helvetica Neue"/>
                <a:ea typeface="Helvetica Neue"/>
                <a:cs typeface="Helvetica Neue"/>
              </a:defRPr>
            </a:lvl5pPr>
            <a:lvl6pPr algn="r">
              <a:defRPr sz="1200" b="0">
                <a:solidFill>
                  <a:srgbClr val="566760"/>
                </a:solidFill>
                <a:latin typeface="Helvetica Neue"/>
                <a:ea typeface="Helvetica Neue"/>
                <a:cs typeface="Helvetica Neue"/>
              </a:defRPr>
            </a:lvl6pPr>
            <a:lvl7pPr algn="r">
              <a:defRPr sz="1200" b="0">
                <a:solidFill>
                  <a:srgbClr val="566760"/>
                </a:solidFill>
                <a:latin typeface="Helvetica Neue"/>
                <a:ea typeface="Helvetica Neue"/>
                <a:cs typeface="Helvetica Neue"/>
              </a:defRPr>
            </a:lvl7pPr>
            <a:lvl8pPr algn="r">
              <a:defRPr sz="1200" b="0">
                <a:solidFill>
                  <a:srgbClr val="566760"/>
                </a:solidFill>
                <a:latin typeface="Helvetica Neue"/>
                <a:ea typeface="Helvetica Neue"/>
                <a:cs typeface="Helvetica Neue"/>
              </a:defRPr>
            </a:lvl8pPr>
            <a:lvl9pPr algn="r">
              <a:defRPr sz="1200" b="0">
                <a:solidFill>
                  <a:srgbClr val="566760"/>
                </a:solidFill>
                <a:latin typeface="Helvetica Neue"/>
                <a:ea typeface="Helvetica Neue"/>
                <a:cs typeface="Helvetica Neue"/>
              </a:defRPr>
            </a:lvl9pPr>
          </a:lstStyle>
          <a:p xmlns:a="http://schemas.openxmlformats.org/drawingml/2006/main">
            <a:pPr algn="r">
              <a:defRPr sz="1200" b="0">
                <a:solidFill>
                  <a:srgbClr val="566760"/>
                </a:solidFill>
                <a:latin typeface="Helvetica Neue"/>
                <a:ea typeface="Helvetica Neue"/>
                <a:cs typeface="Helvetica Neue"/>
              </a:defRPr>
            </a:pPr>
            <a:r>
              <a:rPr sz="1200" b="0">
                <a:solidFill>
                  <a:srgbClr val="566760"/>
                </a:solidFill>
                <a:latin typeface="Helvetica Neue"/>
                <a:ea typeface="Helvetica Neue"/>
                <a:cs typeface="Helvetica Neue"/>
              </a:rPr>
              <a:t>04</a:t>
            </a:r>
          </a:p>
        </p:txBody>
      </p:sp>
      <p:sp>
        <p:nvSpPr>
          <p:cNvPr id="3" name="">
            <a:extLst xmlns:a="http://schemas.openxmlformats.org/drawingml/2006/main">
              <a:ext uri="{FF2B5EF4-FFF2-40B4-BE49-F238E27FC236}">
                <a16:creationId xmlns:a16="http://schemas.microsoft.com/office/drawing/2014/main" id="{FFF1F4E7-B1F9-446D-B00C-3577F66CA256}"/>
              </a:ext>
            </a:extLst>
          </p:cNvPr>
          <p:cNvSpPr>
            <a:spLocks xmlns:a="http://schemas.openxmlformats.org/drawingml/2006/main" noGrp="1"/>
          </p:cNvSpPr>
          <p:nvPr/>
        </p:nvSpPr>
        <p:spPr>
          <a:xfrm xmlns:a="http://schemas.openxmlformats.org/drawingml/2006/main">
            <a:off x="628650" y="1209675"/>
            <a:ext cx="51720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950" b="1">
                <a:solidFill>
                  <a:srgbClr val="087E80"/>
                </a:solidFill>
                <a:latin typeface="Helvetica Neue"/>
                <a:ea typeface="Helvetica Neue"/>
                <a:cs typeface="Helvetica Neue"/>
              </a:defRPr>
            </a:defPPr>
            <a:lvl1pPr>
              <a:defRPr sz="1950" b="1">
                <a:solidFill>
                  <a:srgbClr val="087E80"/>
                </a:solidFill>
                <a:latin typeface="Helvetica Neue"/>
                <a:ea typeface="Helvetica Neue"/>
                <a:cs typeface="Helvetica Neue"/>
              </a:defRPr>
            </a:lvl1pPr>
            <a:lvl2pPr>
              <a:defRPr sz="1950" b="1">
                <a:solidFill>
                  <a:srgbClr val="087E80"/>
                </a:solidFill>
                <a:latin typeface="Helvetica Neue"/>
                <a:ea typeface="Helvetica Neue"/>
                <a:cs typeface="Helvetica Neue"/>
              </a:defRPr>
            </a:lvl2pPr>
            <a:lvl3pPr>
              <a:defRPr sz="1950" b="1">
                <a:solidFill>
                  <a:srgbClr val="087E80"/>
                </a:solidFill>
                <a:latin typeface="Helvetica Neue"/>
                <a:ea typeface="Helvetica Neue"/>
                <a:cs typeface="Helvetica Neue"/>
              </a:defRPr>
            </a:lvl3pPr>
            <a:lvl4pPr>
              <a:defRPr sz="1950" b="1">
                <a:solidFill>
                  <a:srgbClr val="087E80"/>
                </a:solidFill>
                <a:latin typeface="Helvetica Neue"/>
                <a:ea typeface="Helvetica Neue"/>
                <a:cs typeface="Helvetica Neue"/>
              </a:defRPr>
            </a:lvl4pPr>
            <a:lvl5pPr>
              <a:defRPr sz="1950" b="1">
                <a:solidFill>
                  <a:srgbClr val="087E80"/>
                </a:solidFill>
                <a:latin typeface="Helvetica Neue"/>
                <a:ea typeface="Helvetica Neue"/>
                <a:cs typeface="Helvetica Neue"/>
              </a:defRPr>
            </a:lvl5pPr>
            <a:lvl6pPr>
              <a:defRPr sz="1950" b="1">
                <a:solidFill>
                  <a:srgbClr val="087E80"/>
                </a:solidFill>
                <a:latin typeface="Helvetica Neue"/>
                <a:ea typeface="Helvetica Neue"/>
                <a:cs typeface="Helvetica Neue"/>
              </a:defRPr>
            </a:lvl6pPr>
            <a:lvl7pPr>
              <a:defRPr sz="1950" b="1">
                <a:solidFill>
                  <a:srgbClr val="087E80"/>
                </a:solidFill>
                <a:latin typeface="Helvetica Neue"/>
                <a:ea typeface="Helvetica Neue"/>
                <a:cs typeface="Helvetica Neue"/>
              </a:defRPr>
            </a:lvl7pPr>
            <a:lvl8pPr>
              <a:defRPr sz="1950" b="1">
                <a:solidFill>
                  <a:srgbClr val="087E80"/>
                </a:solidFill>
                <a:latin typeface="Helvetica Neue"/>
                <a:ea typeface="Helvetica Neue"/>
                <a:cs typeface="Helvetica Neue"/>
              </a:defRPr>
            </a:lvl8pPr>
            <a:lvl9pPr>
              <a:defRPr sz="1950" b="1">
                <a:solidFill>
                  <a:srgbClr val="087E80"/>
                </a:solidFill>
                <a:latin typeface="Helvetica Neue"/>
                <a:ea typeface="Helvetica Neue"/>
                <a:cs typeface="Helvetica Neue"/>
              </a:defRPr>
            </a:lvl9pPr>
          </a:lstStyle>
          <a:p xmlns:a="http://schemas.openxmlformats.org/drawingml/2006/main">
            <a:pPr>
              <a:defRPr sz="1950" b="1">
                <a:solidFill>
                  <a:srgbClr val="087E80"/>
                </a:solidFill>
                <a:latin typeface="Helvetica Neue"/>
                <a:ea typeface="Helvetica Neue"/>
                <a:cs typeface="Helvetica Neue"/>
              </a:defRPr>
            </a:pPr>
            <a:r>
              <a:rPr sz="1950" b="1">
                <a:solidFill>
                  <a:srgbClr val="087E80"/>
                </a:solidFill>
                <a:latin typeface="Helvetica Neue"/>
                <a:ea typeface="Helvetica Neue"/>
                <a:cs typeface="Helvetica Neue"/>
              </a:rPr>
              <a:t>Reference photo and filters</a:t>
            </a:r>
          </a:p>
        </p:txBody>
      </p:sp>
      <p:sp>
        <p:nvSpPr>
          <p:cNvPr id="4" name="">
            <a:extLst xmlns:a="http://schemas.openxmlformats.org/drawingml/2006/main">
              <a:ext uri="{FF2B5EF4-FFF2-40B4-BE49-F238E27FC236}">
                <a16:creationId xmlns:a16="http://schemas.microsoft.com/office/drawing/2014/main" id="{BCF5DB08-A95E-4D1F-9E1D-C213D8E1D28F}"/>
              </a:ext>
            </a:extLst>
          </p:cNvPr>
          <p:cNvSpPr>
            <a:spLocks xmlns:a="http://schemas.openxmlformats.org/drawingml/2006/main" noGrp="1"/>
          </p:cNvSpPr>
          <p:nvPr/>
        </p:nvSpPr>
        <p:spPr>
          <a:xfrm xmlns:a="http://schemas.openxmlformats.org/drawingml/2006/main">
            <a:off x="6324600" y="1209675"/>
            <a:ext cx="5238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950" b="1">
                <a:solidFill>
                  <a:srgbClr val="087E80"/>
                </a:solidFill>
                <a:latin typeface="Helvetica Neue"/>
                <a:ea typeface="Helvetica Neue"/>
                <a:cs typeface="Helvetica Neue"/>
              </a:defRPr>
            </a:defPPr>
            <a:lvl1pPr>
              <a:defRPr sz="1950" b="1">
                <a:solidFill>
                  <a:srgbClr val="087E80"/>
                </a:solidFill>
                <a:latin typeface="Helvetica Neue"/>
                <a:ea typeface="Helvetica Neue"/>
                <a:cs typeface="Helvetica Neue"/>
              </a:defRPr>
            </a:lvl1pPr>
            <a:lvl2pPr>
              <a:defRPr sz="1950" b="1">
                <a:solidFill>
                  <a:srgbClr val="087E80"/>
                </a:solidFill>
                <a:latin typeface="Helvetica Neue"/>
                <a:ea typeface="Helvetica Neue"/>
                <a:cs typeface="Helvetica Neue"/>
              </a:defRPr>
            </a:lvl2pPr>
            <a:lvl3pPr>
              <a:defRPr sz="1950" b="1">
                <a:solidFill>
                  <a:srgbClr val="087E80"/>
                </a:solidFill>
                <a:latin typeface="Helvetica Neue"/>
                <a:ea typeface="Helvetica Neue"/>
                <a:cs typeface="Helvetica Neue"/>
              </a:defRPr>
            </a:lvl3pPr>
            <a:lvl4pPr>
              <a:defRPr sz="1950" b="1">
                <a:solidFill>
                  <a:srgbClr val="087E80"/>
                </a:solidFill>
                <a:latin typeface="Helvetica Neue"/>
                <a:ea typeface="Helvetica Neue"/>
                <a:cs typeface="Helvetica Neue"/>
              </a:defRPr>
            </a:lvl4pPr>
            <a:lvl5pPr>
              <a:defRPr sz="1950" b="1">
                <a:solidFill>
                  <a:srgbClr val="087E80"/>
                </a:solidFill>
                <a:latin typeface="Helvetica Neue"/>
                <a:ea typeface="Helvetica Neue"/>
                <a:cs typeface="Helvetica Neue"/>
              </a:defRPr>
            </a:lvl5pPr>
            <a:lvl6pPr>
              <a:defRPr sz="1950" b="1">
                <a:solidFill>
                  <a:srgbClr val="087E80"/>
                </a:solidFill>
                <a:latin typeface="Helvetica Neue"/>
                <a:ea typeface="Helvetica Neue"/>
                <a:cs typeface="Helvetica Neue"/>
              </a:defRPr>
            </a:lvl6pPr>
            <a:lvl7pPr>
              <a:defRPr sz="1950" b="1">
                <a:solidFill>
                  <a:srgbClr val="087E80"/>
                </a:solidFill>
                <a:latin typeface="Helvetica Neue"/>
                <a:ea typeface="Helvetica Neue"/>
                <a:cs typeface="Helvetica Neue"/>
              </a:defRPr>
            </a:lvl7pPr>
            <a:lvl8pPr>
              <a:defRPr sz="1950" b="1">
                <a:solidFill>
                  <a:srgbClr val="087E80"/>
                </a:solidFill>
                <a:latin typeface="Helvetica Neue"/>
                <a:ea typeface="Helvetica Neue"/>
                <a:cs typeface="Helvetica Neue"/>
              </a:defRPr>
            </a:lvl8pPr>
            <a:lvl9pPr>
              <a:defRPr sz="1950" b="1">
                <a:solidFill>
                  <a:srgbClr val="087E80"/>
                </a:solidFill>
                <a:latin typeface="Helvetica Neue"/>
                <a:ea typeface="Helvetica Neue"/>
                <a:cs typeface="Helvetica Neue"/>
              </a:defRPr>
            </a:lvl9pPr>
          </a:lstStyle>
          <a:p xmlns:a="http://schemas.openxmlformats.org/drawingml/2006/main">
            <a:pPr>
              <a:defRPr sz="1950" b="1">
                <a:solidFill>
                  <a:srgbClr val="087E80"/>
                </a:solidFill>
                <a:latin typeface="Helvetica Neue"/>
                <a:ea typeface="Helvetica Neue"/>
                <a:cs typeface="Helvetica Neue"/>
              </a:defRPr>
            </a:pPr>
            <a:r>
              <a:rPr sz="1950" b="1">
                <a:solidFill>
                  <a:srgbClr val="087E80"/>
                </a:solidFill>
                <a:latin typeface="Helvetica Neue"/>
                <a:ea typeface="Helvetica Neue"/>
                <a:cs typeface="Helvetica Neue"/>
              </a:rPr>
              <a:t>Session feedback</a:t>
            </a:r>
          </a:p>
        </p:txBody>
      </p:sp>
      <p:pic>
        <p:nvPicPr>
          <p:cNvPr id="5" name="">
            <a:extLst xmlns:a="http://schemas.openxmlformats.org/drawingml/2006/main">
              <a:ext uri="{FF2B5EF4-FFF2-40B4-BE49-F238E27FC236}">
                <a16:creationId xmlns:a16="http://schemas.microsoft.com/office/drawing/2014/main" id="{0EDE60BD-D6C7-405E-BC5C-AF3ACB89D580}"/>
              </a:ext>
            </a:extLst>
          </p:cNvPr>
          <p:cNvPicPr>
            <a:picLocks xmlns:a="http://schemas.openxmlformats.org/drawingml/2006/main" noChangeAspect="1"/>
          </p:cNvPicPr>
          <p:nvPr/>
        </p:nvPicPr>
        <p:blipFill>
          <a:blip xmlns:r="http://schemas.openxmlformats.org/officeDocument/2006/relationships" xmlns:a="http://schemas.openxmlformats.org/drawingml/2006/main" r:embed="R8406e0f48a684e26"/>
          <a:srcRect xmlns:a="http://schemas.openxmlformats.org/drawingml/2006/main" l="1800" t="10000" r="1800" b="1500"/>
          <a:stretch xmlns:a="http://schemas.openxmlformats.org/drawingml/2006/main"/>
        </p:blipFill>
        <p:spPr>
          <a:xfrm xmlns:a="http://schemas.openxmlformats.org/drawingml/2006/main">
            <a:off x="823933" y="1724025"/>
            <a:ext cx="4829135" cy="4162425"/>
          </a:xfrm>
          <a:prstGeom xmlns:a="http://schemas.openxmlformats.org/drawingml/2006/main" prst="rect">
            <a:avLst/>
          </a:prstGeom>
        </p:spPr>
      </p:pic>
      <p:pic>
        <p:nvPicPr>
          <p:cNvPr id="6" name="">
            <a:extLst xmlns:a="http://schemas.openxmlformats.org/drawingml/2006/main">
              <a:ext uri="{FF2B5EF4-FFF2-40B4-BE49-F238E27FC236}">
                <a16:creationId xmlns:a16="http://schemas.microsoft.com/office/drawing/2014/main" id="{85FED1A5-67B3-4193-956B-8F421EFC0662}"/>
              </a:ext>
            </a:extLst>
          </p:cNvPr>
          <p:cNvPicPr>
            <a:picLocks xmlns:a="http://schemas.openxmlformats.org/drawingml/2006/main" noChangeAspect="1"/>
          </p:cNvPicPr>
          <p:nvPr/>
        </p:nvPicPr>
        <p:blipFill>
          <a:blip xmlns:r="http://schemas.openxmlformats.org/officeDocument/2006/relationships" xmlns:a="http://schemas.openxmlformats.org/drawingml/2006/main" r:embed="R3caa0a187caf4238"/>
          <a:srcRect xmlns:a="http://schemas.openxmlformats.org/drawingml/2006/main" l="1800" t="35300" r="1800" b="1500"/>
          <a:stretch xmlns:a="http://schemas.openxmlformats.org/drawingml/2006/main"/>
        </p:blipFill>
        <p:spPr>
          <a:xfrm xmlns:a="http://schemas.openxmlformats.org/drawingml/2006/main">
            <a:off x="6305550" y="1724025"/>
            <a:ext cx="5276850" cy="3248072"/>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55D4D682-7F07-403F-B573-3B29F8FB70D9}"/>
              </a:ext>
            </a:extLst>
          </p:cNvPr>
          <p:cNvSpPr>
            <a:spLocks xmlns:a="http://schemas.openxmlformats.org/drawingml/2006/main" noGrp="1"/>
          </p:cNvSpPr>
          <p:nvPr/>
        </p:nvSpPr>
        <p:spPr>
          <a:xfrm xmlns:a="http://schemas.openxmlformats.org/drawingml/2006/main">
            <a:off x="628650" y="6162675"/>
            <a:ext cx="10572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566760"/>
                </a:solidFill>
                <a:latin typeface="Helvetica Neue"/>
                <a:ea typeface="Helvetica Neue"/>
                <a:cs typeface="Helvetica Neue"/>
              </a:defRPr>
            </a:defPPr>
            <a:lvl1pPr>
              <a:defRPr sz="1500" b="0">
                <a:solidFill>
                  <a:srgbClr val="566760"/>
                </a:solidFill>
                <a:latin typeface="Helvetica Neue"/>
                <a:ea typeface="Helvetica Neue"/>
                <a:cs typeface="Helvetica Neue"/>
              </a:defRPr>
            </a:lvl1pPr>
            <a:lvl2pPr>
              <a:defRPr sz="1500" b="0">
                <a:solidFill>
                  <a:srgbClr val="566760"/>
                </a:solidFill>
                <a:latin typeface="Helvetica Neue"/>
                <a:ea typeface="Helvetica Neue"/>
                <a:cs typeface="Helvetica Neue"/>
              </a:defRPr>
            </a:lvl2pPr>
            <a:lvl3pPr>
              <a:defRPr sz="1500" b="0">
                <a:solidFill>
                  <a:srgbClr val="566760"/>
                </a:solidFill>
                <a:latin typeface="Helvetica Neue"/>
                <a:ea typeface="Helvetica Neue"/>
                <a:cs typeface="Helvetica Neue"/>
              </a:defRPr>
            </a:lvl3pPr>
            <a:lvl4pPr>
              <a:defRPr sz="1500" b="0">
                <a:solidFill>
                  <a:srgbClr val="566760"/>
                </a:solidFill>
                <a:latin typeface="Helvetica Neue"/>
                <a:ea typeface="Helvetica Neue"/>
                <a:cs typeface="Helvetica Neue"/>
              </a:defRPr>
            </a:lvl4pPr>
            <a:lvl5pPr>
              <a:defRPr sz="1500" b="0">
                <a:solidFill>
                  <a:srgbClr val="566760"/>
                </a:solidFill>
                <a:latin typeface="Helvetica Neue"/>
                <a:ea typeface="Helvetica Neue"/>
                <a:cs typeface="Helvetica Neue"/>
              </a:defRPr>
            </a:lvl5pPr>
            <a:lvl6pPr>
              <a:defRPr sz="1500" b="0">
                <a:solidFill>
                  <a:srgbClr val="566760"/>
                </a:solidFill>
                <a:latin typeface="Helvetica Neue"/>
                <a:ea typeface="Helvetica Neue"/>
                <a:cs typeface="Helvetica Neue"/>
              </a:defRPr>
            </a:lvl6pPr>
            <a:lvl7pPr>
              <a:defRPr sz="1500" b="0">
                <a:solidFill>
                  <a:srgbClr val="566760"/>
                </a:solidFill>
                <a:latin typeface="Helvetica Neue"/>
                <a:ea typeface="Helvetica Neue"/>
                <a:cs typeface="Helvetica Neue"/>
              </a:defRPr>
            </a:lvl7pPr>
            <a:lvl8pPr>
              <a:defRPr sz="1500" b="0">
                <a:solidFill>
                  <a:srgbClr val="566760"/>
                </a:solidFill>
                <a:latin typeface="Helvetica Neue"/>
                <a:ea typeface="Helvetica Neue"/>
                <a:cs typeface="Helvetica Neue"/>
              </a:defRPr>
            </a:lvl8pPr>
            <a:lvl9pPr>
              <a:defRPr sz="1500" b="0">
                <a:solidFill>
                  <a:srgbClr val="566760"/>
                </a:solidFill>
                <a:latin typeface="Helvetica Neue"/>
                <a:ea typeface="Helvetica Neue"/>
                <a:cs typeface="Helvetica Neue"/>
              </a:defRPr>
            </a:lvl9pPr>
          </a:lstStyle>
          <a:p xmlns:a="http://schemas.openxmlformats.org/drawingml/2006/main">
            <a:pPr>
              <a:defRPr sz="1500" b="0">
                <a:solidFill>
                  <a:srgbClr val="566760"/>
                </a:solidFill>
                <a:latin typeface="Helvetica Neue"/>
                <a:ea typeface="Helvetica Neue"/>
                <a:cs typeface="Helvetica Neue"/>
              </a:defRPr>
            </a:pPr>
            <a:r>
              <a:rPr sz="1500" b="0">
                <a:solidFill>
                  <a:srgbClr val="566760"/>
                </a:solidFill>
                <a:latin typeface="Helvetica Neue"/>
                <a:ea typeface="Helvetica Neue"/>
                <a:cs typeface="Helvetica Neue"/>
              </a:rPr>
              <a:t>Historical catalogue prices. Avoid terms express soft preferences. Feedback uses the trained user head.</a:t>
            </a:r>
          </a:p>
        </p:txBody>
      </p:sp>
    </p:spTree>
    <p:extLst>
      <p:ext uri="{BB962C8B-B14F-4D97-AF65-F5344CB8AC3E}">
        <p14:creationId xmlns:p14="http://schemas.microsoft.com/office/powerpoint/2010/main" val="1073038993"/>
      </p:ext>
    </p:extLst>
  </p:cSld>
</p:sld>
</file>

<file path=ppt/slides/slide5.xml><?xml version="1.0" encoding="utf-8"?>
<p:sld xmlns:p="http://schemas.openxmlformats.org/presentationml/2006/main">
  <p:cSld>
    <p:bg>
      <p:bgPr>
        <a:solidFill xmlns:a="http://schemas.openxmlformats.org/drawingml/2006/main">
          <a:srgbClr val="FAF8F3"/>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8629BB4F-571E-420E-A0CC-8DD090D0CCA8}"/>
              </a:ext>
            </a:extLst>
          </p:cNvPr>
          <p:cNvSpPr>
            <a:spLocks xmlns:a="http://schemas.openxmlformats.org/drawingml/2006/main" noGrp="1"/>
          </p:cNvSpPr>
          <p:nvPr/>
        </p:nvSpPr>
        <p:spPr>
          <a:xfrm xmlns:a="http://schemas.openxmlformats.org/drawingml/2006/main">
            <a:off x="609600" y="3810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150" b="1">
                <a:solidFill>
                  <a:srgbClr val="17251F"/>
                </a:solidFill>
                <a:latin typeface="Helvetica Neue"/>
                <a:ea typeface="Helvetica Neue"/>
                <a:cs typeface="Helvetica Neue"/>
              </a:defRPr>
            </a:defPPr>
            <a:lvl1pPr>
              <a:defRPr sz="3150" b="1">
                <a:solidFill>
                  <a:srgbClr val="17251F"/>
                </a:solidFill>
                <a:latin typeface="Helvetica Neue"/>
                <a:ea typeface="Helvetica Neue"/>
                <a:cs typeface="Helvetica Neue"/>
              </a:defRPr>
            </a:lvl1pPr>
            <a:lvl2pPr>
              <a:defRPr sz="3150" b="1">
                <a:solidFill>
                  <a:srgbClr val="17251F"/>
                </a:solidFill>
                <a:latin typeface="Helvetica Neue"/>
                <a:ea typeface="Helvetica Neue"/>
                <a:cs typeface="Helvetica Neue"/>
              </a:defRPr>
            </a:lvl2pPr>
            <a:lvl3pPr>
              <a:defRPr sz="3150" b="1">
                <a:solidFill>
                  <a:srgbClr val="17251F"/>
                </a:solidFill>
                <a:latin typeface="Helvetica Neue"/>
                <a:ea typeface="Helvetica Neue"/>
                <a:cs typeface="Helvetica Neue"/>
              </a:defRPr>
            </a:lvl3pPr>
            <a:lvl4pPr>
              <a:defRPr sz="3150" b="1">
                <a:solidFill>
                  <a:srgbClr val="17251F"/>
                </a:solidFill>
                <a:latin typeface="Helvetica Neue"/>
                <a:ea typeface="Helvetica Neue"/>
                <a:cs typeface="Helvetica Neue"/>
              </a:defRPr>
            </a:lvl4pPr>
            <a:lvl5pPr>
              <a:defRPr sz="3150" b="1">
                <a:solidFill>
                  <a:srgbClr val="17251F"/>
                </a:solidFill>
                <a:latin typeface="Helvetica Neue"/>
                <a:ea typeface="Helvetica Neue"/>
                <a:cs typeface="Helvetica Neue"/>
              </a:defRPr>
            </a:lvl5pPr>
            <a:lvl6pPr>
              <a:defRPr sz="3150" b="1">
                <a:solidFill>
                  <a:srgbClr val="17251F"/>
                </a:solidFill>
                <a:latin typeface="Helvetica Neue"/>
                <a:ea typeface="Helvetica Neue"/>
                <a:cs typeface="Helvetica Neue"/>
              </a:defRPr>
            </a:lvl6pPr>
            <a:lvl7pPr>
              <a:defRPr sz="3150" b="1">
                <a:solidFill>
                  <a:srgbClr val="17251F"/>
                </a:solidFill>
                <a:latin typeface="Helvetica Neue"/>
                <a:ea typeface="Helvetica Neue"/>
                <a:cs typeface="Helvetica Neue"/>
              </a:defRPr>
            </a:lvl7pPr>
            <a:lvl8pPr>
              <a:defRPr sz="3150" b="1">
                <a:solidFill>
                  <a:srgbClr val="17251F"/>
                </a:solidFill>
                <a:latin typeface="Helvetica Neue"/>
                <a:ea typeface="Helvetica Neue"/>
                <a:cs typeface="Helvetica Neue"/>
              </a:defRPr>
            </a:lvl8pPr>
            <a:lvl9pPr>
              <a:defRPr sz="3150" b="1">
                <a:solidFill>
                  <a:srgbClr val="17251F"/>
                </a:solidFill>
                <a:latin typeface="Helvetica Neue"/>
                <a:ea typeface="Helvetica Neue"/>
                <a:cs typeface="Helvetica Neue"/>
              </a:defRPr>
            </a:lvl9pPr>
          </a:lstStyle>
          <a:p xmlns:a="http://schemas.openxmlformats.org/drawingml/2006/main">
            <a:pPr>
              <a:defRPr sz="3150" b="1">
                <a:solidFill>
                  <a:srgbClr val="17251F"/>
                </a:solidFill>
                <a:latin typeface="Helvetica Neue"/>
                <a:ea typeface="Helvetica Neue"/>
                <a:cs typeface="Helvetica Neue"/>
              </a:defRPr>
            </a:pPr>
            <a:r>
              <a:rPr sz="3150" b="1">
                <a:solidFill>
                  <a:srgbClr val="17251F"/>
                </a:solidFill>
                <a:latin typeface="Helvetica Neue"/>
                <a:ea typeface="Helvetica Neue"/>
                <a:cs typeface="Helvetica Neue"/>
              </a:rPr>
              <a:t>The shortlist keeps the final decision visible</a:t>
            </a:r>
          </a:p>
        </p:txBody>
      </p:sp>
      <p:sp>
        <p:nvSpPr>
          <p:cNvPr id="2" name="">
            <a:extLst xmlns:a="http://schemas.openxmlformats.org/drawingml/2006/main">
              <a:ext uri="{FF2B5EF4-FFF2-40B4-BE49-F238E27FC236}">
                <a16:creationId xmlns:a16="http://schemas.microsoft.com/office/drawing/2014/main" id="{B2F54F76-CC0C-4355-A95A-858BBAF4DCD2}"/>
              </a:ext>
            </a:extLst>
          </p:cNvPr>
          <p:cNvSpPr>
            <a:spLocks xmlns:a="http://schemas.openxmlformats.org/drawingml/2006/main" noGrp="1"/>
          </p:cNvSpPr>
          <p:nvPr/>
        </p:nvSpPr>
        <p:spPr>
          <a:xfrm xmlns:a="http://schemas.openxmlformats.org/drawingml/2006/main">
            <a:off x="11106150" y="6457950"/>
            <a:ext cx="47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00" b="0">
                <a:solidFill>
                  <a:srgbClr val="566760"/>
                </a:solidFill>
                <a:latin typeface="Helvetica Neue"/>
                <a:ea typeface="Helvetica Neue"/>
                <a:cs typeface="Helvetica Neue"/>
              </a:defRPr>
            </a:defPPr>
            <a:lvl1pPr algn="r">
              <a:defRPr sz="1200" b="0">
                <a:solidFill>
                  <a:srgbClr val="566760"/>
                </a:solidFill>
                <a:latin typeface="Helvetica Neue"/>
                <a:ea typeface="Helvetica Neue"/>
                <a:cs typeface="Helvetica Neue"/>
              </a:defRPr>
            </a:lvl1pPr>
            <a:lvl2pPr algn="r">
              <a:defRPr sz="1200" b="0">
                <a:solidFill>
                  <a:srgbClr val="566760"/>
                </a:solidFill>
                <a:latin typeface="Helvetica Neue"/>
                <a:ea typeface="Helvetica Neue"/>
                <a:cs typeface="Helvetica Neue"/>
              </a:defRPr>
            </a:lvl2pPr>
            <a:lvl3pPr algn="r">
              <a:defRPr sz="1200" b="0">
                <a:solidFill>
                  <a:srgbClr val="566760"/>
                </a:solidFill>
                <a:latin typeface="Helvetica Neue"/>
                <a:ea typeface="Helvetica Neue"/>
                <a:cs typeface="Helvetica Neue"/>
              </a:defRPr>
            </a:lvl3pPr>
            <a:lvl4pPr algn="r">
              <a:defRPr sz="1200" b="0">
                <a:solidFill>
                  <a:srgbClr val="566760"/>
                </a:solidFill>
                <a:latin typeface="Helvetica Neue"/>
                <a:ea typeface="Helvetica Neue"/>
                <a:cs typeface="Helvetica Neue"/>
              </a:defRPr>
            </a:lvl4pPr>
            <a:lvl5pPr algn="r">
              <a:defRPr sz="1200" b="0">
                <a:solidFill>
                  <a:srgbClr val="566760"/>
                </a:solidFill>
                <a:latin typeface="Helvetica Neue"/>
                <a:ea typeface="Helvetica Neue"/>
                <a:cs typeface="Helvetica Neue"/>
              </a:defRPr>
            </a:lvl5pPr>
            <a:lvl6pPr algn="r">
              <a:defRPr sz="1200" b="0">
                <a:solidFill>
                  <a:srgbClr val="566760"/>
                </a:solidFill>
                <a:latin typeface="Helvetica Neue"/>
                <a:ea typeface="Helvetica Neue"/>
                <a:cs typeface="Helvetica Neue"/>
              </a:defRPr>
            </a:lvl6pPr>
            <a:lvl7pPr algn="r">
              <a:defRPr sz="1200" b="0">
                <a:solidFill>
                  <a:srgbClr val="566760"/>
                </a:solidFill>
                <a:latin typeface="Helvetica Neue"/>
                <a:ea typeface="Helvetica Neue"/>
                <a:cs typeface="Helvetica Neue"/>
              </a:defRPr>
            </a:lvl7pPr>
            <a:lvl8pPr algn="r">
              <a:defRPr sz="1200" b="0">
                <a:solidFill>
                  <a:srgbClr val="566760"/>
                </a:solidFill>
                <a:latin typeface="Helvetica Neue"/>
                <a:ea typeface="Helvetica Neue"/>
                <a:cs typeface="Helvetica Neue"/>
              </a:defRPr>
            </a:lvl8pPr>
            <a:lvl9pPr algn="r">
              <a:defRPr sz="1200" b="0">
                <a:solidFill>
                  <a:srgbClr val="566760"/>
                </a:solidFill>
                <a:latin typeface="Helvetica Neue"/>
                <a:ea typeface="Helvetica Neue"/>
                <a:cs typeface="Helvetica Neue"/>
              </a:defRPr>
            </a:lvl9pPr>
          </a:lstStyle>
          <a:p xmlns:a="http://schemas.openxmlformats.org/drawingml/2006/main">
            <a:pPr algn="r">
              <a:defRPr sz="1200" b="0">
                <a:solidFill>
                  <a:srgbClr val="566760"/>
                </a:solidFill>
                <a:latin typeface="Helvetica Neue"/>
                <a:ea typeface="Helvetica Neue"/>
                <a:cs typeface="Helvetica Neue"/>
              </a:defRPr>
            </a:pPr>
            <a:r>
              <a:rPr sz="1200" b="0">
                <a:solidFill>
                  <a:srgbClr val="566760"/>
                </a:solidFill>
                <a:latin typeface="Helvetica Neue"/>
                <a:ea typeface="Helvetica Neue"/>
                <a:cs typeface="Helvetica Neue"/>
              </a:rPr>
              <a:t>05</a:t>
            </a:r>
          </a:p>
        </p:txBody>
      </p:sp>
      <p:pic>
        <p:nvPicPr>
          <p:cNvPr id="3" name="">
            <a:extLst xmlns:a="http://schemas.openxmlformats.org/drawingml/2006/main">
              <a:ext uri="{FF2B5EF4-FFF2-40B4-BE49-F238E27FC236}">
                <a16:creationId xmlns:a16="http://schemas.microsoft.com/office/drawing/2014/main" id="{53C8CFFC-8F4C-4985-A072-9E3010177219}"/>
              </a:ext>
            </a:extLst>
          </p:cNvPr>
          <p:cNvPicPr>
            <a:picLocks xmlns:a="http://schemas.openxmlformats.org/drawingml/2006/main" noChangeAspect="1"/>
          </p:cNvPicPr>
          <p:nvPr/>
        </p:nvPicPr>
        <p:blipFill>
          <a:blip xmlns:r="http://schemas.openxmlformats.org/officeDocument/2006/relationships" xmlns:a="http://schemas.openxmlformats.org/drawingml/2006/main" r:embed="Rbea6a784281c4138"/>
          <a:srcRect xmlns:a="http://schemas.openxmlformats.org/drawingml/2006/main" l="1800" t="15500" r="1800" b="1500"/>
          <a:stretch xmlns:a="http://schemas.openxmlformats.org/drawingml/2006/main"/>
        </p:blipFill>
        <p:spPr>
          <a:xfrm xmlns:a="http://schemas.openxmlformats.org/drawingml/2006/main">
            <a:off x="762634" y="1371600"/>
            <a:ext cx="5808981" cy="4695825"/>
          </a:xfrm>
          <a:prstGeom xmlns:a="http://schemas.openxmlformats.org/drawingml/2006/main" prst="rect">
            <a:avLst/>
          </a:prstGeom>
        </p:spPr>
      </p:pic>
      <p:pic>
        <p:nvPicPr>
          <p:cNvPr id="4" name="">
            <a:extLst xmlns:a="http://schemas.openxmlformats.org/drawingml/2006/main">
              <a:ext uri="{FF2B5EF4-FFF2-40B4-BE49-F238E27FC236}">
                <a16:creationId xmlns:a16="http://schemas.microsoft.com/office/drawing/2014/main" id="{F785A19F-BD41-4FDC-830A-AEEDABEEC894}"/>
              </a:ext>
            </a:extLst>
          </p:cNvPr>
          <p:cNvPicPr>
            <a:picLocks xmlns:a="http://schemas.openxmlformats.org/drawingml/2006/main" noChangeAspect="1"/>
          </p:cNvPicPr>
          <p:nvPr/>
        </p:nvPicPr>
        <p:blipFill>
          <a:blip xmlns:r="http://schemas.openxmlformats.org/officeDocument/2006/relationships" xmlns:a="http://schemas.openxmlformats.org/drawingml/2006/main" r:embed="Rdbbbac4573a04914"/>
          <a:srcRect xmlns:a="http://schemas.openxmlformats.org/drawingml/2006/main" l="1800" t="10300" r="1800" b="46700"/>
          <a:stretch xmlns:a="http://schemas.openxmlformats.org/drawingml/2006/main"/>
        </p:blipFill>
        <p:spPr>
          <a:xfrm xmlns:a="http://schemas.openxmlformats.org/drawingml/2006/main">
            <a:off x="7191375" y="1666875"/>
            <a:ext cx="4391025" cy="1838943"/>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6267AD42-5560-4CB0-B07E-686C559F64D8}"/>
              </a:ext>
            </a:extLst>
          </p:cNvPr>
          <p:cNvSpPr>
            <a:spLocks xmlns:a="http://schemas.openxmlformats.org/drawingml/2006/main" noGrp="1"/>
          </p:cNvSpPr>
          <p:nvPr/>
        </p:nvSpPr>
        <p:spPr>
          <a:xfrm xmlns:a="http://schemas.openxmlformats.org/drawingml/2006/main">
            <a:off x="7191375" y="4457700"/>
            <a:ext cx="4391025" cy="1447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00" b="0">
                <a:solidFill>
                  <a:srgbClr val="17251F"/>
                </a:solidFill>
                <a:latin typeface="Helvetica Neue"/>
                <a:ea typeface="Helvetica Neue"/>
                <a:cs typeface="Helvetica Neue"/>
              </a:defRPr>
            </a:defPPr>
            <a:lvl1pPr>
              <a:defRPr sz="2100" b="0">
                <a:solidFill>
                  <a:srgbClr val="17251F"/>
                </a:solidFill>
                <a:latin typeface="Helvetica Neue"/>
                <a:ea typeface="Helvetica Neue"/>
                <a:cs typeface="Helvetica Neue"/>
              </a:defRPr>
            </a:lvl1pPr>
            <a:lvl2pPr>
              <a:defRPr sz="2100" b="0">
                <a:solidFill>
                  <a:srgbClr val="17251F"/>
                </a:solidFill>
                <a:latin typeface="Helvetica Neue"/>
                <a:ea typeface="Helvetica Neue"/>
                <a:cs typeface="Helvetica Neue"/>
              </a:defRPr>
            </a:lvl2pPr>
            <a:lvl3pPr>
              <a:defRPr sz="2100" b="0">
                <a:solidFill>
                  <a:srgbClr val="17251F"/>
                </a:solidFill>
                <a:latin typeface="Helvetica Neue"/>
                <a:ea typeface="Helvetica Neue"/>
                <a:cs typeface="Helvetica Neue"/>
              </a:defRPr>
            </a:lvl3pPr>
            <a:lvl4pPr>
              <a:defRPr sz="2100" b="0">
                <a:solidFill>
                  <a:srgbClr val="17251F"/>
                </a:solidFill>
                <a:latin typeface="Helvetica Neue"/>
                <a:ea typeface="Helvetica Neue"/>
                <a:cs typeface="Helvetica Neue"/>
              </a:defRPr>
            </a:lvl4pPr>
            <a:lvl5pPr>
              <a:defRPr sz="2100" b="0">
                <a:solidFill>
                  <a:srgbClr val="17251F"/>
                </a:solidFill>
                <a:latin typeface="Helvetica Neue"/>
                <a:ea typeface="Helvetica Neue"/>
                <a:cs typeface="Helvetica Neue"/>
              </a:defRPr>
            </a:lvl5pPr>
            <a:lvl6pPr>
              <a:defRPr sz="2100" b="0">
                <a:solidFill>
                  <a:srgbClr val="17251F"/>
                </a:solidFill>
                <a:latin typeface="Helvetica Neue"/>
                <a:ea typeface="Helvetica Neue"/>
                <a:cs typeface="Helvetica Neue"/>
              </a:defRPr>
            </a:lvl6pPr>
            <a:lvl7pPr>
              <a:defRPr sz="2100" b="0">
                <a:solidFill>
                  <a:srgbClr val="17251F"/>
                </a:solidFill>
                <a:latin typeface="Helvetica Neue"/>
                <a:ea typeface="Helvetica Neue"/>
                <a:cs typeface="Helvetica Neue"/>
              </a:defRPr>
            </a:lvl7pPr>
            <a:lvl8pPr>
              <a:defRPr sz="2100" b="0">
                <a:solidFill>
                  <a:srgbClr val="17251F"/>
                </a:solidFill>
                <a:latin typeface="Helvetica Neue"/>
                <a:ea typeface="Helvetica Neue"/>
                <a:cs typeface="Helvetica Neue"/>
              </a:defRPr>
            </a:lvl8pPr>
            <a:lvl9pPr>
              <a:defRPr sz="2100" b="0">
                <a:solidFill>
                  <a:srgbClr val="17251F"/>
                </a:solidFill>
                <a:latin typeface="Helvetica Neue"/>
                <a:ea typeface="Helvetica Neue"/>
                <a:cs typeface="Helvetica Neue"/>
              </a:defRPr>
            </a:lvl9pPr>
          </a:lstStyle>
          <a:p xmlns:a="http://schemas.openxmlformats.org/drawingml/2006/main">
            <a:pPr>
              <a:defRPr sz="2100" b="0">
                <a:solidFill>
                  <a:srgbClr val="17251F"/>
                </a:solidFill>
                <a:latin typeface="Helvetica Neue"/>
                <a:ea typeface="Helvetica Neue"/>
                <a:cs typeface="Helvetica Neue"/>
              </a:defRPr>
            </a:pPr>
            <a:r>
              <a:rPr sz="2100" b="0">
                <a:solidFill>
                  <a:srgbClr val="17251F"/>
                </a:solidFill>
                <a:latin typeface="Helvetica Neue"/>
                <a:ea typeface="Helvetica Neue"/>
                <a:cs typeface="Helvetica Neue"/>
              </a:rPr>
              <a:t>Compare the selected products.</a:t>
            </a:r>
          </a:p>
          <a:p xmlns:a="http://schemas.openxmlformats.org/drawingml/2006/main">
            <a:pPr>
              <a:defRPr sz="2100" b="0">
                <a:solidFill>
                  <a:srgbClr val="17251F"/>
                </a:solidFill>
                <a:latin typeface="Helvetica Neue"/>
                <a:ea typeface="Helvetica Neue"/>
                <a:cs typeface="Helvetica Neue"/>
              </a:defRPr>
            </a:pPr>
            <a:r>
              <a:rPr sz="2100" b="0">
                <a:solidFill>
                  <a:srgbClr val="17251F"/>
                </a:solidFill>
                <a:latin typeface="Helvetica Neue"/>
                <a:ea typeface="Helvetica Neue"/>
                <a:cs typeface="Helvetica Neue"/>
              </a:rPr>
              <a:t>Confirm a choice.</a:t>
            </a:r>
          </a:p>
          <a:p xmlns:a="http://schemas.openxmlformats.org/drawingml/2006/main">
            <a:pPr>
              <a:defRPr sz="2100" b="0">
                <a:solidFill>
                  <a:srgbClr val="17251F"/>
                </a:solidFill>
                <a:latin typeface="Helvetica Neue"/>
                <a:ea typeface="Helvetica Neue"/>
                <a:cs typeface="Helvetica Neue"/>
              </a:defRPr>
            </a:pPr>
            <a:r>
              <a:rPr sz="2100" b="0">
                <a:solidFill>
                  <a:srgbClr val="17251F"/>
                </a:solidFill>
                <a:latin typeface="Helvetica Neue"/>
                <a:ea typeface="Helvetica Neue"/>
                <a:cs typeface="Helvetica Neue"/>
              </a:rPr>
              <a:t>Save JSON, CSV or an HTML card.</a:t>
            </a:r>
          </a:p>
        </p:txBody>
      </p:sp>
      <p:sp>
        <p:nvSpPr>
          <p:cNvPr id="6" name="">
            <a:extLst xmlns:a="http://schemas.openxmlformats.org/drawingml/2006/main">
              <a:ext uri="{FF2B5EF4-FFF2-40B4-BE49-F238E27FC236}">
                <a16:creationId xmlns:a16="http://schemas.microsoft.com/office/drawing/2014/main" id="{1CE48ACF-85A5-4485-B311-FB07CA2F52DF}"/>
              </a:ext>
            </a:extLst>
          </p:cNvPr>
          <p:cNvSpPr>
            <a:spLocks xmlns:a="http://schemas.openxmlformats.org/drawingml/2006/main" noGrp="1"/>
          </p:cNvSpPr>
          <p:nvPr/>
        </p:nvSpPr>
        <p:spPr>
          <a:xfrm xmlns:a="http://schemas.openxmlformats.org/drawingml/2006/main">
            <a:off x="628650" y="6162675"/>
            <a:ext cx="10572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566760"/>
                </a:solidFill>
                <a:latin typeface="Helvetica Neue"/>
                <a:ea typeface="Helvetica Neue"/>
                <a:cs typeface="Helvetica Neue"/>
              </a:defRPr>
            </a:defPPr>
            <a:lvl1pPr>
              <a:defRPr sz="1500" b="0">
                <a:solidFill>
                  <a:srgbClr val="566760"/>
                </a:solidFill>
                <a:latin typeface="Helvetica Neue"/>
                <a:ea typeface="Helvetica Neue"/>
                <a:cs typeface="Helvetica Neue"/>
              </a:defRPr>
            </a:lvl1pPr>
            <a:lvl2pPr>
              <a:defRPr sz="1500" b="0">
                <a:solidFill>
                  <a:srgbClr val="566760"/>
                </a:solidFill>
                <a:latin typeface="Helvetica Neue"/>
                <a:ea typeface="Helvetica Neue"/>
                <a:cs typeface="Helvetica Neue"/>
              </a:defRPr>
            </a:lvl2pPr>
            <a:lvl3pPr>
              <a:defRPr sz="1500" b="0">
                <a:solidFill>
                  <a:srgbClr val="566760"/>
                </a:solidFill>
                <a:latin typeface="Helvetica Neue"/>
                <a:ea typeface="Helvetica Neue"/>
                <a:cs typeface="Helvetica Neue"/>
              </a:defRPr>
            </a:lvl3pPr>
            <a:lvl4pPr>
              <a:defRPr sz="1500" b="0">
                <a:solidFill>
                  <a:srgbClr val="566760"/>
                </a:solidFill>
                <a:latin typeface="Helvetica Neue"/>
                <a:ea typeface="Helvetica Neue"/>
                <a:cs typeface="Helvetica Neue"/>
              </a:defRPr>
            </a:lvl4pPr>
            <a:lvl5pPr>
              <a:defRPr sz="1500" b="0">
                <a:solidFill>
                  <a:srgbClr val="566760"/>
                </a:solidFill>
                <a:latin typeface="Helvetica Neue"/>
                <a:ea typeface="Helvetica Neue"/>
                <a:cs typeface="Helvetica Neue"/>
              </a:defRPr>
            </a:lvl5pPr>
            <a:lvl6pPr>
              <a:defRPr sz="1500" b="0">
                <a:solidFill>
                  <a:srgbClr val="566760"/>
                </a:solidFill>
                <a:latin typeface="Helvetica Neue"/>
                <a:ea typeface="Helvetica Neue"/>
                <a:cs typeface="Helvetica Neue"/>
              </a:defRPr>
            </a:lvl6pPr>
            <a:lvl7pPr>
              <a:defRPr sz="1500" b="0">
                <a:solidFill>
                  <a:srgbClr val="566760"/>
                </a:solidFill>
                <a:latin typeface="Helvetica Neue"/>
                <a:ea typeface="Helvetica Neue"/>
                <a:cs typeface="Helvetica Neue"/>
              </a:defRPr>
            </a:lvl7pPr>
            <a:lvl8pPr>
              <a:defRPr sz="1500" b="0">
                <a:solidFill>
                  <a:srgbClr val="566760"/>
                </a:solidFill>
                <a:latin typeface="Helvetica Neue"/>
                <a:ea typeface="Helvetica Neue"/>
                <a:cs typeface="Helvetica Neue"/>
              </a:defRPr>
            </a:lvl8pPr>
            <a:lvl9pPr>
              <a:defRPr sz="1500" b="0">
                <a:solidFill>
                  <a:srgbClr val="566760"/>
                </a:solidFill>
                <a:latin typeface="Helvetica Neue"/>
                <a:ea typeface="Helvetica Neue"/>
                <a:cs typeface="Helvetica Neue"/>
              </a:defRPr>
            </a:lvl9pPr>
          </a:lstStyle>
          <a:p xmlns:a="http://schemas.openxmlformats.org/drawingml/2006/main">
            <a:pPr>
              <a:defRPr sz="1500" b="0">
                <a:solidFill>
                  <a:srgbClr val="566760"/>
                </a:solidFill>
                <a:latin typeface="Helvetica Neue"/>
                <a:ea typeface="Helvetica Neue"/>
                <a:cs typeface="Helvetica Neue"/>
              </a:defRPr>
            </a:pPr>
            <a:r>
              <a:rPr sz="1500" b="0">
                <a:solidFill>
                  <a:srgbClr val="566760"/>
                </a:solidFill>
                <a:latin typeface="Helvetica Neue"/>
                <a:ea typeface="Helvetica Neue"/>
                <a:cs typeface="Helvetica Neue"/>
              </a:rPr>
              <a:t>Actual application captures from recorded sessions. Product descriptions and prices are historical.</a:t>
            </a:r>
          </a:p>
        </p:txBody>
      </p:sp>
    </p:spTree>
    <p:extLst>
      <p:ext uri="{BB962C8B-B14F-4D97-AF65-F5344CB8AC3E}">
        <p14:creationId xmlns:p14="http://schemas.microsoft.com/office/powerpoint/2010/main" val="1367008968"/>
      </p:ext>
    </p:extLst>
  </p:cSld>
</p:sld>
</file>

<file path=ppt/slides/slide6.xml><?xml version="1.0" encoding="utf-8"?>
<p:sld xmlns:p="http://schemas.openxmlformats.org/presentationml/2006/main">
  <p:cSld>
    <p:bg>
      <p:bgPr>
        <a:solidFill xmlns:a="http://schemas.openxmlformats.org/drawingml/2006/main">
          <a:srgbClr val="FAF8F3"/>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01640F9C-24EE-4B20-804B-1BA58A521AE3}"/>
              </a:ext>
            </a:extLst>
          </p:cNvPr>
          <p:cNvSpPr>
            <a:spLocks xmlns:a="http://schemas.openxmlformats.org/drawingml/2006/main" noGrp="1"/>
          </p:cNvSpPr>
          <p:nvPr/>
        </p:nvSpPr>
        <p:spPr>
          <a:xfrm xmlns:a="http://schemas.openxmlformats.org/drawingml/2006/main">
            <a:off x="609600" y="3810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150" b="1">
                <a:solidFill>
                  <a:srgbClr val="17251F"/>
                </a:solidFill>
                <a:latin typeface="Helvetica Neue"/>
                <a:ea typeface="Helvetica Neue"/>
                <a:cs typeface="Helvetica Neue"/>
              </a:defRPr>
            </a:defPPr>
            <a:lvl1pPr>
              <a:defRPr sz="3150" b="1">
                <a:solidFill>
                  <a:srgbClr val="17251F"/>
                </a:solidFill>
                <a:latin typeface="Helvetica Neue"/>
                <a:ea typeface="Helvetica Neue"/>
                <a:cs typeface="Helvetica Neue"/>
              </a:defRPr>
            </a:lvl1pPr>
            <a:lvl2pPr>
              <a:defRPr sz="3150" b="1">
                <a:solidFill>
                  <a:srgbClr val="17251F"/>
                </a:solidFill>
                <a:latin typeface="Helvetica Neue"/>
                <a:ea typeface="Helvetica Neue"/>
                <a:cs typeface="Helvetica Neue"/>
              </a:defRPr>
            </a:lvl2pPr>
            <a:lvl3pPr>
              <a:defRPr sz="3150" b="1">
                <a:solidFill>
                  <a:srgbClr val="17251F"/>
                </a:solidFill>
                <a:latin typeface="Helvetica Neue"/>
                <a:ea typeface="Helvetica Neue"/>
                <a:cs typeface="Helvetica Neue"/>
              </a:defRPr>
            </a:lvl3pPr>
            <a:lvl4pPr>
              <a:defRPr sz="3150" b="1">
                <a:solidFill>
                  <a:srgbClr val="17251F"/>
                </a:solidFill>
                <a:latin typeface="Helvetica Neue"/>
                <a:ea typeface="Helvetica Neue"/>
                <a:cs typeface="Helvetica Neue"/>
              </a:defRPr>
            </a:lvl4pPr>
            <a:lvl5pPr>
              <a:defRPr sz="3150" b="1">
                <a:solidFill>
                  <a:srgbClr val="17251F"/>
                </a:solidFill>
                <a:latin typeface="Helvetica Neue"/>
                <a:ea typeface="Helvetica Neue"/>
                <a:cs typeface="Helvetica Neue"/>
              </a:defRPr>
            </a:lvl5pPr>
            <a:lvl6pPr>
              <a:defRPr sz="3150" b="1">
                <a:solidFill>
                  <a:srgbClr val="17251F"/>
                </a:solidFill>
                <a:latin typeface="Helvetica Neue"/>
                <a:ea typeface="Helvetica Neue"/>
                <a:cs typeface="Helvetica Neue"/>
              </a:defRPr>
            </a:lvl6pPr>
            <a:lvl7pPr>
              <a:defRPr sz="3150" b="1">
                <a:solidFill>
                  <a:srgbClr val="17251F"/>
                </a:solidFill>
                <a:latin typeface="Helvetica Neue"/>
                <a:ea typeface="Helvetica Neue"/>
                <a:cs typeface="Helvetica Neue"/>
              </a:defRPr>
            </a:lvl7pPr>
            <a:lvl8pPr>
              <a:defRPr sz="3150" b="1">
                <a:solidFill>
                  <a:srgbClr val="17251F"/>
                </a:solidFill>
                <a:latin typeface="Helvetica Neue"/>
                <a:ea typeface="Helvetica Neue"/>
                <a:cs typeface="Helvetica Neue"/>
              </a:defRPr>
            </a:lvl8pPr>
            <a:lvl9pPr>
              <a:defRPr sz="3150" b="1">
                <a:solidFill>
                  <a:srgbClr val="17251F"/>
                </a:solidFill>
                <a:latin typeface="Helvetica Neue"/>
                <a:ea typeface="Helvetica Neue"/>
                <a:cs typeface="Helvetica Neue"/>
              </a:defRPr>
            </a:lvl9pPr>
          </a:lstStyle>
          <a:p xmlns:a="http://schemas.openxmlformats.org/drawingml/2006/main">
            <a:pPr>
              <a:defRPr sz="3150" b="1">
                <a:solidFill>
                  <a:srgbClr val="17251F"/>
                </a:solidFill>
                <a:latin typeface="Helvetica Neue"/>
                <a:ea typeface="Helvetica Neue"/>
                <a:cs typeface="Helvetica Neue"/>
              </a:defRPr>
            </a:pPr>
            <a:r>
              <a:rPr sz="3150" b="1">
                <a:solidFill>
                  <a:srgbClr val="17251F"/>
                </a:solidFill>
                <a:latin typeface="Helvetica Neue"/>
                <a:ea typeface="Helvetica Neue"/>
                <a:cs typeface="Helvetica Neue"/>
              </a:rPr>
              <a:t>The research map links products to model output</a:t>
            </a:r>
          </a:p>
        </p:txBody>
      </p:sp>
      <p:sp>
        <p:nvSpPr>
          <p:cNvPr id="2" name="">
            <a:extLst xmlns:a="http://schemas.openxmlformats.org/drawingml/2006/main">
              <a:ext uri="{FF2B5EF4-FFF2-40B4-BE49-F238E27FC236}">
                <a16:creationId xmlns:a16="http://schemas.microsoft.com/office/drawing/2014/main" id="{9046DD33-F89E-47DE-A21B-0FB745DFBEC2}"/>
              </a:ext>
            </a:extLst>
          </p:cNvPr>
          <p:cNvSpPr>
            <a:spLocks xmlns:a="http://schemas.openxmlformats.org/drawingml/2006/main" noGrp="1"/>
          </p:cNvSpPr>
          <p:nvPr/>
        </p:nvSpPr>
        <p:spPr>
          <a:xfrm xmlns:a="http://schemas.openxmlformats.org/drawingml/2006/main">
            <a:off x="11106150" y="6457950"/>
            <a:ext cx="47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00" b="0">
                <a:solidFill>
                  <a:srgbClr val="566760"/>
                </a:solidFill>
                <a:latin typeface="Helvetica Neue"/>
                <a:ea typeface="Helvetica Neue"/>
                <a:cs typeface="Helvetica Neue"/>
              </a:defRPr>
            </a:defPPr>
            <a:lvl1pPr algn="r">
              <a:defRPr sz="1200" b="0">
                <a:solidFill>
                  <a:srgbClr val="566760"/>
                </a:solidFill>
                <a:latin typeface="Helvetica Neue"/>
                <a:ea typeface="Helvetica Neue"/>
                <a:cs typeface="Helvetica Neue"/>
              </a:defRPr>
            </a:lvl1pPr>
            <a:lvl2pPr algn="r">
              <a:defRPr sz="1200" b="0">
                <a:solidFill>
                  <a:srgbClr val="566760"/>
                </a:solidFill>
                <a:latin typeface="Helvetica Neue"/>
                <a:ea typeface="Helvetica Neue"/>
                <a:cs typeface="Helvetica Neue"/>
              </a:defRPr>
            </a:lvl2pPr>
            <a:lvl3pPr algn="r">
              <a:defRPr sz="1200" b="0">
                <a:solidFill>
                  <a:srgbClr val="566760"/>
                </a:solidFill>
                <a:latin typeface="Helvetica Neue"/>
                <a:ea typeface="Helvetica Neue"/>
                <a:cs typeface="Helvetica Neue"/>
              </a:defRPr>
            </a:lvl3pPr>
            <a:lvl4pPr algn="r">
              <a:defRPr sz="1200" b="0">
                <a:solidFill>
                  <a:srgbClr val="566760"/>
                </a:solidFill>
                <a:latin typeface="Helvetica Neue"/>
                <a:ea typeface="Helvetica Neue"/>
                <a:cs typeface="Helvetica Neue"/>
              </a:defRPr>
            </a:lvl4pPr>
            <a:lvl5pPr algn="r">
              <a:defRPr sz="1200" b="0">
                <a:solidFill>
                  <a:srgbClr val="566760"/>
                </a:solidFill>
                <a:latin typeface="Helvetica Neue"/>
                <a:ea typeface="Helvetica Neue"/>
                <a:cs typeface="Helvetica Neue"/>
              </a:defRPr>
            </a:lvl5pPr>
            <a:lvl6pPr algn="r">
              <a:defRPr sz="1200" b="0">
                <a:solidFill>
                  <a:srgbClr val="566760"/>
                </a:solidFill>
                <a:latin typeface="Helvetica Neue"/>
                <a:ea typeface="Helvetica Neue"/>
                <a:cs typeface="Helvetica Neue"/>
              </a:defRPr>
            </a:lvl6pPr>
            <a:lvl7pPr algn="r">
              <a:defRPr sz="1200" b="0">
                <a:solidFill>
                  <a:srgbClr val="566760"/>
                </a:solidFill>
                <a:latin typeface="Helvetica Neue"/>
                <a:ea typeface="Helvetica Neue"/>
                <a:cs typeface="Helvetica Neue"/>
              </a:defRPr>
            </a:lvl7pPr>
            <a:lvl8pPr algn="r">
              <a:defRPr sz="1200" b="0">
                <a:solidFill>
                  <a:srgbClr val="566760"/>
                </a:solidFill>
                <a:latin typeface="Helvetica Neue"/>
                <a:ea typeface="Helvetica Neue"/>
                <a:cs typeface="Helvetica Neue"/>
              </a:defRPr>
            </a:lvl8pPr>
            <a:lvl9pPr algn="r">
              <a:defRPr sz="1200" b="0">
                <a:solidFill>
                  <a:srgbClr val="566760"/>
                </a:solidFill>
                <a:latin typeface="Helvetica Neue"/>
                <a:ea typeface="Helvetica Neue"/>
                <a:cs typeface="Helvetica Neue"/>
              </a:defRPr>
            </a:lvl9pPr>
          </a:lstStyle>
          <a:p xmlns:a="http://schemas.openxmlformats.org/drawingml/2006/main">
            <a:pPr algn="r">
              <a:defRPr sz="1200" b="0">
                <a:solidFill>
                  <a:srgbClr val="566760"/>
                </a:solidFill>
                <a:latin typeface="Helvetica Neue"/>
                <a:ea typeface="Helvetica Neue"/>
                <a:cs typeface="Helvetica Neue"/>
              </a:defRPr>
            </a:pPr>
            <a:r>
              <a:rPr sz="1200" b="0">
                <a:solidFill>
                  <a:srgbClr val="566760"/>
                </a:solidFill>
                <a:latin typeface="Helvetica Neue"/>
                <a:ea typeface="Helvetica Neue"/>
                <a:cs typeface="Helvetica Neue"/>
              </a:rPr>
              <a:t>06</a:t>
            </a:r>
          </a:p>
        </p:txBody>
      </p:sp>
      <p:sp>
        <p:nvSpPr>
          <p:cNvPr id="3" name="">
            <a:extLst xmlns:a="http://schemas.openxmlformats.org/drawingml/2006/main">
              <a:ext uri="{FF2B5EF4-FFF2-40B4-BE49-F238E27FC236}">
                <a16:creationId xmlns:a16="http://schemas.microsoft.com/office/drawing/2014/main" id="{E4149B04-2CD7-4A34-A29F-E197F565FFBC}"/>
              </a:ext>
            </a:extLst>
          </p:cNvPr>
          <p:cNvSpPr>
            <a:spLocks xmlns:a="http://schemas.openxmlformats.org/drawingml/2006/main" noGrp="1"/>
          </p:cNvSpPr>
          <p:nvPr/>
        </p:nvSpPr>
        <p:spPr>
          <a:xfrm xmlns:a="http://schemas.openxmlformats.org/drawingml/2006/main">
            <a:off x="628650" y="1771650"/>
            <a:ext cx="2857500" cy="1085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925" b="1">
                <a:solidFill>
                  <a:srgbClr val="17251F"/>
                </a:solidFill>
                <a:latin typeface="Helvetica Neue"/>
                <a:ea typeface="Helvetica Neue"/>
                <a:cs typeface="Helvetica Neue"/>
              </a:defRPr>
            </a:defPPr>
            <a:lvl1pPr>
              <a:defRPr sz="2925" b="1">
                <a:solidFill>
                  <a:srgbClr val="17251F"/>
                </a:solidFill>
                <a:latin typeface="Helvetica Neue"/>
                <a:ea typeface="Helvetica Neue"/>
                <a:cs typeface="Helvetica Neue"/>
              </a:defRPr>
            </a:lvl1pPr>
            <a:lvl2pPr>
              <a:defRPr sz="2925" b="1">
                <a:solidFill>
                  <a:srgbClr val="17251F"/>
                </a:solidFill>
                <a:latin typeface="Helvetica Neue"/>
                <a:ea typeface="Helvetica Neue"/>
                <a:cs typeface="Helvetica Neue"/>
              </a:defRPr>
            </a:lvl2pPr>
            <a:lvl3pPr>
              <a:defRPr sz="2925" b="1">
                <a:solidFill>
                  <a:srgbClr val="17251F"/>
                </a:solidFill>
                <a:latin typeface="Helvetica Neue"/>
                <a:ea typeface="Helvetica Neue"/>
                <a:cs typeface="Helvetica Neue"/>
              </a:defRPr>
            </a:lvl3pPr>
            <a:lvl4pPr>
              <a:defRPr sz="2925" b="1">
                <a:solidFill>
                  <a:srgbClr val="17251F"/>
                </a:solidFill>
                <a:latin typeface="Helvetica Neue"/>
                <a:ea typeface="Helvetica Neue"/>
                <a:cs typeface="Helvetica Neue"/>
              </a:defRPr>
            </a:lvl4pPr>
            <a:lvl5pPr>
              <a:defRPr sz="2925" b="1">
                <a:solidFill>
                  <a:srgbClr val="17251F"/>
                </a:solidFill>
                <a:latin typeface="Helvetica Neue"/>
                <a:ea typeface="Helvetica Neue"/>
                <a:cs typeface="Helvetica Neue"/>
              </a:defRPr>
            </a:lvl5pPr>
            <a:lvl6pPr>
              <a:defRPr sz="2925" b="1">
                <a:solidFill>
                  <a:srgbClr val="17251F"/>
                </a:solidFill>
                <a:latin typeface="Helvetica Neue"/>
                <a:ea typeface="Helvetica Neue"/>
                <a:cs typeface="Helvetica Neue"/>
              </a:defRPr>
            </a:lvl6pPr>
            <a:lvl7pPr>
              <a:defRPr sz="2925" b="1">
                <a:solidFill>
                  <a:srgbClr val="17251F"/>
                </a:solidFill>
                <a:latin typeface="Helvetica Neue"/>
                <a:ea typeface="Helvetica Neue"/>
                <a:cs typeface="Helvetica Neue"/>
              </a:defRPr>
            </a:lvl7pPr>
            <a:lvl8pPr>
              <a:defRPr sz="2925" b="1">
                <a:solidFill>
                  <a:srgbClr val="17251F"/>
                </a:solidFill>
                <a:latin typeface="Helvetica Neue"/>
                <a:ea typeface="Helvetica Neue"/>
                <a:cs typeface="Helvetica Neue"/>
              </a:defRPr>
            </a:lvl8pPr>
            <a:lvl9pPr>
              <a:defRPr sz="2925" b="1">
                <a:solidFill>
                  <a:srgbClr val="17251F"/>
                </a:solidFill>
                <a:latin typeface="Helvetica Neue"/>
                <a:ea typeface="Helvetica Neue"/>
                <a:cs typeface="Helvetica Neue"/>
              </a:defRPr>
            </a:lvl9pPr>
          </a:lstStyle>
          <a:p xmlns:a="http://schemas.openxmlformats.org/drawingml/2006/main">
            <a:pPr>
              <a:defRPr sz="2925" b="1">
                <a:solidFill>
                  <a:srgbClr val="17251F"/>
                </a:solidFill>
                <a:latin typeface="Helvetica Neue"/>
                <a:ea typeface="Helvetica Neue"/>
                <a:cs typeface="Helvetica Neue"/>
              </a:defRPr>
            </a:pPr>
            <a:r>
              <a:rPr sz="2925" b="1">
                <a:solidFill>
                  <a:srgbClr val="17251F"/>
                </a:solidFill>
                <a:latin typeface="Helvetica Neue"/>
                <a:ea typeface="Helvetica Neue"/>
                <a:cs typeface="Helvetica Neue"/>
              </a:rPr>
              <a:t>A fixed map</a:t>
            </a:r>
          </a:p>
          <a:p xmlns:a="http://schemas.openxmlformats.org/drawingml/2006/main">
            <a:pPr>
              <a:defRPr sz="2925" b="1">
                <a:solidFill>
                  <a:srgbClr val="17251F"/>
                </a:solidFill>
                <a:latin typeface="Helvetica Neue"/>
                <a:ea typeface="Helvetica Neue"/>
                <a:cs typeface="Helvetica Neue"/>
              </a:defRPr>
            </a:pPr>
            <a:r>
              <a:rPr sz="2925" b="1">
                <a:solidFill>
                  <a:srgbClr val="17251F"/>
                </a:solidFill>
                <a:latin typeface="Helvetica Neue"/>
                <a:ea typeface="Helvetica Neue"/>
                <a:cs typeface="Helvetica Neue"/>
              </a:rPr>
              <a:t>for comparison</a:t>
            </a:r>
          </a:p>
        </p:txBody>
      </p:sp>
      <p:sp>
        <p:nvSpPr>
          <p:cNvPr id="4" name="">
            <a:extLst xmlns:a="http://schemas.openxmlformats.org/drawingml/2006/main">
              <a:ext uri="{FF2B5EF4-FFF2-40B4-BE49-F238E27FC236}">
                <a16:creationId xmlns:a16="http://schemas.microsoft.com/office/drawing/2014/main" id="{FEBBA6CD-7F47-43A7-8C11-1F07A53EB30B}"/>
              </a:ext>
            </a:extLst>
          </p:cNvPr>
          <p:cNvSpPr>
            <a:spLocks xmlns:a="http://schemas.openxmlformats.org/drawingml/2006/main" noGrp="1"/>
          </p:cNvSpPr>
          <p:nvPr/>
        </p:nvSpPr>
        <p:spPr>
          <a:xfrm xmlns:a="http://schemas.openxmlformats.org/drawingml/2006/main">
            <a:off x="628650" y="3314700"/>
            <a:ext cx="287655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75" b="0">
                <a:solidFill>
                  <a:srgbClr val="566760"/>
                </a:solidFill>
                <a:latin typeface="Helvetica Neue"/>
                <a:ea typeface="Helvetica Neue"/>
                <a:cs typeface="Helvetica Neue"/>
              </a:defRPr>
            </a:defPPr>
            <a:lvl1pPr>
              <a:defRPr sz="1875" b="0">
                <a:solidFill>
                  <a:srgbClr val="566760"/>
                </a:solidFill>
                <a:latin typeface="Helvetica Neue"/>
                <a:ea typeface="Helvetica Neue"/>
                <a:cs typeface="Helvetica Neue"/>
              </a:defRPr>
            </a:lvl1pPr>
            <a:lvl2pPr>
              <a:defRPr sz="1875" b="0">
                <a:solidFill>
                  <a:srgbClr val="566760"/>
                </a:solidFill>
                <a:latin typeface="Helvetica Neue"/>
                <a:ea typeface="Helvetica Neue"/>
                <a:cs typeface="Helvetica Neue"/>
              </a:defRPr>
            </a:lvl2pPr>
            <a:lvl3pPr>
              <a:defRPr sz="1875" b="0">
                <a:solidFill>
                  <a:srgbClr val="566760"/>
                </a:solidFill>
                <a:latin typeface="Helvetica Neue"/>
                <a:ea typeface="Helvetica Neue"/>
                <a:cs typeface="Helvetica Neue"/>
              </a:defRPr>
            </a:lvl3pPr>
            <a:lvl4pPr>
              <a:defRPr sz="1875" b="0">
                <a:solidFill>
                  <a:srgbClr val="566760"/>
                </a:solidFill>
                <a:latin typeface="Helvetica Neue"/>
                <a:ea typeface="Helvetica Neue"/>
                <a:cs typeface="Helvetica Neue"/>
              </a:defRPr>
            </a:lvl4pPr>
            <a:lvl5pPr>
              <a:defRPr sz="1875" b="0">
                <a:solidFill>
                  <a:srgbClr val="566760"/>
                </a:solidFill>
                <a:latin typeface="Helvetica Neue"/>
                <a:ea typeface="Helvetica Neue"/>
                <a:cs typeface="Helvetica Neue"/>
              </a:defRPr>
            </a:lvl5pPr>
            <a:lvl6pPr>
              <a:defRPr sz="1875" b="0">
                <a:solidFill>
                  <a:srgbClr val="566760"/>
                </a:solidFill>
                <a:latin typeface="Helvetica Neue"/>
                <a:ea typeface="Helvetica Neue"/>
                <a:cs typeface="Helvetica Neue"/>
              </a:defRPr>
            </a:lvl6pPr>
            <a:lvl7pPr>
              <a:defRPr sz="1875" b="0">
                <a:solidFill>
                  <a:srgbClr val="566760"/>
                </a:solidFill>
                <a:latin typeface="Helvetica Neue"/>
                <a:ea typeface="Helvetica Neue"/>
                <a:cs typeface="Helvetica Neue"/>
              </a:defRPr>
            </a:lvl7pPr>
            <a:lvl8pPr>
              <a:defRPr sz="1875" b="0">
                <a:solidFill>
                  <a:srgbClr val="566760"/>
                </a:solidFill>
                <a:latin typeface="Helvetica Neue"/>
                <a:ea typeface="Helvetica Neue"/>
                <a:cs typeface="Helvetica Neue"/>
              </a:defRPr>
            </a:lvl8pPr>
            <a:lvl9pPr>
              <a:defRPr sz="1875" b="0">
                <a:solidFill>
                  <a:srgbClr val="566760"/>
                </a:solidFill>
                <a:latin typeface="Helvetica Neue"/>
                <a:ea typeface="Helvetica Neue"/>
                <a:cs typeface="Helvetica Neue"/>
              </a:defRPr>
            </a:lvl9pPr>
          </a:lstStyle>
          <a:p xmlns:a="http://schemas.openxmlformats.org/drawingml/2006/main">
            <a:pPr>
              <a:defRPr sz="1875" b="0">
                <a:solidFill>
                  <a:srgbClr val="566760"/>
                </a:solidFill>
                <a:latin typeface="Helvetica Neue"/>
                <a:ea typeface="Helvetica Neue"/>
                <a:cs typeface="Helvetica Neue"/>
              </a:defRPr>
            </a:pPr>
            <a:r>
              <a:rPr sz="1875" b="0">
                <a:solidFill>
                  <a:srgbClr val="566760"/>
                </a:solidFill>
                <a:latin typeface="Helvetica Neue"/>
                <a:ea typeface="Helvetica Neue"/>
                <a:cs typeface="Helvetica Neue"/>
              </a:rPr>
              <a:t>Select products, inspect</a:t>
            </a:r>
          </a:p>
          <a:p xmlns:a="http://schemas.openxmlformats.org/drawingml/2006/main">
            <a:pPr>
              <a:defRPr sz="1875" b="0">
                <a:solidFill>
                  <a:srgbClr val="566760"/>
                </a:solidFill>
                <a:latin typeface="Helvetica Neue"/>
                <a:ea typeface="Helvetica Neue"/>
                <a:cs typeface="Helvetica Neue"/>
              </a:defRPr>
            </a:pPr>
            <a:r>
              <a:rPr sz="1875" b="0">
                <a:solidFill>
                  <a:srgbClr val="566760"/>
                </a:solidFill>
                <a:latin typeface="Helvetica Neue"/>
                <a:ea typeface="Helvetica Neue"/>
                <a:cs typeface="Helvetica Neue"/>
              </a:rPr>
              <a:t>photos and compare the</a:t>
            </a:r>
          </a:p>
          <a:p xmlns:a="http://schemas.openxmlformats.org/drawingml/2006/main">
            <a:pPr>
              <a:defRPr sz="1875" b="0">
                <a:solidFill>
                  <a:srgbClr val="566760"/>
                </a:solidFill>
                <a:latin typeface="Helvetica Neue"/>
                <a:ea typeface="Helvetica Neue"/>
                <a:cs typeface="Helvetica Neue"/>
              </a:defRPr>
            </a:pPr>
            <a:r>
              <a:rPr sz="1875" b="0">
                <a:solidFill>
                  <a:srgbClr val="566760"/>
                </a:solidFill>
                <a:latin typeface="Helvetica Neue"/>
                <a:ea typeface="Helvetica Neue"/>
                <a:cs typeface="Helvetica Neue"/>
              </a:rPr>
              <a:t>current Top 10.</a:t>
            </a:r>
          </a:p>
        </p:txBody>
      </p:sp>
      <p:sp>
        <p:nvSpPr>
          <p:cNvPr id="5" name="">
            <a:extLst xmlns:a="http://schemas.openxmlformats.org/drawingml/2006/main">
              <a:ext uri="{FF2B5EF4-FFF2-40B4-BE49-F238E27FC236}">
                <a16:creationId xmlns:a16="http://schemas.microsoft.com/office/drawing/2014/main" id="{22B0195B-698D-49D7-B0F0-3D7EF4E3FE94}"/>
              </a:ext>
            </a:extLst>
          </p:cNvPr>
          <p:cNvSpPr>
            <a:spLocks xmlns:a="http://schemas.openxmlformats.org/drawingml/2006/main" noGrp="1"/>
          </p:cNvSpPr>
          <p:nvPr/>
        </p:nvSpPr>
        <p:spPr>
          <a:xfrm xmlns:a="http://schemas.openxmlformats.org/drawingml/2006/main">
            <a:off x="628650" y="5067300"/>
            <a:ext cx="28765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566760"/>
                </a:solidFill>
                <a:latin typeface="Helvetica Neue"/>
                <a:ea typeface="Helvetica Neue"/>
                <a:cs typeface="Helvetica Neue"/>
              </a:defRPr>
            </a:defPPr>
            <a:lvl1pPr>
              <a:defRPr sz="1725" b="0">
                <a:solidFill>
                  <a:srgbClr val="566760"/>
                </a:solidFill>
                <a:latin typeface="Helvetica Neue"/>
                <a:ea typeface="Helvetica Neue"/>
                <a:cs typeface="Helvetica Neue"/>
              </a:defRPr>
            </a:lvl1pPr>
            <a:lvl2pPr>
              <a:defRPr sz="1725" b="0">
                <a:solidFill>
                  <a:srgbClr val="566760"/>
                </a:solidFill>
                <a:latin typeface="Helvetica Neue"/>
                <a:ea typeface="Helvetica Neue"/>
                <a:cs typeface="Helvetica Neue"/>
              </a:defRPr>
            </a:lvl2pPr>
            <a:lvl3pPr>
              <a:defRPr sz="1725" b="0">
                <a:solidFill>
                  <a:srgbClr val="566760"/>
                </a:solidFill>
                <a:latin typeface="Helvetica Neue"/>
                <a:ea typeface="Helvetica Neue"/>
                <a:cs typeface="Helvetica Neue"/>
              </a:defRPr>
            </a:lvl3pPr>
            <a:lvl4pPr>
              <a:defRPr sz="1725" b="0">
                <a:solidFill>
                  <a:srgbClr val="566760"/>
                </a:solidFill>
                <a:latin typeface="Helvetica Neue"/>
                <a:ea typeface="Helvetica Neue"/>
                <a:cs typeface="Helvetica Neue"/>
              </a:defRPr>
            </a:lvl4pPr>
            <a:lvl5pPr>
              <a:defRPr sz="1725" b="0">
                <a:solidFill>
                  <a:srgbClr val="566760"/>
                </a:solidFill>
                <a:latin typeface="Helvetica Neue"/>
                <a:ea typeface="Helvetica Neue"/>
                <a:cs typeface="Helvetica Neue"/>
              </a:defRPr>
            </a:lvl5pPr>
            <a:lvl6pPr>
              <a:defRPr sz="1725" b="0">
                <a:solidFill>
                  <a:srgbClr val="566760"/>
                </a:solidFill>
                <a:latin typeface="Helvetica Neue"/>
                <a:ea typeface="Helvetica Neue"/>
                <a:cs typeface="Helvetica Neue"/>
              </a:defRPr>
            </a:lvl6pPr>
            <a:lvl7pPr>
              <a:defRPr sz="1725" b="0">
                <a:solidFill>
                  <a:srgbClr val="566760"/>
                </a:solidFill>
                <a:latin typeface="Helvetica Neue"/>
                <a:ea typeface="Helvetica Neue"/>
                <a:cs typeface="Helvetica Neue"/>
              </a:defRPr>
            </a:lvl7pPr>
            <a:lvl8pPr>
              <a:defRPr sz="1725" b="0">
                <a:solidFill>
                  <a:srgbClr val="566760"/>
                </a:solidFill>
                <a:latin typeface="Helvetica Neue"/>
                <a:ea typeface="Helvetica Neue"/>
                <a:cs typeface="Helvetica Neue"/>
              </a:defRPr>
            </a:lvl8pPr>
            <a:lvl9pPr>
              <a:defRPr sz="1725" b="0">
                <a:solidFill>
                  <a:srgbClr val="566760"/>
                </a:solidFill>
                <a:latin typeface="Helvetica Neue"/>
                <a:ea typeface="Helvetica Neue"/>
                <a:cs typeface="Helvetica Neue"/>
              </a:defRPr>
            </a:lvl9pPr>
          </a:lstStyle>
          <a:p xmlns:a="http://schemas.openxmlformats.org/drawingml/2006/main">
            <a:pPr>
              <a:defRPr sz="1725" b="0">
                <a:solidFill>
                  <a:srgbClr val="566760"/>
                </a:solidFill>
                <a:latin typeface="Helvetica Neue"/>
                <a:ea typeface="Helvetica Neue"/>
                <a:cs typeface="Helvetica Neue"/>
              </a:defRPr>
            </a:pPr>
            <a:r>
              <a:rPr sz="1725" b="0">
                <a:solidFill>
                  <a:srgbClr val="566760"/>
                </a:solidFill>
                <a:latin typeface="Helvetica Neue"/>
                <a:ea typeface="Helvetica Neue"/>
                <a:cs typeface="Helvetica Neue"/>
              </a:rPr>
              <a:t>Fixed PCA coordinates.</a:t>
            </a:r>
          </a:p>
          <a:p xmlns:a="http://schemas.openxmlformats.org/drawingml/2006/main">
            <a:pPr>
              <a:defRPr sz="1725" b="0">
                <a:solidFill>
                  <a:srgbClr val="566760"/>
                </a:solidFill>
                <a:latin typeface="Helvetica Neue"/>
                <a:ea typeface="Helvetica Neue"/>
                <a:cs typeface="Helvetica Neue"/>
              </a:defRPr>
            </a:pPr>
            <a:r>
              <a:rPr sz="1725" b="0">
                <a:solidFill>
                  <a:srgbClr val="566760"/>
                </a:solidFill>
                <a:latin typeface="Helvetica Neue"/>
                <a:ea typeface="Helvetica Neue"/>
                <a:cs typeface="Helvetica Neue"/>
              </a:rPr>
              <a:t>The 2D projection loses</a:t>
            </a:r>
          </a:p>
          <a:p xmlns:a="http://schemas.openxmlformats.org/drawingml/2006/main">
            <a:pPr>
              <a:defRPr sz="1725" b="0">
                <a:solidFill>
                  <a:srgbClr val="566760"/>
                </a:solidFill>
                <a:latin typeface="Helvetica Neue"/>
                <a:ea typeface="Helvetica Neue"/>
                <a:cs typeface="Helvetica Neue"/>
              </a:defRPr>
            </a:pPr>
            <a:r>
              <a:rPr sz="1725" b="0">
                <a:solidFill>
                  <a:srgbClr val="566760"/>
                </a:solidFill>
                <a:latin typeface="Helvetica Neue"/>
                <a:ea typeface="Helvetica Neue"/>
                <a:cs typeface="Helvetica Neue"/>
              </a:rPr>
              <a:t>information.</a:t>
            </a:r>
          </a:p>
        </p:txBody>
      </p:sp>
      <p:pic>
        <p:nvPicPr>
          <p:cNvPr id="6" name="">
            <a:extLst xmlns:a="http://schemas.openxmlformats.org/drawingml/2006/main">
              <a:ext uri="{FF2B5EF4-FFF2-40B4-BE49-F238E27FC236}">
                <a16:creationId xmlns:a16="http://schemas.microsoft.com/office/drawing/2014/main" id="{0D6B25D0-FA20-494E-92E3-EF6FD6A5A9E3}"/>
              </a:ext>
            </a:extLst>
          </p:cNvPr>
          <p:cNvPicPr>
            <a:picLocks xmlns:a="http://schemas.openxmlformats.org/drawingml/2006/main" noChangeAspect="1"/>
          </p:cNvPicPr>
          <p:nvPr/>
        </p:nvPicPr>
        <p:blipFill>
          <a:blip xmlns:r="http://schemas.openxmlformats.org/officeDocument/2006/relationships" xmlns:a="http://schemas.openxmlformats.org/drawingml/2006/main" r:embed="R02dec5f20b2647ac"/>
          <a:srcRect xmlns:a="http://schemas.openxmlformats.org/drawingml/2006/main" l="23000" t="36000" r="1500" b="1500"/>
          <a:stretch xmlns:a="http://schemas.openxmlformats.org/drawingml/2006/main"/>
        </p:blipFill>
        <p:spPr>
          <a:xfrm xmlns:a="http://schemas.openxmlformats.org/drawingml/2006/main">
            <a:off x="3829050" y="1609725"/>
            <a:ext cx="7753350" cy="4457178"/>
          </a:xfrm>
          <a:prstGeom xmlns:a="http://schemas.openxmlformats.org/drawingml/2006/main" prst="rect">
            <a:avLst/>
          </a:prstGeom>
        </p:spPr>
      </p:pic>
    </p:spTree>
    <p:extLst>
      <p:ext uri="{BB962C8B-B14F-4D97-AF65-F5344CB8AC3E}">
        <p14:creationId xmlns:p14="http://schemas.microsoft.com/office/powerpoint/2010/main" val="549581724"/>
      </p:ext>
    </p:extLst>
  </p:cSld>
</p:sld>
</file>

<file path=ppt/slides/slide7.xml><?xml version="1.0" encoding="utf-8"?>
<p:sld xmlns:p="http://schemas.openxmlformats.org/presentationml/2006/main">
  <p:cSld>
    <p:bg>
      <p:bgPr>
        <a:solidFill xmlns:a="http://schemas.openxmlformats.org/drawingml/2006/main">
          <a:srgbClr val="FAF8F3"/>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812D9E1E-48A2-4A4B-B857-D5F1ABCAA3DE}"/>
              </a:ext>
            </a:extLst>
          </p:cNvPr>
          <p:cNvSpPr>
            <a:spLocks xmlns:a="http://schemas.openxmlformats.org/drawingml/2006/main" noGrp="1"/>
          </p:cNvSpPr>
          <p:nvPr/>
        </p:nvSpPr>
        <p:spPr>
          <a:xfrm xmlns:a="http://schemas.openxmlformats.org/drawingml/2006/main">
            <a:off x="609600" y="3810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150" b="1">
                <a:solidFill>
                  <a:srgbClr val="17251F"/>
                </a:solidFill>
                <a:latin typeface="Helvetica Neue"/>
                <a:ea typeface="Helvetica Neue"/>
                <a:cs typeface="Helvetica Neue"/>
              </a:defRPr>
            </a:defPPr>
            <a:lvl1pPr>
              <a:defRPr sz="3150" b="1">
                <a:solidFill>
                  <a:srgbClr val="17251F"/>
                </a:solidFill>
                <a:latin typeface="Helvetica Neue"/>
                <a:ea typeface="Helvetica Neue"/>
                <a:cs typeface="Helvetica Neue"/>
              </a:defRPr>
            </a:lvl1pPr>
            <a:lvl2pPr>
              <a:defRPr sz="3150" b="1">
                <a:solidFill>
                  <a:srgbClr val="17251F"/>
                </a:solidFill>
                <a:latin typeface="Helvetica Neue"/>
                <a:ea typeface="Helvetica Neue"/>
                <a:cs typeface="Helvetica Neue"/>
              </a:defRPr>
            </a:lvl2pPr>
            <a:lvl3pPr>
              <a:defRPr sz="3150" b="1">
                <a:solidFill>
                  <a:srgbClr val="17251F"/>
                </a:solidFill>
                <a:latin typeface="Helvetica Neue"/>
                <a:ea typeface="Helvetica Neue"/>
                <a:cs typeface="Helvetica Neue"/>
              </a:defRPr>
            </a:lvl3pPr>
            <a:lvl4pPr>
              <a:defRPr sz="3150" b="1">
                <a:solidFill>
                  <a:srgbClr val="17251F"/>
                </a:solidFill>
                <a:latin typeface="Helvetica Neue"/>
                <a:ea typeface="Helvetica Neue"/>
                <a:cs typeface="Helvetica Neue"/>
              </a:defRPr>
            </a:lvl4pPr>
            <a:lvl5pPr>
              <a:defRPr sz="3150" b="1">
                <a:solidFill>
                  <a:srgbClr val="17251F"/>
                </a:solidFill>
                <a:latin typeface="Helvetica Neue"/>
                <a:ea typeface="Helvetica Neue"/>
                <a:cs typeface="Helvetica Neue"/>
              </a:defRPr>
            </a:lvl5pPr>
            <a:lvl6pPr>
              <a:defRPr sz="3150" b="1">
                <a:solidFill>
                  <a:srgbClr val="17251F"/>
                </a:solidFill>
                <a:latin typeface="Helvetica Neue"/>
                <a:ea typeface="Helvetica Neue"/>
                <a:cs typeface="Helvetica Neue"/>
              </a:defRPr>
            </a:lvl6pPr>
            <a:lvl7pPr>
              <a:defRPr sz="3150" b="1">
                <a:solidFill>
                  <a:srgbClr val="17251F"/>
                </a:solidFill>
                <a:latin typeface="Helvetica Neue"/>
                <a:ea typeface="Helvetica Neue"/>
                <a:cs typeface="Helvetica Neue"/>
              </a:defRPr>
            </a:lvl7pPr>
            <a:lvl8pPr>
              <a:defRPr sz="3150" b="1">
                <a:solidFill>
                  <a:srgbClr val="17251F"/>
                </a:solidFill>
                <a:latin typeface="Helvetica Neue"/>
                <a:ea typeface="Helvetica Neue"/>
                <a:cs typeface="Helvetica Neue"/>
              </a:defRPr>
            </a:lvl8pPr>
            <a:lvl9pPr>
              <a:defRPr sz="3150" b="1">
                <a:solidFill>
                  <a:srgbClr val="17251F"/>
                </a:solidFill>
                <a:latin typeface="Helvetica Neue"/>
                <a:ea typeface="Helvetica Neue"/>
                <a:cs typeface="Helvetica Neue"/>
              </a:defRPr>
            </a:lvl9pPr>
          </a:lstStyle>
          <a:p xmlns:a="http://schemas.openxmlformats.org/drawingml/2006/main">
            <a:pPr>
              <a:defRPr sz="3150" b="1">
                <a:solidFill>
                  <a:srgbClr val="17251F"/>
                </a:solidFill>
                <a:latin typeface="Helvetica Neue"/>
                <a:ea typeface="Helvetica Neue"/>
                <a:cs typeface="Helvetica Neue"/>
              </a:defRPr>
            </a:pPr>
            <a:r>
              <a:rPr sz="3150" b="1">
                <a:solidFill>
                  <a:srgbClr val="17251F"/>
                </a:solidFill>
                <a:latin typeface="Helvetica Neue"/>
                <a:ea typeface="Helvetica Neue"/>
                <a:cs typeface="Helvetica Neue"/>
              </a:rPr>
              <a:t>Three dataset releases answer different questions</a:t>
            </a:r>
          </a:p>
        </p:txBody>
      </p:sp>
      <p:sp>
        <p:nvSpPr>
          <p:cNvPr id="2" name="">
            <a:extLst xmlns:a="http://schemas.openxmlformats.org/drawingml/2006/main">
              <a:ext uri="{FF2B5EF4-FFF2-40B4-BE49-F238E27FC236}">
                <a16:creationId xmlns:a16="http://schemas.microsoft.com/office/drawing/2014/main" id="{5568F088-0A3D-4AD6-9DF7-5D24983DE9EA}"/>
              </a:ext>
            </a:extLst>
          </p:cNvPr>
          <p:cNvSpPr>
            <a:spLocks xmlns:a="http://schemas.openxmlformats.org/drawingml/2006/main" noGrp="1"/>
          </p:cNvSpPr>
          <p:nvPr/>
        </p:nvSpPr>
        <p:spPr>
          <a:xfrm xmlns:a="http://schemas.openxmlformats.org/drawingml/2006/main">
            <a:off x="628650" y="1057275"/>
            <a:ext cx="109347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566760"/>
                </a:solidFill>
                <a:latin typeface="Helvetica Neue"/>
                <a:ea typeface="Helvetica Neue"/>
                <a:cs typeface="Helvetica Neue"/>
              </a:defRPr>
            </a:defPPr>
            <a:lvl1pPr>
              <a:defRPr sz="1800" b="0">
                <a:solidFill>
                  <a:srgbClr val="566760"/>
                </a:solidFill>
                <a:latin typeface="Helvetica Neue"/>
                <a:ea typeface="Helvetica Neue"/>
                <a:cs typeface="Helvetica Neue"/>
              </a:defRPr>
            </a:lvl1pPr>
            <a:lvl2pPr>
              <a:defRPr sz="1800" b="0">
                <a:solidFill>
                  <a:srgbClr val="566760"/>
                </a:solidFill>
                <a:latin typeface="Helvetica Neue"/>
                <a:ea typeface="Helvetica Neue"/>
                <a:cs typeface="Helvetica Neue"/>
              </a:defRPr>
            </a:lvl2pPr>
            <a:lvl3pPr>
              <a:defRPr sz="1800" b="0">
                <a:solidFill>
                  <a:srgbClr val="566760"/>
                </a:solidFill>
                <a:latin typeface="Helvetica Neue"/>
                <a:ea typeface="Helvetica Neue"/>
                <a:cs typeface="Helvetica Neue"/>
              </a:defRPr>
            </a:lvl3pPr>
            <a:lvl4pPr>
              <a:defRPr sz="1800" b="0">
                <a:solidFill>
                  <a:srgbClr val="566760"/>
                </a:solidFill>
                <a:latin typeface="Helvetica Neue"/>
                <a:ea typeface="Helvetica Neue"/>
                <a:cs typeface="Helvetica Neue"/>
              </a:defRPr>
            </a:lvl4pPr>
            <a:lvl5pPr>
              <a:defRPr sz="1800" b="0">
                <a:solidFill>
                  <a:srgbClr val="566760"/>
                </a:solidFill>
                <a:latin typeface="Helvetica Neue"/>
                <a:ea typeface="Helvetica Neue"/>
                <a:cs typeface="Helvetica Neue"/>
              </a:defRPr>
            </a:lvl5pPr>
            <a:lvl6pPr>
              <a:defRPr sz="1800" b="0">
                <a:solidFill>
                  <a:srgbClr val="566760"/>
                </a:solidFill>
                <a:latin typeface="Helvetica Neue"/>
                <a:ea typeface="Helvetica Neue"/>
                <a:cs typeface="Helvetica Neue"/>
              </a:defRPr>
            </a:lvl6pPr>
            <a:lvl7pPr>
              <a:defRPr sz="1800" b="0">
                <a:solidFill>
                  <a:srgbClr val="566760"/>
                </a:solidFill>
                <a:latin typeface="Helvetica Neue"/>
                <a:ea typeface="Helvetica Neue"/>
                <a:cs typeface="Helvetica Neue"/>
              </a:defRPr>
            </a:lvl7pPr>
            <a:lvl8pPr>
              <a:defRPr sz="1800" b="0">
                <a:solidFill>
                  <a:srgbClr val="566760"/>
                </a:solidFill>
                <a:latin typeface="Helvetica Neue"/>
                <a:ea typeface="Helvetica Neue"/>
                <a:cs typeface="Helvetica Neue"/>
              </a:defRPr>
            </a:lvl8pPr>
            <a:lvl9pPr>
              <a:defRPr sz="1800" b="0">
                <a:solidFill>
                  <a:srgbClr val="566760"/>
                </a:solidFill>
                <a:latin typeface="Helvetica Neue"/>
                <a:ea typeface="Helvetica Neue"/>
                <a:cs typeface="Helvetica Neue"/>
              </a:defRPr>
            </a:lvl9pPr>
          </a:lstStyle>
          <a:p xmlns:a="http://schemas.openxmlformats.org/drawingml/2006/main">
            <a:pPr>
              <a:defRPr sz="1800" b="0">
                <a:solidFill>
                  <a:srgbClr val="566760"/>
                </a:solidFill>
                <a:latin typeface="Helvetica Neue"/>
                <a:ea typeface="Helvetica Neue"/>
                <a:cs typeface="Helvetica Neue"/>
              </a:defRPr>
            </a:pPr>
            <a:r>
              <a:rPr sz="1800" b="0">
                <a:solidFill>
                  <a:srgbClr val="566760"/>
                </a:solidFill>
                <a:latin typeface="Helvetica Neue"/>
                <a:ea typeface="Helvetica Neue"/>
                <a:cs typeface="Helvetica Neue"/>
              </a:rPr>
              <a:t>Scores remain separate across the tasks. Underlying Amazon products may overlap.</a:t>
            </a:r>
          </a:p>
        </p:txBody>
      </p:sp>
      <p:sp>
        <p:nvSpPr>
          <p:cNvPr id="3" name="">
            <a:extLst xmlns:a="http://schemas.openxmlformats.org/drawingml/2006/main">
              <a:ext uri="{FF2B5EF4-FFF2-40B4-BE49-F238E27FC236}">
                <a16:creationId xmlns:a16="http://schemas.microsoft.com/office/drawing/2014/main" id="{A2F0A921-9C23-471B-B7D3-CDBA382CF0F2}"/>
              </a:ext>
            </a:extLst>
          </p:cNvPr>
          <p:cNvSpPr>
            <a:spLocks xmlns:a="http://schemas.openxmlformats.org/drawingml/2006/main" noGrp="1"/>
          </p:cNvSpPr>
          <p:nvPr/>
        </p:nvSpPr>
        <p:spPr>
          <a:xfrm xmlns:a="http://schemas.openxmlformats.org/drawingml/2006/main">
            <a:off x="11106150" y="6457950"/>
            <a:ext cx="47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00" b="0">
                <a:solidFill>
                  <a:srgbClr val="566760"/>
                </a:solidFill>
                <a:latin typeface="Helvetica Neue"/>
                <a:ea typeface="Helvetica Neue"/>
                <a:cs typeface="Helvetica Neue"/>
              </a:defRPr>
            </a:defPPr>
            <a:lvl1pPr algn="r">
              <a:defRPr sz="1200" b="0">
                <a:solidFill>
                  <a:srgbClr val="566760"/>
                </a:solidFill>
                <a:latin typeface="Helvetica Neue"/>
                <a:ea typeface="Helvetica Neue"/>
                <a:cs typeface="Helvetica Neue"/>
              </a:defRPr>
            </a:lvl1pPr>
            <a:lvl2pPr algn="r">
              <a:defRPr sz="1200" b="0">
                <a:solidFill>
                  <a:srgbClr val="566760"/>
                </a:solidFill>
                <a:latin typeface="Helvetica Neue"/>
                <a:ea typeface="Helvetica Neue"/>
                <a:cs typeface="Helvetica Neue"/>
              </a:defRPr>
            </a:lvl2pPr>
            <a:lvl3pPr algn="r">
              <a:defRPr sz="1200" b="0">
                <a:solidFill>
                  <a:srgbClr val="566760"/>
                </a:solidFill>
                <a:latin typeface="Helvetica Neue"/>
                <a:ea typeface="Helvetica Neue"/>
                <a:cs typeface="Helvetica Neue"/>
              </a:defRPr>
            </a:lvl3pPr>
            <a:lvl4pPr algn="r">
              <a:defRPr sz="1200" b="0">
                <a:solidFill>
                  <a:srgbClr val="566760"/>
                </a:solidFill>
                <a:latin typeface="Helvetica Neue"/>
                <a:ea typeface="Helvetica Neue"/>
                <a:cs typeface="Helvetica Neue"/>
              </a:defRPr>
            </a:lvl4pPr>
            <a:lvl5pPr algn="r">
              <a:defRPr sz="1200" b="0">
                <a:solidFill>
                  <a:srgbClr val="566760"/>
                </a:solidFill>
                <a:latin typeface="Helvetica Neue"/>
                <a:ea typeface="Helvetica Neue"/>
                <a:cs typeface="Helvetica Neue"/>
              </a:defRPr>
            </a:lvl5pPr>
            <a:lvl6pPr algn="r">
              <a:defRPr sz="1200" b="0">
                <a:solidFill>
                  <a:srgbClr val="566760"/>
                </a:solidFill>
                <a:latin typeface="Helvetica Neue"/>
                <a:ea typeface="Helvetica Neue"/>
                <a:cs typeface="Helvetica Neue"/>
              </a:defRPr>
            </a:lvl6pPr>
            <a:lvl7pPr algn="r">
              <a:defRPr sz="1200" b="0">
                <a:solidFill>
                  <a:srgbClr val="566760"/>
                </a:solidFill>
                <a:latin typeface="Helvetica Neue"/>
                <a:ea typeface="Helvetica Neue"/>
                <a:cs typeface="Helvetica Neue"/>
              </a:defRPr>
            </a:lvl7pPr>
            <a:lvl8pPr algn="r">
              <a:defRPr sz="1200" b="0">
                <a:solidFill>
                  <a:srgbClr val="566760"/>
                </a:solidFill>
                <a:latin typeface="Helvetica Neue"/>
                <a:ea typeface="Helvetica Neue"/>
                <a:cs typeface="Helvetica Neue"/>
              </a:defRPr>
            </a:lvl8pPr>
            <a:lvl9pPr algn="r">
              <a:defRPr sz="1200" b="0">
                <a:solidFill>
                  <a:srgbClr val="566760"/>
                </a:solidFill>
                <a:latin typeface="Helvetica Neue"/>
                <a:ea typeface="Helvetica Neue"/>
                <a:cs typeface="Helvetica Neue"/>
              </a:defRPr>
            </a:lvl9pPr>
          </a:lstStyle>
          <a:p xmlns:a="http://schemas.openxmlformats.org/drawingml/2006/main">
            <a:pPr algn="r">
              <a:defRPr sz="1200" b="0">
                <a:solidFill>
                  <a:srgbClr val="566760"/>
                </a:solidFill>
                <a:latin typeface="Helvetica Neue"/>
                <a:ea typeface="Helvetica Neue"/>
                <a:cs typeface="Helvetica Neue"/>
              </a:defRPr>
            </a:pPr>
            <a:r>
              <a:rPr sz="1200" b="0">
                <a:solidFill>
                  <a:srgbClr val="566760"/>
                </a:solidFill>
                <a:latin typeface="Helvetica Neue"/>
                <a:ea typeface="Helvetica Neue"/>
                <a:cs typeface="Helvetica Neue"/>
              </a:rPr>
              <a:t>07</a:t>
            </a:r>
          </a:p>
        </p:txBody>
      </p:sp>
      <p:graphicFrame>
        <p:nvGraphicFramePr>
          <p:cNvPr id="4" name="">
            <a:extLst xmlns:a="http://schemas.openxmlformats.org/drawingml/2006/main">
              <a:ext uri="{FF2B5EF4-FFF2-40B4-BE49-F238E27FC236}">
                <a16:creationId xmlns:a16="http://schemas.microsoft.com/office/drawing/2014/main" id="{6AFD19A2-0690-487B-ADA5-B795A6CEF96F}"/>
              </a:ext>
            </a:extLst>
          </p:cNvPr>
          <p:cNvGraphicFramePr/>
          <p:nvPr/>
        </p:nvGraphicFramePr>
        <p:xfrm>
          <a:off xmlns:a="http://schemas.openxmlformats.org/drawingml/2006/main" x="609600" y="1943100"/>
          <a:ext xmlns:a="http://schemas.openxmlformats.org/drawingml/2006/main" cx="10972800" cy="3381375"/>
        </p:xfrm>
        <a:graphic xmlns:a="http://schemas.openxmlformats.org/drawingml/2006/main">
          <a:graphicData uri="http://schemas.openxmlformats.org/drawingml/2006/table">
            <a:tbl>
              <a:tblPr/>
              <a:tblGrid>
                <a:gridCol w="2952750"/>
                <a:gridCol w="3543300"/>
                <a:gridCol w="4476750"/>
              </a:tblGrid>
              <a:tr h="845344">
                <a:tc>
                  <a:txBody>
                    <a:bodyPr/>
                    <a:lstStyle/>
                    <a:p>
                      <a:r>
                        <a:rPr sz="1950" b="1">
                          <a:solidFill>
                            <a:srgbClr val="FFFFFF"/>
                          </a:solidFill>
                          <a:latin typeface="Helvetica Neue"/>
                          <a:ea typeface="Helvetica Neue"/>
                          <a:cs typeface="Helvetica Neue"/>
                        </a:rPr>
                        <a:t>Dataset release</a:t>
                      </a:r>
                    </a:p>
                  </a:txBody>
                  <a:tcPr marL="133350" marR="133350" marT="76200" marB="57150" anchor="t">
                    <a:lnL w="9525">
                      <a:solidFill>
                        <a:srgbClr val="E3E8E2"/>
                      </a:solidFill>
                      <a:prstDash val="solid"/>
                    </a:lnL>
                    <a:lnR w="9525">
                      <a:solidFill>
                        <a:srgbClr val="E3E8E2"/>
                      </a:solidFill>
                      <a:prstDash val="solid"/>
                    </a:lnR>
                    <a:lnT w="9525">
                      <a:solidFill>
                        <a:srgbClr val="E3E8E2"/>
                      </a:solidFill>
                      <a:prstDash val="solid"/>
                    </a:lnT>
                    <a:lnB w="9525">
                      <a:solidFill>
                        <a:srgbClr val="E3E8E2"/>
                      </a:solidFill>
                      <a:prstDash val="solid"/>
                    </a:lnB>
                    <a:solidFill>
                      <a:srgbClr val="17251F"/>
                    </a:solidFill>
                  </a:tcPr>
                </a:tc>
                <a:tc>
                  <a:txBody>
                    <a:bodyPr/>
                    <a:lstStyle/>
                    <a:p>
                      <a:r>
                        <a:rPr sz="1950" b="1">
                          <a:solidFill>
                            <a:srgbClr val="FFFFFF"/>
                          </a:solidFill>
                          <a:latin typeface="Helvetica Neue"/>
                          <a:ea typeface="Helvetica Neue"/>
                          <a:cs typeface="Helvetica Neue"/>
                        </a:rPr>
                        <a:t>Task</a:t>
                      </a:r>
                    </a:p>
                  </a:txBody>
                  <a:tcPr marL="133350" marR="133350" marT="76200" marB="57150" anchor="t">
                    <a:lnR w="9525">
                      <a:solidFill>
                        <a:srgbClr val="E3E8E2"/>
                      </a:solidFill>
                      <a:prstDash val="solid"/>
                    </a:lnR>
                    <a:lnT w="9525">
                      <a:solidFill>
                        <a:srgbClr val="E3E8E2"/>
                      </a:solidFill>
                      <a:prstDash val="solid"/>
                    </a:lnT>
                    <a:lnB w="9525">
                      <a:solidFill>
                        <a:srgbClr val="E3E8E2"/>
                      </a:solidFill>
                      <a:prstDash val="solid"/>
                    </a:lnB>
                    <a:solidFill>
                      <a:srgbClr val="17251F"/>
                    </a:solidFill>
                  </a:tcPr>
                </a:tc>
                <a:tc>
                  <a:txBody>
                    <a:bodyPr/>
                    <a:lstStyle/>
                    <a:p>
                      <a:r>
                        <a:rPr sz="1950" b="1">
                          <a:solidFill>
                            <a:srgbClr val="FFFFFF"/>
                          </a:solidFill>
                          <a:latin typeface="Helvetica Neue"/>
                          <a:ea typeface="Helvetica Neue"/>
                          <a:cs typeface="Helvetica Neue"/>
                        </a:rPr>
                        <a:t>Measured scope</a:t>
                      </a:r>
                    </a:p>
                  </a:txBody>
                  <a:tcPr marL="133350" marR="133350" marT="76200" marB="57150" anchor="t">
                    <a:lnR w="9525">
                      <a:solidFill>
                        <a:srgbClr val="E3E8E2"/>
                      </a:solidFill>
                      <a:prstDash val="solid"/>
                    </a:lnR>
                    <a:lnT w="9525">
                      <a:solidFill>
                        <a:srgbClr val="E3E8E2"/>
                      </a:solidFill>
                      <a:prstDash val="solid"/>
                    </a:lnT>
                    <a:lnB w="9525">
                      <a:solidFill>
                        <a:srgbClr val="E3E8E2"/>
                      </a:solidFill>
                      <a:prstDash val="solid"/>
                    </a:lnB>
                    <a:solidFill>
                      <a:srgbClr val="17251F"/>
                    </a:solidFill>
                  </a:tcPr>
                </a:tc>
              </a:tr>
              <a:tr h="845344">
                <a:tc>
                  <a:txBody>
                    <a:bodyPr/>
                    <a:lstStyle/>
                    <a:p>
                      <a:r>
                        <a:rPr sz="1950" b="0">
                          <a:solidFill>
                            <a:srgbClr val="17251F"/>
                          </a:solidFill>
                          <a:latin typeface="Helvetica Neue"/>
                          <a:ea typeface="Helvetica Neue"/>
                          <a:cs typeface="Helvetica Neue"/>
                        </a:rPr>
                        <a:t>Amazon Reviews 2014</a:t>
                      </a:r>
                    </a:p>
                  </a:txBody>
                  <a:tcPr marL="133350" marR="133350" marT="76200" marB="57150" anchor="t">
                    <a:lnL w="9525">
                      <a:solidFill>
                        <a:srgbClr val="E3E8E2"/>
                      </a:solidFill>
                      <a:prstDash val="solid"/>
                    </a:lnL>
                    <a:lnR w="9525">
                      <a:solidFill>
                        <a:srgbClr val="E3E8E2"/>
                      </a:solidFill>
                      <a:prstDash val="solid"/>
                    </a:lnR>
                    <a:lnB w="9525">
                      <a:solidFill>
                        <a:srgbClr val="E3E8E2"/>
                      </a:solidFill>
                      <a:prstDash val="solid"/>
                    </a:lnB>
                    <a:solidFill>
                      <a:srgbClr val="FAF8F3"/>
                    </a:solidFill>
                  </a:tcPr>
                </a:tc>
                <a:tc>
                  <a:txBody>
                    <a:bodyPr/>
                    <a:lstStyle/>
                    <a:p>
                      <a:r>
                        <a:rPr sz="1950" b="0">
                          <a:solidFill>
                            <a:srgbClr val="17251F"/>
                          </a:solidFill>
                          <a:latin typeface="Helvetica Neue"/>
                          <a:ea typeface="Helvetica Neue"/>
                          <a:cs typeface="Helvetica Neue"/>
                        </a:rPr>
                        <a:t>History-based recommendation</a:t>
                      </a:r>
                    </a:p>
                  </a:txBody>
                  <a:tcPr marL="133350" marR="133350" marT="76200" marB="57150" anchor="t">
                    <a:lnR w="9525">
                      <a:solidFill>
                        <a:srgbClr val="E3E8E2"/>
                      </a:solidFill>
                      <a:prstDash val="solid"/>
                    </a:lnR>
                    <a:lnB w="9525">
                      <a:solidFill>
                        <a:srgbClr val="E3E8E2"/>
                      </a:solidFill>
                      <a:prstDash val="solid"/>
                    </a:lnB>
                    <a:solidFill>
                      <a:srgbClr val="FAF8F3"/>
                    </a:solidFill>
                  </a:tcPr>
                </a:tc>
                <a:tc>
                  <a:txBody>
                    <a:bodyPr/>
                    <a:lstStyle/>
                    <a:p>
                      <a:r>
                        <a:rPr sz="1950" b="0">
                          <a:solidFill>
                            <a:srgbClr val="17251F"/>
                          </a:solidFill>
                          <a:latin typeface="Helvetica Neue"/>
                          <a:ea typeface="Helvetica Neue"/>
                          <a:cs typeface="Helvetica Neue"/>
                        </a:rPr>
                        <a:t>47,801 products across 3 domains</a:t>
                      </a:r>
                    </a:p>
                    <a:p>
                      <a:r>
                        <a:rPr sz="1950" b="0">
                          <a:solidFill>
                            <a:srgbClr val="17251F"/>
                          </a:solidFill>
                          <a:latin typeface="Helvetica Neue"/>
                          <a:ea typeface="Helvetica Neue"/>
                          <a:cs typeface="Helvetica Neue"/>
                        </a:rPr>
                        <a:t>27 runs, seeds 42 / 43 / 44</a:t>
                      </a:r>
                    </a:p>
                  </a:txBody>
                  <a:tcPr marL="133350" marR="133350" marT="76200" marB="57150" anchor="t">
                    <a:lnR w="9525">
                      <a:solidFill>
                        <a:srgbClr val="E3E8E2"/>
                      </a:solidFill>
                      <a:prstDash val="solid"/>
                    </a:lnR>
                    <a:lnB w="9525">
                      <a:solidFill>
                        <a:srgbClr val="E3E8E2"/>
                      </a:solidFill>
                      <a:prstDash val="solid"/>
                    </a:lnB>
                    <a:solidFill>
                      <a:srgbClr val="FAF8F3"/>
                    </a:solidFill>
                  </a:tcPr>
                </a:tc>
              </a:tr>
              <a:tr h="845344">
                <a:tc>
                  <a:txBody>
                    <a:bodyPr/>
                    <a:lstStyle/>
                    <a:p>
                      <a:r>
                        <a:rPr sz="1950" b="0">
                          <a:solidFill>
                            <a:srgbClr val="17251F"/>
                          </a:solidFill>
                          <a:latin typeface="Helvetica Neue"/>
                          <a:ea typeface="Helvetica Neue"/>
                          <a:cs typeface="Helvetica Neue"/>
                        </a:rPr>
                        <a:t>Amazon ESCI</a:t>
                      </a:r>
                    </a:p>
                  </a:txBody>
                  <a:tcPr marL="133350" marR="133350" marT="76200" marB="57150" anchor="t">
                    <a:lnL w="9525">
                      <a:solidFill>
                        <a:srgbClr val="E3E8E2"/>
                      </a:solidFill>
                      <a:prstDash val="solid"/>
                    </a:lnL>
                    <a:lnR w="9525">
                      <a:solidFill>
                        <a:srgbClr val="E3E8E2"/>
                      </a:solidFill>
                      <a:prstDash val="solid"/>
                    </a:lnR>
                    <a:lnB w="9525">
                      <a:solidFill>
                        <a:srgbClr val="E3E8E2"/>
                      </a:solidFill>
                      <a:prstDash val="solid"/>
                    </a:lnB>
                    <a:solidFill>
                      <a:srgbClr val="FAF8F3"/>
                    </a:solidFill>
                  </a:tcPr>
                </a:tc>
                <a:tc>
                  <a:txBody>
                    <a:bodyPr/>
                    <a:lstStyle/>
                    <a:p>
                      <a:r>
                        <a:rPr sz="1950" b="0">
                          <a:solidFill>
                            <a:srgbClr val="17251F"/>
                          </a:solidFill>
                          <a:latin typeface="Helvetica Neue"/>
                          <a:ea typeface="Helvetica Neue"/>
                          <a:cs typeface="Helvetica Neue"/>
                        </a:rPr>
                        <a:t>Query-title relevance</a:t>
                      </a:r>
                    </a:p>
                  </a:txBody>
                  <a:tcPr marL="133350" marR="133350" marT="76200" marB="57150" anchor="t">
                    <a:lnR w="9525">
                      <a:solidFill>
                        <a:srgbClr val="E3E8E2"/>
                      </a:solidFill>
                      <a:prstDash val="solid"/>
                    </a:lnR>
                    <a:lnB w="9525">
                      <a:solidFill>
                        <a:srgbClr val="E3E8E2"/>
                      </a:solidFill>
                      <a:prstDash val="solid"/>
                    </a:lnB>
                    <a:solidFill>
                      <a:srgbClr val="FAF8F3"/>
                    </a:solidFill>
                  </a:tcPr>
                </a:tc>
                <a:tc>
                  <a:txBody>
                    <a:bodyPr/>
                    <a:lstStyle/>
                    <a:p>
                      <a:r>
                        <a:rPr sz="1950" b="0">
                          <a:solidFill>
                            <a:srgbClr val="17251F"/>
                          </a:solidFill>
                          <a:latin typeface="Helvetica Neue"/>
                          <a:ea typeface="Helvetica Neue"/>
                          <a:cs typeface="Helvetica Neue"/>
                        </a:rPr>
                        <a:t>500 official test queries</a:t>
                      </a:r>
                    </a:p>
                    <a:p>
                      <a:r>
                        <a:rPr sz="1950" b="0">
                          <a:solidFill>
                            <a:srgbClr val="17251F"/>
                          </a:solidFill>
                          <a:latin typeface="Helvetica Neue"/>
                          <a:ea typeface="Helvetica Neue"/>
                          <a:cs typeface="Helvetica Neue"/>
                        </a:rPr>
                        <a:t>9,766 judged candidates</a:t>
                      </a:r>
                    </a:p>
                  </a:txBody>
                  <a:tcPr marL="133350" marR="133350" marT="76200" marB="57150" anchor="t">
                    <a:lnR w="9525">
                      <a:solidFill>
                        <a:srgbClr val="E3E8E2"/>
                      </a:solidFill>
                      <a:prstDash val="solid"/>
                    </a:lnR>
                    <a:lnB w="9525">
                      <a:solidFill>
                        <a:srgbClr val="E3E8E2"/>
                      </a:solidFill>
                      <a:prstDash val="solid"/>
                    </a:lnB>
                    <a:solidFill>
                      <a:srgbClr val="FAF8F3"/>
                    </a:solidFill>
                  </a:tcPr>
                </a:tc>
              </a:tr>
              <a:tr h="845344">
                <a:tc>
                  <a:txBody>
                    <a:bodyPr/>
                    <a:lstStyle/>
                    <a:p>
                      <a:r>
                        <a:rPr sz="1950" b="0">
                          <a:solidFill>
                            <a:srgbClr val="17251F"/>
                          </a:solidFill>
                          <a:latin typeface="Helvetica Neue"/>
                          <a:ea typeface="Helvetica Neue"/>
                          <a:cs typeface="Helvetica Neue"/>
                        </a:rPr>
                        <a:t>FashionIQ</a:t>
                      </a:r>
                    </a:p>
                  </a:txBody>
                  <a:tcPr marL="133350" marR="133350" marT="76200" marB="57150" anchor="t">
                    <a:lnL w="9525">
                      <a:solidFill>
                        <a:srgbClr val="E3E8E2"/>
                      </a:solidFill>
                      <a:prstDash val="solid"/>
                    </a:lnL>
                    <a:lnR w="9525">
                      <a:solidFill>
                        <a:srgbClr val="E3E8E2"/>
                      </a:solidFill>
                      <a:prstDash val="solid"/>
                    </a:lnR>
                    <a:lnB w="9525">
                      <a:solidFill>
                        <a:srgbClr val="E3E8E2"/>
                      </a:solidFill>
                      <a:prstDash val="solid"/>
                    </a:lnB>
                    <a:solidFill>
                      <a:srgbClr val="FAF8F3"/>
                    </a:solidFill>
                  </a:tcPr>
                </a:tc>
                <a:tc>
                  <a:txBody>
                    <a:bodyPr/>
                    <a:lstStyle/>
                    <a:p>
                      <a:r>
                        <a:rPr sz="1950" b="0">
                          <a:solidFill>
                            <a:srgbClr val="17251F"/>
                          </a:solidFill>
                          <a:latin typeface="Helvetica Neue"/>
                          <a:ea typeface="Helvetica Neue"/>
                          <a:cs typeface="Helvetica Neue"/>
                        </a:rPr>
                        <a:t>Reference image + text edit</a:t>
                      </a:r>
                    </a:p>
                  </a:txBody>
                  <a:tcPr marL="133350" marR="133350" marT="76200" marB="57150" anchor="t">
                    <a:lnR w="9525">
                      <a:solidFill>
                        <a:srgbClr val="E3E8E2"/>
                      </a:solidFill>
                      <a:prstDash val="solid"/>
                    </a:lnR>
                    <a:lnB w="9525">
                      <a:solidFill>
                        <a:srgbClr val="E3E8E2"/>
                      </a:solidFill>
                      <a:prstDash val="solid"/>
                    </a:lnB>
                    <a:solidFill>
                      <a:srgbClr val="FAF8F3"/>
                    </a:solidFill>
                  </a:tcPr>
                </a:tc>
                <a:tc>
                  <a:txBody>
                    <a:bodyPr/>
                    <a:lstStyle/>
                    <a:p>
                      <a:r>
                        <a:rPr sz="1950" b="0">
                          <a:solidFill>
                            <a:srgbClr val="17251F"/>
                          </a:solidFill>
                          <a:latin typeface="Helvetica Neue"/>
                          <a:ea typeface="Helvetica Neue"/>
                          <a:cs typeface="Helvetica Neue"/>
                        </a:rPr>
                        <a:t>850 train / 82 dev / 287 eval</a:t>
                      </a:r>
                    </a:p>
                    <a:p>
                      <a:r>
                        <a:rPr sz="1950" b="0">
                          <a:solidFill>
                            <a:srgbClr val="17251F"/>
                          </a:solidFill>
                          <a:latin typeface="Helvetica Neue"/>
                          <a:ea typeface="Helvetica Neue"/>
                          <a:cs typeface="Helvetica Neue"/>
                        </a:rPr>
                        <a:t>3 selected image galleries</a:t>
                      </a:r>
                    </a:p>
                  </a:txBody>
                  <a:tcPr marL="133350" marR="133350" marT="76200" marB="57150" anchor="t">
                    <a:lnR w="9525">
                      <a:solidFill>
                        <a:srgbClr val="E3E8E2"/>
                      </a:solidFill>
                      <a:prstDash val="solid"/>
                    </a:lnR>
                    <a:lnB w="9525">
                      <a:solidFill>
                        <a:srgbClr val="E3E8E2"/>
                      </a:solidFill>
                      <a:prstDash val="solid"/>
                    </a:lnB>
                    <a:solidFill>
                      <a:srgbClr val="FAF8F3"/>
                    </a:solidFill>
                  </a:tcPr>
                </a:tc>
              </a:tr>
            </a:tbl>
          </a:graphicData>
        </a:graphic>
      </p:graphicFrame>
      <p:sp>
        <p:nvSpPr>
          <p:cNvPr id="5" name="">
            <a:extLst xmlns:a="http://schemas.openxmlformats.org/drawingml/2006/main">
              <a:ext uri="{FF2B5EF4-FFF2-40B4-BE49-F238E27FC236}">
                <a16:creationId xmlns:a16="http://schemas.microsoft.com/office/drawing/2014/main" id="{04E8C23A-019C-487C-8318-BAAA4C504430}"/>
              </a:ext>
            </a:extLst>
          </p:cNvPr>
          <p:cNvSpPr>
            <a:spLocks xmlns:a="http://schemas.openxmlformats.org/drawingml/2006/main" noGrp="1"/>
          </p:cNvSpPr>
          <p:nvPr/>
        </p:nvSpPr>
        <p:spPr>
          <a:xfrm xmlns:a="http://schemas.openxmlformats.org/drawingml/2006/main">
            <a:off x="628650" y="5838825"/>
            <a:ext cx="10572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566760"/>
                </a:solidFill>
                <a:latin typeface="Helvetica Neue"/>
                <a:ea typeface="Helvetica Neue"/>
                <a:cs typeface="Helvetica Neue"/>
              </a:defRPr>
            </a:defPPr>
            <a:lvl1pPr>
              <a:defRPr sz="1500" b="0">
                <a:solidFill>
                  <a:srgbClr val="566760"/>
                </a:solidFill>
                <a:latin typeface="Helvetica Neue"/>
                <a:ea typeface="Helvetica Neue"/>
                <a:cs typeface="Helvetica Neue"/>
              </a:defRPr>
            </a:lvl1pPr>
            <a:lvl2pPr>
              <a:defRPr sz="1500" b="0">
                <a:solidFill>
                  <a:srgbClr val="566760"/>
                </a:solidFill>
                <a:latin typeface="Helvetica Neue"/>
                <a:ea typeface="Helvetica Neue"/>
                <a:cs typeface="Helvetica Neue"/>
              </a:defRPr>
            </a:lvl2pPr>
            <a:lvl3pPr>
              <a:defRPr sz="1500" b="0">
                <a:solidFill>
                  <a:srgbClr val="566760"/>
                </a:solidFill>
                <a:latin typeface="Helvetica Neue"/>
                <a:ea typeface="Helvetica Neue"/>
                <a:cs typeface="Helvetica Neue"/>
              </a:defRPr>
            </a:lvl3pPr>
            <a:lvl4pPr>
              <a:defRPr sz="1500" b="0">
                <a:solidFill>
                  <a:srgbClr val="566760"/>
                </a:solidFill>
                <a:latin typeface="Helvetica Neue"/>
                <a:ea typeface="Helvetica Neue"/>
                <a:cs typeface="Helvetica Neue"/>
              </a:defRPr>
            </a:lvl4pPr>
            <a:lvl5pPr>
              <a:defRPr sz="1500" b="0">
                <a:solidFill>
                  <a:srgbClr val="566760"/>
                </a:solidFill>
                <a:latin typeface="Helvetica Neue"/>
                <a:ea typeface="Helvetica Neue"/>
                <a:cs typeface="Helvetica Neue"/>
              </a:defRPr>
            </a:lvl5pPr>
            <a:lvl6pPr>
              <a:defRPr sz="1500" b="0">
                <a:solidFill>
                  <a:srgbClr val="566760"/>
                </a:solidFill>
                <a:latin typeface="Helvetica Neue"/>
                <a:ea typeface="Helvetica Neue"/>
                <a:cs typeface="Helvetica Neue"/>
              </a:defRPr>
            </a:lvl6pPr>
            <a:lvl7pPr>
              <a:defRPr sz="1500" b="0">
                <a:solidFill>
                  <a:srgbClr val="566760"/>
                </a:solidFill>
                <a:latin typeface="Helvetica Neue"/>
                <a:ea typeface="Helvetica Neue"/>
                <a:cs typeface="Helvetica Neue"/>
              </a:defRPr>
            </a:lvl7pPr>
            <a:lvl8pPr>
              <a:defRPr sz="1500" b="0">
                <a:solidFill>
                  <a:srgbClr val="566760"/>
                </a:solidFill>
                <a:latin typeface="Helvetica Neue"/>
                <a:ea typeface="Helvetica Neue"/>
                <a:cs typeface="Helvetica Neue"/>
              </a:defRPr>
            </a:lvl8pPr>
            <a:lvl9pPr>
              <a:defRPr sz="1500" b="0">
                <a:solidFill>
                  <a:srgbClr val="566760"/>
                </a:solidFill>
                <a:latin typeface="Helvetica Neue"/>
                <a:ea typeface="Helvetica Neue"/>
                <a:cs typeface="Helvetica Neue"/>
              </a:defRPr>
            </a:lvl9pPr>
          </a:lstStyle>
          <a:p xmlns:a="http://schemas.openxmlformats.org/drawingml/2006/main">
            <a:pPr>
              <a:defRPr sz="1500" b="0">
                <a:solidFill>
                  <a:srgbClr val="566760"/>
                </a:solidFill>
                <a:latin typeface="Helvetica Neue"/>
                <a:ea typeface="Helvetica Neue"/>
                <a:cs typeface="Helvetica Neue"/>
              </a:defRPr>
            </a:pPr>
            <a:r>
              <a:rPr sz="1500" b="0">
                <a:solidFill>
                  <a:srgbClr val="566760"/>
                </a:solidFill>
                <a:latin typeface="Helvetica Neue"/>
                <a:ea typeface="Helvetica Neue"/>
                <a:cs typeface="Helvetica Neue"/>
              </a:rPr>
              <a:t>The app uses existing labels. No new manual annotation enters these experiments.</a:t>
            </a:r>
          </a:p>
        </p:txBody>
      </p:sp>
    </p:spTree>
    <p:extLst>
      <p:ext uri="{BB962C8B-B14F-4D97-AF65-F5344CB8AC3E}">
        <p14:creationId xmlns:p14="http://schemas.microsoft.com/office/powerpoint/2010/main" val="1189879150"/>
      </p:ext>
    </p:extLst>
  </p:cSld>
</p:sld>
</file>

<file path=ppt/slides/slide8.xml><?xml version="1.0" encoding="utf-8"?>
<p:sld xmlns:p="http://schemas.openxmlformats.org/presentationml/2006/main">
  <p:cSld>
    <p:bg>
      <p:bgPr>
        <a:solidFill xmlns:a="http://schemas.openxmlformats.org/drawingml/2006/main">
          <a:srgbClr val="FAF8F3"/>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25C82736-0A40-4A08-A57C-71EFC93244EF}"/>
              </a:ext>
            </a:extLst>
          </p:cNvPr>
          <p:cNvSpPr>
            <a:spLocks xmlns:a="http://schemas.openxmlformats.org/drawingml/2006/main" noGrp="1"/>
          </p:cNvSpPr>
          <p:nvPr/>
        </p:nvSpPr>
        <p:spPr>
          <a:xfrm xmlns:a="http://schemas.openxmlformats.org/drawingml/2006/main">
            <a:off x="609600" y="3810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150" b="1">
                <a:solidFill>
                  <a:srgbClr val="17251F"/>
                </a:solidFill>
                <a:latin typeface="Helvetica Neue"/>
                <a:ea typeface="Helvetica Neue"/>
                <a:cs typeface="Helvetica Neue"/>
              </a:defRPr>
            </a:defPPr>
            <a:lvl1pPr>
              <a:defRPr sz="3150" b="1">
                <a:solidFill>
                  <a:srgbClr val="17251F"/>
                </a:solidFill>
                <a:latin typeface="Helvetica Neue"/>
                <a:ea typeface="Helvetica Neue"/>
                <a:cs typeface="Helvetica Neue"/>
              </a:defRPr>
            </a:lvl1pPr>
            <a:lvl2pPr>
              <a:defRPr sz="3150" b="1">
                <a:solidFill>
                  <a:srgbClr val="17251F"/>
                </a:solidFill>
                <a:latin typeface="Helvetica Neue"/>
                <a:ea typeface="Helvetica Neue"/>
                <a:cs typeface="Helvetica Neue"/>
              </a:defRPr>
            </a:lvl2pPr>
            <a:lvl3pPr>
              <a:defRPr sz="3150" b="1">
                <a:solidFill>
                  <a:srgbClr val="17251F"/>
                </a:solidFill>
                <a:latin typeface="Helvetica Neue"/>
                <a:ea typeface="Helvetica Neue"/>
                <a:cs typeface="Helvetica Neue"/>
              </a:defRPr>
            </a:lvl3pPr>
            <a:lvl4pPr>
              <a:defRPr sz="3150" b="1">
                <a:solidFill>
                  <a:srgbClr val="17251F"/>
                </a:solidFill>
                <a:latin typeface="Helvetica Neue"/>
                <a:ea typeface="Helvetica Neue"/>
                <a:cs typeface="Helvetica Neue"/>
              </a:defRPr>
            </a:lvl4pPr>
            <a:lvl5pPr>
              <a:defRPr sz="3150" b="1">
                <a:solidFill>
                  <a:srgbClr val="17251F"/>
                </a:solidFill>
                <a:latin typeface="Helvetica Neue"/>
                <a:ea typeface="Helvetica Neue"/>
                <a:cs typeface="Helvetica Neue"/>
              </a:defRPr>
            </a:lvl5pPr>
            <a:lvl6pPr>
              <a:defRPr sz="3150" b="1">
                <a:solidFill>
                  <a:srgbClr val="17251F"/>
                </a:solidFill>
                <a:latin typeface="Helvetica Neue"/>
                <a:ea typeface="Helvetica Neue"/>
                <a:cs typeface="Helvetica Neue"/>
              </a:defRPr>
            </a:lvl6pPr>
            <a:lvl7pPr>
              <a:defRPr sz="3150" b="1">
                <a:solidFill>
                  <a:srgbClr val="17251F"/>
                </a:solidFill>
                <a:latin typeface="Helvetica Neue"/>
                <a:ea typeface="Helvetica Neue"/>
                <a:cs typeface="Helvetica Neue"/>
              </a:defRPr>
            </a:lvl7pPr>
            <a:lvl8pPr>
              <a:defRPr sz="3150" b="1">
                <a:solidFill>
                  <a:srgbClr val="17251F"/>
                </a:solidFill>
                <a:latin typeface="Helvetica Neue"/>
                <a:ea typeface="Helvetica Neue"/>
                <a:cs typeface="Helvetica Neue"/>
              </a:defRPr>
            </a:lvl8pPr>
            <a:lvl9pPr>
              <a:defRPr sz="3150" b="1">
                <a:solidFill>
                  <a:srgbClr val="17251F"/>
                </a:solidFill>
                <a:latin typeface="Helvetica Neue"/>
                <a:ea typeface="Helvetica Neue"/>
                <a:cs typeface="Helvetica Neue"/>
              </a:defRPr>
            </a:lvl9pPr>
          </a:lstStyle>
          <a:p xmlns:a="http://schemas.openxmlformats.org/drawingml/2006/main">
            <a:pPr>
              <a:defRPr sz="3150" b="1">
                <a:solidFill>
                  <a:srgbClr val="17251F"/>
                </a:solidFill>
                <a:latin typeface="Helvetica Neue"/>
                <a:ea typeface="Helvetica Neue"/>
                <a:cs typeface="Helvetica Neue"/>
              </a:defRPr>
            </a:pPr>
            <a:r>
              <a:rPr sz="3150" b="1">
                <a:solidFill>
                  <a:srgbClr val="17251F"/>
                </a:solidFill>
                <a:latin typeface="Helvetica Neue"/>
                <a:ea typeface="Helvetica Neue"/>
                <a:cs typeface="Helvetica Neue"/>
              </a:rPr>
              <a:t>Separate towers keep the feature spaces consistent</a:t>
            </a:r>
          </a:p>
        </p:txBody>
      </p:sp>
      <p:sp>
        <p:nvSpPr>
          <p:cNvPr id="2" name="">
            <a:extLst xmlns:a="http://schemas.openxmlformats.org/drawingml/2006/main">
              <a:ext uri="{FF2B5EF4-FFF2-40B4-BE49-F238E27FC236}">
                <a16:creationId xmlns:a16="http://schemas.microsoft.com/office/drawing/2014/main" id="{23AC9515-36E6-4255-AA8C-A85DF2263CF0}"/>
              </a:ext>
            </a:extLst>
          </p:cNvPr>
          <p:cNvSpPr>
            <a:spLocks xmlns:a="http://schemas.openxmlformats.org/drawingml/2006/main" noGrp="1"/>
          </p:cNvSpPr>
          <p:nvPr/>
        </p:nvSpPr>
        <p:spPr>
          <a:xfrm xmlns:a="http://schemas.openxmlformats.org/drawingml/2006/main">
            <a:off x="628650" y="1057275"/>
            <a:ext cx="109347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566760"/>
                </a:solidFill>
                <a:latin typeface="Helvetica Neue"/>
                <a:ea typeface="Helvetica Neue"/>
                <a:cs typeface="Helvetica Neue"/>
              </a:defRPr>
            </a:defPPr>
            <a:lvl1pPr>
              <a:defRPr sz="1800" b="0">
                <a:solidFill>
                  <a:srgbClr val="566760"/>
                </a:solidFill>
                <a:latin typeface="Helvetica Neue"/>
                <a:ea typeface="Helvetica Neue"/>
                <a:cs typeface="Helvetica Neue"/>
              </a:defRPr>
            </a:lvl1pPr>
            <a:lvl2pPr>
              <a:defRPr sz="1800" b="0">
                <a:solidFill>
                  <a:srgbClr val="566760"/>
                </a:solidFill>
                <a:latin typeface="Helvetica Neue"/>
                <a:ea typeface="Helvetica Neue"/>
                <a:cs typeface="Helvetica Neue"/>
              </a:defRPr>
            </a:lvl2pPr>
            <a:lvl3pPr>
              <a:defRPr sz="1800" b="0">
                <a:solidFill>
                  <a:srgbClr val="566760"/>
                </a:solidFill>
                <a:latin typeface="Helvetica Neue"/>
                <a:ea typeface="Helvetica Neue"/>
                <a:cs typeface="Helvetica Neue"/>
              </a:defRPr>
            </a:lvl3pPr>
            <a:lvl4pPr>
              <a:defRPr sz="1800" b="0">
                <a:solidFill>
                  <a:srgbClr val="566760"/>
                </a:solidFill>
                <a:latin typeface="Helvetica Neue"/>
                <a:ea typeface="Helvetica Neue"/>
                <a:cs typeface="Helvetica Neue"/>
              </a:defRPr>
            </a:lvl4pPr>
            <a:lvl5pPr>
              <a:defRPr sz="1800" b="0">
                <a:solidFill>
                  <a:srgbClr val="566760"/>
                </a:solidFill>
                <a:latin typeface="Helvetica Neue"/>
                <a:ea typeface="Helvetica Neue"/>
                <a:cs typeface="Helvetica Neue"/>
              </a:defRPr>
            </a:lvl5pPr>
            <a:lvl6pPr>
              <a:defRPr sz="1800" b="0">
                <a:solidFill>
                  <a:srgbClr val="566760"/>
                </a:solidFill>
                <a:latin typeface="Helvetica Neue"/>
                <a:ea typeface="Helvetica Neue"/>
                <a:cs typeface="Helvetica Neue"/>
              </a:defRPr>
            </a:lvl6pPr>
            <a:lvl7pPr>
              <a:defRPr sz="1800" b="0">
                <a:solidFill>
                  <a:srgbClr val="566760"/>
                </a:solidFill>
                <a:latin typeface="Helvetica Neue"/>
                <a:ea typeface="Helvetica Neue"/>
                <a:cs typeface="Helvetica Neue"/>
              </a:defRPr>
            </a:lvl7pPr>
            <a:lvl8pPr>
              <a:defRPr sz="1800" b="0">
                <a:solidFill>
                  <a:srgbClr val="566760"/>
                </a:solidFill>
                <a:latin typeface="Helvetica Neue"/>
                <a:ea typeface="Helvetica Neue"/>
                <a:cs typeface="Helvetica Neue"/>
              </a:defRPr>
            </a:lvl8pPr>
            <a:lvl9pPr>
              <a:defRPr sz="1800" b="0">
                <a:solidFill>
                  <a:srgbClr val="566760"/>
                </a:solidFill>
                <a:latin typeface="Helvetica Neue"/>
                <a:ea typeface="Helvetica Neue"/>
                <a:cs typeface="Helvetica Neue"/>
              </a:defRPr>
            </a:lvl9pPr>
          </a:lstStyle>
          <a:p xmlns:a="http://schemas.openxmlformats.org/drawingml/2006/main">
            <a:pPr>
              <a:defRPr sz="1800" b="0">
                <a:solidFill>
                  <a:srgbClr val="566760"/>
                </a:solidFill>
                <a:latin typeface="Helvetica Neue"/>
                <a:ea typeface="Helvetica Neue"/>
                <a:cs typeface="Helvetica Neue"/>
              </a:defRPr>
            </a:pPr>
            <a:r>
              <a:rPr sz="1800" b="0">
                <a:solidFill>
                  <a:srgbClr val="566760"/>
                </a:solidFill>
                <a:latin typeface="Helvetica Neue"/>
                <a:ea typeface="Helvetica Neue"/>
                <a:cs typeface="Helvetica Neue"/>
              </a:rPr>
              <a:t>Qwen text: 1,024 dimensions. CLIP image: 512 dimensions. Learned heads project to 128.</a:t>
            </a:r>
          </a:p>
        </p:txBody>
      </p:sp>
      <p:sp>
        <p:nvSpPr>
          <p:cNvPr id="3" name="">
            <a:extLst xmlns:a="http://schemas.openxmlformats.org/drawingml/2006/main">
              <a:ext uri="{FF2B5EF4-FFF2-40B4-BE49-F238E27FC236}">
                <a16:creationId xmlns:a16="http://schemas.microsoft.com/office/drawing/2014/main" id="{8B74572F-98FA-4BC0-BDA3-2D87B6789C4C}"/>
              </a:ext>
            </a:extLst>
          </p:cNvPr>
          <p:cNvSpPr>
            <a:spLocks xmlns:a="http://schemas.openxmlformats.org/drawingml/2006/main" noGrp="1"/>
          </p:cNvSpPr>
          <p:nvPr/>
        </p:nvSpPr>
        <p:spPr>
          <a:xfrm xmlns:a="http://schemas.openxmlformats.org/drawingml/2006/main">
            <a:off x="11106150" y="6457950"/>
            <a:ext cx="47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00" b="0">
                <a:solidFill>
                  <a:srgbClr val="566760"/>
                </a:solidFill>
                <a:latin typeface="Helvetica Neue"/>
                <a:ea typeface="Helvetica Neue"/>
                <a:cs typeface="Helvetica Neue"/>
              </a:defRPr>
            </a:defPPr>
            <a:lvl1pPr algn="r">
              <a:defRPr sz="1200" b="0">
                <a:solidFill>
                  <a:srgbClr val="566760"/>
                </a:solidFill>
                <a:latin typeface="Helvetica Neue"/>
                <a:ea typeface="Helvetica Neue"/>
                <a:cs typeface="Helvetica Neue"/>
              </a:defRPr>
            </a:lvl1pPr>
            <a:lvl2pPr algn="r">
              <a:defRPr sz="1200" b="0">
                <a:solidFill>
                  <a:srgbClr val="566760"/>
                </a:solidFill>
                <a:latin typeface="Helvetica Neue"/>
                <a:ea typeface="Helvetica Neue"/>
                <a:cs typeface="Helvetica Neue"/>
              </a:defRPr>
            </a:lvl2pPr>
            <a:lvl3pPr algn="r">
              <a:defRPr sz="1200" b="0">
                <a:solidFill>
                  <a:srgbClr val="566760"/>
                </a:solidFill>
                <a:latin typeface="Helvetica Neue"/>
                <a:ea typeface="Helvetica Neue"/>
                <a:cs typeface="Helvetica Neue"/>
              </a:defRPr>
            </a:lvl3pPr>
            <a:lvl4pPr algn="r">
              <a:defRPr sz="1200" b="0">
                <a:solidFill>
                  <a:srgbClr val="566760"/>
                </a:solidFill>
                <a:latin typeface="Helvetica Neue"/>
                <a:ea typeface="Helvetica Neue"/>
                <a:cs typeface="Helvetica Neue"/>
              </a:defRPr>
            </a:lvl4pPr>
            <a:lvl5pPr algn="r">
              <a:defRPr sz="1200" b="0">
                <a:solidFill>
                  <a:srgbClr val="566760"/>
                </a:solidFill>
                <a:latin typeface="Helvetica Neue"/>
                <a:ea typeface="Helvetica Neue"/>
                <a:cs typeface="Helvetica Neue"/>
              </a:defRPr>
            </a:lvl5pPr>
            <a:lvl6pPr algn="r">
              <a:defRPr sz="1200" b="0">
                <a:solidFill>
                  <a:srgbClr val="566760"/>
                </a:solidFill>
                <a:latin typeface="Helvetica Neue"/>
                <a:ea typeface="Helvetica Neue"/>
                <a:cs typeface="Helvetica Neue"/>
              </a:defRPr>
            </a:lvl6pPr>
            <a:lvl7pPr algn="r">
              <a:defRPr sz="1200" b="0">
                <a:solidFill>
                  <a:srgbClr val="566760"/>
                </a:solidFill>
                <a:latin typeface="Helvetica Neue"/>
                <a:ea typeface="Helvetica Neue"/>
                <a:cs typeface="Helvetica Neue"/>
              </a:defRPr>
            </a:lvl7pPr>
            <a:lvl8pPr algn="r">
              <a:defRPr sz="1200" b="0">
                <a:solidFill>
                  <a:srgbClr val="566760"/>
                </a:solidFill>
                <a:latin typeface="Helvetica Neue"/>
                <a:ea typeface="Helvetica Neue"/>
                <a:cs typeface="Helvetica Neue"/>
              </a:defRPr>
            </a:lvl8pPr>
            <a:lvl9pPr algn="r">
              <a:defRPr sz="1200" b="0">
                <a:solidFill>
                  <a:srgbClr val="566760"/>
                </a:solidFill>
                <a:latin typeface="Helvetica Neue"/>
                <a:ea typeface="Helvetica Neue"/>
                <a:cs typeface="Helvetica Neue"/>
              </a:defRPr>
            </a:lvl9pPr>
          </a:lstStyle>
          <a:p xmlns:a="http://schemas.openxmlformats.org/drawingml/2006/main">
            <a:pPr algn="r">
              <a:defRPr sz="1200" b="0">
                <a:solidFill>
                  <a:srgbClr val="566760"/>
                </a:solidFill>
                <a:latin typeface="Helvetica Neue"/>
                <a:ea typeface="Helvetica Neue"/>
                <a:cs typeface="Helvetica Neue"/>
              </a:defRPr>
            </a:pPr>
            <a:r>
              <a:rPr sz="1200" b="0">
                <a:solidFill>
                  <a:srgbClr val="566760"/>
                </a:solidFill>
                <a:latin typeface="Helvetica Neue"/>
                <a:ea typeface="Helvetica Neue"/>
                <a:cs typeface="Helvetica Neue"/>
              </a:rPr>
              <a:t>08</a:t>
            </a:r>
          </a:p>
        </p:txBody>
      </p:sp>
      <p:graphicFrame>
        <p:nvGraphicFramePr>
          <p:cNvPr id="4" name="">
            <a:extLst xmlns:a="http://schemas.openxmlformats.org/drawingml/2006/main">
              <a:ext uri="{FF2B5EF4-FFF2-40B4-BE49-F238E27FC236}">
                <a16:creationId xmlns:a16="http://schemas.microsoft.com/office/drawing/2014/main" id="{74EF3B27-9A5E-4A2C-B50A-A1E2DA4E17DB}"/>
              </a:ext>
            </a:extLst>
          </p:cNvPr>
          <p:cNvGraphicFramePr/>
          <p:nvPr/>
        </p:nvGraphicFramePr>
        <p:xfrm>
          <a:off xmlns:a="http://schemas.openxmlformats.org/drawingml/2006/main" x="609600" y="1933575"/>
          <a:ext xmlns:a="http://schemas.openxmlformats.org/drawingml/2006/main" cx="10972800" cy="2590800"/>
        </p:xfrm>
        <a:graphic xmlns:a="http://schemas.openxmlformats.org/drawingml/2006/main">
          <a:graphicData uri="http://schemas.openxmlformats.org/drawingml/2006/table">
            <a:tbl>
              <a:tblPr/>
              <a:tblGrid>
                <a:gridCol w="2667000"/>
                <a:gridCol w="4143375"/>
                <a:gridCol w="4162425"/>
              </a:tblGrid>
              <a:tr h="863600">
                <a:tc>
                  <a:txBody>
                    <a:bodyPr/>
                    <a:lstStyle/>
                    <a:p>
                      <a:r>
                        <a:rPr sz="1875" b="1">
                          <a:solidFill>
                            <a:srgbClr val="FFFFFF"/>
                          </a:solidFill>
                          <a:latin typeface="Helvetica Neue"/>
                          <a:ea typeface="Helvetica Neue"/>
                          <a:cs typeface="Helvetica Neue"/>
                        </a:rPr>
                        <a:t>Input</a:t>
                      </a:r>
                    </a:p>
                  </a:txBody>
                  <a:tcPr marL="133350" marR="133350" marT="76200" marB="57150" anchor="t">
                    <a:lnL w="9525">
                      <a:solidFill>
                        <a:srgbClr val="E3E8E2"/>
                      </a:solidFill>
                      <a:prstDash val="solid"/>
                    </a:lnL>
                    <a:lnR w="9525">
                      <a:solidFill>
                        <a:srgbClr val="E3E8E2"/>
                      </a:solidFill>
                      <a:prstDash val="solid"/>
                    </a:lnR>
                    <a:lnT w="9525">
                      <a:solidFill>
                        <a:srgbClr val="E3E8E2"/>
                      </a:solidFill>
                      <a:prstDash val="solid"/>
                    </a:lnT>
                    <a:lnB w="9525">
                      <a:solidFill>
                        <a:srgbClr val="E3E8E2"/>
                      </a:solidFill>
                      <a:prstDash val="solid"/>
                    </a:lnB>
                    <a:solidFill>
                      <a:srgbClr val="17251F"/>
                    </a:solidFill>
                  </a:tcPr>
                </a:tc>
                <a:tc>
                  <a:txBody>
                    <a:bodyPr/>
                    <a:lstStyle/>
                    <a:p>
                      <a:r>
                        <a:rPr sz="1875" b="1">
                          <a:solidFill>
                            <a:srgbClr val="FFFFFF"/>
                          </a:solidFill>
                          <a:latin typeface="Helvetica Neue"/>
                          <a:ea typeface="Helvetica Neue"/>
                          <a:cs typeface="Helvetica Neue"/>
                        </a:rPr>
                        <a:t>Encoder features</a:t>
                      </a:r>
                    </a:p>
                  </a:txBody>
                  <a:tcPr marL="133350" marR="133350" marT="76200" marB="57150" anchor="t">
                    <a:lnR w="9525">
                      <a:solidFill>
                        <a:srgbClr val="E3E8E2"/>
                      </a:solidFill>
                      <a:prstDash val="solid"/>
                    </a:lnR>
                    <a:lnT w="9525">
                      <a:solidFill>
                        <a:srgbClr val="E3E8E2"/>
                      </a:solidFill>
                      <a:prstDash val="solid"/>
                    </a:lnT>
                    <a:lnB w="9525">
                      <a:solidFill>
                        <a:srgbClr val="E3E8E2"/>
                      </a:solidFill>
                      <a:prstDash val="solid"/>
                    </a:lnB>
                    <a:solidFill>
                      <a:srgbClr val="17251F"/>
                    </a:solidFill>
                  </a:tcPr>
                </a:tc>
                <a:tc>
                  <a:txBody>
                    <a:bodyPr/>
                    <a:lstStyle/>
                    <a:p>
                      <a:r>
                        <a:rPr sz="1875" b="1">
                          <a:solidFill>
                            <a:srgbClr val="FFFFFF"/>
                          </a:solidFill>
                          <a:latin typeface="Helvetica Neue"/>
                          <a:ea typeface="Helvetica Neue"/>
                          <a:cs typeface="Helvetica Neue"/>
                        </a:rPr>
                        <a:t>Trained recommendation head</a:t>
                      </a:r>
                    </a:p>
                  </a:txBody>
                  <a:tcPr marL="133350" marR="133350" marT="76200" marB="57150" anchor="t">
                    <a:lnR w="9525">
                      <a:solidFill>
                        <a:srgbClr val="E3E8E2"/>
                      </a:solidFill>
                      <a:prstDash val="solid"/>
                    </a:lnR>
                    <a:lnT w="9525">
                      <a:solidFill>
                        <a:srgbClr val="E3E8E2"/>
                      </a:solidFill>
                      <a:prstDash val="solid"/>
                    </a:lnT>
                    <a:lnB w="9525">
                      <a:solidFill>
                        <a:srgbClr val="E3E8E2"/>
                      </a:solidFill>
                      <a:prstDash val="solid"/>
                    </a:lnB>
                    <a:solidFill>
                      <a:srgbClr val="17251F"/>
                    </a:solidFill>
                  </a:tcPr>
                </a:tc>
              </a:tr>
              <a:tr h="863600">
                <a:tc>
                  <a:txBody>
                    <a:bodyPr/>
                    <a:lstStyle/>
                    <a:p>
                      <a:r>
                        <a:rPr sz="1875" b="0">
                          <a:solidFill>
                            <a:srgbClr val="17251F"/>
                          </a:solidFill>
                          <a:latin typeface="Helvetica Neue"/>
                          <a:ea typeface="Helvetica Neue"/>
                          <a:cs typeface="Helvetica Neue"/>
                        </a:rPr>
                        <a:t>Earlier positive products</a:t>
                      </a:r>
                    </a:p>
                  </a:txBody>
                  <a:tcPr marL="133350" marR="133350" marT="76200" marB="57150" anchor="t">
                    <a:lnL w="9525">
                      <a:solidFill>
                        <a:srgbClr val="E3E8E2"/>
                      </a:solidFill>
                      <a:prstDash val="solid"/>
                    </a:lnL>
                    <a:lnR w="9525">
                      <a:solidFill>
                        <a:srgbClr val="E3E8E2"/>
                      </a:solidFill>
                      <a:prstDash val="solid"/>
                    </a:lnR>
                    <a:lnB w="9525">
                      <a:solidFill>
                        <a:srgbClr val="E3E8E2"/>
                      </a:solidFill>
                      <a:prstDash val="solid"/>
                    </a:lnB>
                    <a:solidFill>
                      <a:srgbClr val="FAF8F3"/>
                    </a:solidFill>
                  </a:tcPr>
                </a:tc>
                <a:tc>
                  <a:txBody>
                    <a:bodyPr/>
                    <a:lstStyle/>
                    <a:p>
                      <a:r>
                        <a:rPr sz="1875" b="0">
                          <a:solidFill>
                            <a:srgbClr val="17251F"/>
                          </a:solidFill>
                          <a:latin typeface="Helvetica Neue"/>
                          <a:ea typeface="Helvetica Neue"/>
                          <a:cs typeface="Helvetica Neue"/>
                        </a:rPr>
                        <a:t>Frozen Qwen text + frozen CLIP</a:t>
                      </a:r>
                    </a:p>
                  </a:txBody>
                  <a:tcPr marL="133350" marR="133350" marT="76200" marB="57150" anchor="t">
                    <a:lnR w="9525">
                      <a:solidFill>
                        <a:srgbClr val="E3E8E2"/>
                      </a:solidFill>
                      <a:prstDash val="solid"/>
                    </a:lnR>
                    <a:lnB w="9525">
                      <a:solidFill>
                        <a:srgbClr val="E3E8E2"/>
                      </a:solidFill>
                      <a:prstDash val="solid"/>
                    </a:lnB>
                    <a:solidFill>
                      <a:srgbClr val="FAF8F3"/>
                    </a:solidFill>
                  </a:tcPr>
                </a:tc>
                <a:tc>
                  <a:txBody>
                    <a:bodyPr/>
                    <a:lstStyle/>
                    <a:p>
                      <a:r>
                        <a:rPr sz="1875" b="0">
                          <a:solidFill>
                            <a:srgbClr val="17251F"/>
                          </a:solidFill>
                          <a:latin typeface="Helvetica Neue"/>
                          <a:ea typeface="Helvetica Neue"/>
                          <a:cs typeface="Helvetica Neue"/>
                        </a:rPr>
                        <a:t>History tower and pooled user vector</a:t>
                      </a:r>
                    </a:p>
                  </a:txBody>
                  <a:tcPr marL="133350" marR="133350" marT="76200" marB="57150" anchor="t">
                    <a:lnR w="9525">
                      <a:solidFill>
                        <a:srgbClr val="E3E8E2"/>
                      </a:solidFill>
                      <a:prstDash val="solid"/>
                    </a:lnR>
                    <a:lnB w="9525">
                      <a:solidFill>
                        <a:srgbClr val="E3E8E2"/>
                      </a:solidFill>
                      <a:prstDash val="solid"/>
                    </a:lnB>
                    <a:solidFill>
                      <a:srgbClr val="FAF8F3"/>
                    </a:solidFill>
                  </a:tcPr>
                </a:tc>
              </a:tr>
              <a:tr h="863600">
                <a:tc>
                  <a:txBody>
                    <a:bodyPr/>
                    <a:lstStyle/>
                    <a:p>
                      <a:r>
                        <a:rPr sz="1875" b="0">
                          <a:solidFill>
                            <a:srgbClr val="17251F"/>
                          </a:solidFill>
                          <a:latin typeface="Helvetica Neue"/>
                          <a:ea typeface="Helvetica Neue"/>
                          <a:cs typeface="Helvetica Neue"/>
                        </a:rPr>
                        <a:t>Candidate product</a:t>
                      </a:r>
                    </a:p>
                  </a:txBody>
                  <a:tcPr marL="133350" marR="133350" marT="76200" marB="57150" anchor="t">
                    <a:lnL w="9525">
                      <a:solidFill>
                        <a:srgbClr val="E3E8E2"/>
                      </a:solidFill>
                      <a:prstDash val="solid"/>
                    </a:lnL>
                    <a:lnR w="9525">
                      <a:solidFill>
                        <a:srgbClr val="E3E8E2"/>
                      </a:solidFill>
                      <a:prstDash val="solid"/>
                    </a:lnR>
                    <a:lnB w="9525">
                      <a:solidFill>
                        <a:srgbClr val="E3E8E2"/>
                      </a:solidFill>
                      <a:prstDash val="solid"/>
                    </a:lnB>
                    <a:solidFill>
                      <a:srgbClr val="FAF8F3"/>
                    </a:solidFill>
                  </a:tcPr>
                </a:tc>
                <a:tc>
                  <a:txBody>
                    <a:bodyPr/>
                    <a:lstStyle/>
                    <a:p>
                      <a:r>
                        <a:rPr sz="1875" b="0">
                          <a:solidFill>
                            <a:srgbClr val="17251F"/>
                          </a:solidFill>
                          <a:latin typeface="Helvetica Neue"/>
                          <a:ea typeface="Helvetica Neue"/>
                          <a:cs typeface="Helvetica Neue"/>
                        </a:rPr>
                        <a:t>Selected Qwen base / LoRA + frozen CLIP</a:t>
                      </a:r>
                    </a:p>
                  </a:txBody>
                  <a:tcPr marL="133350" marR="133350" marT="76200" marB="57150" anchor="t">
                    <a:lnR w="9525">
                      <a:solidFill>
                        <a:srgbClr val="E3E8E2"/>
                      </a:solidFill>
                      <a:prstDash val="solid"/>
                    </a:lnR>
                    <a:lnB w="9525">
                      <a:solidFill>
                        <a:srgbClr val="E3E8E2"/>
                      </a:solidFill>
                      <a:prstDash val="solid"/>
                    </a:lnB>
                    <a:solidFill>
                      <a:srgbClr val="FAF8F3"/>
                    </a:solidFill>
                  </a:tcPr>
                </a:tc>
                <a:tc>
                  <a:txBody>
                    <a:bodyPr/>
                    <a:lstStyle/>
                    <a:p>
                      <a:r>
                        <a:rPr sz="1875" b="0">
                          <a:solidFill>
                            <a:srgbClr val="17251F"/>
                          </a:solidFill>
                          <a:latin typeface="Helvetica Neue"/>
                          <a:ea typeface="Helvetica Neue"/>
                          <a:cs typeface="Helvetica Neue"/>
                        </a:rPr>
                        <a:t>Candidate tower and ranking score</a:t>
                      </a:r>
                    </a:p>
                  </a:txBody>
                  <a:tcPr marL="133350" marR="133350" marT="76200" marB="57150" anchor="t">
                    <a:lnR w="9525">
                      <a:solidFill>
                        <a:srgbClr val="E3E8E2"/>
                      </a:solidFill>
                      <a:prstDash val="solid"/>
                    </a:lnR>
                    <a:lnB w="9525">
                      <a:solidFill>
                        <a:srgbClr val="E3E8E2"/>
                      </a:solidFill>
                      <a:prstDash val="solid"/>
                    </a:lnB>
                    <a:solidFill>
                      <a:srgbClr val="FAF8F3"/>
                    </a:solidFill>
                  </a:tcPr>
                </a:tc>
              </a:tr>
            </a:tbl>
          </a:graphicData>
        </a:graphic>
      </p:graphicFrame>
      <p:sp>
        <p:nvSpPr>
          <p:cNvPr id="5" name="">
            <a:extLst xmlns:a="http://schemas.openxmlformats.org/drawingml/2006/main">
              <a:ext uri="{FF2B5EF4-FFF2-40B4-BE49-F238E27FC236}">
                <a16:creationId xmlns:a16="http://schemas.microsoft.com/office/drawing/2014/main" id="{10C7B129-1C90-4EFE-90B8-0940B2DD26DD}"/>
              </a:ext>
            </a:extLst>
          </p:cNvPr>
          <p:cNvSpPr>
            <a:spLocks xmlns:a="http://schemas.openxmlformats.org/drawingml/2006/main" noGrp="1"/>
          </p:cNvSpPr>
          <p:nvPr/>
        </p:nvSpPr>
        <p:spPr>
          <a:xfrm xmlns:a="http://schemas.openxmlformats.org/drawingml/2006/main">
            <a:off x="628650" y="4962525"/>
            <a:ext cx="10896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250" b="1">
                <a:solidFill>
                  <a:srgbClr val="087E80"/>
                </a:solidFill>
                <a:latin typeface="Helvetica Neue"/>
                <a:ea typeface="Helvetica Neue"/>
                <a:cs typeface="Helvetica Neue"/>
              </a:defRPr>
            </a:defPPr>
            <a:lvl1pPr>
              <a:defRPr sz="2250" b="1">
                <a:solidFill>
                  <a:srgbClr val="087E80"/>
                </a:solidFill>
                <a:latin typeface="Helvetica Neue"/>
                <a:ea typeface="Helvetica Neue"/>
                <a:cs typeface="Helvetica Neue"/>
              </a:defRPr>
            </a:lvl1pPr>
            <a:lvl2pPr>
              <a:defRPr sz="2250" b="1">
                <a:solidFill>
                  <a:srgbClr val="087E80"/>
                </a:solidFill>
                <a:latin typeface="Helvetica Neue"/>
                <a:ea typeface="Helvetica Neue"/>
                <a:cs typeface="Helvetica Neue"/>
              </a:defRPr>
            </a:lvl2pPr>
            <a:lvl3pPr>
              <a:defRPr sz="2250" b="1">
                <a:solidFill>
                  <a:srgbClr val="087E80"/>
                </a:solidFill>
                <a:latin typeface="Helvetica Neue"/>
                <a:ea typeface="Helvetica Neue"/>
                <a:cs typeface="Helvetica Neue"/>
              </a:defRPr>
            </a:lvl3pPr>
            <a:lvl4pPr>
              <a:defRPr sz="2250" b="1">
                <a:solidFill>
                  <a:srgbClr val="087E80"/>
                </a:solidFill>
                <a:latin typeface="Helvetica Neue"/>
                <a:ea typeface="Helvetica Neue"/>
                <a:cs typeface="Helvetica Neue"/>
              </a:defRPr>
            </a:lvl4pPr>
            <a:lvl5pPr>
              <a:defRPr sz="2250" b="1">
                <a:solidFill>
                  <a:srgbClr val="087E80"/>
                </a:solidFill>
                <a:latin typeface="Helvetica Neue"/>
                <a:ea typeface="Helvetica Neue"/>
                <a:cs typeface="Helvetica Neue"/>
              </a:defRPr>
            </a:lvl5pPr>
            <a:lvl6pPr>
              <a:defRPr sz="2250" b="1">
                <a:solidFill>
                  <a:srgbClr val="087E80"/>
                </a:solidFill>
                <a:latin typeface="Helvetica Neue"/>
                <a:ea typeface="Helvetica Neue"/>
                <a:cs typeface="Helvetica Neue"/>
              </a:defRPr>
            </a:lvl6pPr>
            <a:lvl7pPr>
              <a:defRPr sz="2250" b="1">
                <a:solidFill>
                  <a:srgbClr val="087E80"/>
                </a:solidFill>
                <a:latin typeface="Helvetica Neue"/>
                <a:ea typeface="Helvetica Neue"/>
                <a:cs typeface="Helvetica Neue"/>
              </a:defRPr>
            </a:lvl7pPr>
            <a:lvl8pPr>
              <a:defRPr sz="2250" b="1">
                <a:solidFill>
                  <a:srgbClr val="087E80"/>
                </a:solidFill>
                <a:latin typeface="Helvetica Neue"/>
                <a:ea typeface="Helvetica Neue"/>
                <a:cs typeface="Helvetica Neue"/>
              </a:defRPr>
            </a:lvl8pPr>
            <a:lvl9pPr>
              <a:defRPr sz="2250" b="1">
                <a:solidFill>
                  <a:srgbClr val="087E80"/>
                </a:solidFill>
                <a:latin typeface="Helvetica Neue"/>
                <a:ea typeface="Helvetica Neue"/>
                <a:cs typeface="Helvetica Neue"/>
              </a:defRPr>
            </a:lvl9pPr>
          </a:lstStyle>
          <a:p xmlns:a="http://schemas.openxmlformats.org/drawingml/2006/main">
            <a:pPr>
              <a:defRPr sz="2250" b="1">
                <a:solidFill>
                  <a:srgbClr val="087E80"/>
                </a:solidFill>
                <a:latin typeface="Helvetica Neue"/>
                <a:ea typeface="Helvetica Neue"/>
                <a:cs typeface="Helvetica Neue"/>
              </a:defRPr>
            </a:pPr>
            <a:r>
              <a:rPr sz="2250" b="1">
                <a:solidFill>
                  <a:srgbClr val="087E80"/>
                </a:solidFill>
                <a:latin typeface="Helvetica Neue"/>
                <a:ea typeface="Helvetica Neue"/>
                <a:cs typeface="Helvetica Neue"/>
              </a:rPr>
              <a:t>Live text requests use the matching candidate encoder.</a:t>
            </a:r>
          </a:p>
        </p:txBody>
      </p:sp>
      <p:sp>
        <p:nvSpPr>
          <p:cNvPr id="6" name="">
            <a:extLst xmlns:a="http://schemas.openxmlformats.org/drawingml/2006/main">
              <a:ext uri="{FF2B5EF4-FFF2-40B4-BE49-F238E27FC236}">
                <a16:creationId xmlns:a16="http://schemas.microsoft.com/office/drawing/2014/main" id="{E395724F-6A98-4B44-84EB-E0308C1D01A1}"/>
              </a:ext>
            </a:extLst>
          </p:cNvPr>
          <p:cNvSpPr>
            <a:spLocks xmlns:a="http://schemas.openxmlformats.org/drawingml/2006/main" noGrp="1"/>
          </p:cNvSpPr>
          <p:nvPr/>
        </p:nvSpPr>
        <p:spPr>
          <a:xfrm xmlns:a="http://schemas.openxmlformats.org/drawingml/2006/main">
            <a:off x="628650" y="5581650"/>
            <a:ext cx="108966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75" b="0">
                <a:solidFill>
                  <a:srgbClr val="566760"/>
                </a:solidFill>
                <a:latin typeface="Helvetica Neue"/>
                <a:ea typeface="Helvetica Neue"/>
                <a:cs typeface="Helvetica Neue"/>
              </a:defRPr>
            </a:defPPr>
            <a:lvl1pPr>
              <a:defRPr sz="1875" b="0">
                <a:solidFill>
                  <a:srgbClr val="566760"/>
                </a:solidFill>
                <a:latin typeface="Helvetica Neue"/>
                <a:ea typeface="Helvetica Neue"/>
                <a:cs typeface="Helvetica Neue"/>
              </a:defRPr>
            </a:lvl1pPr>
            <a:lvl2pPr>
              <a:defRPr sz="1875" b="0">
                <a:solidFill>
                  <a:srgbClr val="566760"/>
                </a:solidFill>
                <a:latin typeface="Helvetica Neue"/>
                <a:ea typeface="Helvetica Neue"/>
                <a:cs typeface="Helvetica Neue"/>
              </a:defRPr>
            </a:lvl2pPr>
            <a:lvl3pPr>
              <a:defRPr sz="1875" b="0">
                <a:solidFill>
                  <a:srgbClr val="566760"/>
                </a:solidFill>
                <a:latin typeface="Helvetica Neue"/>
                <a:ea typeface="Helvetica Neue"/>
                <a:cs typeface="Helvetica Neue"/>
              </a:defRPr>
            </a:lvl3pPr>
            <a:lvl4pPr>
              <a:defRPr sz="1875" b="0">
                <a:solidFill>
                  <a:srgbClr val="566760"/>
                </a:solidFill>
                <a:latin typeface="Helvetica Neue"/>
                <a:ea typeface="Helvetica Neue"/>
                <a:cs typeface="Helvetica Neue"/>
              </a:defRPr>
            </a:lvl4pPr>
            <a:lvl5pPr>
              <a:defRPr sz="1875" b="0">
                <a:solidFill>
                  <a:srgbClr val="566760"/>
                </a:solidFill>
                <a:latin typeface="Helvetica Neue"/>
                <a:ea typeface="Helvetica Neue"/>
                <a:cs typeface="Helvetica Neue"/>
              </a:defRPr>
            </a:lvl5pPr>
            <a:lvl6pPr>
              <a:defRPr sz="1875" b="0">
                <a:solidFill>
                  <a:srgbClr val="566760"/>
                </a:solidFill>
                <a:latin typeface="Helvetica Neue"/>
                <a:ea typeface="Helvetica Neue"/>
                <a:cs typeface="Helvetica Neue"/>
              </a:defRPr>
            </a:lvl6pPr>
            <a:lvl7pPr>
              <a:defRPr sz="1875" b="0">
                <a:solidFill>
                  <a:srgbClr val="566760"/>
                </a:solidFill>
                <a:latin typeface="Helvetica Neue"/>
                <a:ea typeface="Helvetica Neue"/>
                <a:cs typeface="Helvetica Neue"/>
              </a:defRPr>
            </a:lvl7pPr>
            <a:lvl8pPr>
              <a:defRPr sz="1875" b="0">
                <a:solidFill>
                  <a:srgbClr val="566760"/>
                </a:solidFill>
                <a:latin typeface="Helvetica Neue"/>
                <a:ea typeface="Helvetica Neue"/>
                <a:cs typeface="Helvetica Neue"/>
              </a:defRPr>
            </a:lvl8pPr>
            <a:lvl9pPr>
              <a:defRPr sz="1875" b="0">
                <a:solidFill>
                  <a:srgbClr val="566760"/>
                </a:solidFill>
                <a:latin typeface="Helvetica Neue"/>
                <a:ea typeface="Helvetica Neue"/>
                <a:cs typeface="Helvetica Neue"/>
              </a:defRPr>
            </a:lvl9pPr>
          </a:lstStyle>
          <a:p xmlns:a="http://schemas.openxmlformats.org/drawingml/2006/main">
            <a:pPr>
              <a:defRPr sz="1875" b="0">
                <a:solidFill>
                  <a:srgbClr val="566760"/>
                </a:solidFill>
                <a:latin typeface="Helvetica Neue"/>
                <a:ea typeface="Helvetica Neue"/>
                <a:cs typeface="Helvetica Neue"/>
              </a:defRPr>
            </a:pPr>
            <a:r>
              <a:rPr sz="1875" b="0">
                <a:solidFill>
                  <a:srgbClr val="566760"/>
                </a:solidFill>
                <a:latin typeface="Helvetica Neue"/>
                <a:ea typeface="Helvetica Neue"/>
                <a:cs typeface="Helvetica Neue"/>
              </a:rPr>
              <a:t>The history tower stays on frozen base features. A new photo uses frozen CLIP.</a:t>
            </a:r>
          </a:p>
        </p:txBody>
      </p:sp>
    </p:spTree>
    <p:extLst>
      <p:ext uri="{BB962C8B-B14F-4D97-AF65-F5344CB8AC3E}">
        <p14:creationId xmlns:p14="http://schemas.microsoft.com/office/powerpoint/2010/main" val="1542911866"/>
      </p:ext>
    </p:extLst>
  </p:cSld>
</p:sld>
</file>

<file path=ppt/slides/slide9.xml><?xml version="1.0" encoding="utf-8"?>
<p:sld xmlns:p="http://schemas.openxmlformats.org/presentationml/2006/main">
  <p:cSld>
    <p:bg>
      <p:bgPr>
        <a:solidFill xmlns:a="http://schemas.openxmlformats.org/drawingml/2006/main">
          <a:srgbClr val="FAF8F3"/>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B8C73173-3613-4C15-81C9-55A73CA8E56D}"/>
              </a:ext>
            </a:extLst>
          </p:cNvPr>
          <p:cNvSpPr>
            <a:spLocks xmlns:a="http://schemas.openxmlformats.org/drawingml/2006/main" noGrp="1"/>
          </p:cNvSpPr>
          <p:nvPr/>
        </p:nvSpPr>
        <p:spPr>
          <a:xfrm xmlns:a="http://schemas.openxmlformats.org/drawingml/2006/main">
            <a:off x="609600" y="3810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150" b="1">
                <a:solidFill>
                  <a:srgbClr val="17251F"/>
                </a:solidFill>
                <a:latin typeface="Helvetica Neue"/>
                <a:ea typeface="Helvetica Neue"/>
                <a:cs typeface="Helvetica Neue"/>
              </a:defRPr>
            </a:defPPr>
            <a:lvl1pPr>
              <a:defRPr sz="3150" b="1">
                <a:solidFill>
                  <a:srgbClr val="17251F"/>
                </a:solidFill>
                <a:latin typeface="Helvetica Neue"/>
                <a:ea typeface="Helvetica Neue"/>
                <a:cs typeface="Helvetica Neue"/>
              </a:defRPr>
            </a:lvl1pPr>
            <a:lvl2pPr>
              <a:defRPr sz="3150" b="1">
                <a:solidFill>
                  <a:srgbClr val="17251F"/>
                </a:solidFill>
                <a:latin typeface="Helvetica Neue"/>
                <a:ea typeface="Helvetica Neue"/>
                <a:cs typeface="Helvetica Neue"/>
              </a:defRPr>
            </a:lvl2pPr>
            <a:lvl3pPr>
              <a:defRPr sz="3150" b="1">
                <a:solidFill>
                  <a:srgbClr val="17251F"/>
                </a:solidFill>
                <a:latin typeface="Helvetica Neue"/>
                <a:ea typeface="Helvetica Neue"/>
                <a:cs typeface="Helvetica Neue"/>
              </a:defRPr>
            </a:lvl3pPr>
            <a:lvl4pPr>
              <a:defRPr sz="3150" b="1">
                <a:solidFill>
                  <a:srgbClr val="17251F"/>
                </a:solidFill>
                <a:latin typeface="Helvetica Neue"/>
                <a:ea typeface="Helvetica Neue"/>
                <a:cs typeface="Helvetica Neue"/>
              </a:defRPr>
            </a:lvl4pPr>
            <a:lvl5pPr>
              <a:defRPr sz="3150" b="1">
                <a:solidFill>
                  <a:srgbClr val="17251F"/>
                </a:solidFill>
                <a:latin typeface="Helvetica Neue"/>
                <a:ea typeface="Helvetica Neue"/>
                <a:cs typeface="Helvetica Neue"/>
              </a:defRPr>
            </a:lvl5pPr>
            <a:lvl6pPr>
              <a:defRPr sz="3150" b="1">
                <a:solidFill>
                  <a:srgbClr val="17251F"/>
                </a:solidFill>
                <a:latin typeface="Helvetica Neue"/>
                <a:ea typeface="Helvetica Neue"/>
                <a:cs typeface="Helvetica Neue"/>
              </a:defRPr>
            </a:lvl6pPr>
            <a:lvl7pPr>
              <a:defRPr sz="3150" b="1">
                <a:solidFill>
                  <a:srgbClr val="17251F"/>
                </a:solidFill>
                <a:latin typeface="Helvetica Neue"/>
                <a:ea typeface="Helvetica Neue"/>
                <a:cs typeface="Helvetica Neue"/>
              </a:defRPr>
            </a:lvl7pPr>
            <a:lvl8pPr>
              <a:defRPr sz="3150" b="1">
                <a:solidFill>
                  <a:srgbClr val="17251F"/>
                </a:solidFill>
                <a:latin typeface="Helvetica Neue"/>
                <a:ea typeface="Helvetica Neue"/>
                <a:cs typeface="Helvetica Neue"/>
              </a:defRPr>
            </a:lvl8pPr>
            <a:lvl9pPr>
              <a:defRPr sz="3150" b="1">
                <a:solidFill>
                  <a:srgbClr val="17251F"/>
                </a:solidFill>
                <a:latin typeface="Helvetica Neue"/>
                <a:ea typeface="Helvetica Neue"/>
                <a:cs typeface="Helvetica Neue"/>
              </a:defRPr>
            </a:lvl9pPr>
          </a:lstStyle>
          <a:p xmlns:a="http://schemas.openxmlformats.org/drawingml/2006/main">
            <a:pPr>
              <a:defRPr sz="3150" b="1">
                <a:solidFill>
                  <a:srgbClr val="17251F"/>
                </a:solidFill>
                <a:latin typeface="Helvetica Neue"/>
                <a:ea typeface="Helvetica Neue"/>
                <a:cs typeface="Helvetica Neue"/>
              </a:defRPr>
            </a:pPr>
            <a:r>
              <a:rPr sz="3150" b="1">
                <a:solidFill>
                  <a:srgbClr val="17251F"/>
                </a:solidFill>
                <a:latin typeface="Helvetica Neue"/>
                <a:ea typeface="Helvetica Neue"/>
                <a:cs typeface="Helvetica Neue"/>
              </a:rPr>
              <a:t>Three objectives test what text adaptation adds</a:t>
            </a:r>
          </a:p>
        </p:txBody>
      </p:sp>
      <p:sp>
        <p:nvSpPr>
          <p:cNvPr id="2" name="">
            <a:extLst xmlns:a="http://schemas.openxmlformats.org/drawingml/2006/main">
              <a:ext uri="{FF2B5EF4-FFF2-40B4-BE49-F238E27FC236}">
                <a16:creationId xmlns:a16="http://schemas.microsoft.com/office/drawing/2014/main" id="{4065DF54-6DF0-4467-A1C1-ADD1CEE70E95}"/>
              </a:ext>
            </a:extLst>
          </p:cNvPr>
          <p:cNvSpPr>
            <a:spLocks xmlns:a="http://schemas.openxmlformats.org/drawingml/2006/main" noGrp="1"/>
          </p:cNvSpPr>
          <p:nvPr/>
        </p:nvSpPr>
        <p:spPr>
          <a:xfrm xmlns:a="http://schemas.openxmlformats.org/drawingml/2006/main">
            <a:off x="11106150" y="6457950"/>
            <a:ext cx="47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00" b="0">
                <a:solidFill>
                  <a:srgbClr val="566760"/>
                </a:solidFill>
                <a:latin typeface="Helvetica Neue"/>
                <a:ea typeface="Helvetica Neue"/>
                <a:cs typeface="Helvetica Neue"/>
              </a:defRPr>
            </a:defPPr>
            <a:lvl1pPr algn="r">
              <a:defRPr sz="1200" b="0">
                <a:solidFill>
                  <a:srgbClr val="566760"/>
                </a:solidFill>
                <a:latin typeface="Helvetica Neue"/>
                <a:ea typeface="Helvetica Neue"/>
                <a:cs typeface="Helvetica Neue"/>
              </a:defRPr>
            </a:lvl1pPr>
            <a:lvl2pPr algn="r">
              <a:defRPr sz="1200" b="0">
                <a:solidFill>
                  <a:srgbClr val="566760"/>
                </a:solidFill>
                <a:latin typeface="Helvetica Neue"/>
                <a:ea typeface="Helvetica Neue"/>
                <a:cs typeface="Helvetica Neue"/>
              </a:defRPr>
            </a:lvl2pPr>
            <a:lvl3pPr algn="r">
              <a:defRPr sz="1200" b="0">
                <a:solidFill>
                  <a:srgbClr val="566760"/>
                </a:solidFill>
                <a:latin typeface="Helvetica Neue"/>
                <a:ea typeface="Helvetica Neue"/>
                <a:cs typeface="Helvetica Neue"/>
              </a:defRPr>
            </a:lvl3pPr>
            <a:lvl4pPr algn="r">
              <a:defRPr sz="1200" b="0">
                <a:solidFill>
                  <a:srgbClr val="566760"/>
                </a:solidFill>
                <a:latin typeface="Helvetica Neue"/>
                <a:ea typeface="Helvetica Neue"/>
                <a:cs typeface="Helvetica Neue"/>
              </a:defRPr>
            </a:lvl4pPr>
            <a:lvl5pPr algn="r">
              <a:defRPr sz="1200" b="0">
                <a:solidFill>
                  <a:srgbClr val="566760"/>
                </a:solidFill>
                <a:latin typeface="Helvetica Neue"/>
                <a:ea typeface="Helvetica Neue"/>
                <a:cs typeface="Helvetica Neue"/>
              </a:defRPr>
            </a:lvl5pPr>
            <a:lvl6pPr algn="r">
              <a:defRPr sz="1200" b="0">
                <a:solidFill>
                  <a:srgbClr val="566760"/>
                </a:solidFill>
                <a:latin typeface="Helvetica Neue"/>
                <a:ea typeface="Helvetica Neue"/>
                <a:cs typeface="Helvetica Neue"/>
              </a:defRPr>
            </a:lvl6pPr>
            <a:lvl7pPr algn="r">
              <a:defRPr sz="1200" b="0">
                <a:solidFill>
                  <a:srgbClr val="566760"/>
                </a:solidFill>
                <a:latin typeface="Helvetica Neue"/>
                <a:ea typeface="Helvetica Neue"/>
                <a:cs typeface="Helvetica Neue"/>
              </a:defRPr>
            </a:lvl7pPr>
            <a:lvl8pPr algn="r">
              <a:defRPr sz="1200" b="0">
                <a:solidFill>
                  <a:srgbClr val="566760"/>
                </a:solidFill>
                <a:latin typeface="Helvetica Neue"/>
                <a:ea typeface="Helvetica Neue"/>
                <a:cs typeface="Helvetica Neue"/>
              </a:defRPr>
            </a:lvl8pPr>
            <a:lvl9pPr algn="r">
              <a:defRPr sz="1200" b="0">
                <a:solidFill>
                  <a:srgbClr val="566760"/>
                </a:solidFill>
                <a:latin typeface="Helvetica Neue"/>
                <a:ea typeface="Helvetica Neue"/>
                <a:cs typeface="Helvetica Neue"/>
              </a:defRPr>
            </a:lvl9pPr>
          </a:lstStyle>
          <a:p xmlns:a="http://schemas.openxmlformats.org/drawingml/2006/main">
            <a:pPr algn="r">
              <a:defRPr sz="1200" b="0">
                <a:solidFill>
                  <a:srgbClr val="566760"/>
                </a:solidFill>
                <a:latin typeface="Helvetica Neue"/>
                <a:ea typeface="Helvetica Neue"/>
                <a:cs typeface="Helvetica Neue"/>
              </a:defRPr>
            </a:pPr>
            <a:r>
              <a:rPr sz="1200" b="0">
                <a:solidFill>
                  <a:srgbClr val="566760"/>
                </a:solidFill>
                <a:latin typeface="Helvetica Neue"/>
                <a:ea typeface="Helvetica Neue"/>
                <a:cs typeface="Helvetica Neue"/>
              </a:rPr>
              <a:t>09</a:t>
            </a:r>
          </a:p>
        </p:txBody>
      </p:sp>
      <p:graphicFrame>
        <p:nvGraphicFramePr>
          <p:cNvPr id="3" name="">
            <a:extLst xmlns:a="http://schemas.openxmlformats.org/drawingml/2006/main">
              <a:ext uri="{FF2B5EF4-FFF2-40B4-BE49-F238E27FC236}">
                <a16:creationId xmlns:a16="http://schemas.microsoft.com/office/drawing/2014/main" id="{8F9938B6-5492-485F-ACA6-DE30FC82EC32}"/>
              </a:ext>
            </a:extLst>
          </p:cNvPr>
          <p:cNvGraphicFramePr/>
          <p:nvPr/>
        </p:nvGraphicFramePr>
        <p:xfrm>
          <a:off xmlns:a="http://schemas.openxmlformats.org/drawingml/2006/main" x="609600" y="1685925"/>
          <a:ext xmlns:a="http://schemas.openxmlformats.org/drawingml/2006/main" cx="10972800" cy="3295650"/>
        </p:xfrm>
        <a:graphic xmlns:a="http://schemas.openxmlformats.org/drawingml/2006/main">
          <a:graphicData uri="http://schemas.openxmlformats.org/drawingml/2006/table">
            <a:tbl>
              <a:tblPr/>
              <a:tblGrid>
                <a:gridCol w="2000250"/>
                <a:gridCol w="4333875"/>
                <a:gridCol w="4638675"/>
              </a:tblGrid>
              <a:tr h="823913">
                <a:tc>
                  <a:txBody>
                    <a:bodyPr/>
                    <a:lstStyle/>
                    <a:p>
                      <a:r>
                        <a:rPr sz="1950" b="1">
                          <a:solidFill>
                            <a:srgbClr val="FFFFFF"/>
                          </a:solidFill>
                          <a:latin typeface="Helvetica Neue"/>
                          <a:ea typeface="Helvetica Neue"/>
                          <a:cs typeface="Helvetica Neue"/>
                        </a:rPr>
                        <a:t>Arm</a:t>
                      </a:r>
                    </a:p>
                  </a:txBody>
                  <a:tcPr marL="133350" marR="133350" marT="76200" marB="57150" anchor="t">
                    <a:lnL w="9525">
                      <a:solidFill>
                        <a:srgbClr val="E3E8E2"/>
                      </a:solidFill>
                      <a:prstDash val="solid"/>
                    </a:lnL>
                    <a:lnR w="9525">
                      <a:solidFill>
                        <a:srgbClr val="E3E8E2"/>
                      </a:solidFill>
                      <a:prstDash val="solid"/>
                    </a:lnR>
                    <a:lnT w="9525">
                      <a:solidFill>
                        <a:srgbClr val="E3E8E2"/>
                      </a:solidFill>
                      <a:prstDash val="solid"/>
                    </a:lnT>
                    <a:lnB w="9525">
                      <a:solidFill>
                        <a:srgbClr val="E3E8E2"/>
                      </a:solidFill>
                      <a:prstDash val="solid"/>
                    </a:lnB>
                    <a:solidFill>
                      <a:srgbClr val="17251F"/>
                    </a:solidFill>
                  </a:tcPr>
                </a:tc>
                <a:tc>
                  <a:txBody>
                    <a:bodyPr/>
                    <a:lstStyle/>
                    <a:p>
                      <a:r>
                        <a:rPr sz="1950" b="1">
                          <a:solidFill>
                            <a:srgbClr val="FFFFFF"/>
                          </a:solidFill>
                          <a:latin typeface="Helvetica Neue"/>
                          <a:ea typeface="Helvetica Neue"/>
                          <a:cs typeface="Helvetica Neue"/>
                        </a:rPr>
                        <a:t>Qwen update</a:t>
                      </a:r>
                    </a:p>
                  </a:txBody>
                  <a:tcPr marL="133350" marR="133350" marT="76200" marB="57150" anchor="t">
                    <a:lnR w="9525">
                      <a:solidFill>
                        <a:srgbClr val="E3E8E2"/>
                      </a:solidFill>
                      <a:prstDash val="solid"/>
                    </a:lnR>
                    <a:lnT w="9525">
                      <a:solidFill>
                        <a:srgbClr val="E3E8E2"/>
                      </a:solidFill>
                      <a:prstDash val="solid"/>
                    </a:lnT>
                    <a:lnB w="9525">
                      <a:solidFill>
                        <a:srgbClr val="E3E8E2"/>
                      </a:solidFill>
                      <a:prstDash val="solid"/>
                    </a:lnB>
                    <a:solidFill>
                      <a:srgbClr val="17251F"/>
                    </a:solidFill>
                  </a:tcPr>
                </a:tc>
                <a:tc>
                  <a:txBody>
                    <a:bodyPr/>
                    <a:lstStyle/>
                    <a:p>
                      <a:r>
                        <a:rPr sz="1950" b="1">
                          <a:solidFill>
                            <a:srgbClr val="FFFFFF"/>
                          </a:solidFill>
                          <a:latin typeface="Helvetica Neue"/>
                          <a:ea typeface="Helvetica Neue"/>
                          <a:cs typeface="Helvetica Neue"/>
                        </a:rPr>
                        <a:t>Recommendation head</a:t>
                      </a:r>
                    </a:p>
                  </a:txBody>
                  <a:tcPr marL="133350" marR="133350" marT="76200" marB="57150" anchor="t">
                    <a:lnR w="9525">
                      <a:solidFill>
                        <a:srgbClr val="E3E8E2"/>
                      </a:solidFill>
                      <a:prstDash val="solid"/>
                    </a:lnR>
                    <a:lnT w="9525">
                      <a:solidFill>
                        <a:srgbClr val="E3E8E2"/>
                      </a:solidFill>
                      <a:prstDash val="solid"/>
                    </a:lnT>
                    <a:lnB w="9525">
                      <a:solidFill>
                        <a:srgbClr val="E3E8E2"/>
                      </a:solidFill>
                      <a:prstDash val="solid"/>
                    </a:lnB>
                    <a:solidFill>
                      <a:srgbClr val="17251F"/>
                    </a:solidFill>
                  </a:tcPr>
                </a:tc>
              </a:tr>
              <a:tr h="823913">
                <a:tc>
                  <a:txBody>
                    <a:bodyPr/>
                    <a:lstStyle/>
                    <a:p>
                      <a:r>
                        <a:rPr sz="1950" b="0">
                          <a:solidFill>
                            <a:srgbClr val="17251F"/>
                          </a:solidFill>
                          <a:latin typeface="Helvetica Neue"/>
                          <a:ea typeface="Helvetica Neue"/>
                          <a:cs typeface="Helvetica Neue"/>
                        </a:rPr>
                        <a:t>Frozen</a:t>
                      </a:r>
                    </a:p>
                  </a:txBody>
                  <a:tcPr marL="133350" marR="133350" marT="76200" marB="57150" anchor="t">
                    <a:lnL w="9525">
                      <a:solidFill>
                        <a:srgbClr val="E3E8E2"/>
                      </a:solidFill>
                      <a:prstDash val="solid"/>
                    </a:lnL>
                    <a:lnR w="9525">
                      <a:solidFill>
                        <a:srgbClr val="E3E8E2"/>
                      </a:solidFill>
                      <a:prstDash val="solid"/>
                    </a:lnR>
                    <a:lnB w="9525">
                      <a:solidFill>
                        <a:srgbClr val="E3E8E2"/>
                      </a:solidFill>
                      <a:prstDash val="solid"/>
                    </a:lnB>
                    <a:solidFill>
                      <a:srgbClr val="FAF8F3"/>
                    </a:solidFill>
                  </a:tcPr>
                </a:tc>
                <a:tc>
                  <a:txBody>
                    <a:bodyPr/>
                    <a:lstStyle/>
                    <a:p>
                      <a:r>
                        <a:rPr sz="1950" b="0">
                          <a:solidFill>
                            <a:srgbClr val="17251F"/>
                          </a:solidFill>
                          <a:latin typeface="Helvetica Neue"/>
                          <a:ea typeface="Helvetica Neue"/>
                          <a:cs typeface="Helvetica Neue"/>
                        </a:rPr>
                        <a:t>Base encoder stays fixed</a:t>
                      </a:r>
                    </a:p>
                  </a:txBody>
                  <a:tcPr marL="133350" marR="133350" marT="76200" marB="57150" anchor="t">
                    <a:lnR w="9525">
                      <a:solidFill>
                        <a:srgbClr val="E3E8E2"/>
                      </a:solidFill>
                      <a:prstDash val="solid"/>
                    </a:lnR>
                    <a:lnB w="9525">
                      <a:solidFill>
                        <a:srgbClr val="E3E8E2"/>
                      </a:solidFill>
                      <a:prstDash val="solid"/>
                    </a:lnB>
                    <a:solidFill>
                      <a:srgbClr val="FAF8F3"/>
                    </a:solidFill>
                  </a:tcPr>
                </a:tc>
                <a:tc>
                  <a:txBody>
                    <a:bodyPr/>
                    <a:lstStyle/>
                    <a:p>
                      <a:r>
                        <a:rPr sz="1950" b="0">
                          <a:solidFill>
                            <a:srgbClr val="17251F"/>
                          </a:solidFill>
                          <a:latin typeface="Helvetica Neue"/>
                          <a:ea typeface="Helvetica Neue"/>
                          <a:cs typeface="Helvetica Neue"/>
                        </a:rPr>
                        <a:t>BPR training</a:t>
                      </a:r>
                    </a:p>
                  </a:txBody>
                  <a:tcPr marL="133350" marR="133350" marT="76200" marB="57150" anchor="t">
                    <a:lnR w="9525">
                      <a:solidFill>
                        <a:srgbClr val="E3E8E2"/>
                      </a:solidFill>
                      <a:prstDash val="solid"/>
                    </a:lnR>
                    <a:lnB w="9525">
                      <a:solidFill>
                        <a:srgbClr val="E3E8E2"/>
                      </a:solidFill>
                      <a:prstDash val="solid"/>
                    </a:lnB>
                    <a:solidFill>
                      <a:srgbClr val="FAF8F3"/>
                    </a:solidFill>
                  </a:tcPr>
                </a:tc>
              </a:tr>
              <a:tr h="823913">
                <a:tc>
                  <a:txBody>
                    <a:bodyPr/>
                    <a:lstStyle/>
                    <a:p>
                      <a:r>
                        <a:rPr sz="1950" b="0">
                          <a:solidFill>
                            <a:srgbClr val="17251F"/>
                          </a:solidFill>
                          <a:latin typeface="Helvetica Neue"/>
                          <a:ea typeface="Helvetica Neue"/>
                          <a:cs typeface="Helvetica Neue"/>
                        </a:rPr>
                        <a:t>Semantic</a:t>
                      </a:r>
                    </a:p>
                  </a:txBody>
                  <a:tcPr marL="133350" marR="133350" marT="76200" marB="57150" anchor="t">
                    <a:lnL w="9525">
                      <a:solidFill>
                        <a:srgbClr val="E3E8E2"/>
                      </a:solidFill>
                      <a:prstDash val="solid"/>
                    </a:lnL>
                    <a:lnR w="9525">
                      <a:solidFill>
                        <a:srgbClr val="E3E8E2"/>
                      </a:solidFill>
                      <a:prstDash val="solid"/>
                    </a:lnR>
                    <a:lnB w="9525">
                      <a:solidFill>
                        <a:srgbClr val="E3E8E2"/>
                      </a:solidFill>
                      <a:prstDash val="solid"/>
                    </a:lnB>
                    <a:solidFill>
                      <a:srgbClr val="FAF8F3"/>
                    </a:solidFill>
                  </a:tcPr>
                </a:tc>
                <a:tc>
                  <a:txBody>
                    <a:bodyPr/>
                    <a:lstStyle/>
                    <a:p>
                      <a:r>
                        <a:rPr sz="1950" b="0">
                          <a:solidFill>
                            <a:srgbClr val="17251F"/>
                          </a:solidFill>
                          <a:latin typeface="Helvetica Neue"/>
                          <a:ea typeface="Helvetica Neue"/>
                          <a:cs typeface="Helvetica Neue"/>
                        </a:rPr>
                        <a:t>LoRA from review-description InfoNCE</a:t>
                      </a:r>
                    </a:p>
                  </a:txBody>
                  <a:tcPr marL="133350" marR="133350" marT="76200" marB="57150" anchor="t">
                    <a:lnR w="9525">
                      <a:solidFill>
                        <a:srgbClr val="E3E8E2"/>
                      </a:solidFill>
                      <a:prstDash val="solid"/>
                    </a:lnR>
                    <a:lnB w="9525">
                      <a:solidFill>
                        <a:srgbClr val="E3E8E2"/>
                      </a:solidFill>
                      <a:prstDash val="solid"/>
                    </a:lnB>
                    <a:solidFill>
                      <a:srgbClr val="FAF8F3"/>
                    </a:solidFill>
                  </a:tcPr>
                </a:tc>
                <a:tc>
                  <a:txBody>
                    <a:bodyPr/>
                    <a:lstStyle/>
                    <a:p>
                      <a:r>
                        <a:rPr sz="1950" b="0">
                          <a:solidFill>
                            <a:srgbClr val="17251F"/>
                          </a:solidFill>
                          <a:latin typeface="Helvetica Neue"/>
                          <a:ea typeface="Helvetica Neue"/>
                          <a:cs typeface="Helvetica Neue"/>
                        </a:rPr>
                        <a:t>BPR training</a:t>
                      </a:r>
                    </a:p>
                    <a:p>
                      <a:r>
                        <a:rPr sz="1950" b="0">
                          <a:solidFill>
                            <a:srgbClr val="17251F"/>
                          </a:solidFill>
                          <a:latin typeface="Helvetica Neue"/>
                          <a:ea typeface="Helvetica Neue"/>
                          <a:cs typeface="Helvetica Neue"/>
                        </a:rPr>
                        <a:t>Detached Qwen candidate features</a:t>
                      </a:r>
                    </a:p>
                  </a:txBody>
                  <a:tcPr marL="133350" marR="133350" marT="76200" marB="57150" anchor="t">
                    <a:lnR w="9525">
                      <a:solidFill>
                        <a:srgbClr val="E3E8E2"/>
                      </a:solidFill>
                      <a:prstDash val="solid"/>
                    </a:lnR>
                    <a:lnB w="9525">
                      <a:solidFill>
                        <a:srgbClr val="E3E8E2"/>
                      </a:solidFill>
                      <a:prstDash val="solid"/>
                    </a:lnB>
                    <a:solidFill>
                      <a:srgbClr val="FAF8F3"/>
                    </a:solidFill>
                  </a:tcPr>
                </a:tc>
              </a:tr>
              <a:tr h="823913">
                <a:tc>
                  <a:txBody>
                    <a:bodyPr/>
                    <a:lstStyle/>
                    <a:p>
                      <a:r>
                        <a:rPr sz="1950" b="0">
                          <a:solidFill>
                            <a:srgbClr val="17251F"/>
                          </a:solidFill>
                          <a:latin typeface="Helvetica Neue"/>
                          <a:ea typeface="Helvetica Neue"/>
                          <a:cs typeface="Helvetica Neue"/>
                        </a:rPr>
                        <a:t>Preference</a:t>
                      </a:r>
                    </a:p>
                  </a:txBody>
                  <a:tcPr marL="133350" marR="133350" marT="76200" marB="57150" anchor="t">
                    <a:lnL w="9525">
                      <a:solidFill>
                        <a:srgbClr val="E3E8E2"/>
                      </a:solidFill>
                      <a:prstDash val="solid"/>
                    </a:lnL>
                    <a:lnR w="9525">
                      <a:solidFill>
                        <a:srgbClr val="E3E8E2"/>
                      </a:solidFill>
                      <a:prstDash val="solid"/>
                    </a:lnR>
                    <a:lnB w="9525">
                      <a:solidFill>
                        <a:srgbClr val="E3E8E2"/>
                      </a:solidFill>
                      <a:prstDash val="solid"/>
                    </a:lnB>
                    <a:solidFill>
                      <a:srgbClr val="FAF8F3"/>
                    </a:solidFill>
                  </a:tcPr>
                </a:tc>
                <a:tc>
                  <a:txBody>
                    <a:bodyPr/>
                    <a:lstStyle/>
                    <a:p>
                      <a:r>
                        <a:rPr sz="1950" b="0">
                          <a:solidFill>
                            <a:srgbClr val="17251F"/>
                          </a:solidFill>
                          <a:latin typeface="Helvetica Neue"/>
                          <a:ea typeface="Helvetica Neue"/>
                          <a:cs typeface="Helvetica Neue"/>
                        </a:rPr>
                        <a:t>LoRA from recommendation BPR</a:t>
                      </a:r>
                    </a:p>
                  </a:txBody>
                  <a:tcPr marL="133350" marR="133350" marT="76200" marB="57150" anchor="t">
                    <a:lnR w="9525">
                      <a:solidFill>
                        <a:srgbClr val="E3E8E2"/>
                      </a:solidFill>
                      <a:prstDash val="solid"/>
                    </a:lnR>
                    <a:lnB w="9525">
                      <a:solidFill>
                        <a:srgbClr val="E3E8E2"/>
                      </a:solidFill>
                      <a:prstDash val="solid"/>
                    </a:lnB>
                    <a:solidFill>
                      <a:srgbClr val="FAF8F3"/>
                    </a:solidFill>
                  </a:tcPr>
                </a:tc>
                <a:tc>
                  <a:txBody>
                    <a:bodyPr/>
                    <a:lstStyle/>
                    <a:p>
                      <a:r>
                        <a:rPr sz="1950" b="0">
                          <a:solidFill>
                            <a:srgbClr val="17251F"/>
                          </a:solidFill>
                          <a:latin typeface="Helvetica Neue"/>
                          <a:ea typeface="Helvetica Neue"/>
                          <a:cs typeface="Helvetica Neue"/>
                        </a:rPr>
                        <a:t>BPR training</a:t>
                      </a:r>
                    </a:p>
                    <a:p>
                      <a:r>
                        <a:rPr sz="1950" b="0">
                          <a:solidFill>
                            <a:srgbClr val="17251F"/>
                          </a:solidFill>
                          <a:latin typeface="Helvetica Neue"/>
                          <a:ea typeface="Helvetica Neue"/>
                          <a:cs typeface="Helvetica Neue"/>
                        </a:rPr>
                        <a:t>Gradients reach Qwen LoRA</a:t>
                      </a:r>
                    </a:p>
                  </a:txBody>
                  <a:tcPr marL="133350" marR="133350" marT="76200" marB="57150" anchor="t">
                    <a:lnR w="9525">
                      <a:solidFill>
                        <a:srgbClr val="E3E8E2"/>
                      </a:solidFill>
                      <a:prstDash val="solid"/>
                    </a:lnR>
                    <a:lnB w="9525">
                      <a:solidFill>
                        <a:srgbClr val="E3E8E2"/>
                      </a:solidFill>
                      <a:prstDash val="solid"/>
                    </a:lnB>
                    <a:solidFill>
                      <a:srgbClr val="FAF8F3"/>
                    </a:solidFill>
                  </a:tcPr>
                </a:tc>
              </a:tr>
            </a:tbl>
          </a:graphicData>
        </a:graphic>
      </p:graphicFrame>
      <p:sp>
        <p:nvSpPr>
          <p:cNvPr id="4" name="">
            <a:extLst xmlns:a="http://schemas.openxmlformats.org/drawingml/2006/main">
              <a:ext uri="{FF2B5EF4-FFF2-40B4-BE49-F238E27FC236}">
                <a16:creationId xmlns:a16="http://schemas.microsoft.com/office/drawing/2014/main" id="{F70D01E5-8D47-4482-968D-B7C1D80794A6}"/>
              </a:ext>
            </a:extLst>
          </p:cNvPr>
          <p:cNvSpPr>
            <a:spLocks xmlns:a="http://schemas.openxmlformats.org/drawingml/2006/main" noGrp="1"/>
          </p:cNvSpPr>
          <p:nvPr/>
        </p:nvSpPr>
        <p:spPr>
          <a:xfrm xmlns:a="http://schemas.openxmlformats.org/drawingml/2006/main">
            <a:off x="628650" y="5334000"/>
            <a:ext cx="10763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1">
                <a:solidFill>
                  <a:srgbClr val="087E80"/>
                </a:solidFill>
                <a:latin typeface="Helvetica Neue"/>
                <a:ea typeface="Helvetica Neue"/>
                <a:cs typeface="Helvetica Neue"/>
              </a:defRPr>
            </a:defPPr>
            <a:lvl1pPr>
              <a:defRPr sz="2175" b="1">
                <a:solidFill>
                  <a:srgbClr val="087E80"/>
                </a:solidFill>
                <a:latin typeface="Helvetica Neue"/>
                <a:ea typeface="Helvetica Neue"/>
                <a:cs typeface="Helvetica Neue"/>
              </a:defRPr>
            </a:lvl1pPr>
            <a:lvl2pPr>
              <a:defRPr sz="2175" b="1">
                <a:solidFill>
                  <a:srgbClr val="087E80"/>
                </a:solidFill>
                <a:latin typeface="Helvetica Neue"/>
                <a:ea typeface="Helvetica Neue"/>
                <a:cs typeface="Helvetica Neue"/>
              </a:defRPr>
            </a:lvl2pPr>
            <a:lvl3pPr>
              <a:defRPr sz="2175" b="1">
                <a:solidFill>
                  <a:srgbClr val="087E80"/>
                </a:solidFill>
                <a:latin typeface="Helvetica Neue"/>
                <a:ea typeface="Helvetica Neue"/>
                <a:cs typeface="Helvetica Neue"/>
              </a:defRPr>
            </a:lvl3pPr>
            <a:lvl4pPr>
              <a:defRPr sz="2175" b="1">
                <a:solidFill>
                  <a:srgbClr val="087E80"/>
                </a:solidFill>
                <a:latin typeface="Helvetica Neue"/>
                <a:ea typeface="Helvetica Neue"/>
                <a:cs typeface="Helvetica Neue"/>
              </a:defRPr>
            </a:lvl4pPr>
            <a:lvl5pPr>
              <a:defRPr sz="2175" b="1">
                <a:solidFill>
                  <a:srgbClr val="087E80"/>
                </a:solidFill>
                <a:latin typeface="Helvetica Neue"/>
                <a:ea typeface="Helvetica Neue"/>
                <a:cs typeface="Helvetica Neue"/>
              </a:defRPr>
            </a:lvl5pPr>
            <a:lvl6pPr>
              <a:defRPr sz="2175" b="1">
                <a:solidFill>
                  <a:srgbClr val="087E80"/>
                </a:solidFill>
                <a:latin typeface="Helvetica Neue"/>
                <a:ea typeface="Helvetica Neue"/>
                <a:cs typeface="Helvetica Neue"/>
              </a:defRPr>
            </a:lvl6pPr>
            <a:lvl7pPr>
              <a:defRPr sz="2175" b="1">
                <a:solidFill>
                  <a:srgbClr val="087E80"/>
                </a:solidFill>
                <a:latin typeface="Helvetica Neue"/>
                <a:ea typeface="Helvetica Neue"/>
                <a:cs typeface="Helvetica Neue"/>
              </a:defRPr>
            </a:lvl7pPr>
            <a:lvl8pPr>
              <a:defRPr sz="2175" b="1">
                <a:solidFill>
                  <a:srgbClr val="087E80"/>
                </a:solidFill>
                <a:latin typeface="Helvetica Neue"/>
                <a:ea typeface="Helvetica Neue"/>
                <a:cs typeface="Helvetica Neue"/>
              </a:defRPr>
            </a:lvl8pPr>
            <a:lvl9pPr>
              <a:defRPr sz="2175" b="1">
                <a:solidFill>
                  <a:srgbClr val="087E80"/>
                </a:solidFill>
                <a:latin typeface="Helvetica Neue"/>
                <a:ea typeface="Helvetica Neue"/>
                <a:cs typeface="Helvetica Neue"/>
              </a:defRPr>
            </a:lvl9pPr>
          </a:lstStyle>
          <a:p xmlns:a="http://schemas.openxmlformats.org/drawingml/2006/main">
            <a:pPr>
              <a:defRPr sz="2175" b="1">
                <a:solidFill>
                  <a:srgbClr val="087E80"/>
                </a:solidFill>
                <a:latin typeface="Helvetica Neue"/>
                <a:ea typeface="Helvetica Neue"/>
                <a:cs typeface="Helvetica Neue"/>
              </a:defRPr>
            </a:pPr>
            <a:r>
              <a:rPr sz="2175" b="1">
                <a:solidFill>
                  <a:srgbClr val="087E80"/>
                </a:solidFill>
                <a:latin typeface="Helvetica Neue"/>
                <a:ea typeface="Helvetica Neue"/>
                <a:cs typeface="Helvetica Neue"/>
              </a:rPr>
              <a:t>CLIP stays frozen in every arm.</a:t>
            </a:r>
          </a:p>
        </p:txBody>
      </p:sp>
      <p:sp>
        <p:nvSpPr>
          <p:cNvPr id="5" name="">
            <a:extLst xmlns:a="http://schemas.openxmlformats.org/drawingml/2006/main">
              <a:ext uri="{FF2B5EF4-FFF2-40B4-BE49-F238E27FC236}">
                <a16:creationId xmlns:a16="http://schemas.microsoft.com/office/drawing/2014/main" id="{BD16C508-F1B8-4D3C-B31E-93F8C9C9818B}"/>
              </a:ext>
            </a:extLst>
          </p:cNvPr>
          <p:cNvSpPr>
            <a:spLocks xmlns:a="http://schemas.openxmlformats.org/drawingml/2006/main" noGrp="1"/>
          </p:cNvSpPr>
          <p:nvPr/>
        </p:nvSpPr>
        <p:spPr>
          <a:xfrm xmlns:a="http://schemas.openxmlformats.org/drawingml/2006/main">
            <a:off x="628650" y="5905500"/>
            <a:ext cx="10572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566760"/>
                </a:solidFill>
                <a:latin typeface="Helvetica Neue"/>
                <a:ea typeface="Helvetica Neue"/>
                <a:cs typeface="Helvetica Neue"/>
              </a:defRPr>
            </a:defPPr>
            <a:lvl1pPr>
              <a:defRPr sz="1500" b="0">
                <a:solidFill>
                  <a:srgbClr val="566760"/>
                </a:solidFill>
                <a:latin typeface="Helvetica Neue"/>
                <a:ea typeface="Helvetica Neue"/>
                <a:cs typeface="Helvetica Neue"/>
              </a:defRPr>
            </a:lvl1pPr>
            <a:lvl2pPr>
              <a:defRPr sz="1500" b="0">
                <a:solidFill>
                  <a:srgbClr val="566760"/>
                </a:solidFill>
                <a:latin typeface="Helvetica Neue"/>
                <a:ea typeface="Helvetica Neue"/>
                <a:cs typeface="Helvetica Neue"/>
              </a:defRPr>
            </a:lvl2pPr>
            <a:lvl3pPr>
              <a:defRPr sz="1500" b="0">
                <a:solidFill>
                  <a:srgbClr val="566760"/>
                </a:solidFill>
                <a:latin typeface="Helvetica Neue"/>
                <a:ea typeface="Helvetica Neue"/>
                <a:cs typeface="Helvetica Neue"/>
              </a:defRPr>
            </a:lvl3pPr>
            <a:lvl4pPr>
              <a:defRPr sz="1500" b="0">
                <a:solidFill>
                  <a:srgbClr val="566760"/>
                </a:solidFill>
                <a:latin typeface="Helvetica Neue"/>
                <a:ea typeface="Helvetica Neue"/>
                <a:cs typeface="Helvetica Neue"/>
              </a:defRPr>
            </a:lvl4pPr>
            <a:lvl5pPr>
              <a:defRPr sz="1500" b="0">
                <a:solidFill>
                  <a:srgbClr val="566760"/>
                </a:solidFill>
                <a:latin typeface="Helvetica Neue"/>
                <a:ea typeface="Helvetica Neue"/>
                <a:cs typeface="Helvetica Neue"/>
              </a:defRPr>
            </a:lvl5pPr>
            <a:lvl6pPr>
              <a:defRPr sz="1500" b="0">
                <a:solidFill>
                  <a:srgbClr val="566760"/>
                </a:solidFill>
                <a:latin typeface="Helvetica Neue"/>
                <a:ea typeface="Helvetica Neue"/>
                <a:cs typeface="Helvetica Neue"/>
              </a:defRPr>
            </a:lvl6pPr>
            <a:lvl7pPr>
              <a:defRPr sz="1500" b="0">
                <a:solidFill>
                  <a:srgbClr val="566760"/>
                </a:solidFill>
                <a:latin typeface="Helvetica Neue"/>
                <a:ea typeface="Helvetica Neue"/>
                <a:cs typeface="Helvetica Neue"/>
              </a:defRPr>
            </a:lvl7pPr>
            <a:lvl8pPr>
              <a:defRPr sz="1500" b="0">
                <a:solidFill>
                  <a:srgbClr val="566760"/>
                </a:solidFill>
                <a:latin typeface="Helvetica Neue"/>
                <a:ea typeface="Helvetica Neue"/>
                <a:cs typeface="Helvetica Neue"/>
              </a:defRPr>
            </a:lvl8pPr>
            <a:lvl9pPr>
              <a:defRPr sz="1500" b="0">
                <a:solidFill>
                  <a:srgbClr val="566760"/>
                </a:solidFill>
                <a:latin typeface="Helvetica Neue"/>
                <a:ea typeface="Helvetica Neue"/>
                <a:cs typeface="Helvetica Neue"/>
              </a:defRPr>
            </a:lvl9pPr>
          </a:lstStyle>
          <a:p xmlns:a="http://schemas.openxmlformats.org/drawingml/2006/main">
            <a:pPr>
              <a:defRPr sz="1500" b="0">
                <a:solidFill>
                  <a:srgbClr val="566760"/>
                </a:solidFill>
                <a:latin typeface="Helvetica Neue"/>
                <a:ea typeface="Helvetica Neue"/>
                <a:cs typeface="Helvetica Neue"/>
              </a:defRPr>
            </a:pPr>
            <a:r>
              <a:rPr sz="1500" b="0">
                <a:solidFill>
                  <a:srgbClr val="566760"/>
                </a:solidFill>
                <a:latin typeface="Helvetica Neue"/>
                <a:ea typeface="Helvetica Neue"/>
                <a:cs typeface="Helvetica Neue"/>
              </a:rPr>
              <a:t>Same adaptation budget and validation selection. Frozen still trains a recommendation head.</a:t>
            </a:r>
          </a:p>
        </p:txBody>
      </p:sp>
    </p:spTree>
    <p:extLst>
      <p:ext uri="{BB962C8B-B14F-4D97-AF65-F5344CB8AC3E}">
        <p14:creationId xmlns:p14="http://schemas.microsoft.com/office/powerpoint/2010/main" val="1328047011"/>
      </p:ext>
    </p:extLst>
  </p:cSld>
</p:sld>
</file>

<file path=ppt/slides/slide10.xml><?xml version="1.0" encoding="utf-8"?>
<p:sld xmlns:p="http://schemas.openxmlformats.org/presentationml/2006/main">
  <p:cSld>
    <p:bg>
      <p:bgPr>
        <a:solidFill xmlns:a="http://schemas.openxmlformats.org/drawingml/2006/main">
          <a:srgbClr val="FAF8F3"/>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5B13186-C36E-4411-852B-78C16CEA6FEF}"/>
              </a:ext>
            </a:extLst>
          </p:cNvPr>
          <p:cNvSpPr>
            <a:spLocks xmlns:a="http://schemas.openxmlformats.org/drawingml/2006/main" noGrp="1"/>
          </p:cNvSpPr>
          <p:nvPr/>
        </p:nvSpPr>
        <p:spPr>
          <a:xfrm xmlns:a="http://schemas.openxmlformats.org/drawingml/2006/main">
            <a:off x="609600" y="3810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150" b="1">
                <a:solidFill>
                  <a:srgbClr val="17251F"/>
                </a:solidFill>
                <a:latin typeface="Helvetica Neue"/>
                <a:ea typeface="Helvetica Neue"/>
                <a:cs typeface="Helvetica Neue"/>
              </a:defRPr>
            </a:defPPr>
            <a:lvl1pPr>
              <a:defRPr sz="3150" b="1">
                <a:solidFill>
                  <a:srgbClr val="17251F"/>
                </a:solidFill>
                <a:latin typeface="Helvetica Neue"/>
                <a:ea typeface="Helvetica Neue"/>
                <a:cs typeface="Helvetica Neue"/>
              </a:defRPr>
            </a:lvl1pPr>
            <a:lvl2pPr>
              <a:defRPr sz="3150" b="1">
                <a:solidFill>
                  <a:srgbClr val="17251F"/>
                </a:solidFill>
                <a:latin typeface="Helvetica Neue"/>
                <a:ea typeface="Helvetica Neue"/>
                <a:cs typeface="Helvetica Neue"/>
              </a:defRPr>
            </a:lvl2pPr>
            <a:lvl3pPr>
              <a:defRPr sz="3150" b="1">
                <a:solidFill>
                  <a:srgbClr val="17251F"/>
                </a:solidFill>
                <a:latin typeface="Helvetica Neue"/>
                <a:ea typeface="Helvetica Neue"/>
                <a:cs typeface="Helvetica Neue"/>
              </a:defRPr>
            </a:lvl3pPr>
            <a:lvl4pPr>
              <a:defRPr sz="3150" b="1">
                <a:solidFill>
                  <a:srgbClr val="17251F"/>
                </a:solidFill>
                <a:latin typeface="Helvetica Neue"/>
                <a:ea typeface="Helvetica Neue"/>
                <a:cs typeface="Helvetica Neue"/>
              </a:defRPr>
            </a:lvl4pPr>
            <a:lvl5pPr>
              <a:defRPr sz="3150" b="1">
                <a:solidFill>
                  <a:srgbClr val="17251F"/>
                </a:solidFill>
                <a:latin typeface="Helvetica Neue"/>
                <a:ea typeface="Helvetica Neue"/>
                <a:cs typeface="Helvetica Neue"/>
              </a:defRPr>
            </a:lvl5pPr>
            <a:lvl6pPr>
              <a:defRPr sz="3150" b="1">
                <a:solidFill>
                  <a:srgbClr val="17251F"/>
                </a:solidFill>
                <a:latin typeface="Helvetica Neue"/>
                <a:ea typeface="Helvetica Neue"/>
                <a:cs typeface="Helvetica Neue"/>
              </a:defRPr>
            </a:lvl6pPr>
            <a:lvl7pPr>
              <a:defRPr sz="3150" b="1">
                <a:solidFill>
                  <a:srgbClr val="17251F"/>
                </a:solidFill>
                <a:latin typeface="Helvetica Neue"/>
                <a:ea typeface="Helvetica Neue"/>
                <a:cs typeface="Helvetica Neue"/>
              </a:defRPr>
            </a:lvl7pPr>
            <a:lvl8pPr>
              <a:defRPr sz="3150" b="1">
                <a:solidFill>
                  <a:srgbClr val="17251F"/>
                </a:solidFill>
                <a:latin typeface="Helvetica Neue"/>
                <a:ea typeface="Helvetica Neue"/>
                <a:cs typeface="Helvetica Neue"/>
              </a:defRPr>
            </a:lvl8pPr>
            <a:lvl9pPr>
              <a:defRPr sz="3150" b="1">
                <a:solidFill>
                  <a:srgbClr val="17251F"/>
                </a:solidFill>
                <a:latin typeface="Helvetica Neue"/>
                <a:ea typeface="Helvetica Neue"/>
                <a:cs typeface="Helvetica Neue"/>
              </a:defRPr>
            </a:lvl9pPr>
          </a:lstStyle>
          <a:p xmlns:a="http://schemas.openxmlformats.org/drawingml/2006/main">
            <a:pPr>
              <a:defRPr sz="3150" b="1">
                <a:solidFill>
                  <a:srgbClr val="17251F"/>
                </a:solidFill>
                <a:latin typeface="Helvetica Neue"/>
                <a:ea typeface="Helvetica Neue"/>
                <a:cs typeface="Helvetica Neue"/>
              </a:defRPr>
            </a:pPr>
            <a:r>
              <a:rPr sz="3150" b="1">
                <a:solidFill>
                  <a:srgbClr val="17251F"/>
                </a:solidFill>
                <a:latin typeface="Helvetica Neue"/>
                <a:ea typeface="Helvetica Neue"/>
                <a:cs typeface="Helvetica Neue"/>
              </a:rPr>
              <a:t>Frozen has the highest mean NDCG@10 in all domains</a:t>
            </a:r>
          </a:p>
        </p:txBody>
      </p:sp>
      <p:sp>
        <p:nvSpPr>
          <p:cNvPr id="2" name="">
            <a:extLst xmlns:a="http://schemas.openxmlformats.org/drawingml/2006/main">
              <a:ext uri="{FF2B5EF4-FFF2-40B4-BE49-F238E27FC236}">
                <a16:creationId xmlns:a16="http://schemas.microsoft.com/office/drawing/2014/main" id="{F86EFE3F-2CA0-4FA7-8D39-2F9E6A607A67}"/>
              </a:ext>
            </a:extLst>
          </p:cNvPr>
          <p:cNvSpPr>
            <a:spLocks xmlns:a="http://schemas.openxmlformats.org/drawingml/2006/main" noGrp="1"/>
          </p:cNvSpPr>
          <p:nvPr/>
        </p:nvSpPr>
        <p:spPr>
          <a:xfrm xmlns:a="http://schemas.openxmlformats.org/drawingml/2006/main">
            <a:off x="628650" y="1057275"/>
            <a:ext cx="109347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566760"/>
                </a:solidFill>
                <a:latin typeface="Helvetica Neue"/>
                <a:ea typeface="Helvetica Neue"/>
                <a:cs typeface="Helvetica Neue"/>
              </a:defRPr>
            </a:defPPr>
            <a:lvl1pPr>
              <a:defRPr sz="1800" b="0">
                <a:solidFill>
                  <a:srgbClr val="566760"/>
                </a:solidFill>
                <a:latin typeface="Helvetica Neue"/>
                <a:ea typeface="Helvetica Neue"/>
                <a:cs typeface="Helvetica Neue"/>
              </a:defRPr>
            </a:lvl1pPr>
            <a:lvl2pPr>
              <a:defRPr sz="1800" b="0">
                <a:solidFill>
                  <a:srgbClr val="566760"/>
                </a:solidFill>
                <a:latin typeface="Helvetica Neue"/>
                <a:ea typeface="Helvetica Neue"/>
                <a:cs typeface="Helvetica Neue"/>
              </a:defRPr>
            </a:lvl2pPr>
            <a:lvl3pPr>
              <a:defRPr sz="1800" b="0">
                <a:solidFill>
                  <a:srgbClr val="566760"/>
                </a:solidFill>
                <a:latin typeface="Helvetica Neue"/>
                <a:ea typeface="Helvetica Neue"/>
                <a:cs typeface="Helvetica Neue"/>
              </a:defRPr>
            </a:lvl3pPr>
            <a:lvl4pPr>
              <a:defRPr sz="1800" b="0">
                <a:solidFill>
                  <a:srgbClr val="566760"/>
                </a:solidFill>
                <a:latin typeface="Helvetica Neue"/>
                <a:ea typeface="Helvetica Neue"/>
                <a:cs typeface="Helvetica Neue"/>
              </a:defRPr>
            </a:lvl4pPr>
            <a:lvl5pPr>
              <a:defRPr sz="1800" b="0">
                <a:solidFill>
                  <a:srgbClr val="566760"/>
                </a:solidFill>
                <a:latin typeface="Helvetica Neue"/>
                <a:ea typeface="Helvetica Neue"/>
                <a:cs typeface="Helvetica Neue"/>
              </a:defRPr>
            </a:lvl5pPr>
            <a:lvl6pPr>
              <a:defRPr sz="1800" b="0">
                <a:solidFill>
                  <a:srgbClr val="566760"/>
                </a:solidFill>
                <a:latin typeface="Helvetica Neue"/>
                <a:ea typeface="Helvetica Neue"/>
                <a:cs typeface="Helvetica Neue"/>
              </a:defRPr>
            </a:lvl6pPr>
            <a:lvl7pPr>
              <a:defRPr sz="1800" b="0">
                <a:solidFill>
                  <a:srgbClr val="566760"/>
                </a:solidFill>
                <a:latin typeface="Helvetica Neue"/>
                <a:ea typeface="Helvetica Neue"/>
                <a:cs typeface="Helvetica Neue"/>
              </a:defRPr>
            </a:lvl7pPr>
            <a:lvl8pPr>
              <a:defRPr sz="1800" b="0">
                <a:solidFill>
                  <a:srgbClr val="566760"/>
                </a:solidFill>
                <a:latin typeface="Helvetica Neue"/>
                <a:ea typeface="Helvetica Neue"/>
                <a:cs typeface="Helvetica Neue"/>
              </a:defRPr>
            </a:lvl8pPr>
            <a:lvl9pPr>
              <a:defRPr sz="1800" b="0">
                <a:solidFill>
                  <a:srgbClr val="566760"/>
                </a:solidFill>
                <a:latin typeface="Helvetica Neue"/>
                <a:ea typeface="Helvetica Neue"/>
                <a:cs typeface="Helvetica Neue"/>
              </a:defRPr>
            </a:lvl9pPr>
          </a:lstStyle>
          <a:p xmlns:a="http://schemas.openxmlformats.org/drawingml/2006/main">
            <a:pPr>
              <a:defRPr sz="1800" b="0">
                <a:solidFill>
                  <a:srgbClr val="566760"/>
                </a:solidFill>
                <a:latin typeface="Helvetica Neue"/>
                <a:ea typeface="Helvetica Neue"/>
                <a:cs typeface="Helvetica Neue"/>
              </a:defRPr>
            </a:pPr>
            <a:r>
              <a:rPr sz="1800" b="0">
                <a:solidFill>
                  <a:srgbClr val="566760"/>
                </a:solidFill>
                <a:latin typeface="Helvetica Neue"/>
                <a:ea typeface="Helvetica Neue"/>
                <a:cs typeface="Helvetica Neue"/>
              </a:rPr>
              <a:t>Original recommendation study, 27 runs. Full eligible-catalogue ranking.</a:t>
            </a:r>
          </a:p>
        </p:txBody>
      </p:sp>
      <p:sp>
        <p:nvSpPr>
          <p:cNvPr id="3" name="">
            <a:extLst xmlns:a="http://schemas.openxmlformats.org/drawingml/2006/main">
              <a:ext uri="{FF2B5EF4-FFF2-40B4-BE49-F238E27FC236}">
                <a16:creationId xmlns:a16="http://schemas.microsoft.com/office/drawing/2014/main" id="{306C6A72-709D-4B9B-A5C4-777EEB5B8B54}"/>
              </a:ext>
            </a:extLst>
          </p:cNvPr>
          <p:cNvSpPr>
            <a:spLocks xmlns:a="http://schemas.openxmlformats.org/drawingml/2006/main" noGrp="1"/>
          </p:cNvSpPr>
          <p:nvPr/>
        </p:nvSpPr>
        <p:spPr>
          <a:xfrm xmlns:a="http://schemas.openxmlformats.org/drawingml/2006/main">
            <a:off x="11106150" y="6457950"/>
            <a:ext cx="47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00" b="0">
                <a:solidFill>
                  <a:srgbClr val="566760"/>
                </a:solidFill>
                <a:latin typeface="Helvetica Neue"/>
                <a:ea typeface="Helvetica Neue"/>
                <a:cs typeface="Helvetica Neue"/>
              </a:defRPr>
            </a:defPPr>
            <a:lvl1pPr algn="r">
              <a:defRPr sz="1200" b="0">
                <a:solidFill>
                  <a:srgbClr val="566760"/>
                </a:solidFill>
                <a:latin typeface="Helvetica Neue"/>
                <a:ea typeface="Helvetica Neue"/>
                <a:cs typeface="Helvetica Neue"/>
              </a:defRPr>
            </a:lvl1pPr>
            <a:lvl2pPr algn="r">
              <a:defRPr sz="1200" b="0">
                <a:solidFill>
                  <a:srgbClr val="566760"/>
                </a:solidFill>
                <a:latin typeface="Helvetica Neue"/>
                <a:ea typeface="Helvetica Neue"/>
                <a:cs typeface="Helvetica Neue"/>
              </a:defRPr>
            </a:lvl2pPr>
            <a:lvl3pPr algn="r">
              <a:defRPr sz="1200" b="0">
                <a:solidFill>
                  <a:srgbClr val="566760"/>
                </a:solidFill>
                <a:latin typeface="Helvetica Neue"/>
                <a:ea typeface="Helvetica Neue"/>
                <a:cs typeface="Helvetica Neue"/>
              </a:defRPr>
            </a:lvl3pPr>
            <a:lvl4pPr algn="r">
              <a:defRPr sz="1200" b="0">
                <a:solidFill>
                  <a:srgbClr val="566760"/>
                </a:solidFill>
                <a:latin typeface="Helvetica Neue"/>
                <a:ea typeface="Helvetica Neue"/>
                <a:cs typeface="Helvetica Neue"/>
              </a:defRPr>
            </a:lvl4pPr>
            <a:lvl5pPr algn="r">
              <a:defRPr sz="1200" b="0">
                <a:solidFill>
                  <a:srgbClr val="566760"/>
                </a:solidFill>
                <a:latin typeface="Helvetica Neue"/>
                <a:ea typeface="Helvetica Neue"/>
                <a:cs typeface="Helvetica Neue"/>
              </a:defRPr>
            </a:lvl5pPr>
            <a:lvl6pPr algn="r">
              <a:defRPr sz="1200" b="0">
                <a:solidFill>
                  <a:srgbClr val="566760"/>
                </a:solidFill>
                <a:latin typeface="Helvetica Neue"/>
                <a:ea typeface="Helvetica Neue"/>
                <a:cs typeface="Helvetica Neue"/>
              </a:defRPr>
            </a:lvl6pPr>
            <a:lvl7pPr algn="r">
              <a:defRPr sz="1200" b="0">
                <a:solidFill>
                  <a:srgbClr val="566760"/>
                </a:solidFill>
                <a:latin typeface="Helvetica Neue"/>
                <a:ea typeface="Helvetica Neue"/>
                <a:cs typeface="Helvetica Neue"/>
              </a:defRPr>
            </a:lvl7pPr>
            <a:lvl8pPr algn="r">
              <a:defRPr sz="1200" b="0">
                <a:solidFill>
                  <a:srgbClr val="566760"/>
                </a:solidFill>
                <a:latin typeface="Helvetica Neue"/>
                <a:ea typeface="Helvetica Neue"/>
                <a:cs typeface="Helvetica Neue"/>
              </a:defRPr>
            </a:lvl8pPr>
            <a:lvl9pPr algn="r">
              <a:defRPr sz="1200" b="0">
                <a:solidFill>
                  <a:srgbClr val="566760"/>
                </a:solidFill>
                <a:latin typeface="Helvetica Neue"/>
                <a:ea typeface="Helvetica Neue"/>
                <a:cs typeface="Helvetica Neue"/>
              </a:defRPr>
            </a:lvl9pPr>
          </a:lstStyle>
          <a:p xmlns:a="http://schemas.openxmlformats.org/drawingml/2006/main">
            <a:pPr algn="r">
              <a:defRPr sz="1200" b="0">
                <a:solidFill>
                  <a:srgbClr val="566760"/>
                </a:solidFill>
                <a:latin typeface="Helvetica Neue"/>
                <a:ea typeface="Helvetica Neue"/>
                <a:cs typeface="Helvetica Neue"/>
              </a:defRPr>
            </a:pPr>
            <a:r>
              <a:rPr sz="1200" b="0">
                <a:solidFill>
                  <a:srgbClr val="566760"/>
                </a:solidFill>
                <a:latin typeface="Helvetica Neue"/>
                <a:ea typeface="Helvetica Neue"/>
                <a:cs typeface="Helvetica Neue"/>
              </a:rPr>
              <a:t>10</a:t>
            </a:r>
          </a:p>
        </p:txBody>
      </p:sp>
      <p:graphicFrame>
        <p:nvGraphicFramePr>
          <p:cNvPr id="4" name="Chart">
            <a:extLst xmlns:a="http://schemas.openxmlformats.org/drawingml/2006/main">
              <a:ext uri="{FF2B5EF4-FFF2-40B4-BE49-F238E27FC236}">
                <a16:creationId xmlns:a16="http://schemas.microsoft.com/office/drawing/2014/main" id="{9B808645-9704-4231-9EA9-BE98ADCDD561}"/>
              </a:ext>
            </a:extLst>
          </p:cNvPr>
          <p:cNvGraphicFramePr/>
          <p:nvPr/>
        </p:nvGraphicFramePr>
        <p:xfrm>
          <a:off xmlns:a="http://schemas.openxmlformats.org/drawingml/2006/main" x="609600" y="1657350"/>
          <a:ext xmlns:a="http://schemas.openxmlformats.org/drawingml/2006/main" cx="10972800" cy="2838450"/>
        </p:xfrm>
        <a:graphic xmlns:a="http://schemas.openxmlformats.org/drawingml/2006/main">
          <a:graphicData uri="http://schemas.openxmlformats.org/drawingml/2006/chart">
            <c:chart xmlns:r="http://schemas.openxmlformats.org/officeDocument/2006/relationships" xmlns:c="http://schemas.openxmlformats.org/drawingml/2006/chart" r:id="R8b3b3d1c3a2247f1"/>
          </a:graphicData>
        </a:graphic>
      </p:graphicFrame>
      <p:graphicFrame>
        <p:nvGraphicFramePr>
          <p:cNvPr id="5" name="">
            <a:extLst xmlns:a="http://schemas.openxmlformats.org/drawingml/2006/main">
              <a:ext uri="{FF2B5EF4-FFF2-40B4-BE49-F238E27FC236}">
                <a16:creationId xmlns:a16="http://schemas.microsoft.com/office/drawing/2014/main" id="{D9AD204B-3535-48DB-A29F-F527F07C3FE1}"/>
              </a:ext>
            </a:extLst>
          </p:cNvPr>
          <p:cNvGraphicFramePr/>
          <p:nvPr/>
        </p:nvGraphicFramePr>
        <p:xfrm>
          <a:off xmlns:a="http://schemas.openxmlformats.org/drawingml/2006/main" x="609600" y="4695825"/>
          <a:ext xmlns:a="http://schemas.openxmlformats.org/drawingml/2006/main" cx="10972800" cy="1323975"/>
        </p:xfrm>
        <a:graphic xmlns:a="http://schemas.openxmlformats.org/drawingml/2006/main">
          <a:graphicData uri="http://schemas.openxmlformats.org/drawingml/2006/table">
            <a:tbl>
              <a:tblPr/>
              <a:tblGrid>
                <a:gridCol w="2190750"/>
                <a:gridCol w="2924175"/>
                <a:gridCol w="2924175"/>
                <a:gridCol w="2933700"/>
              </a:tblGrid>
              <a:tr h="330994">
                <a:tc>
                  <a:txBody>
                    <a:bodyPr/>
                    <a:lstStyle/>
                    <a:p>
                      <a:r>
                        <a:rPr sz="1425" b="1">
                          <a:solidFill>
                            <a:srgbClr val="FFFFFF"/>
                          </a:solidFill>
                          <a:latin typeface="Helvetica Neue"/>
                          <a:ea typeface="Helvetica Neue"/>
                          <a:cs typeface="Helvetica Neue"/>
                        </a:rPr>
                        <a:t>Mean ± sample SD</a:t>
                      </a:r>
                    </a:p>
                  </a:txBody>
                  <a:tcPr marL="133350" marR="133350" marT="38100" marB="28575" anchor="t">
                    <a:lnL w="9525">
                      <a:solidFill>
                        <a:srgbClr val="E3E8E2"/>
                      </a:solidFill>
                      <a:prstDash val="solid"/>
                    </a:lnL>
                    <a:lnR w="9525">
                      <a:solidFill>
                        <a:srgbClr val="E3E8E2"/>
                      </a:solidFill>
                      <a:prstDash val="solid"/>
                    </a:lnR>
                    <a:lnT w="9525">
                      <a:solidFill>
                        <a:srgbClr val="E3E8E2"/>
                      </a:solidFill>
                      <a:prstDash val="solid"/>
                    </a:lnT>
                    <a:lnB w="9525">
                      <a:solidFill>
                        <a:srgbClr val="E3E8E2"/>
                      </a:solidFill>
                      <a:prstDash val="solid"/>
                    </a:lnB>
                    <a:solidFill>
                      <a:srgbClr val="17251F"/>
                    </a:solidFill>
                  </a:tcPr>
                </a:tc>
                <a:tc>
                  <a:txBody>
                    <a:bodyPr/>
                    <a:lstStyle/>
                    <a:p>
                      <a:r>
                        <a:rPr sz="1425" b="1">
                          <a:solidFill>
                            <a:srgbClr val="FFFFFF"/>
                          </a:solidFill>
                          <a:latin typeface="Helvetica Neue"/>
                          <a:ea typeface="Helvetica Neue"/>
                          <a:cs typeface="Helvetica Neue"/>
                        </a:rPr>
                        <a:t>Frozen</a:t>
                      </a:r>
                    </a:p>
                  </a:txBody>
                  <a:tcPr marL="133350" marR="133350" marT="38100" marB="28575" anchor="t">
                    <a:lnR w="9525">
                      <a:solidFill>
                        <a:srgbClr val="E3E8E2"/>
                      </a:solidFill>
                      <a:prstDash val="solid"/>
                    </a:lnR>
                    <a:lnT w="9525">
                      <a:solidFill>
                        <a:srgbClr val="E3E8E2"/>
                      </a:solidFill>
                      <a:prstDash val="solid"/>
                    </a:lnT>
                    <a:lnB w="9525">
                      <a:solidFill>
                        <a:srgbClr val="E3E8E2"/>
                      </a:solidFill>
                      <a:prstDash val="solid"/>
                    </a:lnB>
                    <a:solidFill>
                      <a:srgbClr val="17251F"/>
                    </a:solidFill>
                  </a:tcPr>
                </a:tc>
                <a:tc>
                  <a:txBody>
                    <a:bodyPr/>
                    <a:lstStyle/>
                    <a:p>
                      <a:r>
                        <a:rPr sz="1425" b="1">
                          <a:solidFill>
                            <a:srgbClr val="FFFFFF"/>
                          </a:solidFill>
                          <a:latin typeface="Helvetica Neue"/>
                          <a:ea typeface="Helvetica Neue"/>
                          <a:cs typeface="Helvetica Neue"/>
                        </a:rPr>
                        <a:t>Semantic</a:t>
                      </a:r>
                    </a:p>
                  </a:txBody>
                  <a:tcPr marL="133350" marR="133350" marT="38100" marB="28575" anchor="t">
                    <a:lnR w="9525">
                      <a:solidFill>
                        <a:srgbClr val="E3E8E2"/>
                      </a:solidFill>
                      <a:prstDash val="solid"/>
                    </a:lnR>
                    <a:lnT w="9525">
                      <a:solidFill>
                        <a:srgbClr val="E3E8E2"/>
                      </a:solidFill>
                      <a:prstDash val="solid"/>
                    </a:lnT>
                    <a:lnB w="9525">
                      <a:solidFill>
                        <a:srgbClr val="E3E8E2"/>
                      </a:solidFill>
                      <a:prstDash val="solid"/>
                    </a:lnB>
                    <a:solidFill>
                      <a:srgbClr val="17251F"/>
                    </a:solidFill>
                  </a:tcPr>
                </a:tc>
                <a:tc>
                  <a:txBody>
                    <a:bodyPr/>
                    <a:lstStyle/>
                    <a:p>
                      <a:r>
                        <a:rPr sz="1425" b="1">
                          <a:solidFill>
                            <a:srgbClr val="FFFFFF"/>
                          </a:solidFill>
                          <a:latin typeface="Helvetica Neue"/>
                          <a:ea typeface="Helvetica Neue"/>
                          <a:cs typeface="Helvetica Neue"/>
                        </a:rPr>
                        <a:t>Preference</a:t>
                      </a:r>
                    </a:p>
                  </a:txBody>
                  <a:tcPr marL="133350" marR="133350" marT="38100" marB="28575" anchor="t">
                    <a:lnR w="9525">
                      <a:solidFill>
                        <a:srgbClr val="E3E8E2"/>
                      </a:solidFill>
                      <a:prstDash val="solid"/>
                    </a:lnR>
                    <a:lnT w="9525">
                      <a:solidFill>
                        <a:srgbClr val="E3E8E2"/>
                      </a:solidFill>
                      <a:prstDash val="solid"/>
                    </a:lnT>
                    <a:lnB w="9525">
                      <a:solidFill>
                        <a:srgbClr val="E3E8E2"/>
                      </a:solidFill>
                      <a:prstDash val="solid"/>
                    </a:lnB>
                    <a:solidFill>
                      <a:srgbClr val="17251F"/>
                    </a:solidFill>
                  </a:tcPr>
                </a:tc>
              </a:tr>
              <a:tr h="330994">
                <a:tc>
                  <a:txBody>
                    <a:bodyPr/>
                    <a:lstStyle/>
                    <a:p>
                      <a:r>
                        <a:rPr sz="1425" b="0">
                          <a:solidFill>
                            <a:srgbClr val="17251F"/>
                          </a:solidFill>
                          <a:latin typeface="Helvetica Neue"/>
                          <a:ea typeface="Helvetica Neue"/>
                          <a:cs typeface="Helvetica Neue"/>
                        </a:rPr>
                        <a:t>Baby</a:t>
                      </a:r>
                    </a:p>
                  </a:txBody>
                  <a:tcPr marL="133350" marR="133350" marT="38100" marB="28575" anchor="t">
                    <a:lnL w="9525">
                      <a:solidFill>
                        <a:srgbClr val="E3E8E2"/>
                      </a:solidFill>
                      <a:prstDash val="solid"/>
                    </a:lnL>
                    <a:lnR w="9525">
                      <a:solidFill>
                        <a:srgbClr val="E3E8E2"/>
                      </a:solidFill>
                      <a:prstDash val="solid"/>
                    </a:lnR>
                    <a:lnB w="9525">
                      <a:solidFill>
                        <a:srgbClr val="E3E8E2"/>
                      </a:solidFill>
                      <a:prstDash val="solid"/>
                    </a:lnB>
                    <a:solidFill>
                      <a:srgbClr val="FAF8F3"/>
                    </a:solidFill>
                  </a:tcPr>
                </a:tc>
                <a:tc>
                  <a:txBody>
                    <a:bodyPr/>
                    <a:lstStyle/>
                    <a:p>
                      <a:r>
                        <a:rPr sz="1425" b="0">
                          <a:solidFill>
                            <a:srgbClr val="17251F"/>
                          </a:solidFill>
                          <a:latin typeface="Helvetica Neue"/>
                          <a:ea typeface="Helvetica Neue"/>
                          <a:cs typeface="Helvetica Neue"/>
                        </a:rPr>
                        <a:t>0.01280 ± 0.00096</a:t>
                      </a:r>
                    </a:p>
                  </a:txBody>
                  <a:tcPr marL="133350" marR="133350" marT="38100" marB="28575" anchor="t">
                    <a:lnR w="9525">
                      <a:solidFill>
                        <a:srgbClr val="E3E8E2"/>
                      </a:solidFill>
                      <a:prstDash val="solid"/>
                    </a:lnR>
                    <a:lnB w="9525">
                      <a:solidFill>
                        <a:srgbClr val="E3E8E2"/>
                      </a:solidFill>
                      <a:prstDash val="solid"/>
                    </a:lnB>
                    <a:solidFill>
                      <a:srgbClr val="FAF8F3"/>
                    </a:solidFill>
                  </a:tcPr>
                </a:tc>
                <a:tc>
                  <a:txBody>
                    <a:bodyPr/>
                    <a:lstStyle/>
                    <a:p>
                      <a:r>
                        <a:rPr sz="1425" b="0">
                          <a:solidFill>
                            <a:srgbClr val="17251F"/>
                          </a:solidFill>
                          <a:latin typeface="Helvetica Neue"/>
                          <a:ea typeface="Helvetica Neue"/>
                          <a:cs typeface="Helvetica Neue"/>
                        </a:rPr>
                        <a:t>0.00993 ± 0.00073</a:t>
                      </a:r>
                    </a:p>
                  </a:txBody>
                  <a:tcPr marL="133350" marR="133350" marT="38100" marB="28575" anchor="t">
                    <a:lnR w="9525">
                      <a:solidFill>
                        <a:srgbClr val="E3E8E2"/>
                      </a:solidFill>
                      <a:prstDash val="solid"/>
                    </a:lnR>
                    <a:lnB w="9525">
                      <a:solidFill>
                        <a:srgbClr val="E3E8E2"/>
                      </a:solidFill>
                      <a:prstDash val="solid"/>
                    </a:lnB>
                    <a:solidFill>
                      <a:srgbClr val="FAF8F3"/>
                    </a:solidFill>
                  </a:tcPr>
                </a:tc>
                <a:tc>
                  <a:txBody>
                    <a:bodyPr/>
                    <a:lstStyle/>
                    <a:p>
                      <a:r>
                        <a:rPr sz="1425" b="0">
                          <a:solidFill>
                            <a:srgbClr val="17251F"/>
                          </a:solidFill>
                          <a:latin typeface="Helvetica Neue"/>
                          <a:ea typeface="Helvetica Neue"/>
                          <a:cs typeface="Helvetica Neue"/>
                        </a:rPr>
                        <a:t>0.01247 ± 0.00085</a:t>
                      </a:r>
                    </a:p>
                  </a:txBody>
                  <a:tcPr marL="133350" marR="133350" marT="38100" marB="28575" anchor="t">
                    <a:lnR w="9525">
                      <a:solidFill>
                        <a:srgbClr val="E3E8E2"/>
                      </a:solidFill>
                      <a:prstDash val="solid"/>
                    </a:lnR>
                    <a:lnB w="9525">
                      <a:solidFill>
                        <a:srgbClr val="E3E8E2"/>
                      </a:solidFill>
                      <a:prstDash val="solid"/>
                    </a:lnB>
                    <a:solidFill>
                      <a:srgbClr val="FAF8F3"/>
                    </a:solidFill>
                  </a:tcPr>
                </a:tc>
              </a:tr>
              <a:tr h="330994">
                <a:tc>
                  <a:txBody>
                    <a:bodyPr/>
                    <a:lstStyle/>
                    <a:p>
                      <a:r>
                        <a:rPr sz="1425" b="0">
                          <a:solidFill>
                            <a:srgbClr val="17251F"/>
                          </a:solidFill>
                          <a:latin typeface="Helvetica Neue"/>
                          <a:ea typeface="Helvetica Neue"/>
                          <a:cs typeface="Helvetica Neue"/>
                        </a:rPr>
                        <a:t>Sports</a:t>
                      </a:r>
                    </a:p>
                  </a:txBody>
                  <a:tcPr marL="133350" marR="133350" marT="38100" marB="28575" anchor="t">
                    <a:lnL w="9525">
                      <a:solidFill>
                        <a:srgbClr val="E3E8E2"/>
                      </a:solidFill>
                      <a:prstDash val="solid"/>
                    </a:lnL>
                    <a:lnR w="9525">
                      <a:solidFill>
                        <a:srgbClr val="E3E8E2"/>
                      </a:solidFill>
                      <a:prstDash val="solid"/>
                    </a:lnR>
                    <a:lnB w="9525">
                      <a:solidFill>
                        <a:srgbClr val="E3E8E2"/>
                      </a:solidFill>
                      <a:prstDash val="solid"/>
                    </a:lnB>
                    <a:solidFill>
                      <a:srgbClr val="FAF8F3"/>
                    </a:solidFill>
                  </a:tcPr>
                </a:tc>
                <a:tc>
                  <a:txBody>
                    <a:bodyPr/>
                    <a:lstStyle/>
                    <a:p>
                      <a:r>
                        <a:rPr sz="1425" b="0">
                          <a:solidFill>
                            <a:srgbClr val="17251F"/>
                          </a:solidFill>
                          <a:latin typeface="Helvetica Neue"/>
                          <a:ea typeface="Helvetica Neue"/>
                          <a:cs typeface="Helvetica Neue"/>
                        </a:rPr>
                        <a:t>0.00712 ± 0.00068</a:t>
                      </a:r>
                    </a:p>
                  </a:txBody>
                  <a:tcPr marL="133350" marR="133350" marT="38100" marB="28575" anchor="t">
                    <a:lnR w="9525">
                      <a:solidFill>
                        <a:srgbClr val="E3E8E2"/>
                      </a:solidFill>
                      <a:prstDash val="solid"/>
                    </a:lnR>
                    <a:lnB w="9525">
                      <a:solidFill>
                        <a:srgbClr val="E3E8E2"/>
                      </a:solidFill>
                      <a:prstDash val="solid"/>
                    </a:lnB>
                    <a:solidFill>
                      <a:srgbClr val="FAF8F3"/>
                    </a:solidFill>
                  </a:tcPr>
                </a:tc>
                <a:tc>
                  <a:txBody>
                    <a:bodyPr/>
                    <a:lstStyle/>
                    <a:p>
                      <a:r>
                        <a:rPr sz="1425" b="0">
                          <a:solidFill>
                            <a:srgbClr val="17251F"/>
                          </a:solidFill>
                          <a:latin typeface="Helvetica Neue"/>
                          <a:ea typeface="Helvetica Neue"/>
                          <a:cs typeface="Helvetica Neue"/>
                        </a:rPr>
                        <a:t>0.00687 ± 0.00061</a:t>
                      </a:r>
                    </a:p>
                  </a:txBody>
                  <a:tcPr marL="133350" marR="133350" marT="38100" marB="28575" anchor="t">
                    <a:lnR w="9525">
                      <a:solidFill>
                        <a:srgbClr val="E3E8E2"/>
                      </a:solidFill>
                      <a:prstDash val="solid"/>
                    </a:lnR>
                    <a:lnB w="9525">
                      <a:solidFill>
                        <a:srgbClr val="E3E8E2"/>
                      </a:solidFill>
                      <a:prstDash val="solid"/>
                    </a:lnB>
                    <a:solidFill>
                      <a:srgbClr val="FAF8F3"/>
                    </a:solidFill>
                  </a:tcPr>
                </a:tc>
                <a:tc>
                  <a:txBody>
                    <a:bodyPr/>
                    <a:lstStyle/>
                    <a:p>
                      <a:r>
                        <a:rPr sz="1425" b="0">
                          <a:solidFill>
                            <a:srgbClr val="17251F"/>
                          </a:solidFill>
                          <a:latin typeface="Helvetica Neue"/>
                          <a:ea typeface="Helvetica Neue"/>
                          <a:cs typeface="Helvetica Neue"/>
                        </a:rPr>
                        <a:t>0.00704 ± 0.00058</a:t>
                      </a:r>
                    </a:p>
                  </a:txBody>
                  <a:tcPr marL="133350" marR="133350" marT="38100" marB="28575" anchor="t">
                    <a:lnR w="9525">
                      <a:solidFill>
                        <a:srgbClr val="E3E8E2"/>
                      </a:solidFill>
                      <a:prstDash val="solid"/>
                    </a:lnR>
                    <a:lnB w="9525">
                      <a:solidFill>
                        <a:srgbClr val="E3E8E2"/>
                      </a:solidFill>
                      <a:prstDash val="solid"/>
                    </a:lnB>
                    <a:solidFill>
                      <a:srgbClr val="FAF8F3"/>
                    </a:solidFill>
                  </a:tcPr>
                </a:tc>
              </a:tr>
              <a:tr h="330994">
                <a:tc>
                  <a:txBody>
                    <a:bodyPr/>
                    <a:lstStyle/>
                    <a:p>
                      <a:r>
                        <a:rPr sz="1425" b="0">
                          <a:solidFill>
                            <a:srgbClr val="17251F"/>
                          </a:solidFill>
                          <a:latin typeface="Helvetica Neue"/>
                          <a:ea typeface="Helvetica Neue"/>
                          <a:cs typeface="Helvetica Neue"/>
                        </a:rPr>
                        <a:t>Clothing</a:t>
                      </a:r>
                    </a:p>
                  </a:txBody>
                  <a:tcPr marL="133350" marR="133350" marT="38100" marB="28575" anchor="t">
                    <a:lnL w="9525">
                      <a:solidFill>
                        <a:srgbClr val="E3E8E2"/>
                      </a:solidFill>
                      <a:prstDash val="solid"/>
                    </a:lnL>
                    <a:lnR w="9525">
                      <a:solidFill>
                        <a:srgbClr val="E3E8E2"/>
                      </a:solidFill>
                      <a:prstDash val="solid"/>
                    </a:lnR>
                    <a:lnB w="9525">
                      <a:solidFill>
                        <a:srgbClr val="E3E8E2"/>
                      </a:solidFill>
                      <a:prstDash val="solid"/>
                    </a:lnB>
                    <a:solidFill>
                      <a:srgbClr val="FAF8F3"/>
                    </a:solidFill>
                  </a:tcPr>
                </a:tc>
                <a:tc>
                  <a:txBody>
                    <a:bodyPr/>
                    <a:lstStyle/>
                    <a:p>
                      <a:r>
                        <a:rPr sz="1425" b="0">
                          <a:solidFill>
                            <a:srgbClr val="17251F"/>
                          </a:solidFill>
                          <a:latin typeface="Helvetica Neue"/>
                          <a:ea typeface="Helvetica Neue"/>
                          <a:cs typeface="Helvetica Neue"/>
                        </a:rPr>
                        <a:t>0.00519 ± 0.00056</a:t>
                      </a:r>
                    </a:p>
                  </a:txBody>
                  <a:tcPr marL="133350" marR="133350" marT="38100" marB="28575" anchor="t">
                    <a:lnR w="9525">
                      <a:solidFill>
                        <a:srgbClr val="E3E8E2"/>
                      </a:solidFill>
                      <a:prstDash val="solid"/>
                    </a:lnR>
                    <a:lnB w="9525">
                      <a:solidFill>
                        <a:srgbClr val="E3E8E2"/>
                      </a:solidFill>
                      <a:prstDash val="solid"/>
                    </a:lnB>
                    <a:solidFill>
                      <a:srgbClr val="FAF8F3"/>
                    </a:solidFill>
                  </a:tcPr>
                </a:tc>
                <a:tc>
                  <a:txBody>
                    <a:bodyPr/>
                    <a:lstStyle/>
                    <a:p>
                      <a:r>
                        <a:rPr sz="1425" b="0">
                          <a:solidFill>
                            <a:srgbClr val="17251F"/>
                          </a:solidFill>
                          <a:latin typeface="Helvetica Neue"/>
                          <a:ea typeface="Helvetica Neue"/>
                          <a:cs typeface="Helvetica Neue"/>
                        </a:rPr>
                        <a:t>0.00446 ± 0.00038</a:t>
                      </a:r>
                    </a:p>
                  </a:txBody>
                  <a:tcPr marL="133350" marR="133350" marT="38100" marB="28575" anchor="t">
                    <a:lnR w="9525">
                      <a:solidFill>
                        <a:srgbClr val="E3E8E2"/>
                      </a:solidFill>
                      <a:prstDash val="solid"/>
                    </a:lnR>
                    <a:lnB w="9525">
                      <a:solidFill>
                        <a:srgbClr val="E3E8E2"/>
                      </a:solidFill>
                      <a:prstDash val="solid"/>
                    </a:lnB>
                    <a:solidFill>
                      <a:srgbClr val="FAF8F3"/>
                    </a:solidFill>
                  </a:tcPr>
                </a:tc>
                <a:tc>
                  <a:txBody>
                    <a:bodyPr/>
                    <a:lstStyle/>
                    <a:p>
                      <a:r>
                        <a:rPr sz="1425" b="0">
                          <a:solidFill>
                            <a:srgbClr val="17251F"/>
                          </a:solidFill>
                          <a:latin typeface="Helvetica Neue"/>
                          <a:ea typeface="Helvetica Neue"/>
                          <a:cs typeface="Helvetica Neue"/>
                        </a:rPr>
                        <a:t>0.00512 ± 0.00046</a:t>
                      </a:r>
                    </a:p>
                  </a:txBody>
                  <a:tcPr marL="133350" marR="133350" marT="38100" marB="28575" anchor="t">
                    <a:lnR w="9525">
                      <a:solidFill>
                        <a:srgbClr val="E3E8E2"/>
                      </a:solidFill>
                      <a:prstDash val="solid"/>
                    </a:lnR>
                    <a:lnB w="9525">
                      <a:solidFill>
                        <a:srgbClr val="E3E8E2"/>
                      </a:solidFill>
                      <a:prstDash val="solid"/>
                    </a:lnB>
                    <a:solidFill>
                      <a:srgbClr val="FAF8F3"/>
                    </a:solidFill>
                  </a:tcPr>
                </a:tc>
              </a:tr>
            </a:tbl>
          </a:graphicData>
        </a:graphic>
      </p:graphicFrame>
      <p:sp>
        <p:nvSpPr>
          <p:cNvPr id="6" name="">
            <a:extLst xmlns:a="http://schemas.openxmlformats.org/drawingml/2006/main">
              <a:ext uri="{FF2B5EF4-FFF2-40B4-BE49-F238E27FC236}">
                <a16:creationId xmlns:a16="http://schemas.microsoft.com/office/drawing/2014/main" id="{F925AED3-AFBD-410F-9FD4-0DEDB9525646}"/>
              </a:ext>
            </a:extLst>
          </p:cNvPr>
          <p:cNvSpPr>
            <a:spLocks xmlns:a="http://schemas.openxmlformats.org/drawingml/2006/main" noGrp="1"/>
          </p:cNvSpPr>
          <p:nvPr/>
        </p:nvSpPr>
        <p:spPr>
          <a:xfrm xmlns:a="http://schemas.openxmlformats.org/drawingml/2006/main">
            <a:off x="628650" y="6210300"/>
            <a:ext cx="10572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566760"/>
                </a:solidFill>
                <a:latin typeface="Helvetica Neue"/>
                <a:ea typeface="Helvetica Neue"/>
                <a:cs typeface="Helvetica Neue"/>
              </a:defRPr>
            </a:defPPr>
            <a:lvl1pPr>
              <a:defRPr sz="1500" b="0">
                <a:solidFill>
                  <a:srgbClr val="566760"/>
                </a:solidFill>
                <a:latin typeface="Helvetica Neue"/>
                <a:ea typeface="Helvetica Neue"/>
                <a:cs typeface="Helvetica Neue"/>
              </a:defRPr>
            </a:lvl1pPr>
            <a:lvl2pPr>
              <a:defRPr sz="1500" b="0">
                <a:solidFill>
                  <a:srgbClr val="566760"/>
                </a:solidFill>
                <a:latin typeface="Helvetica Neue"/>
                <a:ea typeface="Helvetica Neue"/>
                <a:cs typeface="Helvetica Neue"/>
              </a:defRPr>
            </a:lvl2pPr>
            <a:lvl3pPr>
              <a:defRPr sz="1500" b="0">
                <a:solidFill>
                  <a:srgbClr val="566760"/>
                </a:solidFill>
                <a:latin typeface="Helvetica Neue"/>
                <a:ea typeface="Helvetica Neue"/>
                <a:cs typeface="Helvetica Neue"/>
              </a:defRPr>
            </a:lvl3pPr>
            <a:lvl4pPr>
              <a:defRPr sz="1500" b="0">
                <a:solidFill>
                  <a:srgbClr val="566760"/>
                </a:solidFill>
                <a:latin typeface="Helvetica Neue"/>
                <a:ea typeface="Helvetica Neue"/>
                <a:cs typeface="Helvetica Neue"/>
              </a:defRPr>
            </a:lvl4pPr>
            <a:lvl5pPr>
              <a:defRPr sz="1500" b="0">
                <a:solidFill>
                  <a:srgbClr val="566760"/>
                </a:solidFill>
                <a:latin typeface="Helvetica Neue"/>
                <a:ea typeface="Helvetica Neue"/>
                <a:cs typeface="Helvetica Neue"/>
              </a:defRPr>
            </a:lvl5pPr>
            <a:lvl6pPr>
              <a:defRPr sz="1500" b="0">
                <a:solidFill>
                  <a:srgbClr val="566760"/>
                </a:solidFill>
                <a:latin typeface="Helvetica Neue"/>
                <a:ea typeface="Helvetica Neue"/>
                <a:cs typeface="Helvetica Neue"/>
              </a:defRPr>
            </a:lvl6pPr>
            <a:lvl7pPr>
              <a:defRPr sz="1500" b="0">
                <a:solidFill>
                  <a:srgbClr val="566760"/>
                </a:solidFill>
                <a:latin typeface="Helvetica Neue"/>
                <a:ea typeface="Helvetica Neue"/>
                <a:cs typeface="Helvetica Neue"/>
              </a:defRPr>
            </a:lvl7pPr>
            <a:lvl8pPr>
              <a:defRPr sz="1500" b="0">
                <a:solidFill>
                  <a:srgbClr val="566760"/>
                </a:solidFill>
                <a:latin typeface="Helvetica Neue"/>
                <a:ea typeface="Helvetica Neue"/>
                <a:cs typeface="Helvetica Neue"/>
              </a:defRPr>
            </a:lvl8pPr>
            <a:lvl9pPr>
              <a:defRPr sz="1500" b="0">
                <a:solidFill>
                  <a:srgbClr val="566760"/>
                </a:solidFill>
                <a:latin typeface="Helvetica Neue"/>
                <a:ea typeface="Helvetica Neue"/>
                <a:cs typeface="Helvetica Neue"/>
              </a:defRPr>
            </a:lvl9pPr>
          </a:lstStyle>
          <a:p xmlns:a="http://schemas.openxmlformats.org/drawingml/2006/main">
            <a:pPr>
              <a:defRPr sz="1500" b="0">
                <a:solidFill>
                  <a:srgbClr val="566760"/>
                </a:solidFill>
                <a:latin typeface="Helvetica Neue"/>
                <a:ea typeface="Helvetica Neue"/>
                <a:cs typeface="Helvetica Neue"/>
              </a:defRPr>
            </a:pPr>
            <a:r>
              <a:rPr sz="1500" b="0">
                <a:solidFill>
                  <a:srgbClr val="566760"/>
                </a:solidFill>
                <a:latin typeface="Helvetica Neue"/>
                <a:ea typeface="Helvetica Neue"/>
                <a:cs typeface="Helvetica Neue"/>
              </a:rPr>
              <a:t>SD spans three training seeds. It is not a confidence interval or evidence of a consistent LoRA gain.</a:t>
            </a:r>
          </a:p>
        </p:txBody>
      </p:sp>
    </p:spTree>
    <p:extLst>
      <p:ext uri="{BB962C8B-B14F-4D97-AF65-F5344CB8AC3E}">
        <p14:creationId xmlns:p14="http://schemas.microsoft.com/office/powerpoint/2010/main" val="1205893029"/>
      </p:ext>
    </p:extLst>
  </p:cSld>
</p:sld>
</file>

<file path=ppt/slides/slide11.xml><?xml version="1.0" encoding="utf-8"?>
<p:sld xmlns:p="http://schemas.openxmlformats.org/presentationml/2006/main">
  <p:cSld>
    <p:bg>
      <p:bgPr>
        <a:solidFill xmlns:a="http://schemas.openxmlformats.org/drawingml/2006/main">
          <a:srgbClr val="FAF8F3"/>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1590C343-355E-4B2A-9F3F-5DF97B9EA36A}"/>
              </a:ext>
            </a:extLst>
          </p:cNvPr>
          <p:cNvSpPr>
            <a:spLocks xmlns:a="http://schemas.openxmlformats.org/drawingml/2006/main" noGrp="1"/>
          </p:cNvSpPr>
          <p:nvPr/>
        </p:nvSpPr>
        <p:spPr>
          <a:xfrm xmlns:a="http://schemas.openxmlformats.org/drawingml/2006/main">
            <a:off x="609600" y="3810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150" b="1">
                <a:solidFill>
                  <a:srgbClr val="17251F"/>
                </a:solidFill>
                <a:latin typeface="Helvetica Neue"/>
                <a:ea typeface="Helvetica Neue"/>
                <a:cs typeface="Helvetica Neue"/>
              </a:defRPr>
            </a:defPPr>
            <a:lvl1pPr>
              <a:defRPr sz="3150" b="1">
                <a:solidFill>
                  <a:srgbClr val="17251F"/>
                </a:solidFill>
                <a:latin typeface="Helvetica Neue"/>
                <a:ea typeface="Helvetica Neue"/>
                <a:cs typeface="Helvetica Neue"/>
              </a:defRPr>
            </a:lvl1pPr>
            <a:lvl2pPr>
              <a:defRPr sz="3150" b="1">
                <a:solidFill>
                  <a:srgbClr val="17251F"/>
                </a:solidFill>
                <a:latin typeface="Helvetica Neue"/>
                <a:ea typeface="Helvetica Neue"/>
                <a:cs typeface="Helvetica Neue"/>
              </a:defRPr>
            </a:lvl2pPr>
            <a:lvl3pPr>
              <a:defRPr sz="3150" b="1">
                <a:solidFill>
                  <a:srgbClr val="17251F"/>
                </a:solidFill>
                <a:latin typeface="Helvetica Neue"/>
                <a:ea typeface="Helvetica Neue"/>
                <a:cs typeface="Helvetica Neue"/>
              </a:defRPr>
            </a:lvl3pPr>
            <a:lvl4pPr>
              <a:defRPr sz="3150" b="1">
                <a:solidFill>
                  <a:srgbClr val="17251F"/>
                </a:solidFill>
                <a:latin typeface="Helvetica Neue"/>
                <a:ea typeface="Helvetica Neue"/>
                <a:cs typeface="Helvetica Neue"/>
              </a:defRPr>
            </a:lvl4pPr>
            <a:lvl5pPr>
              <a:defRPr sz="3150" b="1">
                <a:solidFill>
                  <a:srgbClr val="17251F"/>
                </a:solidFill>
                <a:latin typeface="Helvetica Neue"/>
                <a:ea typeface="Helvetica Neue"/>
                <a:cs typeface="Helvetica Neue"/>
              </a:defRPr>
            </a:lvl5pPr>
            <a:lvl6pPr>
              <a:defRPr sz="3150" b="1">
                <a:solidFill>
                  <a:srgbClr val="17251F"/>
                </a:solidFill>
                <a:latin typeface="Helvetica Neue"/>
                <a:ea typeface="Helvetica Neue"/>
                <a:cs typeface="Helvetica Neue"/>
              </a:defRPr>
            </a:lvl6pPr>
            <a:lvl7pPr>
              <a:defRPr sz="3150" b="1">
                <a:solidFill>
                  <a:srgbClr val="17251F"/>
                </a:solidFill>
                <a:latin typeface="Helvetica Neue"/>
                <a:ea typeface="Helvetica Neue"/>
                <a:cs typeface="Helvetica Neue"/>
              </a:defRPr>
            </a:lvl7pPr>
            <a:lvl8pPr>
              <a:defRPr sz="3150" b="1">
                <a:solidFill>
                  <a:srgbClr val="17251F"/>
                </a:solidFill>
                <a:latin typeface="Helvetica Neue"/>
                <a:ea typeface="Helvetica Neue"/>
                <a:cs typeface="Helvetica Neue"/>
              </a:defRPr>
            </a:lvl8pPr>
            <a:lvl9pPr>
              <a:defRPr sz="3150" b="1">
                <a:solidFill>
                  <a:srgbClr val="17251F"/>
                </a:solidFill>
                <a:latin typeface="Helvetica Neue"/>
                <a:ea typeface="Helvetica Neue"/>
                <a:cs typeface="Helvetica Neue"/>
              </a:defRPr>
            </a:lvl9pPr>
          </a:lstStyle>
          <a:p xmlns:a="http://schemas.openxmlformats.org/drawingml/2006/main">
            <a:pPr>
              <a:defRPr sz="3150" b="1">
                <a:solidFill>
                  <a:srgbClr val="17251F"/>
                </a:solidFill>
                <a:latin typeface="Helvetica Neue"/>
                <a:ea typeface="Helvetica Neue"/>
                <a:cs typeface="Helvetica Neue"/>
              </a:defRPr>
            </a:pPr>
            <a:r>
              <a:rPr sz="3150" b="1">
                <a:solidFill>
                  <a:srgbClr val="17251F"/>
                </a:solidFill>
                <a:latin typeface="Helvetica Neue"/>
                <a:ea typeface="Helvetica Neue"/>
                <a:cs typeface="Helvetica Neue"/>
              </a:rPr>
              <a:t>ESCI tests transfer to query-title relevance</a:t>
            </a:r>
          </a:p>
        </p:txBody>
      </p:sp>
      <p:sp>
        <p:nvSpPr>
          <p:cNvPr id="2" name="">
            <a:extLst xmlns:a="http://schemas.openxmlformats.org/drawingml/2006/main">
              <a:ext uri="{FF2B5EF4-FFF2-40B4-BE49-F238E27FC236}">
                <a16:creationId xmlns:a16="http://schemas.microsoft.com/office/drawing/2014/main" id="{BFC5C179-349D-420E-A473-603876799465}"/>
              </a:ext>
            </a:extLst>
          </p:cNvPr>
          <p:cNvSpPr>
            <a:spLocks xmlns:a="http://schemas.openxmlformats.org/drawingml/2006/main" noGrp="1"/>
          </p:cNvSpPr>
          <p:nvPr/>
        </p:nvSpPr>
        <p:spPr>
          <a:xfrm xmlns:a="http://schemas.openxmlformats.org/drawingml/2006/main">
            <a:off x="628650" y="1057275"/>
            <a:ext cx="109347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566760"/>
                </a:solidFill>
                <a:latin typeface="Helvetica Neue"/>
                <a:ea typeface="Helvetica Neue"/>
                <a:cs typeface="Helvetica Neue"/>
              </a:defRPr>
            </a:defPPr>
            <a:lvl1pPr>
              <a:defRPr sz="1800" b="0">
                <a:solidFill>
                  <a:srgbClr val="566760"/>
                </a:solidFill>
                <a:latin typeface="Helvetica Neue"/>
                <a:ea typeface="Helvetica Neue"/>
                <a:cs typeface="Helvetica Neue"/>
              </a:defRPr>
            </a:lvl1pPr>
            <a:lvl2pPr>
              <a:defRPr sz="1800" b="0">
                <a:solidFill>
                  <a:srgbClr val="566760"/>
                </a:solidFill>
                <a:latin typeface="Helvetica Neue"/>
                <a:ea typeface="Helvetica Neue"/>
                <a:cs typeface="Helvetica Neue"/>
              </a:defRPr>
            </a:lvl2pPr>
            <a:lvl3pPr>
              <a:defRPr sz="1800" b="0">
                <a:solidFill>
                  <a:srgbClr val="566760"/>
                </a:solidFill>
                <a:latin typeface="Helvetica Neue"/>
                <a:ea typeface="Helvetica Neue"/>
                <a:cs typeface="Helvetica Neue"/>
              </a:defRPr>
            </a:lvl3pPr>
            <a:lvl4pPr>
              <a:defRPr sz="1800" b="0">
                <a:solidFill>
                  <a:srgbClr val="566760"/>
                </a:solidFill>
                <a:latin typeface="Helvetica Neue"/>
                <a:ea typeface="Helvetica Neue"/>
                <a:cs typeface="Helvetica Neue"/>
              </a:defRPr>
            </a:lvl4pPr>
            <a:lvl5pPr>
              <a:defRPr sz="1800" b="0">
                <a:solidFill>
                  <a:srgbClr val="566760"/>
                </a:solidFill>
                <a:latin typeface="Helvetica Neue"/>
                <a:ea typeface="Helvetica Neue"/>
                <a:cs typeface="Helvetica Neue"/>
              </a:defRPr>
            </a:lvl5pPr>
            <a:lvl6pPr>
              <a:defRPr sz="1800" b="0">
                <a:solidFill>
                  <a:srgbClr val="566760"/>
                </a:solidFill>
                <a:latin typeface="Helvetica Neue"/>
                <a:ea typeface="Helvetica Neue"/>
                <a:cs typeface="Helvetica Neue"/>
              </a:defRPr>
            </a:lvl6pPr>
            <a:lvl7pPr>
              <a:defRPr sz="1800" b="0">
                <a:solidFill>
                  <a:srgbClr val="566760"/>
                </a:solidFill>
                <a:latin typeface="Helvetica Neue"/>
                <a:ea typeface="Helvetica Neue"/>
                <a:cs typeface="Helvetica Neue"/>
              </a:defRPr>
            </a:lvl7pPr>
            <a:lvl8pPr>
              <a:defRPr sz="1800" b="0">
                <a:solidFill>
                  <a:srgbClr val="566760"/>
                </a:solidFill>
                <a:latin typeface="Helvetica Neue"/>
                <a:ea typeface="Helvetica Neue"/>
                <a:cs typeface="Helvetica Neue"/>
              </a:defRPr>
            </a:lvl8pPr>
            <a:lvl9pPr>
              <a:defRPr sz="1800" b="0">
                <a:solidFill>
                  <a:srgbClr val="566760"/>
                </a:solidFill>
                <a:latin typeface="Helvetica Neue"/>
                <a:ea typeface="Helvetica Neue"/>
                <a:cs typeface="Helvetica Neue"/>
              </a:defRPr>
            </a:lvl9pPr>
          </a:lstStyle>
          <a:p xmlns:a="http://schemas.openxmlformats.org/drawingml/2006/main">
            <a:pPr>
              <a:defRPr sz="1800" b="0">
                <a:solidFill>
                  <a:srgbClr val="566760"/>
                </a:solidFill>
                <a:latin typeface="Helvetica Neue"/>
                <a:ea typeface="Helvetica Neue"/>
                <a:cs typeface="Helvetica Neue"/>
              </a:defRPr>
            </a:pPr>
            <a:r>
              <a:rPr sz="1800" b="0">
                <a:solidFill>
                  <a:srgbClr val="566760"/>
                </a:solidFill>
                <a:latin typeface="Helvetica Neue"/>
                <a:ea typeface="Helvetica Neue"/>
                <a:cs typeface="Helvetica Neue"/>
              </a:rPr>
              <a:t>500 official test queries, 9,766 judged candidates. Title-only input.</a:t>
            </a:r>
          </a:p>
        </p:txBody>
      </p:sp>
      <p:sp>
        <p:nvSpPr>
          <p:cNvPr id="3" name="">
            <a:extLst xmlns:a="http://schemas.openxmlformats.org/drawingml/2006/main">
              <a:ext uri="{FF2B5EF4-FFF2-40B4-BE49-F238E27FC236}">
                <a16:creationId xmlns:a16="http://schemas.microsoft.com/office/drawing/2014/main" id="{3020D9AE-2593-46C8-BCEB-688F49C3E721}"/>
              </a:ext>
            </a:extLst>
          </p:cNvPr>
          <p:cNvSpPr>
            <a:spLocks xmlns:a="http://schemas.openxmlformats.org/drawingml/2006/main" noGrp="1"/>
          </p:cNvSpPr>
          <p:nvPr/>
        </p:nvSpPr>
        <p:spPr>
          <a:xfrm xmlns:a="http://schemas.openxmlformats.org/drawingml/2006/main">
            <a:off x="11106150" y="6457950"/>
            <a:ext cx="47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00" b="0">
                <a:solidFill>
                  <a:srgbClr val="566760"/>
                </a:solidFill>
                <a:latin typeface="Helvetica Neue"/>
                <a:ea typeface="Helvetica Neue"/>
                <a:cs typeface="Helvetica Neue"/>
              </a:defRPr>
            </a:defPPr>
            <a:lvl1pPr algn="r">
              <a:defRPr sz="1200" b="0">
                <a:solidFill>
                  <a:srgbClr val="566760"/>
                </a:solidFill>
                <a:latin typeface="Helvetica Neue"/>
                <a:ea typeface="Helvetica Neue"/>
                <a:cs typeface="Helvetica Neue"/>
              </a:defRPr>
            </a:lvl1pPr>
            <a:lvl2pPr algn="r">
              <a:defRPr sz="1200" b="0">
                <a:solidFill>
                  <a:srgbClr val="566760"/>
                </a:solidFill>
                <a:latin typeface="Helvetica Neue"/>
                <a:ea typeface="Helvetica Neue"/>
                <a:cs typeface="Helvetica Neue"/>
              </a:defRPr>
            </a:lvl2pPr>
            <a:lvl3pPr algn="r">
              <a:defRPr sz="1200" b="0">
                <a:solidFill>
                  <a:srgbClr val="566760"/>
                </a:solidFill>
                <a:latin typeface="Helvetica Neue"/>
                <a:ea typeface="Helvetica Neue"/>
                <a:cs typeface="Helvetica Neue"/>
              </a:defRPr>
            </a:lvl3pPr>
            <a:lvl4pPr algn="r">
              <a:defRPr sz="1200" b="0">
                <a:solidFill>
                  <a:srgbClr val="566760"/>
                </a:solidFill>
                <a:latin typeface="Helvetica Neue"/>
                <a:ea typeface="Helvetica Neue"/>
                <a:cs typeface="Helvetica Neue"/>
              </a:defRPr>
            </a:lvl4pPr>
            <a:lvl5pPr algn="r">
              <a:defRPr sz="1200" b="0">
                <a:solidFill>
                  <a:srgbClr val="566760"/>
                </a:solidFill>
                <a:latin typeface="Helvetica Neue"/>
                <a:ea typeface="Helvetica Neue"/>
                <a:cs typeface="Helvetica Neue"/>
              </a:defRPr>
            </a:lvl5pPr>
            <a:lvl6pPr algn="r">
              <a:defRPr sz="1200" b="0">
                <a:solidFill>
                  <a:srgbClr val="566760"/>
                </a:solidFill>
                <a:latin typeface="Helvetica Neue"/>
                <a:ea typeface="Helvetica Neue"/>
                <a:cs typeface="Helvetica Neue"/>
              </a:defRPr>
            </a:lvl6pPr>
            <a:lvl7pPr algn="r">
              <a:defRPr sz="1200" b="0">
                <a:solidFill>
                  <a:srgbClr val="566760"/>
                </a:solidFill>
                <a:latin typeface="Helvetica Neue"/>
                <a:ea typeface="Helvetica Neue"/>
                <a:cs typeface="Helvetica Neue"/>
              </a:defRPr>
            </a:lvl7pPr>
            <a:lvl8pPr algn="r">
              <a:defRPr sz="1200" b="0">
                <a:solidFill>
                  <a:srgbClr val="566760"/>
                </a:solidFill>
                <a:latin typeface="Helvetica Neue"/>
                <a:ea typeface="Helvetica Neue"/>
                <a:cs typeface="Helvetica Neue"/>
              </a:defRPr>
            </a:lvl8pPr>
            <a:lvl9pPr algn="r">
              <a:defRPr sz="1200" b="0">
                <a:solidFill>
                  <a:srgbClr val="566760"/>
                </a:solidFill>
                <a:latin typeface="Helvetica Neue"/>
                <a:ea typeface="Helvetica Neue"/>
                <a:cs typeface="Helvetica Neue"/>
              </a:defRPr>
            </a:lvl9pPr>
          </a:lstStyle>
          <a:p xmlns:a="http://schemas.openxmlformats.org/drawingml/2006/main">
            <a:pPr algn="r">
              <a:defRPr sz="1200" b="0">
                <a:solidFill>
                  <a:srgbClr val="566760"/>
                </a:solidFill>
                <a:latin typeface="Helvetica Neue"/>
                <a:ea typeface="Helvetica Neue"/>
                <a:cs typeface="Helvetica Neue"/>
              </a:defRPr>
            </a:pPr>
            <a:r>
              <a:rPr sz="1200" b="0">
                <a:solidFill>
                  <a:srgbClr val="566760"/>
                </a:solidFill>
                <a:latin typeface="Helvetica Neue"/>
                <a:ea typeface="Helvetica Neue"/>
                <a:cs typeface="Helvetica Neue"/>
              </a:rPr>
              <a:t>11</a:t>
            </a:r>
          </a:p>
        </p:txBody>
      </p:sp>
      <p:graphicFrame>
        <p:nvGraphicFramePr>
          <p:cNvPr id="4" name="Chart">
            <a:extLst xmlns:a="http://schemas.openxmlformats.org/drawingml/2006/main">
              <a:ext uri="{FF2B5EF4-FFF2-40B4-BE49-F238E27FC236}">
                <a16:creationId xmlns:a16="http://schemas.microsoft.com/office/drawing/2014/main" id="{9B0BBAD6-C50A-4FA0-92EA-3E8242731F9C}"/>
              </a:ext>
            </a:extLst>
          </p:cNvPr>
          <p:cNvGraphicFramePr/>
          <p:nvPr/>
        </p:nvGraphicFramePr>
        <p:xfrm>
          <a:off xmlns:a="http://schemas.openxmlformats.org/drawingml/2006/main" x="609600" y="1762125"/>
          <a:ext xmlns:a="http://schemas.openxmlformats.org/drawingml/2006/main" cx="10972800" cy="3371850"/>
        </p:xfrm>
        <a:graphic xmlns:a="http://schemas.openxmlformats.org/drawingml/2006/main">
          <a:graphicData uri="http://schemas.openxmlformats.org/drawingml/2006/chart">
            <c:chart xmlns:r="http://schemas.openxmlformats.org/officeDocument/2006/relationships" xmlns:c="http://schemas.openxmlformats.org/drawingml/2006/chart" r:id="R9a8427feeb75411a"/>
          </a:graphicData>
        </a:graphic>
      </p:graphicFrame>
      <p:sp>
        <p:nvSpPr>
          <p:cNvPr id="5" name="">
            <a:extLst xmlns:a="http://schemas.openxmlformats.org/drawingml/2006/main">
              <a:ext uri="{FF2B5EF4-FFF2-40B4-BE49-F238E27FC236}">
                <a16:creationId xmlns:a16="http://schemas.microsoft.com/office/drawing/2014/main" id="{770F9DE9-1180-4075-9835-D3D878181C53}"/>
              </a:ext>
            </a:extLst>
          </p:cNvPr>
          <p:cNvSpPr>
            <a:spLocks xmlns:a="http://schemas.openxmlformats.org/drawingml/2006/main" noGrp="1"/>
          </p:cNvSpPr>
          <p:nvPr/>
        </p:nvSpPr>
        <p:spPr>
          <a:xfrm xmlns:a="http://schemas.openxmlformats.org/drawingml/2006/main">
            <a:off x="628650" y="5495925"/>
            <a:ext cx="10934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00" b="1">
                <a:solidFill>
                  <a:srgbClr val="087E80"/>
                </a:solidFill>
                <a:latin typeface="Helvetica Neue"/>
                <a:ea typeface="Helvetica Neue"/>
                <a:cs typeface="Helvetica Neue"/>
              </a:defRPr>
            </a:defPPr>
            <a:lvl1pPr>
              <a:defRPr sz="2100" b="1">
                <a:solidFill>
                  <a:srgbClr val="087E80"/>
                </a:solidFill>
                <a:latin typeface="Helvetica Neue"/>
                <a:ea typeface="Helvetica Neue"/>
                <a:cs typeface="Helvetica Neue"/>
              </a:defRPr>
            </a:lvl1pPr>
            <a:lvl2pPr>
              <a:defRPr sz="2100" b="1">
                <a:solidFill>
                  <a:srgbClr val="087E80"/>
                </a:solidFill>
                <a:latin typeface="Helvetica Neue"/>
                <a:ea typeface="Helvetica Neue"/>
                <a:cs typeface="Helvetica Neue"/>
              </a:defRPr>
            </a:lvl2pPr>
            <a:lvl3pPr>
              <a:defRPr sz="2100" b="1">
                <a:solidFill>
                  <a:srgbClr val="087E80"/>
                </a:solidFill>
                <a:latin typeface="Helvetica Neue"/>
                <a:ea typeface="Helvetica Neue"/>
                <a:cs typeface="Helvetica Neue"/>
              </a:defRPr>
            </a:lvl3pPr>
            <a:lvl4pPr>
              <a:defRPr sz="2100" b="1">
                <a:solidFill>
                  <a:srgbClr val="087E80"/>
                </a:solidFill>
                <a:latin typeface="Helvetica Neue"/>
                <a:ea typeface="Helvetica Neue"/>
                <a:cs typeface="Helvetica Neue"/>
              </a:defRPr>
            </a:lvl4pPr>
            <a:lvl5pPr>
              <a:defRPr sz="2100" b="1">
                <a:solidFill>
                  <a:srgbClr val="087E80"/>
                </a:solidFill>
                <a:latin typeface="Helvetica Neue"/>
                <a:ea typeface="Helvetica Neue"/>
                <a:cs typeface="Helvetica Neue"/>
              </a:defRPr>
            </a:lvl5pPr>
            <a:lvl6pPr>
              <a:defRPr sz="2100" b="1">
                <a:solidFill>
                  <a:srgbClr val="087E80"/>
                </a:solidFill>
                <a:latin typeface="Helvetica Neue"/>
                <a:ea typeface="Helvetica Neue"/>
                <a:cs typeface="Helvetica Neue"/>
              </a:defRPr>
            </a:lvl6pPr>
            <a:lvl7pPr>
              <a:defRPr sz="2100" b="1">
                <a:solidFill>
                  <a:srgbClr val="087E80"/>
                </a:solidFill>
                <a:latin typeface="Helvetica Neue"/>
                <a:ea typeface="Helvetica Neue"/>
                <a:cs typeface="Helvetica Neue"/>
              </a:defRPr>
            </a:lvl7pPr>
            <a:lvl8pPr>
              <a:defRPr sz="2100" b="1">
                <a:solidFill>
                  <a:srgbClr val="087E80"/>
                </a:solidFill>
                <a:latin typeface="Helvetica Neue"/>
                <a:ea typeface="Helvetica Neue"/>
                <a:cs typeface="Helvetica Neue"/>
              </a:defRPr>
            </a:lvl8pPr>
            <a:lvl9pPr>
              <a:defRPr sz="2100" b="1">
                <a:solidFill>
                  <a:srgbClr val="087E80"/>
                </a:solidFill>
                <a:latin typeface="Helvetica Neue"/>
                <a:ea typeface="Helvetica Neue"/>
                <a:cs typeface="Helvetica Neue"/>
              </a:defRPr>
            </a:lvl9pPr>
          </a:lstStyle>
          <a:p xmlns:a="http://schemas.openxmlformats.org/drawingml/2006/main">
            <a:pPr>
              <a:defRPr sz="2100" b="1">
                <a:solidFill>
                  <a:srgbClr val="087E80"/>
                </a:solidFill>
                <a:latin typeface="Helvetica Neue"/>
                <a:ea typeface="Helvetica Neue"/>
                <a:cs typeface="Helvetica Neue"/>
              </a:defRPr>
            </a:pPr>
            <a:r>
              <a:rPr sz="2100" b="1">
                <a:solidFill>
                  <a:srgbClr val="087E80"/>
                </a:solidFill>
                <a:latin typeface="Helvetica Neue"/>
                <a:ea typeface="Helvetica Neue"/>
                <a:cs typeface="Helvetica Neue"/>
              </a:rPr>
              <a:t>Clothing seed42 adapters transfer without ESCI fine-tuning.</a:t>
            </a:r>
          </a:p>
        </p:txBody>
      </p:sp>
      <p:sp>
        <p:nvSpPr>
          <p:cNvPr id="6" name="">
            <a:extLst xmlns:a="http://schemas.openxmlformats.org/drawingml/2006/main">
              <a:ext uri="{FF2B5EF4-FFF2-40B4-BE49-F238E27FC236}">
                <a16:creationId xmlns:a16="http://schemas.microsoft.com/office/drawing/2014/main" id="{F647EE2F-B029-4957-97AA-BD0CD9FFEB2C}"/>
              </a:ext>
            </a:extLst>
          </p:cNvPr>
          <p:cNvSpPr>
            <a:spLocks xmlns:a="http://schemas.openxmlformats.org/drawingml/2006/main" noGrp="1"/>
          </p:cNvSpPr>
          <p:nvPr/>
        </p:nvSpPr>
        <p:spPr>
          <a:xfrm xmlns:a="http://schemas.openxmlformats.org/drawingml/2006/main">
            <a:off x="628650" y="6057900"/>
            <a:ext cx="10572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566760"/>
                </a:solidFill>
                <a:latin typeface="Helvetica Neue"/>
                <a:ea typeface="Helvetica Neue"/>
                <a:cs typeface="Helvetica Neue"/>
              </a:defRPr>
            </a:defPPr>
            <a:lvl1pPr>
              <a:defRPr sz="1500" b="0">
                <a:solidFill>
                  <a:srgbClr val="566760"/>
                </a:solidFill>
                <a:latin typeface="Helvetica Neue"/>
                <a:ea typeface="Helvetica Neue"/>
                <a:cs typeface="Helvetica Neue"/>
              </a:defRPr>
            </a:lvl1pPr>
            <a:lvl2pPr>
              <a:defRPr sz="1500" b="0">
                <a:solidFill>
                  <a:srgbClr val="566760"/>
                </a:solidFill>
                <a:latin typeface="Helvetica Neue"/>
                <a:ea typeface="Helvetica Neue"/>
                <a:cs typeface="Helvetica Neue"/>
              </a:defRPr>
            </a:lvl2pPr>
            <a:lvl3pPr>
              <a:defRPr sz="1500" b="0">
                <a:solidFill>
                  <a:srgbClr val="566760"/>
                </a:solidFill>
                <a:latin typeface="Helvetica Neue"/>
                <a:ea typeface="Helvetica Neue"/>
                <a:cs typeface="Helvetica Neue"/>
              </a:defRPr>
            </a:lvl3pPr>
            <a:lvl4pPr>
              <a:defRPr sz="1500" b="0">
                <a:solidFill>
                  <a:srgbClr val="566760"/>
                </a:solidFill>
                <a:latin typeface="Helvetica Neue"/>
                <a:ea typeface="Helvetica Neue"/>
                <a:cs typeface="Helvetica Neue"/>
              </a:defRPr>
            </a:lvl4pPr>
            <a:lvl5pPr>
              <a:defRPr sz="1500" b="0">
                <a:solidFill>
                  <a:srgbClr val="566760"/>
                </a:solidFill>
                <a:latin typeface="Helvetica Neue"/>
                <a:ea typeface="Helvetica Neue"/>
                <a:cs typeface="Helvetica Neue"/>
              </a:defRPr>
            </a:lvl5pPr>
            <a:lvl6pPr>
              <a:defRPr sz="1500" b="0">
                <a:solidFill>
                  <a:srgbClr val="566760"/>
                </a:solidFill>
                <a:latin typeface="Helvetica Neue"/>
                <a:ea typeface="Helvetica Neue"/>
                <a:cs typeface="Helvetica Neue"/>
              </a:defRPr>
            </a:lvl6pPr>
            <a:lvl7pPr>
              <a:defRPr sz="1500" b="0">
                <a:solidFill>
                  <a:srgbClr val="566760"/>
                </a:solidFill>
                <a:latin typeface="Helvetica Neue"/>
                <a:ea typeface="Helvetica Neue"/>
                <a:cs typeface="Helvetica Neue"/>
              </a:defRPr>
            </a:lvl7pPr>
            <a:lvl8pPr>
              <a:defRPr sz="1500" b="0">
                <a:solidFill>
                  <a:srgbClr val="566760"/>
                </a:solidFill>
                <a:latin typeface="Helvetica Neue"/>
                <a:ea typeface="Helvetica Neue"/>
                <a:cs typeface="Helvetica Neue"/>
              </a:defRPr>
            </a:lvl8pPr>
            <a:lvl9pPr>
              <a:defRPr sz="1500" b="0">
                <a:solidFill>
                  <a:srgbClr val="566760"/>
                </a:solidFill>
                <a:latin typeface="Helvetica Neue"/>
                <a:ea typeface="Helvetica Neue"/>
                <a:cs typeface="Helvetica Neue"/>
              </a:defRPr>
            </a:lvl9pPr>
          </a:lstStyle>
          <a:p xmlns:a="http://schemas.openxmlformats.org/drawingml/2006/main">
            <a:pPr>
              <a:defRPr sz="1500" b="0">
                <a:solidFill>
                  <a:srgbClr val="566760"/>
                </a:solidFill>
                <a:latin typeface="Helvetica Neue"/>
                <a:ea typeface="Helvetica Neue"/>
                <a:cs typeface="Helvetica Neue"/>
              </a:defRPr>
            </a:pPr>
            <a:r>
              <a:rPr sz="1500" b="0">
                <a:solidFill>
                  <a:srgbClr val="566760"/>
                </a:solidFill>
                <a:latin typeface="Helvetica Neue"/>
                <a:ea typeface="Helvetica Neue"/>
                <a:cs typeface="Helvetica Neue"/>
              </a:rPr>
              <a:t>Each query has 2–40 candidates. These measurements do not estimate whole-catalogue search.</a:t>
            </a:r>
          </a:p>
        </p:txBody>
      </p:sp>
    </p:spTree>
    <p:extLst>
      <p:ext uri="{BB962C8B-B14F-4D97-AF65-F5344CB8AC3E}">
        <p14:creationId xmlns:p14="http://schemas.microsoft.com/office/powerpoint/2010/main" val="598240598"/>
      </p:ext>
    </p:extLst>
  </p:cSld>
</p:sld>
</file>

<file path=ppt/slides/slide12.xml><?xml version="1.0" encoding="utf-8"?>
<p:sld xmlns:p="http://schemas.openxmlformats.org/presentationml/2006/main">
  <p:cSld>
    <p:bg>
      <p:bgPr>
        <a:solidFill xmlns:a="http://schemas.openxmlformats.org/drawingml/2006/main">
          <a:srgbClr val="FAF8F3"/>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E6260DD-F8FF-4912-9111-50DF42EBFC6E}"/>
              </a:ext>
            </a:extLst>
          </p:cNvPr>
          <p:cNvSpPr>
            <a:spLocks xmlns:a="http://schemas.openxmlformats.org/drawingml/2006/main" noGrp="1"/>
          </p:cNvSpPr>
          <p:nvPr/>
        </p:nvSpPr>
        <p:spPr>
          <a:xfrm xmlns:a="http://schemas.openxmlformats.org/drawingml/2006/main">
            <a:off x="609600" y="3810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150" b="1">
                <a:solidFill>
                  <a:srgbClr val="17251F"/>
                </a:solidFill>
                <a:latin typeface="Helvetica Neue"/>
                <a:ea typeface="Helvetica Neue"/>
                <a:cs typeface="Helvetica Neue"/>
              </a:defRPr>
            </a:defPPr>
            <a:lvl1pPr>
              <a:defRPr sz="3150" b="1">
                <a:solidFill>
                  <a:srgbClr val="17251F"/>
                </a:solidFill>
                <a:latin typeface="Helvetica Neue"/>
                <a:ea typeface="Helvetica Neue"/>
                <a:cs typeface="Helvetica Neue"/>
              </a:defRPr>
            </a:lvl1pPr>
            <a:lvl2pPr>
              <a:defRPr sz="3150" b="1">
                <a:solidFill>
                  <a:srgbClr val="17251F"/>
                </a:solidFill>
                <a:latin typeface="Helvetica Neue"/>
                <a:ea typeface="Helvetica Neue"/>
                <a:cs typeface="Helvetica Neue"/>
              </a:defRPr>
            </a:lvl2pPr>
            <a:lvl3pPr>
              <a:defRPr sz="3150" b="1">
                <a:solidFill>
                  <a:srgbClr val="17251F"/>
                </a:solidFill>
                <a:latin typeface="Helvetica Neue"/>
                <a:ea typeface="Helvetica Neue"/>
                <a:cs typeface="Helvetica Neue"/>
              </a:defRPr>
            </a:lvl3pPr>
            <a:lvl4pPr>
              <a:defRPr sz="3150" b="1">
                <a:solidFill>
                  <a:srgbClr val="17251F"/>
                </a:solidFill>
                <a:latin typeface="Helvetica Neue"/>
                <a:ea typeface="Helvetica Neue"/>
                <a:cs typeface="Helvetica Neue"/>
              </a:defRPr>
            </a:lvl4pPr>
            <a:lvl5pPr>
              <a:defRPr sz="3150" b="1">
                <a:solidFill>
                  <a:srgbClr val="17251F"/>
                </a:solidFill>
                <a:latin typeface="Helvetica Neue"/>
                <a:ea typeface="Helvetica Neue"/>
                <a:cs typeface="Helvetica Neue"/>
              </a:defRPr>
            </a:lvl5pPr>
            <a:lvl6pPr>
              <a:defRPr sz="3150" b="1">
                <a:solidFill>
                  <a:srgbClr val="17251F"/>
                </a:solidFill>
                <a:latin typeface="Helvetica Neue"/>
                <a:ea typeface="Helvetica Neue"/>
                <a:cs typeface="Helvetica Neue"/>
              </a:defRPr>
            </a:lvl6pPr>
            <a:lvl7pPr>
              <a:defRPr sz="3150" b="1">
                <a:solidFill>
                  <a:srgbClr val="17251F"/>
                </a:solidFill>
                <a:latin typeface="Helvetica Neue"/>
                <a:ea typeface="Helvetica Neue"/>
                <a:cs typeface="Helvetica Neue"/>
              </a:defRPr>
            </a:lvl7pPr>
            <a:lvl8pPr>
              <a:defRPr sz="3150" b="1">
                <a:solidFill>
                  <a:srgbClr val="17251F"/>
                </a:solidFill>
                <a:latin typeface="Helvetica Neue"/>
                <a:ea typeface="Helvetica Neue"/>
                <a:cs typeface="Helvetica Neue"/>
              </a:defRPr>
            </a:lvl8pPr>
            <a:lvl9pPr>
              <a:defRPr sz="3150" b="1">
                <a:solidFill>
                  <a:srgbClr val="17251F"/>
                </a:solidFill>
                <a:latin typeface="Helvetica Neue"/>
                <a:ea typeface="Helvetica Neue"/>
                <a:cs typeface="Helvetica Neue"/>
              </a:defRPr>
            </a:lvl9pPr>
          </a:lstStyle>
          <a:p xmlns:a="http://schemas.openxmlformats.org/drawingml/2006/main">
            <a:pPr>
              <a:defRPr sz="3150" b="1">
                <a:solidFill>
                  <a:srgbClr val="17251F"/>
                </a:solidFill>
                <a:latin typeface="Helvetica Neue"/>
                <a:ea typeface="Helvetica Neue"/>
                <a:cs typeface="Helvetica Neue"/>
              </a:defRPr>
            </a:pPr>
            <a:r>
              <a:rPr sz="3150" b="1">
                <a:solidFill>
                  <a:srgbClr val="17251F"/>
                </a:solidFill>
                <a:latin typeface="Helvetica Neue"/>
                <a:ea typeface="Helvetica Neue"/>
                <a:cs typeface="Helvetica Neue"/>
              </a:rPr>
              <a:t>One request exposes different first results</a:t>
            </a:r>
          </a:p>
        </p:txBody>
      </p:sp>
      <p:sp>
        <p:nvSpPr>
          <p:cNvPr id="2" name="">
            <a:extLst xmlns:a="http://schemas.openxmlformats.org/drawingml/2006/main">
              <a:ext uri="{FF2B5EF4-FFF2-40B4-BE49-F238E27FC236}">
                <a16:creationId xmlns:a16="http://schemas.microsoft.com/office/drawing/2014/main" id="{5FC1D952-F7A7-4C11-BA69-A1D5706EF1CF}"/>
              </a:ext>
            </a:extLst>
          </p:cNvPr>
          <p:cNvSpPr>
            <a:spLocks xmlns:a="http://schemas.openxmlformats.org/drawingml/2006/main" noGrp="1"/>
          </p:cNvSpPr>
          <p:nvPr/>
        </p:nvSpPr>
        <p:spPr>
          <a:xfrm xmlns:a="http://schemas.openxmlformats.org/drawingml/2006/main">
            <a:off x="11106150" y="6457950"/>
            <a:ext cx="47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00" b="0">
                <a:solidFill>
                  <a:srgbClr val="566760"/>
                </a:solidFill>
                <a:latin typeface="Helvetica Neue"/>
                <a:ea typeface="Helvetica Neue"/>
                <a:cs typeface="Helvetica Neue"/>
              </a:defRPr>
            </a:defPPr>
            <a:lvl1pPr algn="r">
              <a:defRPr sz="1200" b="0">
                <a:solidFill>
                  <a:srgbClr val="566760"/>
                </a:solidFill>
                <a:latin typeface="Helvetica Neue"/>
                <a:ea typeface="Helvetica Neue"/>
                <a:cs typeface="Helvetica Neue"/>
              </a:defRPr>
            </a:lvl1pPr>
            <a:lvl2pPr algn="r">
              <a:defRPr sz="1200" b="0">
                <a:solidFill>
                  <a:srgbClr val="566760"/>
                </a:solidFill>
                <a:latin typeface="Helvetica Neue"/>
                <a:ea typeface="Helvetica Neue"/>
                <a:cs typeface="Helvetica Neue"/>
              </a:defRPr>
            </a:lvl2pPr>
            <a:lvl3pPr algn="r">
              <a:defRPr sz="1200" b="0">
                <a:solidFill>
                  <a:srgbClr val="566760"/>
                </a:solidFill>
                <a:latin typeface="Helvetica Neue"/>
                <a:ea typeface="Helvetica Neue"/>
                <a:cs typeface="Helvetica Neue"/>
              </a:defRPr>
            </a:lvl3pPr>
            <a:lvl4pPr algn="r">
              <a:defRPr sz="1200" b="0">
                <a:solidFill>
                  <a:srgbClr val="566760"/>
                </a:solidFill>
                <a:latin typeface="Helvetica Neue"/>
                <a:ea typeface="Helvetica Neue"/>
                <a:cs typeface="Helvetica Neue"/>
              </a:defRPr>
            </a:lvl4pPr>
            <a:lvl5pPr algn="r">
              <a:defRPr sz="1200" b="0">
                <a:solidFill>
                  <a:srgbClr val="566760"/>
                </a:solidFill>
                <a:latin typeface="Helvetica Neue"/>
                <a:ea typeface="Helvetica Neue"/>
                <a:cs typeface="Helvetica Neue"/>
              </a:defRPr>
            </a:lvl5pPr>
            <a:lvl6pPr algn="r">
              <a:defRPr sz="1200" b="0">
                <a:solidFill>
                  <a:srgbClr val="566760"/>
                </a:solidFill>
                <a:latin typeface="Helvetica Neue"/>
                <a:ea typeface="Helvetica Neue"/>
                <a:cs typeface="Helvetica Neue"/>
              </a:defRPr>
            </a:lvl6pPr>
            <a:lvl7pPr algn="r">
              <a:defRPr sz="1200" b="0">
                <a:solidFill>
                  <a:srgbClr val="566760"/>
                </a:solidFill>
                <a:latin typeface="Helvetica Neue"/>
                <a:ea typeface="Helvetica Neue"/>
                <a:cs typeface="Helvetica Neue"/>
              </a:defRPr>
            </a:lvl7pPr>
            <a:lvl8pPr algn="r">
              <a:defRPr sz="1200" b="0">
                <a:solidFill>
                  <a:srgbClr val="566760"/>
                </a:solidFill>
                <a:latin typeface="Helvetica Neue"/>
                <a:ea typeface="Helvetica Neue"/>
                <a:cs typeface="Helvetica Neue"/>
              </a:defRPr>
            </a:lvl8pPr>
            <a:lvl9pPr algn="r">
              <a:defRPr sz="1200" b="0">
                <a:solidFill>
                  <a:srgbClr val="566760"/>
                </a:solidFill>
                <a:latin typeface="Helvetica Neue"/>
                <a:ea typeface="Helvetica Neue"/>
                <a:cs typeface="Helvetica Neue"/>
              </a:defRPr>
            </a:lvl9pPr>
          </a:lstStyle>
          <a:p xmlns:a="http://schemas.openxmlformats.org/drawingml/2006/main">
            <a:pPr algn="r">
              <a:defRPr sz="1200" b="0">
                <a:solidFill>
                  <a:srgbClr val="566760"/>
                </a:solidFill>
                <a:latin typeface="Helvetica Neue"/>
                <a:ea typeface="Helvetica Neue"/>
                <a:cs typeface="Helvetica Neue"/>
              </a:defRPr>
            </a:pPr>
            <a:r>
              <a:rPr sz="1200" b="0">
                <a:solidFill>
                  <a:srgbClr val="566760"/>
                </a:solidFill>
                <a:latin typeface="Helvetica Neue"/>
                <a:ea typeface="Helvetica Neue"/>
                <a:cs typeface="Helvetica Neue"/>
              </a:rPr>
              <a:t>12</a:t>
            </a:r>
          </a:p>
        </p:txBody>
      </p:sp>
      <p:sp>
        <p:nvSpPr>
          <p:cNvPr id="3" name="">
            <a:extLst xmlns:a="http://schemas.openxmlformats.org/drawingml/2006/main">
              <a:ext uri="{FF2B5EF4-FFF2-40B4-BE49-F238E27FC236}">
                <a16:creationId xmlns:a16="http://schemas.microsoft.com/office/drawing/2014/main" id="{E4EDBDB0-7E71-43B8-A60A-6894D7F319AA}"/>
              </a:ext>
            </a:extLst>
          </p:cNvPr>
          <p:cNvSpPr>
            <a:spLocks xmlns:a="http://schemas.openxmlformats.org/drawingml/2006/main" noGrp="1"/>
          </p:cNvSpPr>
          <p:nvPr/>
        </p:nvSpPr>
        <p:spPr>
          <a:xfrm xmlns:a="http://schemas.openxmlformats.org/drawingml/2006/main">
            <a:off x="628650" y="1133475"/>
            <a:ext cx="10906125"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00" b="0">
                <a:solidFill>
                  <a:srgbClr val="17251F"/>
                </a:solidFill>
                <a:latin typeface="Helvetica Neue"/>
                <a:ea typeface="Helvetica Neue"/>
                <a:cs typeface="Helvetica Neue"/>
              </a:defRPr>
            </a:defPPr>
            <a:lvl1pPr>
              <a:defRPr sz="2100" b="0">
                <a:solidFill>
                  <a:srgbClr val="17251F"/>
                </a:solidFill>
                <a:latin typeface="Helvetica Neue"/>
                <a:ea typeface="Helvetica Neue"/>
                <a:cs typeface="Helvetica Neue"/>
              </a:defRPr>
            </a:lvl1pPr>
            <a:lvl2pPr>
              <a:defRPr sz="2100" b="0">
                <a:solidFill>
                  <a:srgbClr val="17251F"/>
                </a:solidFill>
                <a:latin typeface="Helvetica Neue"/>
                <a:ea typeface="Helvetica Neue"/>
                <a:cs typeface="Helvetica Neue"/>
              </a:defRPr>
            </a:lvl2pPr>
            <a:lvl3pPr>
              <a:defRPr sz="2100" b="0">
                <a:solidFill>
                  <a:srgbClr val="17251F"/>
                </a:solidFill>
                <a:latin typeface="Helvetica Neue"/>
                <a:ea typeface="Helvetica Neue"/>
                <a:cs typeface="Helvetica Neue"/>
              </a:defRPr>
            </a:lvl3pPr>
            <a:lvl4pPr>
              <a:defRPr sz="2100" b="0">
                <a:solidFill>
                  <a:srgbClr val="17251F"/>
                </a:solidFill>
                <a:latin typeface="Helvetica Neue"/>
                <a:ea typeface="Helvetica Neue"/>
                <a:cs typeface="Helvetica Neue"/>
              </a:defRPr>
            </a:lvl4pPr>
            <a:lvl5pPr>
              <a:defRPr sz="2100" b="0">
                <a:solidFill>
                  <a:srgbClr val="17251F"/>
                </a:solidFill>
                <a:latin typeface="Helvetica Neue"/>
                <a:ea typeface="Helvetica Neue"/>
                <a:cs typeface="Helvetica Neue"/>
              </a:defRPr>
            </a:lvl5pPr>
            <a:lvl6pPr>
              <a:defRPr sz="2100" b="0">
                <a:solidFill>
                  <a:srgbClr val="17251F"/>
                </a:solidFill>
                <a:latin typeface="Helvetica Neue"/>
                <a:ea typeface="Helvetica Neue"/>
                <a:cs typeface="Helvetica Neue"/>
              </a:defRPr>
            </a:lvl6pPr>
            <a:lvl7pPr>
              <a:defRPr sz="2100" b="0">
                <a:solidFill>
                  <a:srgbClr val="17251F"/>
                </a:solidFill>
                <a:latin typeface="Helvetica Neue"/>
                <a:ea typeface="Helvetica Neue"/>
                <a:cs typeface="Helvetica Neue"/>
              </a:defRPr>
            </a:lvl7pPr>
            <a:lvl8pPr>
              <a:defRPr sz="2100" b="0">
                <a:solidFill>
                  <a:srgbClr val="17251F"/>
                </a:solidFill>
                <a:latin typeface="Helvetica Neue"/>
                <a:ea typeface="Helvetica Neue"/>
                <a:cs typeface="Helvetica Neue"/>
              </a:defRPr>
            </a:lvl8pPr>
            <a:lvl9pPr>
              <a:defRPr sz="2100" b="0">
                <a:solidFill>
                  <a:srgbClr val="17251F"/>
                </a:solidFill>
                <a:latin typeface="Helvetica Neue"/>
                <a:ea typeface="Helvetica Neue"/>
                <a:cs typeface="Helvetica Neue"/>
              </a:defRPr>
            </a:lvl9pPr>
          </a:lstStyle>
          <a:p xmlns:a="http://schemas.openxmlformats.org/drawingml/2006/main">
            <a:pPr>
              <a:defRPr sz="2100" b="0">
                <a:solidFill>
                  <a:srgbClr val="17251F"/>
                </a:solidFill>
                <a:latin typeface="Helvetica Neue"/>
                <a:ea typeface="Helvetica Neue"/>
                <a:cs typeface="Helvetica Neue"/>
              </a:defRPr>
            </a:pPr>
            <a:r>
              <a:rPr sz="2100" b="0">
                <a:solidFill>
                  <a:srgbClr val="17251F"/>
                </a:solidFill>
                <a:latin typeface="Helvetica Neue"/>
                <a:ea typeface="Helvetica Neue"/>
                <a:cs typeface="Helvetica Neue"/>
              </a:rPr>
              <a:t>“I would want a light weight protable laptop with a graphics card and alot of memory”</a:t>
            </a:r>
          </a:p>
        </p:txBody>
      </p:sp>
      <p:graphicFrame>
        <p:nvGraphicFramePr>
          <p:cNvPr id="4" name="">
            <a:extLst xmlns:a="http://schemas.openxmlformats.org/drawingml/2006/main">
              <a:ext uri="{FF2B5EF4-FFF2-40B4-BE49-F238E27FC236}">
                <a16:creationId xmlns:a16="http://schemas.microsoft.com/office/drawing/2014/main" id="{8CBF8C53-7A49-4F3A-A878-1B1D468D25EE}"/>
              </a:ext>
            </a:extLst>
          </p:cNvPr>
          <p:cNvGraphicFramePr/>
          <p:nvPr/>
        </p:nvGraphicFramePr>
        <p:xfrm>
          <a:off xmlns:a="http://schemas.openxmlformats.org/drawingml/2006/main" x="609600" y="2247900"/>
          <a:ext xmlns:a="http://schemas.openxmlformats.org/drawingml/2006/main" cx="10972800" cy="3028950"/>
        </p:xfrm>
        <a:graphic xmlns:a="http://schemas.openxmlformats.org/drawingml/2006/main">
          <a:graphicData uri="http://schemas.openxmlformats.org/drawingml/2006/table">
            <a:tbl>
              <a:tblPr/>
              <a:tblGrid>
                <a:gridCol w="1619250"/>
                <a:gridCol w="6877050"/>
                <a:gridCol w="857250"/>
                <a:gridCol w="1619250"/>
              </a:tblGrid>
              <a:tr h="605790">
                <a:tc>
                  <a:txBody>
                    <a:bodyPr/>
                    <a:lstStyle/>
                    <a:p>
                      <a:r>
                        <a:rPr sz="1650" b="1">
                          <a:solidFill>
                            <a:srgbClr val="FFFFFF"/>
                          </a:solidFill>
                          <a:latin typeface="Helvetica Neue"/>
                          <a:ea typeface="Helvetica Neue"/>
                          <a:cs typeface="Helvetica Neue"/>
                        </a:rPr>
                        <a:t>Method</a:t>
                      </a:r>
                    </a:p>
                  </a:txBody>
                  <a:tcPr marL="133350" marR="133350" marT="57150" marB="38100" anchor="t">
                    <a:lnL w="9525">
                      <a:solidFill>
                        <a:srgbClr val="E3E8E2"/>
                      </a:solidFill>
                      <a:prstDash val="solid"/>
                    </a:lnL>
                    <a:lnR w="9525">
                      <a:solidFill>
                        <a:srgbClr val="E3E8E2"/>
                      </a:solidFill>
                      <a:prstDash val="solid"/>
                    </a:lnR>
                    <a:lnT w="9525">
                      <a:solidFill>
                        <a:srgbClr val="E3E8E2"/>
                      </a:solidFill>
                      <a:prstDash val="solid"/>
                    </a:lnT>
                    <a:lnB w="9525">
                      <a:solidFill>
                        <a:srgbClr val="E3E8E2"/>
                      </a:solidFill>
                      <a:prstDash val="solid"/>
                    </a:lnB>
                    <a:solidFill>
                      <a:srgbClr val="17251F"/>
                    </a:solidFill>
                  </a:tcPr>
                </a:tc>
                <a:tc>
                  <a:txBody>
                    <a:bodyPr/>
                    <a:lstStyle/>
                    <a:p>
                      <a:r>
                        <a:rPr sz="1650" b="1">
                          <a:solidFill>
                            <a:srgbClr val="FFFFFF"/>
                          </a:solidFill>
                          <a:latin typeface="Helvetica Neue"/>
                          <a:ea typeface="Helvetica Neue"/>
                          <a:cs typeface="Helvetica Neue"/>
                        </a:rPr>
                        <a:t>Actual rank 1 title</a:t>
                      </a:r>
                    </a:p>
                  </a:txBody>
                  <a:tcPr marL="133350" marR="133350" marT="57150" marB="38100" anchor="t">
                    <a:lnR w="9525">
                      <a:solidFill>
                        <a:srgbClr val="E3E8E2"/>
                      </a:solidFill>
                      <a:prstDash val="solid"/>
                    </a:lnR>
                    <a:lnT w="9525">
                      <a:solidFill>
                        <a:srgbClr val="E3E8E2"/>
                      </a:solidFill>
                      <a:prstDash val="solid"/>
                    </a:lnT>
                    <a:lnB w="9525">
                      <a:solidFill>
                        <a:srgbClr val="E3E8E2"/>
                      </a:solidFill>
                      <a:prstDash val="solid"/>
                    </a:lnB>
                    <a:solidFill>
                      <a:srgbClr val="17251F"/>
                    </a:solidFill>
                  </a:tcPr>
                </a:tc>
                <a:tc>
                  <a:txBody>
                    <a:bodyPr/>
                    <a:lstStyle/>
                    <a:p>
                      <a:r>
                        <a:rPr sz="1650" b="1">
                          <a:solidFill>
                            <a:srgbClr val="FFFFFF"/>
                          </a:solidFill>
                          <a:latin typeface="Helvetica Neue"/>
                          <a:ea typeface="Helvetica Neue"/>
                          <a:cs typeface="Helvetica Neue"/>
                        </a:rPr>
                        <a:t>Label</a:t>
                      </a:r>
                    </a:p>
                  </a:txBody>
                  <a:tcPr marL="133350" marR="133350" marT="57150" marB="38100" anchor="t">
                    <a:lnR w="9525">
                      <a:solidFill>
                        <a:srgbClr val="E3E8E2"/>
                      </a:solidFill>
                      <a:prstDash val="solid"/>
                    </a:lnR>
                    <a:lnT w="9525">
                      <a:solidFill>
                        <a:srgbClr val="E3E8E2"/>
                      </a:solidFill>
                      <a:prstDash val="solid"/>
                    </a:lnT>
                    <a:lnB w="9525">
                      <a:solidFill>
                        <a:srgbClr val="E3E8E2"/>
                      </a:solidFill>
                      <a:prstDash val="solid"/>
                    </a:lnB>
                    <a:solidFill>
                      <a:srgbClr val="17251F"/>
                    </a:solidFill>
                  </a:tcPr>
                </a:tc>
                <a:tc>
                  <a:txBody>
                    <a:bodyPr/>
                    <a:lstStyle/>
                    <a:p>
                      <a:r>
                        <a:rPr sz="1650" b="1">
                          <a:solidFill>
                            <a:srgbClr val="FFFFFF"/>
                          </a:solidFill>
                          <a:latin typeface="Helvetica Neue"/>
                          <a:ea typeface="Helvetica Neue"/>
                          <a:cs typeface="Helvetica Neue"/>
                        </a:rPr>
                        <a:t>First E</a:t>
                      </a:r>
                    </a:p>
                  </a:txBody>
                  <a:tcPr marL="133350" marR="133350" marT="57150" marB="38100" anchor="t">
                    <a:lnR w="9525">
                      <a:solidFill>
                        <a:srgbClr val="E3E8E2"/>
                      </a:solidFill>
                      <a:prstDash val="solid"/>
                    </a:lnR>
                    <a:lnT w="9525">
                      <a:solidFill>
                        <a:srgbClr val="E3E8E2"/>
                      </a:solidFill>
                      <a:prstDash val="solid"/>
                    </a:lnT>
                    <a:lnB w="9525">
                      <a:solidFill>
                        <a:srgbClr val="E3E8E2"/>
                      </a:solidFill>
                      <a:prstDash val="solid"/>
                    </a:lnB>
                    <a:solidFill>
                      <a:srgbClr val="17251F"/>
                    </a:solidFill>
                  </a:tcPr>
                </a:tc>
              </a:tr>
              <a:tr h="605790">
                <a:tc>
                  <a:txBody>
                    <a:bodyPr/>
                    <a:lstStyle/>
                    <a:p>
                      <a:r>
                        <a:rPr sz="1650" b="0">
                          <a:solidFill>
                            <a:srgbClr val="17251F"/>
                          </a:solidFill>
                          <a:latin typeface="Helvetica Neue"/>
                          <a:ea typeface="Helvetica Neue"/>
                          <a:cs typeface="Helvetica Neue"/>
                        </a:rPr>
                        <a:t>TF-IDF</a:t>
                      </a:r>
                    </a:p>
                  </a:txBody>
                  <a:tcPr marL="133350" marR="133350" marT="57150" marB="38100" anchor="t">
                    <a:lnL w="9525">
                      <a:solidFill>
                        <a:srgbClr val="E3E8E2"/>
                      </a:solidFill>
                      <a:prstDash val="solid"/>
                    </a:lnL>
                    <a:lnR w="9525">
                      <a:solidFill>
                        <a:srgbClr val="E3E8E2"/>
                      </a:solidFill>
                      <a:prstDash val="solid"/>
                    </a:lnR>
                    <a:lnB w="9525">
                      <a:solidFill>
                        <a:srgbClr val="E3E8E2"/>
                      </a:solidFill>
                      <a:prstDash val="solid"/>
                    </a:lnB>
                    <a:solidFill>
                      <a:srgbClr val="FAF8F3"/>
                    </a:solidFill>
                  </a:tcPr>
                </a:tc>
                <a:tc>
                  <a:txBody>
                    <a:bodyPr/>
                    <a:lstStyle/>
                    <a:p>
                      <a:r>
                        <a:rPr sz="1650" b="0">
                          <a:solidFill>
                            <a:srgbClr val="17251F"/>
                          </a:solidFill>
                          <a:latin typeface="Helvetica Neue"/>
                          <a:ea typeface="Helvetica Neue"/>
                          <a:cs typeface="Helvetica Neue"/>
                        </a:rPr>
                        <a:t>2021 HP Stream 14" HD Laptop Light-Weight, Intel N4020 (Up tp 2.8GHz), 4GB RAM, 64GB eMMC, Webca…</a:t>
                      </a:r>
                    </a:p>
                  </a:txBody>
                  <a:tcPr marL="133350" marR="133350" marT="57150" marB="38100" anchor="t">
                    <a:lnR w="9525">
                      <a:solidFill>
                        <a:srgbClr val="E3E8E2"/>
                      </a:solidFill>
                      <a:prstDash val="solid"/>
                    </a:lnR>
                    <a:lnB w="9525">
                      <a:solidFill>
                        <a:srgbClr val="E3E8E2"/>
                      </a:solidFill>
                      <a:prstDash val="solid"/>
                    </a:lnB>
                    <a:solidFill>
                      <a:srgbClr val="FAF8F3"/>
                    </a:solidFill>
                  </a:tcPr>
                </a:tc>
                <a:tc>
                  <a:txBody>
                    <a:bodyPr/>
                    <a:lstStyle/>
                    <a:p>
                      <a:r>
                        <a:rPr sz="1650" b="0">
                          <a:solidFill>
                            <a:srgbClr val="17251F"/>
                          </a:solidFill>
                          <a:latin typeface="Helvetica Neue"/>
                          <a:ea typeface="Helvetica Neue"/>
                          <a:cs typeface="Helvetica Neue"/>
                        </a:rPr>
                        <a:t>E</a:t>
                      </a:r>
                    </a:p>
                  </a:txBody>
                  <a:tcPr marL="133350" marR="133350" marT="57150" marB="38100" anchor="t">
                    <a:lnR w="9525">
                      <a:solidFill>
                        <a:srgbClr val="E3E8E2"/>
                      </a:solidFill>
                      <a:prstDash val="solid"/>
                    </a:lnR>
                    <a:lnB w="9525">
                      <a:solidFill>
                        <a:srgbClr val="E3E8E2"/>
                      </a:solidFill>
                      <a:prstDash val="solid"/>
                    </a:lnB>
                    <a:solidFill>
                      <a:srgbClr val="FAF8F3"/>
                    </a:solidFill>
                  </a:tcPr>
                </a:tc>
                <a:tc>
                  <a:txBody>
                    <a:bodyPr/>
                    <a:lstStyle/>
                    <a:p>
                      <a:r>
                        <a:rPr sz="1650" b="0">
                          <a:solidFill>
                            <a:srgbClr val="17251F"/>
                          </a:solidFill>
                          <a:latin typeface="Helvetica Neue"/>
                          <a:ea typeface="Helvetica Neue"/>
                          <a:cs typeface="Helvetica Neue"/>
                        </a:rPr>
                        <a:t>1</a:t>
                      </a:r>
                    </a:p>
                  </a:txBody>
                  <a:tcPr marL="133350" marR="133350" marT="57150" marB="38100" anchor="t">
                    <a:lnR w="9525">
                      <a:solidFill>
                        <a:srgbClr val="E3E8E2"/>
                      </a:solidFill>
                      <a:prstDash val="solid"/>
                    </a:lnR>
                    <a:lnB w="9525">
                      <a:solidFill>
                        <a:srgbClr val="E3E8E2"/>
                      </a:solidFill>
                      <a:prstDash val="solid"/>
                    </a:lnB>
                    <a:solidFill>
                      <a:srgbClr val="FAF8F3"/>
                    </a:solidFill>
                  </a:tcPr>
                </a:tc>
              </a:tr>
              <a:tr h="605790">
                <a:tc>
                  <a:txBody>
                    <a:bodyPr/>
                    <a:lstStyle/>
                    <a:p>
                      <a:r>
                        <a:rPr sz="1650" b="0">
                          <a:solidFill>
                            <a:srgbClr val="17251F"/>
                          </a:solidFill>
                          <a:latin typeface="Helvetica Neue"/>
                          <a:ea typeface="Helvetica Neue"/>
                          <a:cs typeface="Helvetica Neue"/>
                        </a:rPr>
                        <a:t>Frozen</a:t>
                      </a:r>
                    </a:p>
                  </a:txBody>
                  <a:tcPr marL="133350" marR="133350" marT="57150" marB="38100" anchor="t">
                    <a:lnL w="9525">
                      <a:solidFill>
                        <a:srgbClr val="E3E8E2"/>
                      </a:solidFill>
                      <a:prstDash val="solid"/>
                    </a:lnL>
                    <a:lnR w="9525">
                      <a:solidFill>
                        <a:srgbClr val="E3E8E2"/>
                      </a:solidFill>
                      <a:prstDash val="solid"/>
                    </a:lnR>
                    <a:lnB w="9525">
                      <a:solidFill>
                        <a:srgbClr val="E3E8E2"/>
                      </a:solidFill>
                      <a:prstDash val="solid"/>
                    </a:lnB>
                    <a:solidFill>
                      <a:srgbClr val="FAF8F3"/>
                    </a:solidFill>
                  </a:tcPr>
                </a:tc>
                <a:tc>
                  <a:txBody>
                    <a:bodyPr/>
                    <a:lstStyle/>
                    <a:p>
                      <a:r>
                        <a:rPr sz="1650" b="0">
                          <a:solidFill>
                            <a:srgbClr val="17251F"/>
                          </a:solidFill>
                          <a:latin typeface="Helvetica Neue"/>
                          <a:ea typeface="Helvetica Neue"/>
                          <a:cs typeface="Helvetica Neue"/>
                        </a:rPr>
                        <a:t>Windows 10 Laptop 13.3" Full HD 1920 x 1080, Light Laptop Computer 4GB RAM, Dual Band 5GHz WiFi …</a:t>
                      </a:r>
                    </a:p>
                  </a:txBody>
                  <a:tcPr marL="133350" marR="133350" marT="57150" marB="38100" anchor="t">
                    <a:lnR w="9525">
                      <a:solidFill>
                        <a:srgbClr val="E3E8E2"/>
                      </a:solidFill>
                      <a:prstDash val="solid"/>
                    </a:lnR>
                    <a:lnB w="9525">
                      <a:solidFill>
                        <a:srgbClr val="E3E8E2"/>
                      </a:solidFill>
                      <a:prstDash val="solid"/>
                    </a:lnB>
                    <a:solidFill>
                      <a:srgbClr val="FAF8F3"/>
                    </a:solidFill>
                  </a:tcPr>
                </a:tc>
                <a:tc>
                  <a:txBody>
                    <a:bodyPr/>
                    <a:lstStyle/>
                    <a:p>
                      <a:r>
                        <a:rPr sz="1650" b="0">
                          <a:solidFill>
                            <a:srgbClr val="17251F"/>
                          </a:solidFill>
                          <a:latin typeface="Helvetica Neue"/>
                          <a:ea typeface="Helvetica Neue"/>
                          <a:cs typeface="Helvetica Neue"/>
                        </a:rPr>
                        <a:t>E</a:t>
                      </a:r>
                    </a:p>
                  </a:txBody>
                  <a:tcPr marL="133350" marR="133350" marT="57150" marB="38100" anchor="t">
                    <a:lnR w="9525">
                      <a:solidFill>
                        <a:srgbClr val="E3E8E2"/>
                      </a:solidFill>
                      <a:prstDash val="solid"/>
                    </a:lnR>
                    <a:lnB w="9525">
                      <a:solidFill>
                        <a:srgbClr val="E3E8E2"/>
                      </a:solidFill>
                      <a:prstDash val="solid"/>
                    </a:lnB>
                    <a:solidFill>
                      <a:srgbClr val="FAF8F3"/>
                    </a:solidFill>
                  </a:tcPr>
                </a:tc>
                <a:tc>
                  <a:txBody>
                    <a:bodyPr/>
                    <a:lstStyle/>
                    <a:p>
                      <a:r>
                        <a:rPr sz="1650" b="0">
                          <a:solidFill>
                            <a:srgbClr val="17251F"/>
                          </a:solidFill>
                          <a:latin typeface="Helvetica Neue"/>
                          <a:ea typeface="Helvetica Neue"/>
                          <a:cs typeface="Helvetica Neue"/>
                        </a:rPr>
                        <a:t>1</a:t>
                      </a:r>
                    </a:p>
                  </a:txBody>
                  <a:tcPr marL="133350" marR="133350" marT="57150" marB="38100" anchor="t">
                    <a:lnR w="9525">
                      <a:solidFill>
                        <a:srgbClr val="E3E8E2"/>
                      </a:solidFill>
                      <a:prstDash val="solid"/>
                    </a:lnR>
                    <a:lnB w="9525">
                      <a:solidFill>
                        <a:srgbClr val="E3E8E2"/>
                      </a:solidFill>
                      <a:prstDash val="solid"/>
                    </a:lnB>
                    <a:solidFill>
                      <a:srgbClr val="FAF8F3"/>
                    </a:solidFill>
                  </a:tcPr>
                </a:tc>
              </a:tr>
              <a:tr h="605790">
                <a:tc>
                  <a:txBody>
                    <a:bodyPr/>
                    <a:lstStyle/>
                    <a:p>
                      <a:r>
                        <a:rPr sz="1650" b="0">
                          <a:solidFill>
                            <a:srgbClr val="17251F"/>
                          </a:solidFill>
                          <a:latin typeface="Helvetica Neue"/>
                          <a:ea typeface="Helvetica Neue"/>
                          <a:cs typeface="Helvetica Neue"/>
                        </a:rPr>
                        <a:t>Semantic</a:t>
                      </a:r>
                    </a:p>
                  </a:txBody>
                  <a:tcPr marL="133350" marR="133350" marT="57150" marB="38100" anchor="t">
                    <a:lnL w="9525">
                      <a:solidFill>
                        <a:srgbClr val="E3E8E2"/>
                      </a:solidFill>
                      <a:prstDash val="solid"/>
                    </a:lnL>
                    <a:lnR w="9525">
                      <a:solidFill>
                        <a:srgbClr val="E3E8E2"/>
                      </a:solidFill>
                      <a:prstDash val="solid"/>
                    </a:lnR>
                    <a:lnB w="9525">
                      <a:solidFill>
                        <a:srgbClr val="E3E8E2"/>
                      </a:solidFill>
                      <a:prstDash val="solid"/>
                    </a:lnB>
                    <a:solidFill>
                      <a:srgbClr val="FAF8F3"/>
                    </a:solidFill>
                  </a:tcPr>
                </a:tc>
                <a:tc>
                  <a:txBody>
                    <a:bodyPr/>
                    <a:lstStyle/>
                    <a:p>
                      <a:r>
                        <a:rPr sz="1650" b="0">
                          <a:solidFill>
                            <a:srgbClr val="17251F"/>
                          </a:solidFill>
                          <a:latin typeface="Helvetica Neue"/>
                          <a:ea typeface="Helvetica Neue"/>
                          <a:cs typeface="Helvetica Neue"/>
                        </a:rPr>
                        <a:t>Acer Aspire 5 Slim Laptop, 15.6 inches Full HD IPS Display, AMD Ryzen 3 3200U, Vega 3 Graphics, …</a:t>
                      </a:r>
                    </a:p>
                  </a:txBody>
                  <a:tcPr marL="133350" marR="133350" marT="57150" marB="38100" anchor="t">
                    <a:lnR w="9525">
                      <a:solidFill>
                        <a:srgbClr val="E3E8E2"/>
                      </a:solidFill>
                      <a:prstDash val="solid"/>
                    </a:lnR>
                    <a:lnB w="9525">
                      <a:solidFill>
                        <a:srgbClr val="E3E8E2"/>
                      </a:solidFill>
                      <a:prstDash val="solid"/>
                    </a:lnB>
                    <a:solidFill>
                      <a:srgbClr val="FAF8F3"/>
                    </a:solidFill>
                  </a:tcPr>
                </a:tc>
                <a:tc>
                  <a:txBody>
                    <a:bodyPr/>
                    <a:lstStyle/>
                    <a:p>
                      <a:r>
                        <a:rPr sz="1650" b="0">
                          <a:solidFill>
                            <a:srgbClr val="17251F"/>
                          </a:solidFill>
                          <a:latin typeface="Helvetica Neue"/>
                          <a:ea typeface="Helvetica Neue"/>
                          <a:cs typeface="Helvetica Neue"/>
                        </a:rPr>
                        <a:t>S</a:t>
                      </a:r>
                    </a:p>
                  </a:txBody>
                  <a:tcPr marL="133350" marR="133350" marT="57150" marB="38100" anchor="t">
                    <a:lnR w="9525">
                      <a:solidFill>
                        <a:srgbClr val="E3E8E2"/>
                      </a:solidFill>
                      <a:prstDash val="solid"/>
                    </a:lnR>
                    <a:lnB w="9525">
                      <a:solidFill>
                        <a:srgbClr val="E3E8E2"/>
                      </a:solidFill>
                      <a:prstDash val="solid"/>
                    </a:lnB>
                    <a:solidFill>
                      <a:srgbClr val="FAF8F3"/>
                    </a:solidFill>
                  </a:tcPr>
                </a:tc>
                <a:tc>
                  <a:txBody>
                    <a:bodyPr/>
                    <a:lstStyle/>
                    <a:p>
                      <a:r>
                        <a:rPr sz="1650" b="0">
                          <a:solidFill>
                            <a:srgbClr val="17251F"/>
                          </a:solidFill>
                          <a:latin typeface="Helvetica Neue"/>
                          <a:ea typeface="Helvetica Neue"/>
                          <a:cs typeface="Helvetica Neue"/>
                        </a:rPr>
                        <a:t>2</a:t>
                      </a:r>
                    </a:p>
                  </a:txBody>
                  <a:tcPr marL="133350" marR="133350" marT="57150" marB="38100" anchor="t">
                    <a:lnR w="9525">
                      <a:solidFill>
                        <a:srgbClr val="E3E8E2"/>
                      </a:solidFill>
                      <a:prstDash val="solid"/>
                    </a:lnR>
                    <a:lnB w="9525">
                      <a:solidFill>
                        <a:srgbClr val="E3E8E2"/>
                      </a:solidFill>
                      <a:prstDash val="solid"/>
                    </a:lnB>
                    <a:solidFill>
                      <a:srgbClr val="FAF8F3"/>
                    </a:solidFill>
                  </a:tcPr>
                </a:tc>
              </a:tr>
              <a:tr h="605790">
                <a:tc>
                  <a:txBody>
                    <a:bodyPr/>
                    <a:lstStyle/>
                    <a:p>
                      <a:r>
                        <a:rPr sz="1650" b="0">
                          <a:solidFill>
                            <a:srgbClr val="17251F"/>
                          </a:solidFill>
                          <a:latin typeface="Helvetica Neue"/>
                          <a:ea typeface="Helvetica Neue"/>
                          <a:cs typeface="Helvetica Neue"/>
                        </a:rPr>
                        <a:t>Preference</a:t>
                      </a:r>
                    </a:p>
                  </a:txBody>
                  <a:tcPr marL="133350" marR="133350" marT="57150" marB="38100" anchor="t">
                    <a:lnL w="9525">
                      <a:solidFill>
                        <a:srgbClr val="E3E8E2"/>
                      </a:solidFill>
                      <a:prstDash val="solid"/>
                    </a:lnL>
                    <a:lnR w="9525">
                      <a:solidFill>
                        <a:srgbClr val="E3E8E2"/>
                      </a:solidFill>
                      <a:prstDash val="solid"/>
                    </a:lnR>
                    <a:lnB w="9525">
                      <a:solidFill>
                        <a:srgbClr val="E3E8E2"/>
                      </a:solidFill>
                      <a:prstDash val="solid"/>
                    </a:lnB>
                    <a:solidFill>
                      <a:srgbClr val="FAF8F3"/>
                    </a:solidFill>
                  </a:tcPr>
                </a:tc>
                <a:tc>
                  <a:txBody>
                    <a:bodyPr/>
                    <a:lstStyle/>
                    <a:p>
                      <a:r>
                        <a:rPr sz="1650" b="0">
                          <a:solidFill>
                            <a:srgbClr val="17251F"/>
                          </a:solidFill>
                          <a:latin typeface="Helvetica Neue"/>
                          <a:ea typeface="Helvetica Neue"/>
                          <a:cs typeface="Helvetica Neue"/>
                        </a:rPr>
                        <a:t>Windows 10 Laptop 13.3" Full HD 1920 x 1080, Light Laptop Computer 4GB RAM, Dual Band 5GHz WiFi …</a:t>
                      </a:r>
                    </a:p>
                  </a:txBody>
                  <a:tcPr marL="133350" marR="133350" marT="57150" marB="38100" anchor="t">
                    <a:lnR w="9525">
                      <a:solidFill>
                        <a:srgbClr val="E3E8E2"/>
                      </a:solidFill>
                      <a:prstDash val="solid"/>
                    </a:lnR>
                    <a:lnB w="9525">
                      <a:solidFill>
                        <a:srgbClr val="E3E8E2"/>
                      </a:solidFill>
                      <a:prstDash val="solid"/>
                    </a:lnB>
                    <a:solidFill>
                      <a:srgbClr val="FAF8F3"/>
                    </a:solidFill>
                  </a:tcPr>
                </a:tc>
                <a:tc>
                  <a:txBody>
                    <a:bodyPr/>
                    <a:lstStyle/>
                    <a:p>
                      <a:r>
                        <a:rPr sz="1650" b="0">
                          <a:solidFill>
                            <a:srgbClr val="17251F"/>
                          </a:solidFill>
                          <a:latin typeface="Helvetica Neue"/>
                          <a:ea typeface="Helvetica Neue"/>
                          <a:cs typeface="Helvetica Neue"/>
                        </a:rPr>
                        <a:t>E</a:t>
                      </a:r>
                    </a:p>
                  </a:txBody>
                  <a:tcPr marL="133350" marR="133350" marT="57150" marB="38100" anchor="t">
                    <a:lnR w="9525">
                      <a:solidFill>
                        <a:srgbClr val="E3E8E2"/>
                      </a:solidFill>
                      <a:prstDash val="solid"/>
                    </a:lnR>
                    <a:lnB w="9525">
                      <a:solidFill>
                        <a:srgbClr val="E3E8E2"/>
                      </a:solidFill>
                      <a:prstDash val="solid"/>
                    </a:lnB>
                    <a:solidFill>
                      <a:srgbClr val="FAF8F3"/>
                    </a:solidFill>
                  </a:tcPr>
                </a:tc>
                <a:tc>
                  <a:txBody>
                    <a:bodyPr/>
                    <a:lstStyle/>
                    <a:p>
                      <a:r>
                        <a:rPr sz="1650" b="0">
                          <a:solidFill>
                            <a:srgbClr val="17251F"/>
                          </a:solidFill>
                          <a:latin typeface="Helvetica Neue"/>
                          <a:ea typeface="Helvetica Neue"/>
                          <a:cs typeface="Helvetica Neue"/>
                        </a:rPr>
                        <a:t>1</a:t>
                      </a:r>
                    </a:p>
                  </a:txBody>
                  <a:tcPr marL="133350" marR="133350" marT="57150" marB="38100" anchor="t">
                    <a:lnR w="9525">
                      <a:solidFill>
                        <a:srgbClr val="E3E8E2"/>
                      </a:solidFill>
                      <a:prstDash val="solid"/>
                    </a:lnR>
                    <a:lnB w="9525">
                      <a:solidFill>
                        <a:srgbClr val="E3E8E2"/>
                      </a:solidFill>
                      <a:prstDash val="solid"/>
                    </a:lnB>
                    <a:solidFill>
                      <a:srgbClr val="FAF8F3"/>
                    </a:solidFill>
                  </a:tcPr>
                </a:tc>
              </a:tr>
            </a:tbl>
          </a:graphicData>
        </a:graphic>
      </p:graphicFrame>
      <p:sp>
        <p:nvSpPr>
          <p:cNvPr id="5" name="">
            <a:extLst xmlns:a="http://schemas.openxmlformats.org/drawingml/2006/main">
              <a:ext uri="{FF2B5EF4-FFF2-40B4-BE49-F238E27FC236}">
                <a16:creationId xmlns:a16="http://schemas.microsoft.com/office/drawing/2014/main" id="{4CDE2BE4-C628-4C3A-B53C-B367556AA413}"/>
              </a:ext>
            </a:extLst>
          </p:cNvPr>
          <p:cNvSpPr>
            <a:spLocks xmlns:a="http://schemas.openxmlformats.org/drawingml/2006/main" noGrp="1"/>
          </p:cNvSpPr>
          <p:nvPr/>
        </p:nvSpPr>
        <p:spPr>
          <a:xfrm xmlns:a="http://schemas.openxmlformats.org/drawingml/2006/main">
            <a:off x="628650" y="5600700"/>
            <a:ext cx="10572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75" b="0">
                <a:solidFill>
                  <a:srgbClr val="087E80"/>
                </a:solidFill>
                <a:latin typeface="Helvetica Neue"/>
                <a:ea typeface="Helvetica Neue"/>
                <a:cs typeface="Helvetica Neue"/>
              </a:defRPr>
            </a:defPPr>
            <a:lvl1pPr>
              <a:defRPr sz="1875" b="0">
                <a:solidFill>
                  <a:srgbClr val="087E80"/>
                </a:solidFill>
                <a:latin typeface="Helvetica Neue"/>
                <a:ea typeface="Helvetica Neue"/>
                <a:cs typeface="Helvetica Neue"/>
              </a:defRPr>
            </a:lvl1pPr>
            <a:lvl2pPr>
              <a:defRPr sz="1875" b="0">
                <a:solidFill>
                  <a:srgbClr val="087E80"/>
                </a:solidFill>
                <a:latin typeface="Helvetica Neue"/>
                <a:ea typeface="Helvetica Neue"/>
                <a:cs typeface="Helvetica Neue"/>
              </a:defRPr>
            </a:lvl2pPr>
            <a:lvl3pPr>
              <a:defRPr sz="1875" b="0">
                <a:solidFill>
                  <a:srgbClr val="087E80"/>
                </a:solidFill>
                <a:latin typeface="Helvetica Neue"/>
                <a:ea typeface="Helvetica Neue"/>
                <a:cs typeface="Helvetica Neue"/>
              </a:defRPr>
            </a:lvl3pPr>
            <a:lvl4pPr>
              <a:defRPr sz="1875" b="0">
                <a:solidFill>
                  <a:srgbClr val="087E80"/>
                </a:solidFill>
                <a:latin typeface="Helvetica Neue"/>
                <a:ea typeface="Helvetica Neue"/>
                <a:cs typeface="Helvetica Neue"/>
              </a:defRPr>
            </a:lvl4pPr>
            <a:lvl5pPr>
              <a:defRPr sz="1875" b="0">
                <a:solidFill>
                  <a:srgbClr val="087E80"/>
                </a:solidFill>
                <a:latin typeface="Helvetica Neue"/>
                <a:ea typeface="Helvetica Neue"/>
                <a:cs typeface="Helvetica Neue"/>
              </a:defRPr>
            </a:lvl5pPr>
            <a:lvl6pPr>
              <a:defRPr sz="1875" b="0">
                <a:solidFill>
                  <a:srgbClr val="087E80"/>
                </a:solidFill>
                <a:latin typeface="Helvetica Neue"/>
                <a:ea typeface="Helvetica Neue"/>
                <a:cs typeface="Helvetica Neue"/>
              </a:defRPr>
            </a:lvl6pPr>
            <a:lvl7pPr>
              <a:defRPr sz="1875" b="0">
                <a:solidFill>
                  <a:srgbClr val="087E80"/>
                </a:solidFill>
                <a:latin typeface="Helvetica Neue"/>
                <a:ea typeface="Helvetica Neue"/>
                <a:cs typeface="Helvetica Neue"/>
              </a:defRPr>
            </a:lvl7pPr>
            <a:lvl8pPr>
              <a:defRPr sz="1875" b="0">
                <a:solidFill>
                  <a:srgbClr val="087E80"/>
                </a:solidFill>
                <a:latin typeface="Helvetica Neue"/>
                <a:ea typeface="Helvetica Neue"/>
                <a:cs typeface="Helvetica Neue"/>
              </a:defRPr>
            </a:lvl8pPr>
            <a:lvl9pPr>
              <a:defRPr sz="1875" b="0">
                <a:solidFill>
                  <a:srgbClr val="087E80"/>
                </a:solidFill>
                <a:latin typeface="Helvetica Neue"/>
                <a:ea typeface="Helvetica Neue"/>
                <a:cs typeface="Helvetica Neue"/>
              </a:defRPr>
            </a:lvl9pPr>
          </a:lstStyle>
          <a:p xmlns:a="http://schemas.openxmlformats.org/drawingml/2006/main">
            <a:pPr>
              <a:defRPr sz="1875" b="0">
                <a:solidFill>
                  <a:srgbClr val="087E80"/>
                </a:solidFill>
                <a:latin typeface="Helvetica Neue"/>
                <a:ea typeface="Helvetica Neue"/>
                <a:cs typeface="Helvetica Neue"/>
              </a:defRPr>
            </a:pPr>
            <a:r>
              <a:rPr sz="1875" b="0">
                <a:solidFill>
                  <a:srgbClr val="087E80"/>
                </a:solidFill>
                <a:latin typeface="Helvetica Neue"/>
                <a:ea typeface="Helvetica Neue"/>
                <a:cs typeface="Helvetica Neue"/>
              </a:rPr>
              <a:t>E = exact match. S = substitute.</a:t>
            </a:r>
          </a:p>
        </p:txBody>
      </p:sp>
      <p:sp>
        <p:nvSpPr>
          <p:cNvPr id="6" name="">
            <a:extLst xmlns:a="http://schemas.openxmlformats.org/drawingml/2006/main">
              <a:ext uri="{FF2B5EF4-FFF2-40B4-BE49-F238E27FC236}">
                <a16:creationId xmlns:a16="http://schemas.microsoft.com/office/drawing/2014/main" id="{3CBC5B84-D689-459C-9271-1E5335CE5552}"/>
              </a:ext>
            </a:extLst>
          </p:cNvPr>
          <p:cNvSpPr>
            <a:spLocks xmlns:a="http://schemas.openxmlformats.org/drawingml/2006/main" noGrp="1"/>
          </p:cNvSpPr>
          <p:nvPr/>
        </p:nvSpPr>
        <p:spPr>
          <a:xfrm xmlns:a="http://schemas.openxmlformats.org/drawingml/2006/main">
            <a:off x="628650" y="6096000"/>
            <a:ext cx="10572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566760"/>
                </a:solidFill>
                <a:latin typeface="Helvetica Neue"/>
                <a:ea typeface="Helvetica Neue"/>
                <a:cs typeface="Helvetica Neue"/>
              </a:defRPr>
            </a:defPPr>
            <a:lvl1pPr>
              <a:defRPr sz="1500" b="0">
                <a:solidFill>
                  <a:srgbClr val="566760"/>
                </a:solidFill>
                <a:latin typeface="Helvetica Neue"/>
                <a:ea typeface="Helvetica Neue"/>
                <a:cs typeface="Helvetica Neue"/>
              </a:defRPr>
            </a:lvl1pPr>
            <a:lvl2pPr>
              <a:defRPr sz="1500" b="0">
                <a:solidFill>
                  <a:srgbClr val="566760"/>
                </a:solidFill>
                <a:latin typeface="Helvetica Neue"/>
                <a:ea typeface="Helvetica Neue"/>
                <a:cs typeface="Helvetica Neue"/>
              </a:defRPr>
            </a:lvl2pPr>
            <a:lvl3pPr>
              <a:defRPr sz="1500" b="0">
                <a:solidFill>
                  <a:srgbClr val="566760"/>
                </a:solidFill>
                <a:latin typeface="Helvetica Neue"/>
                <a:ea typeface="Helvetica Neue"/>
                <a:cs typeface="Helvetica Neue"/>
              </a:defRPr>
            </a:lvl3pPr>
            <a:lvl4pPr>
              <a:defRPr sz="1500" b="0">
                <a:solidFill>
                  <a:srgbClr val="566760"/>
                </a:solidFill>
                <a:latin typeface="Helvetica Neue"/>
                <a:ea typeface="Helvetica Neue"/>
                <a:cs typeface="Helvetica Neue"/>
              </a:defRPr>
            </a:lvl4pPr>
            <a:lvl5pPr>
              <a:defRPr sz="1500" b="0">
                <a:solidFill>
                  <a:srgbClr val="566760"/>
                </a:solidFill>
                <a:latin typeface="Helvetica Neue"/>
                <a:ea typeface="Helvetica Neue"/>
                <a:cs typeface="Helvetica Neue"/>
              </a:defRPr>
            </a:lvl5pPr>
            <a:lvl6pPr>
              <a:defRPr sz="1500" b="0">
                <a:solidFill>
                  <a:srgbClr val="566760"/>
                </a:solidFill>
                <a:latin typeface="Helvetica Neue"/>
                <a:ea typeface="Helvetica Neue"/>
                <a:cs typeface="Helvetica Neue"/>
              </a:defRPr>
            </a:lvl6pPr>
            <a:lvl7pPr>
              <a:defRPr sz="1500" b="0">
                <a:solidFill>
                  <a:srgbClr val="566760"/>
                </a:solidFill>
                <a:latin typeface="Helvetica Neue"/>
                <a:ea typeface="Helvetica Neue"/>
                <a:cs typeface="Helvetica Neue"/>
              </a:defRPr>
            </a:lvl7pPr>
            <a:lvl8pPr>
              <a:defRPr sz="1500" b="0">
                <a:solidFill>
                  <a:srgbClr val="566760"/>
                </a:solidFill>
                <a:latin typeface="Helvetica Neue"/>
                <a:ea typeface="Helvetica Neue"/>
                <a:cs typeface="Helvetica Neue"/>
              </a:defRPr>
            </a:lvl8pPr>
            <a:lvl9pPr>
              <a:defRPr sz="1500" b="0">
                <a:solidFill>
                  <a:srgbClr val="566760"/>
                </a:solidFill>
                <a:latin typeface="Helvetica Neue"/>
                <a:ea typeface="Helvetica Neue"/>
                <a:cs typeface="Helvetica Neue"/>
              </a:defRPr>
            </a:lvl9pPr>
          </a:lstStyle>
          <a:p xmlns:a="http://schemas.openxmlformats.org/drawingml/2006/main">
            <a:pPr>
              <a:defRPr sz="1500" b="0">
                <a:solidFill>
                  <a:srgbClr val="566760"/>
                </a:solidFill>
                <a:latin typeface="Helvetica Neue"/>
                <a:ea typeface="Helvetica Neue"/>
                <a:cs typeface="Helvetica Neue"/>
              </a:defRPr>
            </a:pPr>
            <a:r>
              <a:rPr sz="1500" b="0">
                <a:solidFill>
                  <a:srgbClr val="566760"/>
                </a:solidFill>
                <a:latin typeface="Helvetica Neue"/>
                <a:ea typeface="Helvetica Neue"/>
                <a:cs typeface="Helvetica Neue"/>
              </a:rPr>
              <a:t>Query 5722, 39 official candidates. First in the fixed hash sample, without selecting a model win.</a:t>
            </a:r>
          </a:p>
        </p:txBody>
      </p:sp>
    </p:spTree>
    <p:extLst>
      <p:ext uri="{BB962C8B-B14F-4D97-AF65-F5344CB8AC3E}">
        <p14:creationId xmlns:p14="http://schemas.microsoft.com/office/powerpoint/2010/main" val="1164953153"/>
      </p:ext>
    </p:extLst>
  </p:cSld>
</p:sld>
</file>

<file path=ppt/slides/slide13.xml><?xml version="1.0" encoding="utf-8"?>
<p:sld xmlns:p="http://schemas.openxmlformats.org/presentationml/2006/main">
  <p:cSld>
    <p:bg>
      <p:bgPr>
        <a:solidFill xmlns:a="http://schemas.openxmlformats.org/drawingml/2006/main">
          <a:srgbClr val="FAF8F3"/>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6D00AD6E-41FF-49CF-AE3B-14812661125C}"/>
              </a:ext>
            </a:extLst>
          </p:cNvPr>
          <p:cNvSpPr>
            <a:spLocks xmlns:a="http://schemas.openxmlformats.org/drawingml/2006/main" noGrp="1"/>
          </p:cNvSpPr>
          <p:nvPr/>
        </p:nvSpPr>
        <p:spPr>
          <a:xfrm xmlns:a="http://schemas.openxmlformats.org/drawingml/2006/main">
            <a:off x="609600" y="3810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150" b="1">
                <a:solidFill>
                  <a:srgbClr val="17251F"/>
                </a:solidFill>
                <a:latin typeface="Helvetica Neue"/>
                <a:ea typeface="Helvetica Neue"/>
                <a:cs typeface="Helvetica Neue"/>
              </a:defRPr>
            </a:defPPr>
            <a:lvl1pPr>
              <a:defRPr sz="3150" b="1">
                <a:solidFill>
                  <a:srgbClr val="17251F"/>
                </a:solidFill>
                <a:latin typeface="Helvetica Neue"/>
                <a:ea typeface="Helvetica Neue"/>
                <a:cs typeface="Helvetica Neue"/>
              </a:defRPr>
            </a:lvl1pPr>
            <a:lvl2pPr>
              <a:defRPr sz="3150" b="1">
                <a:solidFill>
                  <a:srgbClr val="17251F"/>
                </a:solidFill>
                <a:latin typeface="Helvetica Neue"/>
                <a:ea typeface="Helvetica Neue"/>
                <a:cs typeface="Helvetica Neue"/>
              </a:defRPr>
            </a:lvl2pPr>
            <a:lvl3pPr>
              <a:defRPr sz="3150" b="1">
                <a:solidFill>
                  <a:srgbClr val="17251F"/>
                </a:solidFill>
                <a:latin typeface="Helvetica Neue"/>
                <a:ea typeface="Helvetica Neue"/>
                <a:cs typeface="Helvetica Neue"/>
              </a:defRPr>
            </a:lvl3pPr>
            <a:lvl4pPr>
              <a:defRPr sz="3150" b="1">
                <a:solidFill>
                  <a:srgbClr val="17251F"/>
                </a:solidFill>
                <a:latin typeface="Helvetica Neue"/>
                <a:ea typeface="Helvetica Neue"/>
                <a:cs typeface="Helvetica Neue"/>
              </a:defRPr>
            </a:lvl4pPr>
            <a:lvl5pPr>
              <a:defRPr sz="3150" b="1">
                <a:solidFill>
                  <a:srgbClr val="17251F"/>
                </a:solidFill>
                <a:latin typeface="Helvetica Neue"/>
                <a:ea typeface="Helvetica Neue"/>
                <a:cs typeface="Helvetica Neue"/>
              </a:defRPr>
            </a:lvl5pPr>
            <a:lvl6pPr>
              <a:defRPr sz="3150" b="1">
                <a:solidFill>
                  <a:srgbClr val="17251F"/>
                </a:solidFill>
                <a:latin typeface="Helvetica Neue"/>
                <a:ea typeface="Helvetica Neue"/>
                <a:cs typeface="Helvetica Neue"/>
              </a:defRPr>
            </a:lvl6pPr>
            <a:lvl7pPr>
              <a:defRPr sz="3150" b="1">
                <a:solidFill>
                  <a:srgbClr val="17251F"/>
                </a:solidFill>
                <a:latin typeface="Helvetica Neue"/>
                <a:ea typeface="Helvetica Neue"/>
                <a:cs typeface="Helvetica Neue"/>
              </a:defRPr>
            </a:lvl7pPr>
            <a:lvl8pPr>
              <a:defRPr sz="3150" b="1">
                <a:solidFill>
                  <a:srgbClr val="17251F"/>
                </a:solidFill>
                <a:latin typeface="Helvetica Neue"/>
                <a:ea typeface="Helvetica Neue"/>
                <a:cs typeface="Helvetica Neue"/>
              </a:defRPr>
            </a:lvl8pPr>
            <a:lvl9pPr>
              <a:defRPr sz="3150" b="1">
                <a:solidFill>
                  <a:srgbClr val="17251F"/>
                </a:solidFill>
                <a:latin typeface="Helvetica Neue"/>
                <a:ea typeface="Helvetica Neue"/>
                <a:cs typeface="Helvetica Neue"/>
              </a:defRPr>
            </a:lvl9pPr>
          </a:lstStyle>
          <a:p xmlns:a="http://schemas.openxmlformats.org/drawingml/2006/main">
            <a:pPr>
              <a:defRPr sz="3150" b="1">
                <a:solidFill>
                  <a:srgbClr val="17251F"/>
                </a:solidFill>
                <a:latin typeface="Helvetica Neue"/>
                <a:ea typeface="Helvetica Neue"/>
                <a:cs typeface="Helvetica Neue"/>
              </a:defRPr>
            </a:pPr>
            <a:r>
              <a:rPr sz="3150" b="1">
                <a:solidFill>
                  <a:srgbClr val="17251F"/>
                </a:solidFill>
                <a:latin typeface="Helvetica Neue"/>
                <a:ea typeface="Helvetica Neue"/>
                <a:cs typeface="Helvetica Neue"/>
              </a:rPr>
              <a:t>FashionIQ adds a reference image and a text edit</a:t>
            </a:r>
          </a:p>
        </p:txBody>
      </p:sp>
      <p:sp>
        <p:nvSpPr>
          <p:cNvPr id="2" name="">
            <a:extLst xmlns:a="http://schemas.openxmlformats.org/drawingml/2006/main">
              <a:ext uri="{FF2B5EF4-FFF2-40B4-BE49-F238E27FC236}">
                <a16:creationId xmlns:a16="http://schemas.microsoft.com/office/drawing/2014/main" id="{D4437AFA-0EDE-4A9C-B178-0C0B284733E2}"/>
              </a:ext>
            </a:extLst>
          </p:cNvPr>
          <p:cNvSpPr>
            <a:spLocks xmlns:a="http://schemas.openxmlformats.org/drawingml/2006/main" noGrp="1"/>
          </p:cNvSpPr>
          <p:nvPr/>
        </p:nvSpPr>
        <p:spPr>
          <a:xfrm xmlns:a="http://schemas.openxmlformats.org/drawingml/2006/main">
            <a:off x="11106150" y="6457950"/>
            <a:ext cx="47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00" b="0">
                <a:solidFill>
                  <a:srgbClr val="566760"/>
                </a:solidFill>
                <a:latin typeface="Helvetica Neue"/>
                <a:ea typeface="Helvetica Neue"/>
                <a:cs typeface="Helvetica Neue"/>
              </a:defRPr>
            </a:defPPr>
            <a:lvl1pPr algn="r">
              <a:defRPr sz="1200" b="0">
                <a:solidFill>
                  <a:srgbClr val="566760"/>
                </a:solidFill>
                <a:latin typeface="Helvetica Neue"/>
                <a:ea typeface="Helvetica Neue"/>
                <a:cs typeface="Helvetica Neue"/>
              </a:defRPr>
            </a:lvl1pPr>
            <a:lvl2pPr algn="r">
              <a:defRPr sz="1200" b="0">
                <a:solidFill>
                  <a:srgbClr val="566760"/>
                </a:solidFill>
                <a:latin typeface="Helvetica Neue"/>
                <a:ea typeface="Helvetica Neue"/>
                <a:cs typeface="Helvetica Neue"/>
              </a:defRPr>
            </a:lvl2pPr>
            <a:lvl3pPr algn="r">
              <a:defRPr sz="1200" b="0">
                <a:solidFill>
                  <a:srgbClr val="566760"/>
                </a:solidFill>
                <a:latin typeface="Helvetica Neue"/>
                <a:ea typeface="Helvetica Neue"/>
                <a:cs typeface="Helvetica Neue"/>
              </a:defRPr>
            </a:lvl3pPr>
            <a:lvl4pPr algn="r">
              <a:defRPr sz="1200" b="0">
                <a:solidFill>
                  <a:srgbClr val="566760"/>
                </a:solidFill>
                <a:latin typeface="Helvetica Neue"/>
                <a:ea typeface="Helvetica Neue"/>
                <a:cs typeface="Helvetica Neue"/>
              </a:defRPr>
            </a:lvl4pPr>
            <a:lvl5pPr algn="r">
              <a:defRPr sz="1200" b="0">
                <a:solidFill>
                  <a:srgbClr val="566760"/>
                </a:solidFill>
                <a:latin typeface="Helvetica Neue"/>
                <a:ea typeface="Helvetica Neue"/>
                <a:cs typeface="Helvetica Neue"/>
              </a:defRPr>
            </a:lvl5pPr>
            <a:lvl6pPr algn="r">
              <a:defRPr sz="1200" b="0">
                <a:solidFill>
                  <a:srgbClr val="566760"/>
                </a:solidFill>
                <a:latin typeface="Helvetica Neue"/>
                <a:ea typeface="Helvetica Neue"/>
                <a:cs typeface="Helvetica Neue"/>
              </a:defRPr>
            </a:lvl6pPr>
            <a:lvl7pPr algn="r">
              <a:defRPr sz="1200" b="0">
                <a:solidFill>
                  <a:srgbClr val="566760"/>
                </a:solidFill>
                <a:latin typeface="Helvetica Neue"/>
                <a:ea typeface="Helvetica Neue"/>
                <a:cs typeface="Helvetica Neue"/>
              </a:defRPr>
            </a:lvl7pPr>
            <a:lvl8pPr algn="r">
              <a:defRPr sz="1200" b="0">
                <a:solidFill>
                  <a:srgbClr val="566760"/>
                </a:solidFill>
                <a:latin typeface="Helvetica Neue"/>
                <a:ea typeface="Helvetica Neue"/>
                <a:cs typeface="Helvetica Neue"/>
              </a:defRPr>
            </a:lvl8pPr>
            <a:lvl9pPr algn="r">
              <a:defRPr sz="1200" b="0">
                <a:solidFill>
                  <a:srgbClr val="566760"/>
                </a:solidFill>
                <a:latin typeface="Helvetica Neue"/>
                <a:ea typeface="Helvetica Neue"/>
                <a:cs typeface="Helvetica Neue"/>
              </a:defRPr>
            </a:lvl9pPr>
          </a:lstStyle>
          <a:p xmlns:a="http://schemas.openxmlformats.org/drawingml/2006/main">
            <a:pPr algn="r">
              <a:defRPr sz="1200" b="0">
                <a:solidFill>
                  <a:srgbClr val="566760"/>
                </a:solidFill>
                <a:latin typeface="Helvetica Neue"/>
                <a:ea typeface="Helvetica Neue"/>
                <a:cs typeface="Helvetica Neue"/>
              </a:defRPr>
            </a:pPr>
            <a:r>
              <a:rPr sz="1200" b="0">
                <a:solidFill>
                  <a:srgbClr val="566760"/>
                </a:solidFill>
                <a:latin typeface="Helvetica Neue"/>
                <a:ea typeface="Helvetica Neue"/>
                <a:cs typeface="Helvetica Neue"/>
              </a:rPr>
              <a:t>13</a:t>
            </a:r>
          </a:p>
        </p:txBody>
      </p:sp>
      <p:sp>
        <p:nvSpPr>
          <p:cNvPr id="3" name="">
            <a:extLst xmlns:a="http://schemas.openxmlformats.org/drawingml/2006/main">
              <a:ext uri="{FF2B5EF4-FFF2-40B4-BE49-F238E27FC236}">
                <a16:creationId xmlns:a16="http://schemas.microsoft.com/office/drawing/2014/main" id="{E3DE5393-ED44-4F84-8D24-36FC7FA7D676}"/>
              </a:ext>
            </a:extLst>
          </p:cNvPr>
          <p:cNvSpPr>
            <a:spLocks xmlns:a="http://schemas.openxmlformats.org/drawingml/2006/main" noGrp="1"/>
          </p:cNvSpPr>
          <p:nvPr/>
        </p:nvSpPr>
        <p:spPr>
          <a:xfrm xmlns:a="http://schemas.openxmlformats.org/drawingml/2006/main">
            <a:off x="628650" y="1333500"/>
            <a:ext cx="3962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950" b="1">
                <a:solidFill>
                  <a:srgbClr val="087E80"/>
                </a:solidFill>
                <a:latin typeface="Helvetica Neue"/>
                <a:ea typeface="Helvetica Neue"/>
                <a:cs typeface="Helvetica Neue"/>
              </a:defRPr>
            </a:defPPr>
            <a:lvl1pPr>
              <a:defRPr sz="1950" b="1">
                <a:solidFill>
                  <a:srgbClr val="087E80"/>
                </a:solidFill>
                <a:latin typeface="Helvetica Neue"/>
                <a:ea typeface="Helvetica Neue"/>
                <a:cs typeface="Helvetica Neue"/>
              </a:defRPr>
            </a:lvl1pPr>
            <a:lvl2pPr>
              <a:defRPr sz="1950" b="1">
                <a:solidFill>
                  <a:srgbClr val="087E80"/>
                </a:solidFill>
                <a:latin typeface="Helvetica Neue"/>
                <a:ea typeface="Helvetica Neue"/>
                <a:cs typeface="Helvetica Neue"/>
              </a:defRPr>
            </a:lvl2pPr>
            <a:lvl3pPr>
              <a:defRPr sz="1950" b="1">
                <a:solidFill>
                  <a:srgbClr val="087E80"/>
                </a:solidFill>
                <a:latin typeface="Helvetica Neue"/>
                <a:ea typeface="Helvetica Neue"/>
                <a:cs typeface="Helvetica Neue"/>
              </a:defRPr>
            </a:lvl3pPr>
            <a:lvl4pPr>
              <a:defRPr sz="1950" b="1">
                <a:solidFill>
                  <a:srgbClr val="087E80"/>
                </a:solidFill>
                <a:latin typeface="Helvetica Neue"/>
                <a:ea typeface="Helvetica Neue"/>
                <a:cs typeface="Helvetica Neue"/>
              </a:defRPr>
            </a:lvl4pPr>
            <a:lvl5pPr>
              <a:defRPr sz="1950" b="1">
                <a:solidFill>
                  <a:srgbClr val="087E80"/>
                </a:solidFill>
                <a:latin typeface="Helvetica Neue"/>
                <a:ea typeface="Helvetica Neue"/>
                <a:cs typeface="Helvetica Neue"/>
              </a:defRPr>
            </a:lvl5pPr>
            <a:lvl6pPr>
              <a:defRPr sz="1950" b="1">
                <a:solidFill>
                  <a:srgbClr val="087E80"/>
                </a:solidFill>
                <a:latin typeface="Helvetica Neue"/>
                <a:ea typeface="Helvetica Neue"/>
                <a:cs typeface="Helvetica Neue"/>
              </a:defRPr>
            </a:lvl6pPr>
            <a:lvl7pPr>
              <a:defRPr sz="1950" b="1">
                <a:solidFill>
                  <a:srgbClr val="087E80"/>
                </a:solidFill>
                <a:latin typeface="Helvetica Neue"/>
                <a:ea typeface="Helvetica Neue"/>
                <a:cs typeface="Helvetica Neue"/>
              </a:defRPr>
            </a:lvl7pPr>
            <a:lvl8pPr>
              <a:defRPr sz="1950" b="1">
                <a:solidFill>
                  <a:srgbClr val="087E80"/>
                </a:solidFill>
                <a:latin typeface="Helvetica Neue"/>
                <a:ea typeface="Helvetica Neue"/>
                <a:cs typeface="Helvetica Neue"/>
              </a:defRPr>
            </a:lvl8pPr>
            <a:lvl9pPr>
              <a:defRPr sz="1950" b="1">
                <a:solidFill>
                  <a:srgbClr val="087E80"/>
                </a:solidFill>
                <a:latin typeface="Helvetica Neue"/>
                <a:ea typeface="Helvetica Neue"/>
                <a:cs typeface="Helvetica Neue"/>
              </a:defRPr>
            </a:lvl9pPr>
          </a:lstStyle>
          <a:p xmlns:a="http://schemas.openxmlformats.org/drawingml/2006/main">
            <a:pPr>
              <a:defRPr sz="1950" b="1">
                <a:solidFill>
                  <a:srgbClr val="087E80"/>
                </a:solidFill>
                <a:latin typeface="Helvetica Neue"/>
                <a:ea typeface="Helvetica Neue"/>
                <a:cs typeface="Helvetica Neue"/>
              </a:defRPr>
            </a:pPr>
            <a:r>
              <a:rPr sz="1950" b="1">
                <a:solidFill>
                  <a:srgbClr val="087E80"/>
                </a:solidFill>
                <a:latin typeface="Helvetica Neue"/>
                <a:ea typeface="Helvetica Neue"/>
                <a:cs typeface="Helvetica Neue"/>
              </a:rPr>
              <a:t>Reference photograph</a:t>
            </a:r>
          </a:p>
        </p:txBody>
      </p:sp>
      <p:sp>
        <p:nvSpPr>
          <p:cNvPr id="4" name="">
            <a:extLst xmlns:a="http://schemas.openxmlformats.org/drawingml/2006/main">
              <a:ext uri="{FF2B5EF4-FFF2-40B4-BE49-F238E27FC236}">
                <a16:creationId xmlns:a16="http://schemas.microsoft.com/office/drawing/2014/main" id="{20E1E40B-B81E-4669-92CD-137C68AA127F}"/>
              </a:ext>
            </a:extLst>
          </p:cNvPr>
          <p:cNvSpPr>
            <a:spLocks xmlns:a="http://schemas.openxmlformats.org/drawingml/2006/main" noGrp="1"/>
          </p:cNvSpPr>
          <p:nvPr/>
        </p:nvSpPr>
        <p:spPr>
          <a:xfrm xmlns:a="http://schemas.openxmlformats.org/drawingml/2006/main">
            <a:off x="7496175" y="1333500"/>
            <a:ext cx="40862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950" b="1">
                <a:solidFill>
                  <a:srgbClr val="087E80"/>
                </a:solidFill>
                <a:latin typeface="Helvetica Neue"/>
                <a:ea typeface="Helvetica Neue"/>
                <a:cs typeface="Helvetica Neue"/>
              </a:defRPr>
            </a:defPPr>
            <a:lvl1pPr>
              <a:defRPr sz="1950" b="1">
                <a:solidFill>
                  <a:srgbClr val="087E80"/>
                </a:solidFill>
                <a:latin typeface="Helvetica Neue"/>
                <a:ea typeface="Helvetica Neue"/>
                <a:cs typeface="Helvetica Neue"/>
              </a:defRPr>
            </a:lvl1pPr>
            <a:lvl2pPr>
              <a:defRPr sz="1950" b="1">
                <a:solidFill>
                  <a:srgbClr val="087E80"/>
                </a:solidFill>
                <a:latin typeface="Helvetica Neue"/>
                <a:ea typeface="Helvetica Neue"/>
                <a:cs typeface="Helvetica Neue"/>
              </a:defRPr>
            </a:lvl2pPr>
            <a:lvl3pPr>
              <a:defRPr sz="1950" b="1">
                <a:solidFill>
                  <a:srgbClr val="087E80"/>
                </a:solidFill>
                <a:latin typeface="Helvetica Neue"/>
                <a:ea typeface="Helvetica Neue"/>
                <a:cs typeface="Helvetica Neue"/>
              </a:defRPr>
            </a:lvl3pPr>
            <a:lvl4pPr>
              <a:defRPr sz="1950" b="1">
                <a:solidFill>
                  <a:srgbClr val="087E80"/>
                </a:solidFill>
                <a:latin typeface="Helvetica Neue"/>
                <a:ea typeface="Helvetica Neue"/>
                <a:cs typeface="Helvetica Neue"/>
              </a:defRPr>
            </a:lvl4pPr>
            <a:lvl5pPr>
              <a:defRPr sz="1950" b="1">
                <a:solidFill>
                  <a:srgbClr val="087E80"/>
                </a:solidFill>
                <a:latin typeface="Helvetica Neue"/>
                <a:ea typeface="Helvetica Neue"/>
                <a:cs typeface="Helvetica Neue"/>
              </a:defRPr>
            </a:lvl5pPr>
            <a:lvl6pPr>
              <a:defRPr sz="1950" b="1">
                <a:solidFill>
                  <a:srgbClr val="087E80"/>
                </a:solidFill>
                <a:latin typeface="Helvetica Neue"/>
                <a:ea typeface="Helvetica Neue"/>
                <a:cs typeface="Helvetica Neue"/>
              </a:defRPr>
            </a:lvl6pPr>
            <a:lvl7pPr>
              <a:defRPr sz="1950" b="1">
                <a:solidFill>
                  <a:srgbClr val="087E80"/>
                </a:solidFill>
                <a:latin typeface="Helvetica Neue"/>
                <a:ea typeface="Helvetica Neue"/>
                <a:cs typeface="Helvetica Neue"/>
              </a:defRPr>
            </a:lvl7pPr>
            <a:lvl8pPr>
              <a:defRPr sz="1950" b="1">
                <a:solidFill>
                  <a:srgbClr val="087E80"/>
                </a:solidFill>
                <a:latin typeface="Helvetica Neue"/>
                <a:ea typeface="Helvetica Neue"/>
                <a:cs typeface="Helvetica Neue"/>
              </a:defRPr>
            </a:lvl8pPr>
            <a:lvl9pPr>
              <a:defRPr sz="1950" b="1">
                <a:solidFill>
                  <a:srgbClr val="087E80"/>
                </a:solidFill>
                <a:latin typeface="Helvetica Neue"/>
                <a:ea typeface="Helvetica Neue"/>
                <a:cs typeface="Helvetica Neue"/>
              </a:defRPr>
            </a:lvl9pPr>
          </a:lstStyle>
          <a:p xmlns:a="http://schemas.openxmlformats.org/drawingml/2006/main">
            <a:pPr>
              <a:defRPr sz="1950" b="1">
                <a:solidFill>
                  <a:srgbClr val="087E80"/>
                </a:solidFill>
                <a:latin typeface="Helvetica Neue"/>
                <a:ea typeface="Helvetica Neue"/>
                <a:cs typeface="Helvetica Neue"/>
              </a:defRPr>
            </a:pPr>
            <a:r>
              <a:rPr sz="1950" b="1">
                <a:solidFill>
                  <a:srgbClr val="087E80"/>
                </a:solidFill>
                <a:latin typeface="Helvetica Neue"/>
                <a:ea typeface="Helvetica Neue"/>
                <a:cs typeface="Helvetica Neue"/>
              </a:rPr>
              <a:t>Official paired target</a:t>
            </a:r>
          </a:p>
        </p:txBody>
      </p:sp>
      <p:pic>
        <p:nvPicPr>
          <p:cNvPr id="5" name="">
            <a:extLst xmlns:a="http://schemas.openxmlformats.org/drawingml/2006/main">
              <a:ext uri="{FF2B5EF4-FFF2-40B4-BE49-F238E27FC236}">
                <a16:creationId xmlns:a16="http://schemas.microsoft.com/office/drawing/2014/main" id="{3D8D64B5-BE18-4EBC-BB73-12412EC5E591}"/>
              </a:ext>
            </a:extLst>
          </p:cNvPr>
          <p:cNvPicPr>
            <a:picLocks xmlns:a="http://schemas.openxmlformats.org/drawingml/2006/main" noChangeAspect="1"/>
          </p:cNvPicPr>
          <p:nvPr/>
        </p:nvPicPr>
        <p:blipFill>
          <a:blip xmlns:r="http://schemas.openxmlformats.org/officeDocument/2006/relationships" xmlns:a="http://schemas.openxmlformats.org/drawingml/2006/main" r:embed="R71987f62b9104a5d"/>
          <a:stretch xmlns:a="http://schemas.openxmlformats.org/drawingml/2006/main"/>
        </p:blipFill>
        <p:spPr>
          <a:xfrm xmlns:a="http://schemas.openxmlformats.org/drawingml/2006/main">
            <a:off x="1075244" y="1838325"/>
            <a:ext cx="2440562" cy="3514725"/>
          </a:xfrm>
          <a:prstGeom xmlns:a="http://schemas.openxmlformats.org/drawingml/2006/main" prst="rect">
            <a:avLst/>
          </a:prstGeom>
        </p:spPr>
      </p:pic>
      <p:pic>
        <p:nvPicPr>
          <p:cNvPr id="6" name="">
            <a:extLst xmlns:a="http://schemas.openxmlformats.org/drawingml/2006/main">
              <a:ext uri="{FF2B5EF4-FFF2-40B4-BE49-F238E27FC236}">
                <a16:creationId xmlns:a16="http://schemas.microsoft.com/office/drawing/2014/main" id="{7BF1D773-6559-4477-A74D-1A93651F3B61}"/>
              </a:ext>
            </a:extLst>
          </p:cNvPr>
          <p:cNvPicPr>
            <a:picLocks xmlns:a="http://schemas.openxmlformats.org/drawingml/2006/main" noChangeAspect="1"/>
          </p:cNvPicPr>
          <p:nvPr/>
        </p:nvPicPr>
        <p:blipFill>
          <a:blip xmlns:r="http://schemas.openxmlformats.org/officeDocument/2006/relationships" xmlns:a="http://schemas.openxmlformats.org/drawingml/2006/main" r:embed="R68ba851e47214c7d"/>
          <a:stretch xmlns:a="http://schemas.openxmlformats.org/drawingml/2006/main"/>
        </p:blipFill>
        <p:spPr>
          <a:xfrm xmlns:a="http://schemas.openxmlformats.org/drawingml/2006/main">
            <a:off x="9000247" y="1838325"/>
            <a:ext cx="1563855" cy="3514725"/>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CFF311BF-B7C5-443A-853B-557BF50320E2}"/>
              </a:ext>
            </a:extLst>
          </p:cNvPr>
          <p:cNvSpPr>
            <a:spLocks xmlns:a="http://schemas.openxmlformats.org/drawingml/2006/main" noGrp="1"/>
          </p:cNvSpPr>
          <p:nvPr/>
        </p:nvSpPr>
        <p:spPr>
          <a:xfrm xmlns:a="http://schemas.openxmlformats.org/drawingml/2006/main">
            <a:off x="4257675" y="2333625"/>
            <a:ext cx="3381375" cy="1952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550" b="1">
                <a:solidFill>
                  <a:srgbClr val="17251F"/>
                </a:solidFill>
                <a:latin typeface="Helvetica Neue"/>
                <a:ea typeface="Helvetica Neue"/>
                <a:cs typeface="Helvetica Neue"/>
              </a:defRPr>
            </a:defPPr>
            <a:lvl1pPr>
              <a:defRPr sz="2550" b="1">
                <a:solidFill>
                  <a:srgbClr val="17251F"/>
                </a:solidFill>
                <a:latin typeface="Helvetica Neue"/>
                <a:ea typeface="Helvetica Neue"/>
                <a:cs typeface="Helvetica Neue"/>
              </a:defRPr>
            </a:lvl1pPr>
            <a:lvl2pPr>
              <a:defRPr sz="2550" b="1">
                <a:solidFill>
                  <a:srgbClr val="17251F"/>
                </a:solidFill>
                <a:latin typeface="Helvetica Neue"/>
                <a:ea typeface="Helvetica Neue"/>
                <a:cs typeface="Helvetica Neue"/>
              </a:defRPr>
            </a:lvl2pPr>
            <a:lvl3pPr>
              <a:defRPr sz="2550" b="1">
                <a:solidFill>
                  <a:srgbClr val="17251F"/>
                </a:solidFill>
                <a:latin typeface="Helvetica Neue"/>
                <a:ea typeface="Helvetica Neue"/>
                <a:cs typeface="Helvetica Neue"/>
              </a:defRPr>
            </a:lvl3pPr>
            <a:lvl4pPr>
              <a:defRPr sz="2550" b="1">
                <a:solidFill>
                  <a:srgbClr val="17251F"/>
                </a:solidFill>
                <a:latin typeface="Helvetica Neue"/>
                <a:ea typeface="Helvetica Neue"/>
                <a:cs typeface="Helvetica Neue"/>
              </a:defRPr>
            </a:lvl4pPr>
            <a:lvl5pPr>
              <a:defRPr sz="2550" b="1">
                <a:solidFill>
                  <a:srgbClr val="17251F"/>
                </a:solidFill>
                <a:latin typeface="Helvetica Neue"/>
                <a:ea typeface="Helvetica Neue"/>
                <a:cs typeface="Helvetica Neue"/>
              </a:defRPr>
            </a:lvl5pPr>
            <a:lvl6pPr>
              <a:defRPr sz="2550" b="1">
                <a:solidFill>
                  <a:srgbClr val="17251F"/>
                </a:solidFill>
                <a:latin typeface="Helvetica Neue"/>
                <a:ea typeface="Helvetica Neue"/>
                <a:cs typeface="Helvetica Neue"/>
              </a:defRPr>
            </a:lvl6pPr>
            <a:lvl7pPr>
              <a:defRPr sz="2550" b="1">
                <a:solidFill>
                  <a:srgbClr val="17251F"/>
                </a:solidFill>
                <a:latin typeface="Helvetica Neue"/>
                <a:ea typeface="Helvetica Neue"/>
                <a:cs typeface="Helvetica Neue"/>
              </a:defRPr>
            </a:lvl7pPr>
            <a:lvl8pPr>
              <a:defRPr sz="2550" b="1">
                <a:solidFill>
                  <a:srgbClr val="17251F"/>
                </a:solidFill>
                <a:latin typeface="Helvetica Neue"/>
                <a:ea typeface="Helvetica Neue"/>
                <a:cs typeface="Helvetica Neue"/>
              </a:defRPr>
            </a:lvl8pPr>
            <a:lvl9pPr>
              <a:defRPr sz="2550" b="1">
                <a:solidFill>
                  <a:srgbClr val="17251F"/>
                </a:solidFill>
                <a:latin typeface="Helvetica Neue"/>
                <a:ea typeface="Helvetica Neue"/>
                <a:cs typeface="Helvetica Neue"/>
              </a:defRPr>
            </a:lvl9pPr>
          </a:lstStyle>
          <a:p xmlns:a="http://schemas.openxmlformats.org/drawingml/2006/main">
            <a:pPr>
              <a:defRPr sz="2550" b="1">
                <a:solidFill>
                  <a:srgbClr val="17251F"/>
                </a:solidFill>
                <a:latin typeface="Helvetica Neue"/>
                <a:ea typeface="Helvetica Neue"/>
                <a:cs typeface="Helvetica Neue"/>
              </a:defRPr>
            </a:pPr>
            <a:r>
              <a:rPr sz="2550" b="1">
                <a:solidFill>
                  <a:srgbClr val="17251F"/>
                </a:solidFill>
                <a:latin typeface="Helvetica Neue"/>
                <a:ea typeface="Helvetica Neue"/>
                <a:cs typeface="Helvetica Neue"/>
              </a:rPr>
              <a:t>“is red with black buttons and has longer sleeves”</a:t>
            </a:r>
          </a:p>
        </p:txBody>
      </p:sp>
      <p:sp>
        <p:nvSpPr>
          <p:cNvPr id="8" name="">
            <a:extLst xmlns:a="http://schemas.openxmlformats.org/drawingml/2006/main">
              <a:ext uri="{FF2B5EF4-FFF2-40B4-BE49-F238E27FC236}">
                <a16:creationId xmlns:a16="http://schemas.microsoft.com/office/drawing/2014/main" id="{E6D31611-ED6C-4DEE-A840-AF871A92FA2D}"/>
              </a:ext>
            </a:extLst>
          </p:cNvPr>
          <p:cNvSpPr>
            <a:spLocks xmlns:a="http://schemas.openxmlformats.org/drawingml/2006/main" noGrp="1"/>
          </p:cNvSpPr>
          <p:nvPr/>
        </p:nvSpPr>
        <p:spPr>
          <a:xfrm xmlns:a="http://schemas.openxmlformats.org/drawingml/2006/main">
            <a:off x="4257675" y="4733925"/>
            <a:ext cx="3381375"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75" b="0">
                <a:solidFill>
                  <a:srgbClr val="566760"/>
                </a:solidFill>
                <a:latin typeface="Helvetica Neue"/>
                <a:ea typeface="Helvetica Neue"/>
                <a:cs typeface="Helvetica Neue"/>
              </a:defRPr>
            </a:defPPr>
            <a:lvl1pPr>
              <a:defRPr sz="1875" b="0">
                <a:solidFill>
                  <a:srgbClr val="566760"/>
                </a:solidFill>
                <a:latin typeface="Helvetica Neue"/>
                <a:ea typeface="Helvetica Neue"/>
                <a:cs typeface="Helvetica Neue"/>
              </a:defRPr>
            </a:lvl1pPr>
            <a:lvl2pPr>
              <a:defRPr sz="1875" b="0">
                <a:solidFill>
                  <a:srgbClr val="566760"/>
                </a:solidFill>
                <a:latin typeface="Helvetica Neue"/>
                <a:ea typeface="Helvetica Neue"/>
                <a:cs typeface="Helvetica Neue"/>
              </a:defRPr>
            </a:lvl2pPr>
            <a:lvl3pPr>
              <a:defRPr sz="1875" b="0">
                <a:solidFill>
                  <a:srgbClr val="566760"/>
                </a:solidFill>
                <a:latin typeface="Helvetica Neue"/>
                <a:ea typeface="Helvetica Neue"/>
                <a:cs typeface="Helvetica Neue"/>
              </a:defRPr>
            </a:lvl3pPr>
            <a:lvl4pPr>
              <a:defRPr sz="1875" b="0">
                <a:solidFill>
                  <a:srgbClr val="566760"/>
                </a:solidFill>
                <a:latin typeface="Helvetica Neue"/>
                <a:ea typeface="Helvetica Neue"/>
                <a:cs typeface="Helvetica Neue"/>
              </a:defRPr>
            </a:lvl4pPr>
            <a:lvl5pPr>
              <a:defRPr sz="1875" b="0">
                <a:solidFill>
                  <a:srgbClr val="566760"/>
                </a:solidFill>
                <a:latin typeface="Helvetica Neue"/>
                <a:ea typeface="Helvetica Neue"/>
                <a:cs typeface="Helvetica Neue"/>
              </a:defRPr>
            </a:lvl5pPr>
            <a:lvl6pPr>
              <a:defRPr sz="1875" b="0">
                <a:solidFill>
                  <a:srgbClr val="566760"/>
                </a:solidFill>
                <a:latin typeface="Helvetica Neue"/>
                <a:ea typeface="Helvetica Neue"/>
                <a:cs typeface="Helvetica Neue"/>
              </a:defRPr>
            </a:lvl6pPr>
            <a:lvl7pPr>
              <a:defRPr sz="1875" b="0">
                <a:solidFill>
                  <a:srgbClr val="566760"/>
                </a:solidFill>
                <a:latin typeface="Helvetica Neue"/>
                <a:ea typeface="Helvetica Neue"/>
                <a:cs typeface="Helvetica Neue"/>
              </a:defRPr>
            </a:lvl7pPr>
            <a:lvl8pPr>
              <a:defRPr sz="1875" b="0">
                <a:solidFill>
                  <a:srgbClr val="566760"/>
                </a:solidFill>
                <a:latin typeface="Helvetica Neue"/>
                <a:ea typeface="Helvetica Neue"/>
                <a:cs typeface="Helvetica Neue"/>
              </a:defRPr>
            </a:lvl8pPr>
            <a:lvl9pPr>
              <a:defRPr sz="1875" b="0">
                <a:solidFill>
                  <a:srgbClr val="566760"/>
                </a:solidFill>
                <a:latin typeface="Helvetica Neue"/>
                <a:ea typeface="Helvetica Neue"/>
                <a:cs typeface="Helvetica Neue"/>
              </a:defRPr>
            </a:lvl9pPr>
          </a:lstStyle>
          <a:p xmlns:a="http://schemas.openxmlformats.org/drawingml/2006/main">
            <a:pPr>
              <a:defRPr sz="1875" b="0">
                <a:solidFill>
                  <a:srgbClr val="566760"/>
                </a:solidFill>
                <a:latin typeface="Helvetica Neue"/>
                <a:ea typeface="Helvetica Neue"/>
                <a:cs typeface="Helvetica Neue"/>
              </a:defRPr>
            </a:pPr>
            <a:r>
              <a:rPr sz="1875" b="0">
                <a:solidFill>
                  <a:srgbClr val="566760"/>
                </a:solidFill>
                <a:latin typeface="Helvetica Neue"/>
                <a:ea typeface="Helvetica Neue"/>
                <a:cs typeface="Helvetica Neue"/>
              </a:rPr>
              <a:t>Reference image plus</a:t>
            </a:r>
          </a:p>
          <a:p xmlns:a="http://schemas.openxmlformats.org/drawingml/2006/main">
            <a:pPr>
              <a:defRPr sz="1875" b="0">
                <a:solidFill>
                  <a:srgbClr val="566760"/>
                </a:solidFill>
                <a:latin typeface="Helvetica Neue"/>
                <a:ea typeface="Helvetica Neue"/>
                <a:cs typeface="Helvetica Neue"/>
              </a:defRPr>
            </a:pPr>
            <a:r>
              <a:rPr sz="1875" b="0">
                <a:solidFill>
                  <a:srgbClr val="566760"/>
                </a:solidFill>
                <a:latin typeface="Helvetica Neue"/>
                <a:ea typeface="Helvetica Neue"/>
                <a:cs typeface="Helvetica Neue"/>
              </a:rPr>
              <a:t>a relative text edit</a:t>
            </a:r>
          </a:p>
        </p:txBody>
      </p:sp>
      <p:sp>
        <p:nvSpPr>
          <p:cNvPr id="9" name="">
            <a:extLst xmlns:a="http://schemas.openxmlformats.org/drawingml/2006/main">
              <a:ext uri="{FF2B5EF4-FFF2-40B4-BE49-F238E27FC236}">
                <a16:creationId xmlns:a16="http://schemas.microsoft.com/office/drawing/2014/main" id="{826632BD-94A8-4CAE-9F56-485EA2BCC4EF}"/>
              </a:ext>
            </a:extLst>
          </p:cNvPr>
          <p:cNvSpPr>
            <a:spLocks xmlns:a="http://schemas.openxmlformats.org/drawingml/2006/main" noGrp="1"/>
          </p:cNvSpPr>
          <p:nvPr/>
        </p:nvSpPr>
        <p:spPr>
          <a:xfrm xmlns:a="http://schemas.openxmlformats.org/drawingml/2006/main">
            <a:off x="628650" y="6143625"/>
            <a:ext cx="10572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566760"/>
                </a:solidFill>
                <a:latin typeface="Helvetica Neue"/>
                <a:ea typeface="Helvetica Neue"/>
                <a:cs typeface="Helvetica Neue"/>
              </a:defRPr>
            </a:defPPr>
            <a:lvl1pPr>
              <a:defRPr sz="1500" b="0">
                <a:solidFill>
                  <a:srgbClr val="566760"/>
                </a:solidFill>
                <a:latin typeface="Helvetica Neue"/>
                <a:ea typeface="Helvetica Neue"/>
                <a:cs typeface="Helvetica Neue"/>
              </a:defRPr>
            </a:lvl1pPr>
            <a:lvl2pPr>
              <a:defRPr sz="1500" b="0">
                <a:solidFill>
                  <a:srgbClr val="566760"/>
                </a:solidFill>
                <a:latin typeface="Helvetica Neue"/>
                <a:ea typeface="Helvetica Neue"/>
                <a:cs typeface="Helvetica Neue"/>
              </a:defRPr>
            </a:lvl2pPr>
            <a:lvl3pPr>
              <a:defRPr sz="1500" b="0">
                <a:solidFill>
                  <a:srgbClr val="566760"/>
                </a:solidFill>
                <a:latin typeface="Helvetica Neue"/>
                <a:ea typeface="Helvetica Neue"/>
                <a:cs typeface="Helvetica Neue"/>
              </a:defRPr>
            </a:lvl3pPr>
            <a:lvl4pPr>
              <a:defRPr sz="1500" b="0">
                <a:solidFill>
                  <a:srgbClr val="566760"/>
                </a:solidFill>
                <a:latin typeface="Helvetica Neue"/>
                <a:ea typeface="Helvetica Neue"/>
                <a:cs typeface="Helvetica Neue"/>
              </a:defRPr>
            </a:lvl4pPr>
            <a:lvl5pPr>
              <a:defRPr sz="1500" b="0">
                <a:solidFill>
                  <a:srgbClr val="566760"/>
                </a:solidFill>
                <a:latin typeface="Helvetica Neue"/>
                <a:ea typeface="Helvetica Neue"/>
                <a:cs typeface="Helvetica Neue"/>
              </a:defRPr>
            </a:lvl5pPr>
            <a:lvl6pPr>
              <a:defRPr sz="1500" b="0">
                <a:solidFill>
                  <a:srgbClr val="566760"/>
                </a:solidFill>
                <a:latin typeface="Helvetica Neue"/>
                <a:ea typeface="Helvetica Neue"/>
                <a:cs typeface="Helvetica Neue"/>
              </a:defRPr>
            </a:lvl6pPr>
            <a:lvl7pPr>
              <a:defRPr sz="1500" b="0">
                <a:solidFill>
                  <a:srgbClr val="566760"/>
                </a:solidFill>
                <a:latin typeface="Helvetica Neue"/>
                <a:ea typeface="Helvetica Neue"/>
                <a:cs typeface="Helvetica Neue"/>
              </a:defRPr>
            </a:lvl7pPr>
            <a:lvl8pPr>
              <a:defRPr sz="1500" b="0">
                <a:solidFill>
                  <a:srgbClr val="566760"/>
                </a:solidFill>
                <a:latin typeface="Helvetica Neue"/>
                <a:ea typeface="Helvetica Neue"/>
                <a:cs typeface="Helvetica Neue"/>
              </a:defRPr>
            </a:lvl8pPr>
            <a:lvl9pPr>
              <a:defRPr sz="1500" b="0">
                <a:solidFill>
                  <a:srgbClr val="566760"/>
                </a:solidFill>
                <a:latin typeface="Helvetica Neue"/>
                <a:ea typeface="Helvetica Neue"/>
                <a:cs typeface="Helvetica Neue"/>
              </a:defRPr>
            </a:lvl9pPr>
          </a:lstStyle>
          <a:p xmlns:a="http://schemas.openxmlformats.org/drawingml/2006/main">
            <a:pPr>
              <a:defRPr sz="1500" b="0">
                <a:solidFill>
                  <a:srgbClr val="566760"/>
                </a:solidFill>
                <a:latin typeface="Helvetica Neue"/>
                <a:ea typeface="Helvetica Neue"/>
                <a:cs typeface="Helvetica Neue"/>
              </a:defRPr>
            </a:pPr>
            <a:r>
              <a:rPr sz="1500" b="0">
                <a:solidFill>
                  <a:srgbClr val="566760"/>
                </a:solidFill>
                <a:latin typeface="Helvetica Neue"/>
                <a:ea typeface="Helvetica Neue"/>
                <a:cs typeface="Helvetica Neue"/>
              </a:rPr>
              <a:t>Actual paired dataset example. Each ranking excludes the reference image.</a:t>
            </a:r>
          </a:p>
        </p:txBody>
      </p:sp>
    </p:spTree>
    <p:extLst>
      <p:ext uri="{BB962C8B-B14F-4D97-AF65-F5344CB8AC3E}">
        <p14:creationId xmlns:p14="http://schemas.microsoft.com/office/powerpoint/2010/main" val="761391766"/>
      </p:ext>
    </p:extLst>
  </p:cSld>
</p:sld>
</file>

<file path=ppt/slides/slide14.xml><?xml version="1.0" encoding="utf-8"?>
<p:sld xmlns:p="http://schemas.openxmlformats.org/presentationml/2006/main">
  <p:cSld>
    <p:bg>
      <p:bgPr>
        <a:solidFill xmlns:a="http://schemas.openxmlformats.org/drawingml/2006/main">
          <a:srgbClr val="FAF8F3"/>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BFD8726-B6F1-4CA0-B9C9-7D853513745D}"/>
              </a:ext>
            </a:extLst>
          </p:cNvPr>
          <p:cNvSpPr>
            <a:spLocks xmlns:a="http://schemas.openxmlformats.org/drawingml/2006/main" noGrp="1"/>
          </p:cNvSpPr>
          <p:nvPr/>
        </p:nvSpPr>
        <p:spPr>
          <a:xfrm xmlns:a="http://schemas.openxmlformats.org/drawingml/2006/main">
            <a:off x="609600" y="3810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150" b="1">
                <a:solidFill>
                  <a:srgbClr val="17251F"/>
                </a:solidFill>
                <a:latin typeface="Helvetica Neue"/>
                <a:ea typeface="Helvetica Neue"/>
                <a:cs typeface="Helvetica Neue"/>
              </a:defRPr>
            </a:defPPr>
            <a:lvl1pPr>
              <a:defRPr sz="3150" b="1">
                <a:solidFill>
                  <a:srgbClr val="17251F"/>
                </a:solidFill>
                <a:latin typeface="Helvetica Neue"/>
                <a:ea typeface="Helvetica Neue"/>
                <a:cs typeface="Helvetica Neue"/>
              </a:defRPr>
            </a:lvl1pPr>
            <a:lvl2pPr>
              <a:defRPr sz="3150" b="1">
                <a:solidFill>
                  <a:srgbClr val="17251F"/>
                </a:solidFill>
                <a:latin typeface="Helvetica Neue"/>
                <a:ea typeface="Helvetica Neue"/>
                <a:cs typeface="Helvetica Neue"/>
              </a:defRPr>
            </a:lvl2pPr>
            <a:lvl3pPr>
              <a:defRPr sz="3150" b="1">
                <a:solidFill>
                  <a:srgbClr val="17251F"/>
                </a:solidFill>
                <a:latin typeface="Helvetica Neue"/>
                <a:ea typeface="Helvetica Neue"/>
                <a:cs typeface="Helvetica Neue"/>
              </a:defRPr>
            </a:lvl3pPr>
            <a:lvl4pPr>
              <a:defRPr sz="3150" b="1">
                <a:solidFill>
                  <a:srgbClr val="17251F"/>
                </a:solidFill>
                <a:latin typeface="Helvetica Neue"/>
                <a:ea typeface="Helvetica Neue"/>
                <a:cs typeface="Helvetica Neue"/>
              </a:defRPr>
            </a:lvl4pPr>
            <a:lvl5pPr>
              <a:defRPr sz="3150" b="1">
                <a:solidFill>
                  <a:srgbClr val="17251F"/>
                </a:solidFill>
                <a:latin typeface="Helvetica Neue"/>
                <a:ea typeface="Helvetica Neue"/>
                <a:cs typeface="Helvetica Neue"/>
              </a:defRPr>
            </a:lvl5pPr>
            <a:lvl6pPr>
              <a:defRPr sz="3150" b="1">
                <a:solidFill>
                  <a:srgbClr val="17251F"/>
                </a:solidFill>
                <a:latin typeface="Helvetica Neue"/>
                <a:ea typeface="Helvetica Neue"/>
                <a:cs typeface="Helvetica Neue"/>
              </a:defRPr>
            </a:lvl6pPr>
            <a:lvl7pPr>
              <a:defRPr sz="3150" b="1">
                <a:solidFill>
                  <a:srgbClr val="17251F"/>
                </a:solidFill>
                <a:latin typeface="Helvetica Neue"/>
                <a:ea typeface="Helvetica Neue"/>
                <a:cs typeface="Helvetica Neue"/>
              </a:defRPr>
            </a:lvl7pPr>
            <a:lvl8pPr>
              <a:defRPr sz="3150" b="1">
                <a:solidFill>
                  <a:srgbClr val="17251F"/>
                </a:solidFill>
                <a:latin typeface="Helvetica Neue"/>
                <a:ea typeface="Helvetica Neue"/>
                <a:cs typeface="Helvetica Neue"/>
              </a:defRPr>
            </a:lvl8pPr>
            <a:lvl9pPr>
              <a:defRPr sz="3150" b="1">
                <a:solidFill>
                  <a:srgbClr val="17251F"/>
                </a:solidFill>
                <a:latin typeface="Helvetica Neue"/>
                <a:ea typeface="Helvetica Neue"/>
                <a:cs typeface="Helvetica Neue"/>
              </a:defRPr>
            </a:lvl9pPr>
          </a:lstStyle>
          <a:p xmlns:a="http://schemas.openxmlformats.org/drawingml/2006/main">
            <a:pPr>
              <a:defRPr sz="3150" b="1">
                <a:solidFill>
                  <a:srgbClr val="17251F"/>
                </a:solidFill>
                <a:latin typeface="Helvetica Neue"/>
                <a:ea typeface="Helvetica Neue"/>
                <a:cs typeface="Helvetica Neue"/>
              </a:defRPr>
            </a:pPr>
            <a:r>
              <a:rPr sz="3150" b="1">
                <a:solidFill>
                  <a:srgbClr val="17251F"/>
                </a:solidFill>
                <a:latin typeface="Helvetica Neue"/>
                <a:ea typeface="Helvetica Neue"/>
                <a:cs typeface="Helvetica Neue"/>
              </a:rPr>
              <a:t>A small fusion model learns relative edits</a:t>
            </a:r>
          </a:p>
        </p:txBody>
      </p:sp>
      <p:sp>
        <p:nvSpPr>
          <p:cNvPr id="2" name="">
            <a:extLst xmlns:a="http://schemas.openxmlformats.org/drawingml/2006/main">
              <a:ext uri="{FF2B5EF4-FFF2-40B4-BE49-F238E27FC236}">
                <a16:creationId xmlns:a16="http://schemas.microsoft.com/office/drawing/2014/main" id="{A2178F05-4A13-4960-8FCF-9BC440613A68}"/>
              </a:ext>
            </a:extLst>
          </p:cNvPr>
          <p:cNvSpPr>
            <a:spLocks xmlns:a="http://schemas.openxmlformats.org/drawingml/2006/main" noGrp="1"/>
          </p:cNvSpPr>
          <p:nvPr/>
        </p:nvSpPr>
        <p:spPr>
          <a:xfrm xmlns:a="http://schemas.openxmlformats.org/drawingml/2006/main">
            <a:off x="628650" y="1057275"/>
            <a:ext cx="109347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566760"/>
                </a:solidFill>
                <a:latin typeface="Helvetica Neue"/>
                <a:ea typeface="Helvetica Neue"/>
                <a:cs typeface="Helvetica Neue"/>
              </a:defRPr>
            </a:defPPr>
            <a:lvl1pPr>
              <a:defRPr sz="1800" b="0">
                <a:solidFill>
                  <a:srgbClr val="566760"/>
                </a:solidFill>
                <a:latin typeface="Helvetica Neue"/>
                <a:ea typeface="Helvetica Neue"/>
                <a:cs typeface="Helvetica Neue"/>
              </a:defRPr>
            </a:lvl1pPr>
            <a:lvl2pPr>
              <a:defRPr sz="1800" b="0">
                <a:solidFill>
                  <a:srgbClr val="566760"/>
                </a:solidFill>
                <a:latin typeface="Helvetica Neue"/>
                <a:ea typeface="Helvetica Neue"/>
                <a:cs typeface="Helvetica Neue"/>
              </a:defRPr>
            </a:lvl2pPr>
            <a:lvl3pPr>
              <a:defRPr sz="1800" b="0">
                <a:solidFill>
                  <a:srgbClr val="566760"/>
                </a:solidFill>
                <a:latin typeface="Helvetica Neue"/>
                <a:ea typeface="Helvetica Neue"/>
                <a:cs typeface="Helvetica Neue"/>
              </a:defRPr>
            </a:lvl3pPr>
            <a:lvl4pPr>
              <a:defRPr sz="1800" b="0">
                <a:solidFill>
                  <a:srgbClr val="566760"/>
                </a:solidFill>
                <a:latin typeface="Helvetica Neue"/>
                <a:ea typeface="Helvetica Neue"/>
                <a:cs typeface="Helvetica Neue"/>
              </a:defRPr>
            </a:lvl4pPr>
            <a:lvl5pPr>
              <a:defRPr sz="1800" b="0">
                <a:solidFill>
                  <a:srgbClr val="566760"/>
                </a:solidFill>
                <a:latin typeface="Helvetica Neue"/>
                <a:ea typeface="Helvetica Neue"/>
                <a:cs typeface="Helvetica Neue"/>
              </a:defRPr>
            </a:lvl5pPr>
            <a:lvl6pPr>
              <a:defRPr sz="1800" b="0">
                <a:solidFill>
                  <a:srgbClr val="566760"/>
                </a:solidFill>
                <a:latin typeface="Helvetica Neue"/>
                <a:ea typeface="Helvetica Neue"/>
                <a:cs typeface="Helvetica Neue"/>
              </a:defRPr>
            </a:lvl6pPr>
            <a:lvl7pPr>
              <a:defRPr sz="1800" b="0">
                <a:solidFill>
                  <a:srgbClr val="566760"/>
                </a:solidFill>
                <a:latin typeface="Helvetica Neue"/>
                <a:ea typeface="Helvetica Neue"/>
                <a:cs typeface="Helvetica Neue"/>
              </a:defRPr>
            </a:lvl7pPr>
            <a:lvl8pPr>
              <a:defRPr sz="1800" b="0">
                <a:solidFill>
                  <a:srgbClr val="566760"/>
                </a:solidFill>
                <a:latin typeface="Helvetica Neue"/>
                <a:ea typeface="Helvetica Neue"/>
                <a:cs typeface="Helvetica Neue"/>
              </a:defRPr>
            </a:lvl8pPr>
            <a:lvl9pPr>
              <a:defRPr sz="1800" b="0">
                <a:solidFill>
                  <a:srgbClr val="566760"/>
                </a:solidFill>
                <a:latin typeface="Helvetica Neue"/>
                <a:ea typeface="Helvetica Neue"/>
                <a:cs typeface="Helvetica Neue"/>
              </a:defRPr>
            </a:lvl9pPr>
          </a:lstStyle>
          <a:p xmlns:a="http://schemas.openxmlformats.org/drawingml/2006/main">
            <a:pPr>
              <a:defRPr sz="1800" b="0">
                <a:solidFill>
                  <a:srgbClr val="566760"/>
                </a:solidFill>
                <a:latin typeface="Helvetica Neue"/>
                <a:ea typeface="Helvetica Neue"/>
                <a:cs typeface="Helvetica Neue"/>
              </a:defRPr>
            </a:pPr>
            <a:r>
              <a:rPr sz="1800" b="0">
                <a:solidFill>
                  <a:srgbClr val="566760"/>
                </a:solidFill>
                <a:latin typeface="Helvetica Neue"/>
                <a:ea typeface="Helvetica Neue"/>
                <a:cs typeface="Helvetica Neue"/>
              </a:rPr>
              <a:t>Frozen CLIP encodes both the reference photograph and the modification text.</a:t>
            </a:r>
          </a:p>
        </p:txBody>
      </p:sp>
      <p:sp>
        <p:nvSpPr>
          <p:cNvPr id="3" name="">
            <a:extLst xmlns:a="http://schemas.openxmlformats.org/drawingml/2006/main">
              <a:ext uri="{FF2B5EF4-FFF2-40B4-BE49-F238E27FC236}">
                <a16:creationId xmlns:a16="http://schemas.microsoft.com/office/drawing/2014/main" id="{E5AD404A-23A0-4361-A155-58A51CA4FDB6}"/>
              </a:ext>
            </a:extLst>
          </p:cNvPr>
          <p:cNvSpPr>
            <a:spLocks xmlns:a="http://schemas.openxmlformats.org/drawingml/2006/main" noGrp="1"/>
          </p:cNvSpPr>
          <p:nvPr/>
        </p:nvSpPr>
        <p:spPr>
          <a:xfrm xmlns:a="http://schemas.openxmlformats.org/drawingml/2006/main">
            <a:off x="11106150" y="6457950"/>
            <a:ext cx="47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00" b="0">
                <a:solidFill>
                  <a:srgbClr val="566760"/>
                </a:solidFill>
                <a:latin typeface="Helvetica Neue"/>
                <a:ea typeface="Helvetica Neue"/>
                <a:cs typeface="Helvetica Neue"/>
              </a:defRPr>
            </a:defPPr>
            <a:lvl1pPr algn="r">
              <a:defRPr sz="1200" b="0">
                <a:solidFill>
                  <a:srgbClr val="566760"/>
                </a:solidFill>
                <a:latin typeface="Helvetica Neue"/>
                <a:ea typeface="Helvetica Neue"/>
                <a:cs typeface="Helvetica Neue"/>
              </a:defRPr>
            </a:lvl1pPr>
            <a:lvl2pPr algn="r">
              <a:defRPr sz="1200" b="0">
                <a:solidFill>
                  <a:srgbClr val="566760"/>
                </a:solidFill>
                <a:latin typeface="Helvetica Neue"/>
                <a:ea typeface="Helvetica Neue"/>
                <a:cs typeface="Helvetica Neue"/>
              </a:defRPr>
            </a:lvl2pPr>
            <a:lvl3pPr algn="r">
              <a:defRPr sz="1200" b="0">
                <a:solidFill>
                  <a:srgbClr val="566760"/>
                </a:solidFill>
                <a:latin typeface="Helvetica Neue"/>
                <a:ea typeface="Helvetica Neue"/>
                <a:cs typeface="Helvetica Neue"/>
              </a:defRPr>
            </a:lvl3pPr>
            <a:lvl4pPr algn="r">
              <a:defRPr sz="1200" b="0">
                <a:solidFill>
                  <a:srgbClr val="566760"/>
                </a:solidFill>
                <a:latin typeface="Helvetica Neue"/>
                <a:ea typeface="Helvetica Neue"/>
                <a:cs typeface="Helvetica Neue"/>
              </a:defRPr>
            </a:lvl4pPr>
            <a:lvl5pPr algn="r">
              <a:defRPr sz="1200" b="0">
                <a:solidFill>
                  <a:srgbClr val="566760"/>
                </a:solidFill>
                <a:latin typeface="Helvetica Neue"/>
                <a:ea typeface="Helvetica Neue"/>
                <a:cs typeface="Helvetica Neue"/>
              </a:defRPr>
            </a:lvl5pPr>
            <a:lvl6pPr algn="r">
              <a:defRPr sz="1200" b="0">
                <a:solidFill>
                  <a:srgbClr val="566760"/>
                </a:solidFill>
                <a:latin typeface="Helvetica Neue"/>
                <a:ea typeface="Helvetica Neue"/>
                <a:cs typeface="Helvetica Neue"/>
              </a:defRPr>
            </a:lvl6pPr>
            <a:lvl7pPr algn="r">
              <a:defRPr sz="1200" b="0">
                <a:solidFill>
                  <a:srgbClr val="566760"/>
                </a:solidFill>
                <a:latin typeface="Helvetica Neue"/>
                <a:ea typeface="Helvetica Neue"/>
                <a:cs typeface="Helvetica Neue"/>
              </a:defRPr>
            </a:lvl7pPr>
            <a:lvl8pPr algn="r">
              <a:defRPr sz="1200" b="0">
                <a:solidFill>
                  <a:srgbClr val="566760"/>
                </a:solidFill>
                <a:latin typeface="Helvetica Neue"/>
                <a:ea typeface="Helvetica Neue"/>
                <a:cs typeface="Helvetica Neue"/>
              </a:defRPr>
            </a:lvl8pPr>
            <a:lvl9pPr algn="r">
              <a:defRPr sz="1200" b="0">
                <a:solidFill>
                  <a:srgbClr val="566760"/>
                </a:solidFill>
                <a:latin typeface="Helvetica Neue"/>
                <a:ea typeface="Helvetica Neue"/>
                <a:cs typeface="Helvetica Neue"/>
              </a:defRPr>
            </a:lvl9pPr>
          </a:lstStyle>
          <a:p xmlns:a="http://schemas.openxmlformats.org/drawingml/2006/main">
            <a:pPr algn="r">
              <a:defRPr sz="1200" b="0">
                <a:solidFill>
                  <a:srgbClr val="566760"/>
                </a:solidFill>
                <a:latin typeface="Helvetica Neue"/>
                <a:ea typeface="Helvetica Neue"/>
                <a:cs typeface="Helvetica Neue"/>
              </a:defRPr>
            </a:pPr>
            <a:r>
              <a:rPr sz="1200" b="0">
                <a:solidFill>
                  <a:srgbClr val="566760"/>
                </a:solidFill>
                <a:latin typeface="Helvetica Neue"/>
                <a:ea typeface="Helvetica Neue"/>
                <a:cs typeface="Helvetica Neue"/>
              </a:rPr>
              <a:t>14</a:t>
            </a:r>
          </a:p>
        </p:txBody>
      </p:sp>
      <p:graphicFrame>
        <p:nvGraphicFramePr>
          <p:cNvPr id="4" name="">
            <a:extLst xmlns:a="http://schemas.openxmlformats.org/drawingml/2006/main">
              <a:ext uri="{FF2B5EF4-FFF2-40B4-BE49-F238E27FC236}">
                <a16:creationId xmlns:a16="http://schemas.microsoft.com/office/drawing/2014/main" id="{7071C37E-BF2E-416B-8F8E-CC19538F6D87}"/>
              </a:ext>
            </a:extLst>
          </p:cNvPr>
          <p:cNvGraphicFramePr/>
          <p:nvPr/>
        </p:nvGraphicFramePr>
        <p:xfrm>
          <a:off xmlns:a="http://schemas.openxmlformats.org/drawingml/2006/main" x="609600" y="1866900"/>
          <a:ext xmlns:a="http://schemas.openxmlformats.org/drawingml/2006/main" cx="10972800" cy="1895475"/>
        </p:xfrm>
        <a:graphic xmlns:a="http://schemas.openxmlformats.org/drawingml/2006/main">
          <a:graphicData uri="http://schemas.openxmlformats.org/drawingml/2006/table">
            <a:tbl>
              <a:tblPr/>
              <a:tblGrid>
                <a:gridCol w="4333875"/>
                <a:gridCol w="3190875"/>
                <a:gridCol w="3448050"/>
              </a:tblGrid>
              <a:tr h="947738">
                <a:tc>
                  <a:txBody>
                    <a:bodyPr/>
                    <a:lstStyle/>
                    <a:p>
                      <a:r>
                        <a:rPr sz="1875" b="1">
                          <a:solidFill>
                            <a:srgbClr val="FFFFFF"/>
                          </a:solidFill>
                          <a:latin typeface="Helvetica Neue"/>
                          <a:ea typeface="Helvetica Neue"/>
                          <a:cs typeface="Helvetica Neue"/>
                        </a:rPr>
                        <a:t>Input features</a:t>
                      </a:r>
                    </a:p>
                  </a:txBody>
                  <a:tcPr marL="133350" marR="133350" marT="76200" marB="57150" anchor="t">
                    <a:lnL w="9525">
                      <a:solidFill>
                        <a:srgbClr val="E3E8E2"/>
                      </a:solidFill>
                      <a:prstDash val="solid"/>
                    </a:lnL>
                    <a:lnR w="9525">
                      <a:solidFill>
                        <a:srgbClr val="E3E8E2"/>
                      </a:solidFill>
                      <a:prstDash val="solid"/>
                    </a:lnR>
                    <a:lnT w="9525">
                      <a:solidFill>
                        <a:srgbClr val="E3E8E2"/>
                      </a:solidFill>
                      <a:prstDash val="solid"/>
                    </a:lnT>
                    <a:lnB w="9525">
                      <a:solidFill>
                        <a:srgbClr val="E3E8E2"/>
                      </a:solidFill>
                      <a:prstDash val="solid"/>
                    </a:lnB>
                    <a:solidFill>
                      <a:srgbClr val="17251F"/>
                    </a:solidFill>
                  </a:tcPr>
                </a:tc>
                <a:tc>
                  <a:txBody>
                    <a:bodyPr/>
                    <a:lstStyle/>
                    <a:p>
                      <a:r>
                        <a:rPr sz="1875" b="1">
                          <a:solidFill>
                            <a:srgbClr val="FFFFFF"/>
                          </a:solidFill>
                          <a:latin typeface="Helvetica Neue"/>
                          <a:ea typeface="Helvetica Neue"/>
                          <a:cs typeface="Helvetica Neue"/>
                        </a:rPr>
                        <a:t>Trainable mapping</a:t>
                      </a:r>
                    </a:p>
                  </a:txBody>
                  <a:tcPr marL="133350" marR="133350" marT="76200" marB="57150" anchor="t">
                    <a:lnR w="9525">
                      <a:solidFill>
                        <a:srgbClr val="E3E8E2"/>
                      </a:solidFill>
                      <a:prstDash val="solid"/>
                    </a:lnR>
                    <a:lnT w="9525">
                      <a:solidFill>
                        <a:srgbClr val="E3E8E2"/>
                      </a:solidFill>
                      <a:prstDash val="solid"/>
                    </a:lnT>
                    <a:lnB w="9525">
                      <a:solidFill>
                        <a:srgbClr val="E3E8E2"/>
                      </a:solidFill>
                      <a:prstDash val="solid"/>
                    </a:lnB>
                    <a:solidFill>
                      <a:srgbClr val="17251F"/>
                    </a:solidFill>
                  </a:tcPr>
                </a:tc>
                <a:tc>
                  <a:txBody>
                    <a:bodyPr/>
                    <a:lstStyle/>
                    <a:p>
                      <a:r>
                        <a:rPr sz="1875" b="1">
                          <a:solidFill>
                            <a:srgbClr val="FFFFFF"/>
                          </a:solidFill>
                          <a:latin typeface="Helvetica Neue"/>
                          <a:ea typeface="Helvetica Neue"/>
                          <a:cs typeface="Helvetica Neue"/>
                        </a:rPr>
                        <a:t>Retrieval</a:t>
                      </a:r>
                    </a:p>
                  </a:txBody>
                  <a:tcPr marL="133350" marR="133350" marT="76200" marB="57150" anchor="t">
                    <a:lnR w="9525">
                      <a:solidFill>
                        <a:srgbClr val="E3E8E2"/>
                      </a:solidFill>
                      <a:prstDash val="solid"/>
                    </a:lnR>
                    <a:lnT w="9525">
                      <a:solidFill>
                        <a:srgbClr val="E3E8E2"/>
                      </a:solidFill>
                      <a:prstDash val="solid"/>
                    </a:lnT>
                    <a:lnB w="9525">
                      <a:solidFill>
                        <a:srgbClr val="E3E8E2"/>
                      </a:solidFill>
                      <a:prstDash val="solid"/>
                    </a:lnB>
                    <a:solidFill>
                      <a:srgbClr val="17251F"/>
                    </a:solidFill>
                  </a:tcPr>
                </a:tc>
              </a:tr>
              <a:tr h="947738">
                <a:tc>
                  <a:txBody>
                    <a:bodyPr/>
                    <a:lstStyle/>
                    <a:p>
                      <a:r>
                        <a:rPr sz="1875" b="0">
                          <a:solidFill>
                            <a:srgbClr val="17251F"/>
                          </a:solidFill>
                          <a:latin typeface="Helvetica Neue"/>
                          <a:ea typeface="Helvetica Neue"/>
                          <a:cs typeface="Helvetica Neue"/>
                        </a:rPr>
                        <a:t>Reference, text and their interaction</a:t>
                      </a:r>
                    </a:p>
                    <a:p>
                      <a:r>
                        <a:rPr sz="1875" b="0">
                          <a:solidFill>
                            <a:srgbClr val="17251F"/>
                          </a:solidFill>
                          <a:latin typeface="Helvetica Neue"/>
                          <a:ea typeface="Helvetica Neue"/>
                          <a:cs typeface="Helvetica Neue"/>
                        </a:rPr>
                        <a:t>512 + 512 + 512 dimensions</a:t>
                      </a:r>
                    </a:p>
                  </a:txBody>
                  <a:tcPr marL="133350" marR="133350" marT="76200" marB="57150" anchor="t">
                    <a:lnL w="9525">
                      <a:solidFill>
                        <a:srgbClr val="E3E8E2"/>
                      </a:solidFill>
                      <a:prstDash val="solid"/>
                    </a:lnL>
                    <a:lnR w="9525">
                      <a:solidFill>
                        <a:srgbClr val="E3E8E2"/>
                      </a:solidFill>
                      <a:prstDash val="solid"/>
                    </a:lnR>
                    <a:lnB w="9525">
                      <a:solidFill>
                        <a:srgbClr val="E3E8E2"/>
                      </a:solidFill>
                      <a:prstDash val="solid"/>
                    </a:lnB>
                    <a:solidFill>
                      <a:srgbClr val="FAF8F3"/>
                    </a:solidFill>
                  </a:tcPr>
                </a:tc>
                <a:tc>
                  <a:txBody>
                    <a:bodyPr/>
                    <a:lstStyle/>
                    <a:p>
                      <a:r>
                        <a:rPr sz="1875" b="0">
                          <a:solidFill>
                            <a:srgbClr val="17251F"/>
                          </a:solidFill>
                          <a:latin typeface="Helvetica Neue"/>
                          <a:ea typeface="Helvetica Neue"/>
                          <a:cs typeface="Helvetica Neue"/>
                        </a:rPr>
                        <a:t>Residual MLP</a:t>
                      </a:r>
                    </a:p>
                    <a:p>
                      <a:r>
                        <a:rPr sz="1875" b="0">
                          <a:solidFill>
                            <a:srgbClr val="17251F"/>
                          </a:solidFill>
                          <a:latin typeface="Helvetica Neue"/>
                          <a:ea typeface="Helvetica Neue"/>
                          <a:cs typeface="Helvetica Neue"/>
                        </a:rPr>
                        <a:t>1,536 to 128 to 512</a:t>
                      </a:r>
                    </a:p>
                  </a:txBody>
                  <a:tcPr marL="133350" marR="133350" marT="76200" marB="57150" anchor="t">
                    <a:lnR w="9525">
                      <a:solidFill>
                        <a:srgbClr val="E3E8E2"/>
                      </a:solidFill>
                      <a:prstDash val="solid"/>
                    </a:lnR>
                    <a:lnB w="9525">
                      <a:solidFill>
                        <a:srgbClr val="E3E8E2"/>
                      </a:solidFill>
                      <a:prstDash val="solid"/>
                    </a:lnB>
                    <a:solidFill>
                      <a:srgbClr val="FAF8F3"/>
                    </a:solidFill>
                  </a:tcPr>
                </a:tc>
                <a:tc>
                  <a:txBody>
                    <a:bodyPr/>
                    <a:lstStyle/>
                    <a:p>
                      <a:r>
                        <a:rPr sz="1875" b="0">
                          <a:solidFill>
                            <a:srgbClr val="17251F"/>
                          </a:solidFill>
                          <a:latin typeface="Helvetica Neue"/>
                          <a:ea typeface="Helvetica Neue"/>
                          <a:cs typeface="Helvetica Neue"/>
                        </a:rPr>
                        <a:t>Cosine similarity to</a:t>
                      </a:r>
                    </a:p>
                    <a:p>
                      <a:r>
                        <a:rPr sz="1875" b="0">
                          <a:solidFill>
                            <a:srgbClr val="17251F"/>
                          </a:solidFill>
                          <a:latin typeface="Helvetica Neue"/>
                          <a:ea typeface="Helvetica Neue"/>
                          <a:cs typeface="Helvetica Neue"/>
                        </a:rPr>
                        <a:t>frozen gallery image vectors</a:t>
                      </a:r>
                    </a:p>
                  </a:txBody>
                  <a:tcPr marL="133350" marR="133350" marT="76200" marB="57150" anchor="t">
                    <a:lnR w="9525">
                      <a:solidFill>
                        <a:srgbClr val="E3E8E2"/>
                      </a:solidFill>
                      <a:prstDash val="solid"/>
                    </a:lnR>
                    <a:lnB w="9525">
                      <a:solidFill>
                        <a:srgbClr val="E3E8E2"/>
                      </a:solidFill>
                      <a:prstDash val="solid"/>
                    </a:lnB>
                    <a:solidFill>
                      <a:srgbClr val="FAF8F3"/>
                    </a:solidFill>
                  </a:tcPr>
                </a:tc>
              </a:tr>
            </a:tbl>
          </a:graphicData>
        </a:graphic>
      </p:graphicFrame>
      <p:sp>
        <p:nvSpPr>
          <p:cNvPr id="5" name="">
            <a:extLst xmlns:a="http://schemas.openxmlformats.org/drawingml/2006/main">
              <a:ext uri="{FF2B5EF4-FFF2-40B4-BE49-F238E27FC236}">
                <a16:creationId xmlns:a16="http://schemas.microsoft.com/office/drawing/2014/main" id="{7B87002F-98FF-44FF-997E-AA8F2AD03FC1}"/>
              </a:ext>
            </a:extLst>
          </p:cNvPr>
          <p:cNvSpPr>
            <a:spLocks xmlns:a="http://schemas.openxmlformats.org/drawingml/2006/main" noGrp="1"/>
          </p:cNvSpPr>
          <p:nvPr/>
        </p:nvSpPr>
        <p:spPr>
          <a:xfrm xmlns:a="http://schemas.openxmlformats.org/drawingml/2006/main">
            <a:off x="628650" y="4171950"/>
            <a:ext cx="4953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75" b="1">
                <a:solidFill>
                  <a:srgbClr val="087E80"/>
                </a:solidFill>
                <a:latin typeface="Helvetica Neue"/>
                <a:ea typeface="Helvetica Neue"/>
                <a:cs typeface="Helvetica Neue"/>
              </a:defRPr>
            </a:defPPr>
            <a:lvl1pPr>
              <a:defRPr sz="2475" b="1">
                <a:solidFill>
                  <a:srgbClr val="087E80"/>
                </a:solidFill>
                <a:latin typeface="Helvetica Neue"/>
                <a:ea typeface="Helvetica Neue"/>
                <a:cs typeface="Helvetica Neue"/>
              </a:defRPr>
            </a:lvl1pPr>
            <a:lvl2pPr>
              <a:defRPr sz="2475" b="1">
                <a:solidFill>
                  <a:srgbClr val="087E80"/>
                </a:solidFill>
                <a:latin typeface="Helvetica Neue"/>
                <a:ea typeface="Helvetica Neue"/>
                <a:cs typeface="Helvetica Neue"/>
              </a:defRPr>
            </a:lvl2pPr>
            <a:lvl3pPr>
              <a:defRPr sz="2475" b="1">
                <a:solidFill>
                  <a:srgbClr val="087E80"/>
                </a:solidFill>
                <a:latin typeface="Helvetica Neue"/>
                <a:ea typeface="Helvetica Neue"/>
                <a:cs typeface="Helvetica Neue"/>
              </a:defRPr>
            </a:lvl3pPr>
            <a:lvl4pPr>
              <a:defRPr sz="2475" b="1">
                <a:solidFill>
                  <a:srgbClr val="087E80"/>
                </a:solidFill>
                <a:latin typeface="Helvetica Neue"/>
                <a:ea typeface="Helvetica Neue"/>
                <a:cs typeface="Helvetica Neue"/>
              </a:defRPr>
            </a:lvl4pPr>
            <a:lvl5pPr>
              <a:defRPr sz="2475" b="1">
                <a:solidFill>
                  <a:srgbClr val="087E80"/>
                </a:solidFill>
                <a:latin typeface="Helvetica Neue"/>
                <a:ea typeface="Helvetica Neue"/>
                <a:cs typeface="Helvetica Neue"/>
              </a:defRPr>
            </a:lvl5pPr>
            <a:lvl6pPr>
              <a:defRPr sz="2475" b="1">
                <a:solidFill>
                  <a:srgbClr val="087E80"/>
                </a:solidFill>
                <a:latin typeface="Helvetica Neue"/>
                <a:ea typeface="Helvetica Neue"/>
                <a:cs typeface="Helvetica Neue"/>
              </a:defRPr>
            </a:lvl6pPr>
            <a:lvl7pPr>
              <a:defRPr sz="2475" b="1">
                <a:solidFill>
                  <a:srgbClr val="087E80"/>
                </a:solidFill>
                <a:latin typeface="Helvetica Neue"/>
                <a:ea typeface="Helvetica Neue"/>
                <a:cs typeface="Helvetica Neue"/>
              </a:defRPr>
            </a:lvl7pPr>
            <a:lvl8pPr>
              <a:defRPr sz="2475" b="1">
                <a:solidFill>
                  <a:srgbClr val="087E80"/>
                </a:solidFill>
                <a:latin typeface="Helvetica Neue"/>
                <a:ea typeface="Helvetica Neue"/>
                <a:cs typeface="Helvetica Neue"/>
              </a:defRPr>
            </a:lvl8pPr>
            <a:lvl9pPr>
              <a:defRPr sz="2475" b="1">
                <a:solidFill>
                  <a:srgbClr val="087E80"/>
                </a:solidFill>
                <a:latin typeface="Helvetica Neue"/>
                <a:ea typeface="Helvetica Neue"/>
                <a:cs typeface="Helvetica Neue"/>
              </a:defRPr>
            </a:lvl9pPr>
          </a:lstStyle>
          <a:p xmlns:a="http://schemas.openxmlformats.org/drawingml/2006/main">
            <a:pPr>
              <a:defRPr sz="2475" b="1">
                <a:solidFill>
                  <a:srgbClr val="087E80"/>
                </a:solidFill>
                <a:latin typeface="Helvetica Neue"/>
                <a:ea typeface="Helvetica Neue"/>
                <a:cs typeface="Helvetica Neue"/>
              </a:defRPr>
            </a:pPr>
            <a:r>
              <a:rPr sz="2475" b="1">
                <a:solidFill>
                  <a:srgbClr val="087E80"/>
                </a:solidFill>
                <a:latin typeface="Helvetica Neue"/>
                <a:ea typeface="Helvetica Neue"/>
                <a:cs typeface="Helvetica Neue"/>
              </a:rPr>
              <a:t>262,784 trainable parameters</a:t>
            </a:r>
          </a:p>
        </p:txBody>
      </p:sp>
      <p:sp>
        <p:nvSpPr>
          <p:cNvPr id="6" name="">
            <a:extLst xmlns:a="http://schemas.openxmlformats.org/drawingml/2006/main">
              <a:ext uri="{FF2B5EF4-FFF2-40B4-BE49-F238E27FC236}">
                <a16:creationId xmlns:a16="http://schemas.microsoft.com/office/drawing/2014/main" id="{14C66B4E-34B1-43FE-871C-2D08A0400309}"/>
              </a:ext>
            </a:extLst>
          </p:cNvPr>
          <p:cNvSpPr>
            <a:spLocks xmlns:a="http://schemas.openxmlformats.org/drawingml/2006/main" noGrp="1"/>
          </p:cNvSpPr>
          <p:nvPr/>
        </p:nvSpPr>
        <p:spPr>
          <a:xfrm xmlns:a="http://schemas.openxmlformats.org/drawingml/2006/main">
            <a:off x="6372225" y="4171950"/>
            <a:ext cx="5210175"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75" b="1">
                <a:solidFill>
                  <a:srgbClr val="087E80"/>
                </a:solidFill>
                <a:latin typeface="Helvetica Neue"/>
                <a:ea typeface="Helvetica Neue"/>
                <a:cs typeface="Helvetica Neue"/>
              </a:defRPr>
            </a:defPPr>
            <a:lvl1pPr>
              <a:defRPr sz="2475" b="1">
                <a:solidFill>
                  <a:srgbClr val="087E80"/>
                </a:solidFill>
                <a:latin typeface="Helvetica Neue"/>
                <a:ea typeface="Helvetica Neue"/>
                <a:cs typeface="Helvetica Neue"/>
              </a:defRPr>
            </a:lvl1pPr>
            <a:lvl2pPr>
              <a:defRPr sz="2475" b="1">
                <a:solidFill>
                  <a:srgbClr val="087E80"/>
                </a:solidFill>
                <a:latin typeface="Helvetica Neue"/>
                <a:ea typeface="Helvetica Neue"/>
                <a:cs typeface="Helvetica Neue"/>
              </a:defRPr>
            </a:lvl2pPr>
            <a:lvl3pPr>
              <a:defRPr sz="2475" b="1">
                <a:solidFill>
                  <a:srgbClr val="087E80"/>
                </a:solidFill>
                <a:latin typeface="Helvetica Neue"/>
                <a:ea typeface="Helvetica Neue"/>
                <a:cs typeface="Helvetica Neue"/>
              </a:defRPr>
            </a:lvl3pPr>
            <a:lvl4pPr>
              <a:defRPr sz="2475" b="1">
                <a:solidFill>
                  <a:srgbClr val="087E80"/>
                </a:solidFill>
                <a:latin typeface="Helvetica Neue"/>
                <a:ea typeface="Helvetica Neue"/>
                <a:cs typeface="Helvetica Neue"/>
              </a:defRPr>
            </a:lvl4pPr>
            <a:lvl5pPr>
              <a:defRPr sz="2475" b="1">
                <a:solidFill>
                  <a:srgbClr val="087E80"/>
                </a:solidFill>
                <a:latin typeface="Helvetica Neue"/>
                <a:ea typeface="Helvetica Neue"/>
                <a:cs typeface="Helvetica Neue"/>
              </a:defRPr>
            </a:lvl5pPr>
            <a:lvl6pPr>
              <a:defRPr sz="2475" b="1">
                <a:solidFill>
                  <a:srgbClr val="087E80"/>
                </a:solidFill>
                <a:latin typeface="Helvetica Neue"/>
                <a:ea typeface="Helvetica Neue"/>
                <a:cs typeface="Helvetica Neue"/>
              </a:defRPr>
            </a:lvl6pPr>
            <a:lvl7pPr>
              <a:defRPr sz="2475" b="1">
                <a:solidFill>
                  <a:srgbClr val="087E80"/>
                </a:solidFill>
                <a:latin typeface="Helvetica Neue"/>
                <a:ea typeface="Helvetica Neue"/>
                <a:cs typeface="Helvetica Neue"/>
              </a:defRPr>
            </a:lvl7pPr>
            <a:lvl8pPr>
              <a:defRPr sz="2475" b="1">
                <a:solidFill>
                  <a:srgbClr val="087E80"/>
                </a:solidFill>
                <a:latin typeface="Helvetica Neue"/>
                <a:ea typeface="Helvetica Neue"/>
                <a:cs typeface="Helvetica Neue"/>
              </a:defRPr>
            </a:lvl8pPr>
            <a:lvl9pPr>
              <a:defRPr sz="2475" b="1">
                <a:solidFill>
                  <a:srgbClr val="087E80"/>
                </a:solidFill>
                <a:latin typeface="Helvetica Neue"/>
                <a:ea typeface="Helvetica Neue"/>
                <a:cs typeface="Helvetica Neue"/>
              </a:defRPr>
            </a:lvl9pPr>
          </a:lstStyle>
          <a:p xmlns:a="http://schemas.openxmlformats.org/drawingml/2006/main">
            <a:pPr>
              <a:defRPr sz="2475" b="1">
                <a:solidFill>
                  <a:srgbClr val="087E80"/>
                </a:solidFill>
                <a:latin typeface="Helvetica Neue"/>
                <a:ea typeface="Helvetica Neue"/>
                <a:cs typeface="Helvetica Neue"/>
              </a:defRPr>
            </a:pPr>
            <a:r>
              <a:rPr sz="2475" b="1">
                <a:solidFill>
                  <a:srgbClr val="087E80"/>
                </a:solidFill>
                <a:latin typeface="Helvetica Neue"/>
                <a:ea typeface="Helvetica Neue"/>
                <a:cs typeface="Helvetica Neue"/>
              </a:rPr>
              <a:t>850 train / 82 dev / 287 eval</a:t>
            </a:r>
          </a:p>
        </p:txBody>
      </p:sp>
      <p:sp>
        <p:nvSpPr>
          <p:cNvPr id="7" name="">
            <a:extLst xmlns:a="http://schemas.openxmlformats.org/drawingml/2006/main">
              <a:ext uri="{FF2B5EF4-FFF2-40B4-BE49-F238E27FC236}">
                <a16:creationId xmlns:a16="http://schemas.microsoft.com/office/drawing/2014/main" id="{1FCED716-3241-4615-B373-71B0D1BC6C50}"/>
              </a:ext>
            </a:extLst>
          </p:cNvPr>
          <p:cNvSpPr>
            <a:spLocks xmlns:a="http://schemas.openxmlformats.org/drawingml/2006/main" noGrp="1"/>
          </p:cNvSpPr>
          <p:nvPr/>
        </p:nvSpPr>
        <p:spPr>
          <a:xfrm xmlns:a="http://schemas.openxmlformats.org/drawingml/2006/main">
            <a:off x="628650" y="4848225"/>
            <a:ext cx="109251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00" b="0">
                <a:solidFill>
                  <a:srgbClr val="17251F"/>
                </a:solidFill>
                <a:latin typeface="Helvetica Neue"/>
                <a:ea typeface="Helvetica Neue"/>
                <a:cs typeface="Helvetica Neue"/>
              </a:defRPr>
            </a:defPPr>
            <a:lvl1pPr>
              <a:defRPr sz="2100" b="0">
                <a:solidFill>
                  <a:srgbClr val="17251F"/>
                </a:solidFill>
                <a:latin typeface="Helvetica Neue"/>
                <a:ea typeface="Helvetica Neue"/>
                <a:cs typeface="Helvetica Neue"/>
              </a:defRPr>
            </a:lvl1pPr>
            <a:lvl2pPr>
              <a:defRPr sz="2100" b="0">
                <a:solidFill>
                  <a:srgbClr val="17251F"/>
                </a:solidFill>
                <a:latin typeface="Helvetica Neue"/>
                <a:ea typeface="Helvetica Neue"/>
                <a:cs typeface="Helvetica Neue"/>
              </a:defRPr>
            </a:lvl2pPr>
            <a:lvl3pPr>
              <a:defRPr sz="2100" b="0">
                <a:solidFill>
                  <a:srgbClr val="17251F"/>
                </a:solidFill>
                <a:latin typeface="Helvetica Neue"/>
                <a:ea typeface="Helvetica Neue"/>
                <a:cs typeface="Helvetica Neue"/>
              </a:defRPr>
            </a:lvl3pPr>
            <a:lvl4pPr>
              <a:defRPr sz="2100" b="0">
                <a:solidFill>
                  <a:srgbClr val="17251F"/>
                </a:solidFill>
                <a:latin typeface="Helvetica Neue"/>
                <a:ea typeface="Helvetica Neue"/>
                <a:cs typeface="Helvetica Neue"/>
              </a:defRPr>
            </a:lvl4pPr>
            <a:lvl5pPr>
              <a:defRPr sz="2100" b="0">
                <a:solidFill>
                  <a:srgbClr val="17251F"/>
                </a:solidFill>
                <a:latin typeface="Helvetica Neue"/>
                <a:ea typeface="Helvetica Neue"/>
                <a:cs typeface="Helvetica Neue"/>
              </a:defRPr>
            </a:lvl5pPr>
            <a:lvl6pPr>
              <a:defRPr sz="2100" b="0">
                <a:solidFill>
                  <a:srgbClr val="17251F"/>
                </a:solidFill>
                <a:latin typeface="Helvetica Neue"/>
                <a:ea typeface="Helvetica Neue"/>
                <a:cs typeface="Helvetica Neue"/>
              </a:defRPr>
            </a:lvl6pPr>
            <a:lvl7pPr>
              <a:defRPr sz="2100" b="0">
                <a:solidFill>
                  <a:srgbClr val="17251F"/>
                </a:solidFill>
                <a:latin typeface="Helvetica Neue"/>
                <a:ea typeface="Helvetica Neue"/>
                <a:cs typeface="Helvetica Neue"/>
              </a:defRPr>
            </a:lvl7pPr>
            <a:lvl8pPr>
              <a:defRPr sz="2100" b="0">
                <a:solidFill>
                  <a:srgbClr val="17251F"/>
                </a:solidFill>
                <a:latin typeface="Helvetica Neue"/>
                <a:ea typeface="Helvetica Neue"/>
                <a:cs typeface="Helvetica Neue"/>
              </a:defRPr>
            </a:lvl8pPr>
            <a:lvl9pPr>
              <a:defRPr sz="2100" b="0">
                <a:solidFill>
                  <a:srgbClr val="17251F"/>
                </a:solidFill>
                <a:latin typeface="Helvetica Neue"/>
                <a:ea typeface="Helvetica Neue"/>
                <a:cs typeface="Helvetica Neue"/>
              </a:defRPr>
            </a:lvl9pPr>
          </a:lstStyle>
          <a:p xmlns:a="http://schemas.openxmlformats.org/drawingml/2006/main">
            <a:pPr>
              <a:defRPr sz="2100" b="0">
                <a:solidFill>
                  <a:srgbClr val="17251F"/>
                </a:solidFill>
                <a:latin typeface="Helvetica Neue"/>
                <a:ea typeface="Helvetica Neue"/>
                <a:cs typeface="Helvetica Neue"/>
              </a:defRPr>
            </a:pPr>
            <a:r>
              <a:rPr sz="2100" b="0">
                <a:solidFill>
                  <a:srgbClr val="17251F"/>
                </a:solidFill>
                <a:latin typeface="Helvetica Neue"/>
                <a:ea typeface="Helvetica Neue"/>
                <a:cs typeface="Helvetica Neue"/>
              </a:rPr>
              <a:t>Internal development selects epoch 12 of 40.</a:t>
            </a:r>
          </a:p>
        </p:txBody>
      </p:sp>
      <p:sp>
        <p:nvSpPr>
          <p:cNvPr id="8" name="">
            <a:extLst xmlns:a="http://schemas.openxmlformats.org/drawingml/2006/main">
              <a:ext uri="{FF2B5EF4-FFF2-40B4-BE49-F238E27FC236}">
                <a16:creationId xmlns:a16="http://schemas.microsoft.com/office/drawing/2014/main" id="{2B695FC9-FCB5-4F25-B840-00CA97CDDC1A}"/>
              </a:ext>
            </a:extLst>
          </p:cNvPr>
          <p:cNvSpPr>
            <a:spLocks xmlns:a="http://schemas.openxmlformats.org/drawingml/2006/main" noGrp="1"/>
          </p:cNvSpPr>
          <p:nvPr/>
        </p:nvSpPr>
        <p:spPr>
          <a:xfrm xmlns:a="http://schemas.openxmlformats.org/drawingml/2006/main">
            <a:off x="628650" y="5553075"/>
            <a:ext cx="1092517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75" b="0">
                <a:solidFill>
                  <a:srgbClr val="566760"/>
                </a:solidFill>
                <a:latin typeface="Helvetica Neue"/>
                <a:ea typeface="Helvetica Neue"/>
                <a:cs typeface="Helvetica Neue"/>
              </a:defRPr>
            </a:defPPr>
            <a:lvl1pPr>
              <a:defRPr sz="1875" b="0">
                <a:solidFill>
                  <a:srgbClr val="566760"/>
                </a:solidFill>
                <a:latin typeface="Helvetica Neue"/>
                <a:ea typeface="Helvetica Neue"/>
                <a:cs typeface="Helvetica Neue"/>
              </a:defRPr>
            </a:lvl1pPr>
            <a:lvl2pPr>
              <a:defRPr sz="1875" b="0">
                <a:solidFill>
                  <a:srgbClr val="566760"/>
                </a:solidFill>
                <a:latin typeface="Helvetica Neue"/>
                <a:ea typeface="Helvetica Neue"/>
                <a:cs typeface="Helvetica Neue"/>
              </a:defRPr>
            </a:lvl2pPr>
            <a:lvl3pPr>
              <a:defRPr sz="1875" b="0">
                <a:solidFill>
                  <a:srgbClr val="566760"/>
                </a:solidFill>
                <a:latin typeface="Helvetica Neue"/>
                <a:ea typeface="Helvetica Neue"/>
                <a:cs typeface="Helvetica Neue"/>
              </a:defRPr>
            </a:lvl3pPr>
            <a:lvl4pPr>
              <a:defRPr sz="1875" b="0">
                <a:solidFill>
                  <a:srgbClr val="566760"/>
                </a:solidFill>
                <a:latin typeface="Helvetica Neue"/>
                <a:ea typeface="Helvetica Neue"/>
                <a:cs typeface="Helvetica Neue"/>
              </a:defRPr>
            </a:lvl4pPr>
            <a:lvl5pPr>
              <a:defRPr sz="1875" b="0">
                <a:solidFill>
                  <a:srgbClr val="566760"/>
                </a:solidFill>
                <a:latin typeface="Helvetica Neue"/>
                <a:ea typeface="Helvetica Neue"/>
                <a:cs typeface="Helvetica Neue"/>
              </a:defRPr>
            </a:lvl5pPr>
            <a:lvl6pPr>
              <a:defRPr sz="1875" b="0">
                <a:solidFill>
                  <a:srgbClr val="566760"/>
                </a:solidFill>
                <a:latin typeface="Helvetica Neue"/>
                <a:ea typeface="Helvetica Neue"/>
                <a:cs typeface="Helvetica Neue"/>
              </a:defRPr>
            </a:lvl6pPr>
            <a:lvl7pPr>
              <a:defRPr sz="1875" b="0">
                <a:solidFill>
                  <a:srgbClr val="566760"/>
                </a:solidFill>
                <a:latin typeface="Helvetica Neue"/>
                <a:ea typeface="Helvetica Neue"/>
                <a:cs typeface="Helvetica Neue"/>
              </a:defRPr>
            </a:lvl7pPr>
            <a:lvl8pPr>
              <a:defRPr sz="1875" b="0">
                <a:solidFill>
                  <a:srgbClr val="566760"/>
                </a:solidFill>
                <a:latin typeface="Helvetica Neue"/>
                <a:ea typeface="Helvetica Neue"/>
                <a:cs typeface="Helvetica Neue"/>
              </a:defRPr>
            </a:lvl8pPr>
            <a:lvl9pPr>
              <a:defRPr sz="1875" b="0">
                <a:solidFill>
                  <a:srgbClr val="566760"/>
                </a:solidFill>
                <a:latin typeface="Helvetica Neue"/>
                <a:ea typeface="Helvetica Neue"/>
                <a:cs typeface="Helvetica Neue"/>
              </a:defRPr>
            </a:lvl9pPr>
          </a:lstStyle>
          <a:p xmlns:a="http://schemas.openxmlformats.org/drawingml/2006/main">
            <a:pPr>
              <a:defRPr sz="1875" b="0">
                <a:solidFill>
                  <a:srgbClr val="566760"/>
                </a:solidFill>
                <a:latin typeface="Helvetica Neue"/>
                <a:ea typeface="Helvetica Neue"/>
                <a:cs typeface="Helvetica Neue"/>
              </a:defRPr>
            </a:pPr>
            <a:r>
              <a:rPr sz="1875" b="0">
                <a:solidFill>
                  <a:srgbClr val="566760"/>
                </a:solidFill>
                <a:latin typeface="Helvetica Neue"/>
                <a:ea typeface="Helvetica Neue"/>
                <a:cs typeface="Helvetica Neue"/>
              </a:rPr>
              <a:t>Photo SHA checks remove cross-split duplicates. The fixed evaluation gallery and queries stay intact.</a:t>
            </a:r>
          </a:p>
        </p:txBody>
      </p:sp>
    </p:spTree>
    <p:extLst>
      <p:ext uri="{BB962C8B-B14F-4D97-AF65-F5344CB8AC3E}">
        <p14:creationId xmlns:p14="http://schemas.microsoft.com/office/powerpoint/2010/main" val="815321008"/>
      </p:ext>
    </p:extLst>
  </p:cSld>
</p:sld>
</file>

<file path=ppt/slides/slide15.xml><?xml version="1.0" encoding="utf-8"?>
<p:sld xmlns:p="http://schemas.openxmlformats.org/presentationml/2006/main">
  <p:cSld>
    <p:bg>
      <p:bgPr>
        <a:solidFill xmlns:a="http://schemas.openxmlformats.org/drawingml/2006/main">
          <a:srgbClr val="FAF8F3"/>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2BB2F669-04C3-4AEE-85CB-7909CF6CA375}"/>
              </a:ext>
            </a:extLst>
          </p:cNvPr>
          <p:cNvSpPr>
            <a:spLocks xmlns:a="http://schemas.openxmlformats.org/drawingml/2006/main" noGrp="1"/>
          </p:cNvSpPr>
          <p:nvPr/>
        </p:nvSpPr>
        <p:spPr>
          <a:xfrm xmlns:a="http://schemas.openxmlformats.org/drawingml/2006/main">
            <a:off x="609600" y="3810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150" b="1">
                <a:solidFill>
                  <a:srgbClr val="17251F"/>
                </a:solidFill>
                <a:latin typeface="Helvetica Neue"/>
                <a:ea typeface="Helvetica Neue"/>
                <a:cs typeface="Helvetica Neue"/>
              </a:defRPr>
            </a:defPPr>
            <a:lvl1pPr>
              <a:defRPr sz="3150" b="1">
                <a:solidFill>
                  <a:srgbClr val="17251F"/>
                </a:solidFill>
                <a:latin typeface="Helvetica Neue"/>
                <a:ea typeface="Helvetica Neue"/>
                <a:cs typeface="Helvetica Neue"/>
              </a:defRPr>
            </a:lvl1pPr>
            <a:lvl2pPr>
              <a:defRPr sz="3150" b="1">
                <a:solidFill>
                  <a:srgbClr val="17251F"/>
                </a:solidFill>
                <a:latin typeface="Helvetica Neue"/>
                <a:ea typeface="Helvetica Neue"/>
                <a:cs typeface="Helvetica Neue"/>
              </a:defRPr>
            </a:lvl2pPr>
            <a:lvl3pPr>
              <a:defRPr sz="3150" b="1">
                <a:solidFill>
                  <a:srgbClr val="17251F"/>
                </a:solidFill>
                <a:latin typeface="Helvetica Neue"/>
                <a:ea typeface="Helvetica Neue"/>
                <a:cs typeface="Helvetica Neue"/>
              </a:defRPr>
            </a:lvl3pPr>
            <a:lvl4pPr>
              <a:defRPr sz="3150" b="1">
                <a:solidFill>
                  <a:srgbClr val="17251F"/>
                </a:solidFill>
                <a:latin typeface="Helvetica Neue"/>
                <a:ea typeface="Helvetica Neue"/>
                <a:cs typeface="Helvetica Neue"/>
              </a:defRPr>
            </a:lvl4pPr>
            <a:lvl5pPr>
              <a:defRPr sz="3150" b="1">
                <a:solidFill>
                  <a:srgbClr val="17251F"/>
                </a:solidFill>
                <a:latin typeface="Helvetica Neue"/>
                <a:ea typeface="Helvetica Neue"/>
                <a:cs typeface="Helvetica Neue"/>
              </a:defRPr>
            </a:lvl5pPr>
            <a:lvl6pPr>
              <a:defRPr sz="3150" b="1">
                <a:solidFill>
                  <a:srgbClr val="17251F"/>
                </a:solidFill>
                <a:latin typeface="Helvetica Neue"/>
                <a:ea typeface="Helvetica Neue"/>
                <a:cs typeface="Helvetica Neue"/>
              </a:defRPr>
            </a:lvl6pPr>
            <a:lvl7pPr>
              <a:defRPr sz="3150" b="1">
                <a:solidFill>
                  <a:srgbClr val="17251F"/>
                </a:solidFill>
                <a:latin typeface="Helvetica Neue"/>
                <a:ea typeface="Helvetica Neue"/>
                <a:cs typeface="Helvetica Neue"/>
              </a:defRPr>
            </a:lvl7pPr>
            <a:lvl8pPr>
              <a:defRPr sz="3150" b="1">
                <a:solidFill>
                  <a:srgbClr val="17251F"/>
                </a:solidFill>
                <a:latin typeface="Helvetica Neue"/>
                <a:ea typeface="Helvetica Neue"/>
                <a:cs typeface="Helvetica Neue"/>
              </a:defRPr>
            </a:lvl8pPr>
            <a:lvl9pPr>
              <a:defRPr sz="3150" b="1">
                <a:solidFill>
                  <a:srgbClr val="17251F"/>
                </a:solidFill>
                <a:latin typeface="Helvetica Neue"/>
                <a:ea typeface="Helvetica Neue"/>
                <a:cs typeface="Helvetica Neue"/>
              </a:defRPr>
            </a:lvl9pPr>
          </a:lstStyle>
          <a:p xmlns:a="http://schemas.openxmlformats.org/drawingml/2006/main">
            <a:pPr>
              <a:defRPr sz="3150" b="1">
                <a:solidFill>
                  <a:srgbClr val="17251F"/>
                </a:solidFill>
                <a:latin typeface="Helvetica Neue"/>
                <a:ea typeface="Helvetica Neue"/>
                <a:cs typeface="Helvetica Neue"/>
              </a:defRPr>
            </a:pPr>
            <a:r>
              <a:rPr sz="3150" b="1">
                <a:solidFill>
                  <a:srgbClr val="17251F"/>
                </a:solidFill>
                <a:latin typeface="Helvetica Neue"/>
                <a:ea typeface="Helvetica Neue"/>
                <a:cs typeface="Helvetica Neue"/>
              </a:rPr>
              <a:t>Learned fusion improves fixed fusion</a:t>
            </a:r>
          </a:p>
        </p:txBody>
      </p:sp>
      <p:sp>
        <p:nvSpPr>
          <p:cNvPr id="2" name="">
            <a:extLst xmlns:a="http://schemas.openxmlformats.org/drawingml/2006/main">
              <a:ext uri="{FF2B5EF4-FFF2-40B4-BE49-F238E27FC236}">
                <a16:creationId xmlns:a16="http://schemas.microsoft.com/office/drawing/2014/main" id="{BA5EF64C-F3C5-4500-BD8E-5949DD740ECD}"/>
              </a:ext>
            </a:extLst>
          </p:cNvPr>
          <p:cNvSpPr>
            <a:spLocks xmlns:a="http://schemas.openxmlformats.org/drawingml/2006/main" noGrp="1"/>
          </p:cNvSpPr>
          <p:nvPr/>
        </p:nvSpPr>
        <p:spPr>
          <a:xfrm xmlns:a="http://schemas.openxmlformats.org/drawingml/2006/main">
            <a:off x="628650" y="1057275"/>
            <a:ext cx="109347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566760"/>
                </a:solidFill>
                <a:latin typeface="Helvetica Neue"/>
                <a:ea typeface="Helvetica Neue"/>
                <a:cs typeface="Helvetica Neue"/>
              </a:defRPr>
            </a:defPPr>
            <a:lvl1pPr>
              <a:defRPr sz="1800" b="0">
                <a:solidFill>
                  <a:srgbClr val="566760"/>
                </a:solidFill>
                <a:latin typeface="Helvetica Neue"/>
                <a:ea typeface="Helvetica Neue"/>
                <a:cs typeface="Helvetica Neue"/>
              </a:defRPr>
            </a:lvl1pPr>
            <a:lvl2pPr>
              <a:defRPr sz="1800" b="0">
                <a:solidFill>
                  <a:srgbClr val="566760"/>
                </a:solidFill>
                <a:latin typeface="Helvetica Neue"/>
                <a:ea typeface="Helvetica Neue"/>
                <a:cs typeface="Helvetica Neue"/>
              </a:defRPr>
            </a:lvl2pPr>
            <a:lvl3pPr>
              <a:defRPr sz="1800" b="0">
                <a:solidFill>
                  <a:srgbClr val="566760"/>
                </a:solidFill>
                <a:latin typeface="Helvetica Neue"/>
                <a:ea typeface="Helvetica Neue"/>
                <a:cs typeface="Helvetica Neue"/>
              </a:defRPr>
            </a:lvl3pPr>
            <a:lvl4pPr>
              <a:defRPr sz="1800" b="0">
                <a:solidFill>
                  <a:srgbClr val="566760"/>
                </a:solidFill>
                <a:latin typeface="Helvetica Neue"/>
                <a:ea typeface="Helvetica Neue"/>
                <a:cs typeface="Helvetica Neue"/>
              </a:defRPr>
            </a:lvl4pPr>
            <a:lvl5pPr>
              <a:defRPr sz="1800" b="0">
                <a:solidFill>
                  <a:srgbClr val="566760"/>
                </a:solidFill>
                <a:latin typeface="Helvetica Neue"/>
                <a:ea typeface="Helvetica Neue"/>
                <a:cs typeface="Helvetica Neue"/>
              </a:defRPr>
            </a:lvl5pPr>
            <a:lvl6pPr>
              <a:defRPr sz="1800" b="0">
                <a:solidFill>
                  <a:srgbClr val="566760"/>
                </a:solidFill>
                <a:latin typeface="Helvetica Neue"/>
                <a:ea typeface="Helvetica Neue"/>
                <a:cs typeface="Helvetica Neue"/>
              </a:defRPr>
            </a:lvl6pPr>
            <a:lvl7pPr>
              <a:defRPr sz="1800" b="0">
                <a:solidFill>
                  <a:srgbClr val="566760"/>
                </a:solidFill>
                <a:latin typeface="Helvetica Neue"/>
                <a:ea typeface="Helvetica Neue"/>
                <a:cs typeface="Helvetica Neue"/>
              </a:defRPr>
            </a:lvl7pPr>
            <a:lvl8pPr>
              <a:defRPr sz="1800" b="0">
                <a:solidFill>
                  <a:srgbClr val="566760"/>
                </a:solidFill>
                <a:latin typeface="Helvetica Neue"/>
                <a:ea typeface="Helvetica Neue"/>
                <a:cs typeface="Helvetica Neue"/>
              </a:defRPr>
            </a:lvl8pPr>
            <a:lvl9pPr>
              <a:defRPr sz="1800" b="0">
                <a:solidFill>
                  <a:srgbClr val="566760"/>
                </a:solidFill>
                <a:latin typeface="Helvetica Neue"/>
                <a:ea typeface="Helvetica Neue"/>
                <a:cs typeface="Helvetica Neue"/>
              </a:defRPr>
            </a:lvl9pPr>
          </a:lstStyle>
          <a:p xmlns:a="http://schemas.openxmlformats.org/drawingml/2006/main">
            <a:pPr>
              <a:defRPr sz="1800" b="0">
                <a:solidFill>
                  <a:srgbClr val="566760"/>
                </a:solidFill>
                <a:latin typeface="Helvetica Neue"/>
                <a:ea typeface="Helvetica Neue"/>
                <a:cs typeface="Helvetica Neue"/>
              </a:defRPr>
            </a:pPr>
            <a:r>
              <a:rPr sz="1800" b="0">
                <a:solidFill>
                  <a:srgbClr val="566760"/>
                </a:solidFill>
                <a:latin typeface="Helvetica Neue"/>
                <a:ea typeface="Helvetica Neue"/>
                <a:cs typeface="Helvetica Neue"/>
              </a:rPr>
              <a:t>Four methods, 287 evaluation queries. Category-macro recall on selected image galleries.</a:t>
            </a:r>
          </a:p>
        </p:txBody>
      </p:sp>
      <p:sp>
        <p:nvSpPr>
          <p:cNvPr id="3" name="">
            <a:extLst xmlns:a="http://schemas.openxmlformats.org/drawingml/2006/main">
              <a:ext uri="{FF2B5EF4-FFF2-40B4-BE49-F238E27FC236}">
                <a16:creationId xmlns:a16="http://schemas.microsoft.com/office/drawing/2014/main" id="{26D9AF5B-C5C3-4F7D-95B8-41334B0BB459}"/>
              </a:ext>
            </a:extLst>
          </p:cNvPr>
          <p:cNvSpPr>
            <a:spLocks xmlns:a="http://schemas.openxmlformats.org/drawingml/2006/main" noGrp="1"/>
          </p:cNvSpPr>
          <p:nvPr/>
        </p:nvSpPr>
        <p:spPr>
          <a:xfrm xmlns:a="http://schemas.openxmlformats.org/drawingml/2006/main">
            <a:off x="11106150" y="6457950"/>
            <a:ext cx="47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00" b="0">
                <a:solidFill>
                  <a:srgbClr val="566760"/>
                </a:solidFill>
                <a:latin typeface="Helvetica Neue"/>
                <a:ea typeface="Helvetica Neue"/>
                <a:cs typeface="Helvetica Neue"/>
              </a:defRPr>
            </a:defPPr>
            <a:lvl1pPr algn="r">
              <a:defRPr sz="1200" b="0">
                <a:solidFill>
                  <a:srgbClr val="566760"/>
                </a:solidFill>
                <a:latin typeface="Helvetica Neue"/>
                <a:ea typeface="Helvetica Neue"/>
                <a:cs typeface="Helvetica Neue"/>
              </a:defRPr>
            </a:lvl1pPr>
            <a:lvl2pPr algn="r">
              <a:defRPr sz="1200" b="0">
                <a:solidFill>
                  <a:srgbClr val="566760"/>
                </a:solidFill>
                <a:latin typeface="Helvetica Neue"/>
                <a:ea typeface="Helvetica Neue"/>
                <a:cs typeface="Helvetica Neue"/>
              </a:defRPr>
            </a:lvl2pPr>
            <a:lvl3pPr algn="r">
              <a:defRPr sz="1200" b="0">
                <a:solidFill>
                  <a:srgbClr val="566760"/>
                </a:solidFill>
                <a:latin typeface="Helvetica Neue"/>
                <a:ea typeface="Helvetica Neue"/>
                <a:cs typeface="Helvetica Neue"/>
              </a:defRPr>
            </a:lvl3pPr>
            <a:lvl4pPr algn="r">
              <a:defRPr sz="1200" b="0">
                <a:solidFill>
                  <a:srgbClr val="566760"/>
                </a:solidFill>
                <a:latin typeface="Helvetica Neue"/>
                <a:ea typeface="Helvetica Neue"/>
                <a:cs typeface="Helvetica Neue"/>
              </a:defRPr>
            </a:lvl4pPr>
            <a:lvl5pPr algn="r">
              <a:defRPr sz="1200" b="0">
                <a:solidFill>
                  <a:srgbClr val="566760"/>
                </a:solidFill>
                <a:latin typeface="Helvetica Neue"/>
                <a:ea typeface="Helvetica Neue"/>
                <a:cs typeface="Helvetica Neue"/>
              </a:defRPr>
            </a:lvl5pPr>
            <a:lvl6pPr algn="r">
              <a:defRPr sz="1200" b="0">
                <a:solidFill>
                  <a:srgbClr val="566760"/>
                </a:solidFill>
                <a:latin typeface="Helvetica Neue"/>
                <a:ea typeface="Helvetica Neue"/>
                <a:cs typeface="Helvetica Neue"/>
              </a:defRPr>
            </a:lvl6pPr>
            <a:lvl7pPr algn="r">
              <a:defRPr sz="1200" b="0">
                <a:solidFill>
                  <a:srgbClr val="566760"/>
                </a:solidFill>
                <a:latin typeface="Helvetica Neue"/>
                <a:ea typeface="Helvetica Neue"/>
                <a:cs typeface="Helvetica Neue"/>
              </a:defRPr>
            </a:lvl7pPr>
            <a:lvl8pPr algn="r">
              <a:defRPr sz="1200" b="0">
                <a:solidFill>
                  <a:srgbClr val="566760"/>
                </a:solidFill>
                <a:latin typeface="Helvetica Neue"/>
                <a:ea typeface="Helvetica Neue"/>
                <a:cs typeface="Helvetica Neue"/>
              </a:defRPr>
            </a:lvl8pPr>
            <a:lvl9pPr algn="r">
              <a:defRPr sz="1200" b="0">
                <a:solidFill>
                  <a:srgbClr val="566760"/>
                </a:solidFill>
                <a:latin typeface="Helvetica Neue"/>
                <a:ea typeface="Helvetica Neue"/>
                <a:cs typeface="Helvetica Neue"/>
              </a:defRPr>
            </a:lvl9pPr>
          </a:lstStyle>
          <a:p xmlns:a="http://schemas.openxmlformats.org/drawingml/2006/main">
            <a:pPr algn="r">
              <a:defRPr sz="1200" b="0">
                <a:solidFill>
                  <a:srgbClr val="566760"/>
                </a:solidFill>
                <a:latin typeface="Helvetica Neue"/>
                <a:ea typeface="Helvetica Neue"/>
                <a:cs typeface="Helvetica Neue"/>
              </a:defRPr>
            </a:pPr>
            <a:r>
              <a:rPr sz="1200" b="0">
                <a:solidFill>
                  <a:srgbClr val="566760"/>
                </a:solidFill>
                <a:latin typeface="Helvetica Neue"/>
                <a:ea typeface="Helvetica Neue"/>
                <a:cs typeface="Helvetica Neue"/>
              </a:rPr>
              <a:t>15</a:t>
            </a:r>
          </a:p>
        </p:txBody>
      </p:sp>
      <p:graphicFrame>
        <p:nvGraphicFramePr>
          <p:cNvPr id="4" name="Chart">
            <a:extLst xmlns:a="http://schemas.openxmlformats.org/drawingml/2006/main">
              <a:ext uri="{FF2B5EF4-FFF2-40B4-BE49-F238E27FC236}">
                <a16:creationId xmlns:a16="http://schemas.microsoft.com/office/drawing/2014/main" id="{D0BE09CD-B8E6-4A92-BFDA-375A8B654FD4}"/>
              </a:ext>
            </a:extLst>
          </p:cNvPr>
          <p:cNvGraphicFramePr/>
          <p:nvPr/>
        </p:nvGraphicFramePr>
        <p:xfrm>
          <a:off xmlns:a="http://schemas.openxmlformats.org/drawingml/2006/main" x="609600" y="1743075"/>
          <a:ext xmlns:a="http://schemas.openxmlformats.org/drawingml/2006/main" cx="10972800" cy="3438525"/>
        </p:xfrm>
        <a:graphic xmlns:a="http://schemas.openxmlformats.org/drawingml/2006/main">
          <a:graphicData uri="http://schemas.openxmlformats.org/drawingml/2006/chart">
            <c:chart xmlns:r="http://schemas.openxmlformats.org/officeDocument/2006/relationships" xmlns:c="http://schemas.openxmlformats.org/drawingml/2006/chart" r:id="R0e45944b7a294b2f"/>
          </a:graphicData>
        </a:graphic>
      </p:graphicFrame>
      <p:sp>
        <p:nvSpPr>
          <p:cNvPr id="5" name="">
            <a:extLst xmlns:a="http://schemas.openxmlformats.org/drawingml/2006/main">
              <a:ext uri="{FF2B5EF4-FFF2-40B4-BE49-F238E27FC236}">
                <a16:creationId xmlns:a16="http://schemas.microsoft.com/office/drawing/2014/main" id="{1C3255E5-DE80-4934-90DD-0C9B7C833B85}"/>
              </a:ext>
            </a:extLst>
          </p:cNvPr>
          <p:cNvSpPr>
            <a:spLocks xmlns:a="http://schemas.openxmlformats.org/drawingml/2006/main" noGrp="1"/>
          </p:cNvSpPr>
          <p:nvPr/>
        </p:nvSpPr>
        <p:spPr>
          <a:xfrm xmlns:a="http://schemas.openxmlformats.org/drawingml/2006/main">
            <a:off x="628650" y="5505450"/>
            <a:ext cx="109251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1">
                <a:solidFill>
                  <a:srgbClr val="087E80"/>
                </a:solidFill>
                <a:latin typeface="Helvetica Neue"/>
                <a:ea typeface="Helvetica Neue"/>
                <a:cs typeface="Helvetica Neue"/>
              </a:defRPr>
            </a:defPPr>
            <a:lvl1pPr>
              <a:defRPr sz="2175" b="1">
                <a:solidFill>
                  <a:srgbClr val="087E80"/>
                </a:solidFill>
                <a:latin typeface="Helvetica Neue"/>
                <a:ea typeface="Helvetica Neue"/>
                <a:cs typeface="Helvetica Neue"/>
              </a:defRPr>
            </a:lvl1pPr>
            <a:lvl2pPr>
              <a:defRPr sz="2175" b="1">
                <a:solidFill>
                  <a:srgbClr val="087E80"/>
                </a:solidFill>
                <a:latin typeface="Helvetica Neue"/>
                <a:ea typeface="Helvetica Neue"/>
                <a:cs typeface="Helvetica Neue"/>
              </a:defRPr>
            </a:lvl2pPr>
            <a:lvl3pPr>
              <a:defRPr sz="2175" b="1">
                <a:solidFill>
                  <a:srgbClr val="087E80"/>
                </a:solidFill>
                <a:latin typeface="Helvetica Neue"/>
                <a:ea typeface="Helvetica Neue"/>
                <a:cs typeface="Helvetica Neue"/>
              </a:defRPr>
            </a:lvl3pPr>
            <a:lvl4pPr>
              <a:defRPr sz="2175" b="1">
                <a:solidFill>
                  <a:srgbClr val="087E80"/>
                </a:solidFill>
                <a:latin typeface="Helvetica Neue"/>
                <a:ea typeface="Helvetica Neue"/>
                <a:cs typeface="Helvetica Neue"/>
              </a:defRPr>
            </a:lvl4pPr>
            <a:lvl5pPr>
              <a:defRPr sz="2175" b="1">
                <a:solidFill>
                  <a:srgbClr val="087E80"/>
                </a:solidFill>
                <a:latin typeface="Helvetica Neue"/>
                <a:ea typeface="Helvetica Neue"/>
                <a:cs typeface="Helvetica Neue"/>
              </a:defRPr>
            </a:lvl5pPr>
            <a:lvl6pPr>
              <a:defRPr sz="2175" b="1">
                <a:solidFill>
                  <a:srgbClr val="087E80"/>
                </a:solidFill>
                <a:latin typeface="Helvetica Neue"/>
                <a:ea typeface="Helvetica Neue"/>
                <a:cs typeface="Helvetica Neue"/>
              </a:defRPr>
            </a:lvl6pPr>
            <a:lvl7pPr>
              <a:defRPr sz="2175" b="1">
                <a:solidFill>
                  <a:srgbClr val="087E80"/>
                </a:solidFill>
                <a:latin typeface="Helvetica Neue"/>
                <a:ea typeface="Helvetica Neue"/>
                <a:cs typeface="Helvetica Neue"/>
              </a:defRPr>
            </a:lvl7pPr>
            <a:lvl8pPr>
              <a:defRPr sz="2175" b="1">
                <a:solidFill>
                  <a:srgbClr val="087E80"/>
                </a:solidFill>
                <a:latin typeface="Helvetica Neue"/>
                <a:ea typeface="Helvetica Neue"/>
                <a:cs typeface="Helvetica Neue"/>
              </a:defRPr>
            </a:lvl8pPr>
            <a:lvl9pPr>
              <a:defRPr sz="2175" b="1">
                <a:solidFill>
                  <a:srgbClr val="087E80"/>
                </a:solidFill>
                <a:latin typeface="Helvetica Neue"/>
                <a:ea typeface="Helvetica Neue"/>
                <a:cs typeface="Helvetica Neue"/>
              </a:defRPr>
            </a:lvl9pPr>
          </a:lstStyle>
          <a:p xmlns:a="http://schemas.openxmlformats.org/drawingml/2006/main">
            <a:pPr>
              <a:defRPr sz="2175" b="1">
                <a:solidFill>
                  <a:srgbClr val="087E80"/>
                </a:solidFill>
                <a:latin typeface="Helvetica Neue"/>
                <a:ea typeface="Helvetica Neue"/>
                <a:cs typeface="Helvetica Neue"/>
              </a:defRPr>
            </a:pPr>
            <a:r>
              <a:rPr sz="2175" b="1">
                <a:solidFill>
                  <a:srgbClr val="087E80"/>
                </a:solidFill>
                <a:latin typeface="Helvetica Neue"/>
                <a:ea typeface="Helvetica Neue"/>
                <a:cs typeface="Helvetica Neue"/>
              </a:rPr>
              <a:t>Learned fusion: 52.27% at R@10 and 80.13% at R@50.</a:t>
            </a:r>
          </a:p>
        </p:txBody>
      </p:sp>
      <p:sp>
        <p:nvSpPr>
          <p:cNvPr id="6" name="">
            <a:extLst xmlns:a="http://schemas.openxmlformats.org/drawingml/2006/main">
              <a:ext uri="{FF2B5EF4-FFF2-40B4-BE49-F238E27FC236}">
                <a16:creationId xmlns:a16="http://schemas.microsoft.com/office/drawing/2014/main" id="{60EEBB42-5AF0-4A05-9C6A-18B28A80C332}"/>
              </a:ext>
            </a:extLst>
          </p:cNvPr>
          <p:cNvSpPr>
            <a:spLocks xmlns:a="http://schemas.openxmlformats.org/drawingml/2006/main" noGrp="1"/>
          </p:cNvSpPr>
          <p:nvPr/>
        </p:nvSpPr>
        <p:spPr>
          <a:xfrm xmlns:a="http://schemas.openxmlformats.org/drawingml/2006/main">
            <a:off x="628650" y="6076950"/>
            <a:ext cx="10572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566760"/>
                </a:solidFill>
                <a:latin typeface="Helvetica Neue"/>
                <a:ea typeface="Helvetica Neue"/>
                <a:cs typeface="Helvetica Neue"/>
              </a:defRPr>
            </a:defPPr>
            <a:lvl1pPr>
              <a:defRPr sz="1500" b="0">
                <a:solidFill>
                  <a:srgbClr val="566760"/>
                </a:solidFill>
                <a:latin typeface="Helvetica Neue"/>
                <a:ea typeface="Helvetica Neue"/>
                <a:cs typeface="Helvetica Neue"/>
              </a:defRPr>
            </a:lvl1pPr>
            <a:lvl2pPr>
              <a:defRPr sz="1500" b="0">
                <a:solidFill>
                  <a:srgbClr val="566760"/>
                </a:solidFill>
                <a:latin typeface="Helvetica Neue"/>
                <a:ea typeface="Helvetica Neue"/>
                <a:cs typeface="Helvetica Neue"/>
              </a:defRPr>
            </a:lvl2pPr>
            <a:lvl3pPr>
              <a:defRPr sz="1500" b="0">
                <a:solidFill>
                  <a:srgbClr val="566760"/>
                </a:solidFill>
                <a:latin typeface="Helvetica Neue"/>
                <a:ea typeface="Helvetica Neue"/>
                <a:cs typeface="Helvetica Neue"/>
              </a:defRPr>
            </a:lvl3pPr>
            <a:lvl4pPr>
              <a:defRPr sz="1500" b="0">
                <a:solidFill>
                  <a:srgbClr val="566760"/>
                </a:solidFill>
                <a:latin typeface="Helvetica Neue"/>
                <a:ea typeface="Helvetica Neue"/>
                <a:cs typeface="Helvetica Neue"/>
              </a:defRPr>
            </a:lvl4pPr>
            <a:lvl5pPr>
              <a:defRPr sz="1500" b="0">
                <a:solidFill>
                  <a:srgbClr val="566760"/>
                </a:solidFill>
                <a:latin typeface="Helvetica Neue"/>
                <a:ea typeface="Helvetica Neue"/>
                <a:cs typeface="Helvetica Neue"/>
              </a:defRPr>
            </a:lvl5pPr>
            <a:lvl6pPr>
              <a:defRPr sz="1500" b="0">
                <a:solidFill>
                  <a:srgbClr val="566760"/>
                </a:solidFill>
                <a:latin typeface="Helvetica Neue"/>
                <a:ea typeface="Helvetica Neue"/>
                <a:cs typeface="Helvetica Neue"/>
              </a:defRPr>
            </a:lvl6pPr>
            <a:lvl7pPr>
              <a:defRPr sz="1500" b="0">
                <a:solidFill>
                  <a:srgbClr val="566760"/>
                </a:solidFill>
                <a:latin typeface="Helvetica Neue"/>
                <a:ea typeface="Helvetica Neue"/>
                <a:cs typeface="Helvetica Neue"/>
              </a:defRPr>
            </a:lvl7pPr>
            <a:lvl8pPr>
              <a:defRPr sz="1500" b="0">
                <a:solidFill>
                  <a:srgbClr val="566760"/>
                </a:solidFill>
                <a:latin typeface="Helvetica Neue"/>
                <a:ea typeface="Helvetica Neue"/>
                <a:cs typeface="Helvetica Neue"/>
              </a:defRPr>
            </a:lvl8pPr>
            <a:lvl9pPr>
              <a:defRPr sz="1500" b="0">
                <a:solidFill>
                  <a:srgbClr val="566760"/>
                </a:solidFill>
                <a:latin typeface="Helvetica Neue"/>
                <a:ea typeface="Helvetica Neue"/>
                <a:cs typeface="Helvetica Neue"/>
              </a:defRPr>
            </a:lvl9pPr>
          </a:lstStyle>
          <a:p xmlns:a="http://schemas.openxmlformats.org/drawingml/2006/main">
            <a:pPr>
              <a:defRPr sz="1500" b="0">
                <a:solidFill>
                  <a:srgbClr val="566760"/>
                </a:solidFill>
                <a:latin typeface="Helvetica Neue"/>
                <a:ea typeface="Helvetica Neue"/>
                <a:cs typeface="Helvetica Neue"/>
              </a:defRPr>
            </a:pPr>
            <a:r>
              <a:rPr sz="1500" b="0">
                <a:solidFill>
                  <a:srgbClr val="566760"/>
                </a:solidFill>
                <a:latin typeface="Helvetica Neue"/>
                <a:ea typeface="Helvetica Neue"/>
                <a:cs typeface="Helvetica Neue"/>
              </a:rPr>
              <a:t>Text alone has higher R@10. Galleries contain 281 / 292 / 293 images before reference exclusion.</a:t>
            </a:r>
          </a:p>
        </p:txBody>
      </p:sp>
    </p:spTree>
    <p:extLst>
      <p:ext uri="{BB962C8B-B14F-4D97-AF65-F5344CB8AC3E}">
        <p14:creationId xmlns:p14="http://schemas.microsoft.com/office/powerpoint/2010/main" val="457671181"/>
      </p:ext>
    </p:extLst>
  </p:cSld>
</p:sld>
</file>

<file path=ppt/slides/slide16.xml><?xml version="1.0" encoding="utf-8"?>
<p:sld xmlns:p="http://schemas.openxmlformats.org/presentationml/2006/main">
  <p:cSld>
    <p:bg>
      <p:bgPr>
        <a:solidFill xmlns:a="http://schemas.openxmlformats.org/drawingml/2006/main">
          <a:srgbClr val="FAF8F3"/>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295C51E9-D6C1-43DB-A1A0-75B428FDC418}"/>
              </a:ext>
            </a:extLst>
          </p:cNvPr>
          <p:cNvSpPr>
            <a:spLocks xmlns:a="http://schemas.openxmlformats.org/drawingml/2006/main" noGrp="1"/>
          </p:cNvSpPr>
          <p:nvPr/>
        </p:nvSpPr>
        <p:spPr>
          <a:xfrm xmlns:a="http://schemas.openxmlformats.org/drawingml/2006/main">
            <a:off x="609600" y="3810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150" b="1">
                <a:solidFill>
                  <a:srgbClr val="17251F"/>
                </a:solidFill>
                <a:latin typeface="Helvetica Neue"/>
                <a:ea typeface="Helvetica Neue"/>
                <a:cs typeface="Helvetica Neue"/>
              </a:defRPr>
            </a:defPPr>
            <a:lvl1pPr>
              <a:defRPr sz="3150" b="1">
                <a:solidFill>
                  <a:srgbClr val="17251F"/>
                </a:solidFill>
                <a:latin typeface="Helvetica Neue"/>
                <a:ea typeface="Helvetica Neue"/>
                <a:cs typeface="Helvetica Neue"/>
              </a:defRPr>
            </a:lvl1pPr>
            <a:lvl2pPr>
              <a:defRPr sz="3150" b="1">
                <a:solidFill>
                  <a:srgbClr val="17251F"/>
                </a:solidFill>
                <a:latin typeface="Helvetica Neue"/>
                <a:ea typeface="Helvetica Neue"/>
                <a:cs typeface="Helvetica Neue"/>
              </a:defRPr>
            </a:lvl2pPr>
            <a:lvl3pPr>
              <a:defRPr sz="3150" b="1">
                <a:solidFill>
                  <a:srgbClr val="17251F"/>
                </a:solidFill>
                <a:latin typeface="Helvetica Neue"/>
                <a:ea typeface="Helvetica Neue"/>
                <a:cs typeface="Helvetica Neue"/>
              </a:defRPr>
            </a:lvl3pPr>
            <a:lvl4pPr>
              <a:defRPr sz="3150" b="1">
                <a:solidFill>
                  <a:srgbClr val="17251F"/>
                </a:solidFill>
                <a:latin typeface="Helvetica Neue"/>
                <a:ea typeface="Helvetica Neue"/>
                <a:cs typeface="Helvetica Neue"/>
              </a:defRPr>
            </a:lvl4pPr>
            <a:lvl5pPr>
              <a:defRPr sz="3150" b="1">
                <a:solidFill>
                  <a:srgbClr val="17251F"/>
                </a:solidFill>
                <a:latin typeface="Helvetica Neue"/>
                <a:ea typeface="Helvetica Neue"/>
                <a:cs typeface="Helvetica Neue"/>
              </a:defRPr>
            </a:lvl5pPr>
            <a:lvl6pPr>
              <a:defRPr sz="3150" b="1">
                <a:solidFill>
                  <a:srgbClr val="17251F"/>
                </a:solidFill>
                <a:latin typeface="Helvetica Neue"/>
                <a:ea typeface="Helvetica Neue"/>
                <a:cs typeface="Helvetica Neue"/>
              </a:defRPr>
            </a:lvl6pPr>
            <a:lvl7pPr>
              <a:defRPr sz="3150" b="1">
                <a:solidFill>
                  <a:srgbClr val="17251F"/>
                </a:solidFill>
                <a:latin typeface="Helvetica Neue"/>
                <a:ea typeface="Helvetica Neue"/>
                <a:cs typeface="Helvetica Neue"/>
              </a:defRPr>
            </a:lvl7pPr>
            <a:lvl8pPr>
              <a:defRPr sz="3150" b="1">
                <a:solidFill>
                  <a:srgbClr val="17251F"/>
                </a:solidFill>
                <a:latin typeface="Helvetica Neue"/>
                <a:ea typeface="Helvetica Neue"/>
                <a:cs typeface="Helvetica Neue"/>
              </a:defRPr>
            </a:lvl8pPr>
            <a:lvl9pPr>
              <a:defRPr sz="3150" b="1">
                <a:solidFill>
                  <a:srgbClr val="17251F"/>
                </a:solidFill>
                <a:latin typeface="Helvetica Neue"/>
                <a:ea typeface="Helvetica Neue"/>
                <a:cs typeface="Helvetica Neue"/>
              </a:defRPr>
            </a:lvl9pPr>
          </a:lstStyle>
          <a:p xmlns:a="http://schemas.openxmlformats.org/drawingml/2006/main">
            <a:pPr>
              <a:defRPr sz="3150" b="1">
                <a:solidFill>
                  <a:srgbClr val="17251F"/>
                </a:solidFill>
                <a:latin typeface="Helvetica Neue"/>
                <a:ea typeface="Helvetica Neue"/>
                <a:cs typeface="Helvetica Neue"/>
              </a:defRPr>
            </a:pPr>
            <a:r>
              <a:rPr sz="3150" b="1">
                <a:solidFill>
                  <a:srgbClr val="17251F"/>
                </a:solidFill>
                <a:latin typeface="Helvetica Neue"/>
                <a:ea typeface="Helvetica Neue"/>
                <a:cs typeface="Helvetica Neue"/>
              </a:rPr>
              <a:t>History length and recommendation exposure</a:t>
            </a:r>
          </a:p>
        </p:txBody>
      </p:sp>
      <p:sp>
        <p:nvSpPr>
          <p:cNvPr id="2" name="">
            <a:extLst xmlns:a="http://schemas.openxmlformats.org/drawingml/2006/main">
              <a:ext uri="{FF2B5EF4-FFF2-40B4-BE49-F238E27FC236}">
                <a16:creationId xmlns:a16="http://schemas.microsoft.com/office/drawing/2014/main" id="{BCFBEABD-FB08-463A-9621-C85D1D0822E6}"/>
              </a:ext>
            </a:extLst>
          </p:cNvPr>
          <p:cNvSpPr>
            <a:spLocks xmlns:a="http://schemas.openxmlformats.org/drawingml/2006/main" noGrp="1"/>
          </p:cNvSpPr>
          <p:nvPr/>
        </p:nvSpPr>
        <p:spPr>
          <a:xfrm xmlns:a="http://schemas.openxmlformats.org/drawingml/2006/main">
            <a:off x="628650" y="1057275"/>
            <a:ext cx="109347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566760"/>
                </a:solidFill>
                <a:latin typeface="Helvetica Neue"/>
                <a:ea typeface="Helvetica Neue"/>
                <a:cs typeface="Helvetica Neue"/>
              </a:defRPr>
            </a:defPPr>
            <a:lvl1pPr>
              <a:defRPr sz="1800" b="0">
                <a:solidFill>
                  <a:srgbClr val="566760"/>
                </a:solidFill>
                <a:latin typeface="Helvetica Neue"/>
                <a:ea typeface="Helvetica Neue"/>
                <a:cs typeface="Helvetica Neue"/>
              </a:defRPr>
            </a:lvl1pPr>
            <a:lvl2pPr>
              <a:defRPr sz="1800" b="0">
                <a:solidFill>
                  <a:srgbClr val="566760"/>
                </a:solidFill>
                <a:latin typeface="Helvetica Neue"/>
                <a:ea typeface="Helvetica Neue"/>
                <a:cs typeface="Helvetica Neue"/>
              </a:defRPr>
            </a:lvl2pPr>
            <a:lvl3pPr>
              <a:defRPr sz="1800" b="0">
                <a:solidFill>
                  <a:srgbClr val="566760"/>
                </a:solidFill>
                <a:latin typeface="Helvetica Neue"/>
                <a:ea typeface="Helvetica Neue"/>
                <a:cs typeface="Helvetica Neue"/>
              </a:defRPr>
            </a:lvl3pPr>
            <a:lvl4pPr>
              <a:defRPr sz="1800" b="0">
                <a:solidFill>
                  <a:srgbClr val="566760"/>
                </a:solidFill>
                <a:latin typeface="Helvetica Neue"/>
                <a:ea typeface="Helvetica Neue"/>
                <a:cs typeface="Helvetica Neue"/>
              </a:defRPr>
            </a:lvl4pPr>
            <a:lvl5pPr>
              <a:defRPr sz="1800" b="0">
                <a:solidFill>
                  <a:srgbClr val="566760"/>
                </a:solidFill>
                <a:latin typeface="Helvetica Neue"/>
                <a:ea typeface="Helvetica Neue"/>
                <a:cs typeface="Helvetica Neue"/>
              </a:defRPr>
            </a:lvl5pPr>
            <a:lvl6pPr>
              <a:defRPr sz="1800" b="0">
                <a:solidFill>
                  <a:srgbClr val="566760"/>
                </a:solidFill>
                <a:latin typeface="Helvetica Neue"/>
                <a:ea typeface="Helvetica Neue"/>
                <a:cs typeface="Helvetica Neue"/>
              </a:defRPr>
            </a:lvl6pPr>
            <a:lvl7pPr>
              <a:defRPr sz="1800" b="0">
                <a:solidFill>
                  <a:srgbClr val="566760"/>
                </a:solidFill>
                <a:latin typeface="Helvetica Neue"/>
                <a:ea typeface="Helvetica Neue"/>
                <a:cs typeface="Helvetica Neue"/>
              </a:defRPr>
            </a:lvl7pPr>
            <a:lvl8pPr>
              <a:defRPr sz="1800" b="0">
                <a:solidFill>
                  <a:srgbClr val="566760"/>
                </a:solidFill>
                <a:latin typeface="Helvetica Neue"/>
                <a:ea typeface="Helvetica Neue"/>
                <a:cs typeface="Helvetica Neue"/>
              </a:defRPr>
            </a:lvl8pPr>
            <a:lvl9pPr>
              <a:defRPr sz="1800" b="0">
                <a:solidFill>
                  <a:srgbClr val="566760"/>
                </a:solidFill>
                <a:latin typeface="Helvetica Neue"/>
                <a:ea typeface="Helvetica Neue"/>
                <a:cs typeface="Helvetica Neue"/>
              </a:defRPr>
            </a:lvl9pPr>
          </a:lstStyle>
          <a:p xmlns:a="http://schemas.openxmlformats.org/drawingml/2006/main">
            <a:pPr>
              <a:defRPr sz="1800" b="0">
                <a:solidFill>
                  <a:srgbClr val="566760"/>
                </a:solidFill>
                <a:latin typeface="Helvetica Neue"/>
                <a:ea typeface="Helvetica Neue"/>
                <a:cs typeface="Helvetica Neue"/>
              </a:defRPr>
            </a:pPr>
            <a:r>
              <a:rPr sz="1800" b="0">
                <a:solidFill>
                  <a:srgbClr val="566760"/>
                </a:solidFill>
                <a:latin typeface="Helvetica Neue"/>
                <a:ea typeface="Helvetica Neue"/>
                <a:cs typeface="Helvetica Neue"/>
              </a:rPr>
              <a:t>Clothing, fixed seed42 checkpoints. 1,000 users and 1,865 eligible targets.</a:t>
            </a:r>
          </a:p>
        </p:txBody>
      </p:sp>
      <p:sp>
        <p:nvSpPr>
          <p:cNvPr id="3" name="">
            <a:extLst xmlns:a="http://schemas.openxmlformats.org/drawingml/2006/main">
              <a:ext uri="{FF2B5EF4-FFF2-40B4-BE49-F238E27FC236}">
                <a16:creationId xmlns:a16="http://schemas.microsoft.com/office/drawing/2014/main" id="{2759C50E-199A-484B-980D-7D818CCFB4FE}"/>
              </a:ext>
            </a:extLst>
          </p:cNvPr>
          <p:cNvSpPr>
            <a:spLocks xmlns:a="http://schemas.openxmlformats.org/drawingml/2006/main" noGrp="1"/>
          </p:cNvSpPr>
          <p:nvPr/>
        </p:nvSpPr>
        <p:spPr>
          <a:xfrm xmlns:a="http://schemas.openxmlformats.org/drawingml/2006/main">
            <a:off x="11106150" y="6457950"/>
            <a:ext cx="47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00" b="0">
                <a:solidFill>
                  <a:srgbClr val="566760"/>
                </a:solidFill>
                <a:latin typeface="Helvetica Neue"/>
                <a:ea typeface="Helvetica Neue"/>
                <a:cs typeface="Helvetica Neue"/>
              </a:defRPr>
            </a:defPPr>
            <a:lvl1pPr algn="r">
              <a:defRPr sz="1200" b="0">
                <a:solidFill>
                  <a:srgbClr val="566760"/>
                </a:solidFill>
                <a:latin typeface="Helvetica Neue"/>
                <a:ea typeface="Helvetica Neue"/>
                <a:cs typeface="Helvetica Neue"/>
              </a:defRPr>
            </a:lvl1pPr>
            <a:lvl2pPr algn="r">
              <a:defRPr sz="1200" b="0">
                <a:solidFill>
                  <a:srgbClr val="566760"/>
                </a:solidFill>
                <a:latin typeface="Helvetica Neue"/>
                <a:ea typeface="Helvetica Neue"/>
                <a:cs typeface="Helvetica Neue"/>
              </a:defRPr>
            </a:lvl2pPr>
            <a:lvl3pPr algn="r">
              <a:defRPr sz="1200" b="0">
                <a:solidFill>
                  <a:srgbClr val="566760"/>
                </a:solidFill>
                <a:latin typeface="Helvetica Neue"/>
                <a:ea typeface="Helvetica Neue"/>
                <a:cs typeface="Helvetica Neue"/>
              </a:defRPr>
            </a:lvl3pPr>
            <a:lvl4pPr algn="r">
              <a:defRPr sz="1200" b="0">
                <a:solidFill>
                  <a:srgbClr val="566760"/>
                </a:solidFill>
                <a:latin typeface="Helvetica Neue"/>
                <a:ea typeface="Helvetica Neue"/>
                <a:cs typeface="Helvetica Neue"/>
              </a:defRPr>
            </a:lvl4pPr>
            <a:lvl5pPr algn="r">
              <a:defRPr sz="1200" b="0">
                <a:solidFill>
                  <a:srgbClr val="566760"/>
                </a:solidFill>
                <a:latin typeface="Helvetica Neue"/>
                <a:ea typeface="Helvetica Neue"/>
                <a:cs typeface="Helvetica Neue"/>
              </a:defRPr>
            </a:lvl5pPr>
            <a:lvl6pPr algn="r">
              <a:defRPr sz="1200" b="0">
                <a:solidFill>
                  <a:srgbClr val="566760"/>
                </a:solidFill>
                <a:latin typeface="Helvetica Neue"/>
                <a:ea typeface="Helvetica Neue"/>
                <a:cs typeface="Helvetica Neue"/>
              </a:defRPr>
            </a:lvl6pPr>
            <a:lvl7pPr algn="r">
              <a:defRPr sz="1200" b="0">
                <a:solidFill>
                  <a:srgbClr val="566760"/>
                </a:solidFill>
                <a:latin typeface="Helvetica Neue"/>
                <a:ea typeface="Helvetica Neue"/>
                <a:cs typeface="Helvetica Neue"/>
              </a:defRPr>
            </a:lvl7pPr>
            <a:lvl8pPr algn="r">
              <a:defRPr sz="1200" b="0">
                <a:solidFill>
                  <a:srgbClr val="566760"/>
                </a:solidFill>
                <a:latin typeface="Helvetica Neue"/>
                <a:ea typeface="Helvetica Neue"/>
                <a:cs typeface="Helvetica Neue"/>
              </a:defRPr>
            </a:lvl8pPr>
            <a:lvl9pPr algn="r">
              <a:defRPr sz="1200" b="0">
                <a:solidFill>
                  <a:srgbClr val="566760"/>
                </a:solidFill>
                <a:latin typeface="Helvetica Neue"/>
                <a:ea typeface="Helvetica Neue"/>
                <a:cs typeface="Helvetica Neue"/>
              </a:defRPr>
            </a:lvl9pPr>
          </a:lstStyle>
          <a:p xmlns:a="http://schemas.openxmlformats.org/drawingml/2006/main">
            <a:pPr algn="r">
              <a:defRPr sz="1200" b="0">
                <a:solidFill>
                  <a:srgbClr val="566760"/>
                </a:solidFill>
                <a:latin typeface="Helvetica Neue"/>
                <a:ea typeface="Helvetica Neue"/>
                <a:cs typeface="Helvetica Neue"/>
              </a:defRPr>
            </a:pPr>
            <a:r>
              <a:rPr sz="1200" b="0">
                <a:solidFill>
                  <a:srgbClr val="566760"/>
                </a:solidFill>
                <a:latin typeface="Helvetica Neue"/>
                <a:ea typeface="Helvetica Neue"/>
                <a:cs typeface="Helvetica Neue"/>
              </a:rPr>
              <a:t>16</a:t>
            </a:r>
          </a:p>
        </p:txBody>
      </p:sp>
      <p:graphicFrame>
        <p:nvGraphicFramePr>
          <p:cNvPr id="4" name="Chart">
            <a:extLst xmlns:a="http://schemas.openxmlformats.org/drawingml/2006/main">
              <a:ext uri="{FF2B5EF4-FFF2-40B4-BE49-F238E27FC236}">
                <a16:creationId xmlns:a16="http://schemas.microsoft.com/office/drawing/2014/main" id="{B0425278-8C03-46D0-B9A6-4C31FE6C1550}"/>
              </a:ext>
            </a:extLst>
          </p:cNvPr>
          <p:cNvGraphicFramePr/>
          <p:nvPr/>
        </p:nvGraphicFramePr>
        <p:xfrm>
          <a:off xmlns:a="http://schemas.openxmlformats.org/drawingml/2006/main" x="609600" y="1838325"/>
          <a:ext xmlns:a="http://schemas.openxmlformats.org/drawingml/2006/main" cx="5314950" cy="3286125"/>
        </p:xfrm>
        <a:graphic xmlns:a="http://schemas.openxmlformats.org/drawingml/2006/main">
          <a:graphicData uri="http://schemas.openxmlformats.org/drawingml/2006/chart">
            <c:chart xmlns:r="http://schemas.openxmlformats.org/officeDocument/2006/relationships" xmlns:c="http://schemas.openxmlformats.org/drawingml/2006/chart" r:id="Rbd19fd4ba6884434"/>
          </a:graphicData>
        </a:graphic>
      </p:graphicFrame>
      <p:graphicFrame>
        <p:nvGraphicFramePr>
          <p:cNvPr id="5" name="Chart">
            <a:extLst xmlns:a="http://schemas.openxmlformats.org/drawingml/2006/main">
              <a:ext uri="{FF2B5EF4-FFF2-40B4-BE49-F238E27FC236}">
                <a16:creationId xmlns:a16="http://schemas.microsoft.com/office/drawing/2014/main" id="{9185276B-2864-4E78-9891-4D46F4931F33}"/>
              </a:ext>
            </a:extLst>
          </p:cNvPr>
          <p:cNvGraphicFramePr/>
          <p:nvPr/>
        </p:nvGraphicFramePr>
        <p:xfrm>
          <a:off xmlns:a="http://schemas.openxmlformats.org/drawingml/2006/main" x="6353175" y="1838325"/>
          <a:ext xmlns:a="http://schemas.openxmlformats.org/drawingml/2006/main" cx="5229225" cy="3286125"/>
        </p:xfrm>
        <a:graphic xmlns:a="http://schemas.openxmlformats.org/drawingml/2006/main">
          <a:graphicData uri="http://schemas.openxmlformats.org/drawingml/2006/chart">
            <c:chart xmlns:r="http://schemas.openxmlformats.org/officeDocument/2006/relationships" xmlns:c="http://schemas.openxmlformats.org/drawingml/2006/chart" r:id="R2af4caf5ec0f4c2b"/>
          </a:graphicData>
        </a:graphic>
      </p:graphicFrame>
      <p:sp>
        <p:nvSpPr>
          <p:cNvPr id="6" name="">
            <a:extLst xmlns:a="http://schemas.openxmlformats.org/drawingml/2006/main">
              <a:ext uri="{FF2B5EF4-FFF2-40B4-BE49-F238E27FC236}">
                <a16:creationId xmlns:a16="http://schemas.microsoft.com/office/drawing/2014/main" id="{743131D8-3483-49EF-9A7C-8FFFFB6CD18D}"/>
              </a:ext>
            </a:extLst>
          </p:cNvPr>
          <p:cNvSpPr>
            <a:spLocks xmlns:a="http://schemas.openxmlformats.org/drawingml/2006/main" noGrp="1"/>
          </p:cNvSpPr>
          <p:nvPr/>
        </p:nvSpPr>
        <p:spPr>
          <a:xfrm xmlns:a="http://schemas.openxmlformats.org/drawingml/2006/main">
            <a:off x="628650" y="5514975"/>
            <a:ext cx="109251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00" b="1">
                <a:solidFill>
                  <a:srgbClr val="087E80"/>
                </a:solidFill>
                <a:latin typeface="Helvetica Neue"/>
                <a:ea typeface="Helvetica Neue"/>
                <a:cs typeface="Helvetica Neue"/>
              </a:defRPr>
            </a:defPPr>
            <a:lvl1pPr>
              <a:defRPr sz="2100" b="1">
                <a:solidFill>
                  <a:srgbClr val="087E80"/>
                </a:solidFill>
                <a:latin typeface="Helvetica Neue"/>
                <a:ea typeface="Helvetica Neue"/>
                <a:cs typeface="Helvetica Neue"/>
              </a:defRPr>
            </a:lvl1pPr>
            <a:lvl2pPr>
              <a:defRPr sz="2100" b="1">
                <a:solidFill>
                  <a:srgbClr val="087E80"/>
                </a:solidFill>
                <a:latin typeface="Helvetica Neue"/>
                <a:ea typeface="Helvetica Neue"/>
                <a:cs typeface="Helvetica Neue"/>
              </a:defRPr>
            </a:lvl2pPr>
            <a:lvl3pPr>
              <a:defRPr sz="2100" b="1">
                <a:solidFill>
                  <a:srgbClr val="087E80"/>
                </a:solidFill>
                <a:latin typeface="Helvetica Neue"/>
                <a:ea typeface="Helvetica Neue"/>
                <a:cs typeface="Helvetica Neue"/>
              </a:defRPr>
            </a:lvl3pPr>
            <a:lvl4pPr>
              <a:defRPr sz="2100" b="1">
                <a:solidFill>
                  <a:srgbClr val="087E80"/>
                </a:solidFill>
                <a:latin typeface="Helvetica Neue"/>
                <a:ea typeface="Helvetica Neue"/>
                <a:cs typeface="Helvetica Neue"/>
              </a:defRPr>
            </a:lvl4pPr>
            <a:lvl5pPr>
              <a:defRPr sz="2100" b="1">
                <a:solidFill>
                  <a:srgbClr val="087E80"/>
                </a:solidFill>
                <a:latin typeface="Helvetica Neue"/>
                <a:ea typeface="Helvetica Neue"/>
                <a:cs typeface="Helvetica Neue"/>
              </a:defRPr>
            </a:lvl5pPr>
            <a:lvl6pPr>
              <a:defRPr sz="2100" b="1">
                <a:solidFill>
                  <a:srgbClr val="087E80"/>
                </a:solidFill>
                <a:latin typeface="Helvetica Neue"/>
                <a:ea typeface="Helvetica Neue"/>
                <a:cs typeface="Helvetica Neue"/>
              </a:defRPr>
            </a:lvl6pPr>
            <a:lvl7pPr>
              <a:defRPr sz="2100" b="1">
                <a:solidFill>
                  <a:srgbClr val="087E80"/>
                </a:solidFill>
                <a:latin typeface="Helvetica Neue"/>
                <a:ea typeface="Helvetica Neue"/>
                <a:cs typeface="Helvetica Neue"/>
              </a:defRPr>
            </a:lvl7pPr>
            <a:lvl8pPr>
              <a:defRPr sz="2100" b="1">
                <a:solidFill>
                  <a:srgbClr val="087E80"/>
                </a:solidFill>
                <a:latin typeface="Helvetica Neue"/>
                <a:ea typeface="Helvetica Neue"/>
                <a:cs typeface="Helvetica Neue"/>
              </a:defRPr>
            </a:lvl8pPr>
            <a:lvl9pPr>
              <a:defRPr sz="2100" b="1">
                <a:solidFill>
                  <a:srgbClr val="087E80"/>
                </a:solidFill>
                <a:latin typeface="Helvetica Neue"/>
                <a:ea typeface="Helvetica Neue"/>
                <a:cs typeface="Helvetica Neue"/>
              </a:defRPr>
            </a:lvl9pPr>
          </a:lstStyle>
          <a:p xmlns:a="http://schemas.openxmlformats.org/drawingml/2006/main">
            <a:pPr>
              <a:defRPr sz="2100" b="1">
                <a:solidFill>
                  <a:srgbClr val="087E80"/>
                </a:solidFill>
                <a:latin typeface="Helvetica Neue"/>
                <a:ea typeface="Helvetica Neue"/>
                <a:cs typeface="Helvetica Neue"/>
              </a:defRPr>
            </a:pPr>
            <a:r>
              <a:rPr sz="2100" b="1">
                <a:solidFill>
                  <a:srgbClr val="087E80"/>
                </a:solidFill>
                <a:latin typeface="Helvetica Neue"/>
                <a:ea typeface="Helvetica Neue"/>
                <a:cs typeface="Helvetica Neue"/>
              </a:rPr>
              <a:t>Only the visible history changes. Earlier positives stay excluded.</a:t>
            </a:r>
          </a:p>
        </p:txBody>
      </p:sp>
      <p:sp>
        <p:nvSpPr>
          <p:cNvPr id="7" name="">
            <a:extLst xmlns:a="http://schemas.openxmlformats.org/drawingml/2006/main">
              <a:ext uri="{FF2B5EF4-FFF2-40B4-BE49-F238E27FC236}">
                <a16:creationId xmlns:a16="http://schemas.microsoft.com/office/drawing/2014/main" id="{19959F40-B178-4E5C-A4DF-38A05B7D8286}"/>
              </a:ext>
            </a:extLst>
          </p:cNvPr>
          <p:cNvSpPr>
            <a:spLocks xmlns:a="http://schemas.openxmlformats.org/drawingml/2006/main" noGrp="1"/>
          </p:cNvSpPr>
          <p:nvPr/>
        </p:nvSpPr>
        <p:spPr>
          <a:xfrm xmlns:a="http://schemas.openxmlformats.org/drawingml/2006/main">
            <a:off x="628650" y="6096000"/>
            <a:ext cx="10572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566760"/>
                </a:solidFill>
                <a:latin typeface="Helvetica Neue"/>
                <a:ea typeface="Helvetica Neue"/>
                <a:cs typeface="Helvetica Neue"/>
              </a:defRPr>
            </a:defPPr>
            <a:lvl1pPr>
              <a:defRPr sz="1500" b="0">
                <a:solidFill>
                  <a:srgbClr val="566760"/>
                </a:solidFill>
                <a:latin typeface="Helvetica Neue"/>
                <a:ea typeface="Helvetica Neue"/>
                <a:cs typeface="Helvetica Neue"/>
              </a:defRPr>
            </a:lvl1pPr>
            <a:lvl2pPr>
              <a:defRPr sz="1500" b="0">
                <a:solidFill>
                  <a:srgbClr val="566760"/>
                </a:solidFill>
                <a:latin typeface="Helvetica Neue"/>
                <a:ea typeface="Helvetica Neue"/>
                <a:cs typeface="Helvetica Neue"/>
              </a:defRPr>
            </a:lvl2pPr>
            <a:lvl3pPr>
              <a:defRPr sz="1500" b="0">
                <a:solidFill>
                  <a:srgbClr val="566760"/>
                </a:solidFill>
                <a:latin typeface="Helvetica Neue"/>
                <a:ea typeface="Helvetica Neue"/>
                <a:cs typeface="Helvetica Neue"/>
              </a:defRPr>
            </a:lvl3pPr>
            <a:lvl4pPr>
              <a:defRPr sz="1500" b="0">
                <a:solidFill>
                  <a:srgbClr val="566760"/>
                </a:solidFill>
                <a:latin typeface="Helvetica Neue"/>
                <a:ea typeface="Helvetica Neue"/>
                <a:cs typeface="Helvetica Neue"/>
              </a:defRPr>
            </a:lvl4pPr>
            <a:lvl5pPr>
              <a:defRPr sz="1500" b="0">
                <a:solidFill>
                  <a:srgbClr val="566760"/>
                </a:solidFill>
                <a:latin typeface="Helvetica Neue"/>
                <a:ea typeface="Helvetica Neue"/>
                <a:cs typeface="Helvetica Neue"/>
              </a:defRPr>
            </a:lvl5pPr>
            <a:lvl6pPr>
              <a:defRPr sz="1500" b="0">
                <a:solidFill>
                  <a:srgbClr val="566760"/>
                </a:solidFill>
                <a:latin typeface="Helvetica Neue"/>
                <a:ea typeface="Helvetica Neue"/>
                <a:cs typeface="Helvetica Neue"/>
              </a:defRPr>
            </a:lvl6pPr>
            <a:lvl7pPr>
              <a:defRPr sz="1500" b="0">
                <a:solidFill>
                  <a:srgbClr val="566760"/>
                </a:solidFill>
                <a:latin typeface="Helvetica Neue"/>
                <a:ea typeface="Helvetica Neue"/>
                <a:cs typeface="Helvetica Neue"/>
              </a:defRPr>
            </a:lvl7pPr>
            <a:lvl8pPr>
              <a:defRPr sz="1500" b="0">
                <a:solidFill>
                  <a:srgbClr val="566760"/>
                </a:solidFill>
                <a:latin typeface="Helvetica Neue"/>
                <a:ea typeface="Helvetica Neue"/>
                <a:cs typeface="Helvetica Neue"/>
              </a:defRPr>
            </a:lvl8pPr>
            <a:lvl9pPr>
              <a:defRPr sz="1500" b="0">
                <a:solidFill>
                  <a:srgbClr val="566760"/>
                </a:solidFill>
                <a:latin typeface="Helvetica Neue"/>
                <a:ea typeface="Helvetica Neue"/>
                <a:cs typeface="Helvetica Neue"/>
              </a:defRPr>
            </a:lvl9pPr>
          </a:lstStyle>
          <a:p xmlns:a="http://schemas.openxmlformats.org/drawingml/2006/main">
            <a:pPr>
              <a:defRPr sz="1500" b="0">
                <a:solidFill>
                  <a:srgbClr val="566760"/>
                </a:solidFill>
                <a:latin typeface="Helvetica Neue"/>
                <a:ea typeface="Helvetica Neue"/>
                <a:cs typeface="Helvetica Neue"/>
              </a:defRPr>
            </a:pPr>
            <a:r>
              <a:rPr sz="1500" b="0">
                <a:solidFill>
                  <a:srgbClr val="566760"/>
                </a:solidFill>
                <a:latin typeface="Helvetica Neue"/>
                <a:ea typeface="Helvetica Neue"/>
                <a:cs typeface="Helvetica Neue"/>
              </a:rPr>
              <a:t>Coverage describes exposure for this fixed cohort. It does not measure user satisfaction.</a:t>
            </a:r>
          </a:p>
        </p:txBody>
      </p:sp>
    </p:spTree>
    <p:extLst>
      <p:ext uri="{BB962C8B-B14F-4D97-AF65-F5344CB8AC3E}">
        <p14:creationId xmlns:p14="http://schemas.microsoft.com/office/powerpoint/2010/main" val="1821596797"/>
      </p:ext>
    </p:extLst>
  </p:cSld>
</p:sld>
</file>

<file path=ppt/slides/slide17.xml><?xml version="1.0" encoding="utf-8"?>
<p:sld xmlns:p="http://schemas.openxmlformats.org/presentationml/2006/main">
  <p:cSld>
    <p:bg>
      <p:bgPr>
        <a:solidFill xmlns:a="http://schemas.openxmlformats.org/drawingml/2006/main">
          <a:srgbClr val="FAF8F3"/>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C931E3E-AF4E-4F39-84F8-C8BD2D94A7E1}"/>
              </a:ext>
            </a:extLst>
          </p:cNvPr>
          <p:cNvSpPr>
            <a:spLocks xmlns:a="http://schemas.openxmlformats.org/drawingml/2006/main" noGrp="1"/>
          </p:cNvSpPr>
          <p:nvPr/>
        </p:nvSpPr>
        <p:spPr>
          <a:xfrm xmlns:a="http://schemas.openxmlformats.org/drawingml/2006/main">
            <a:off x="609600" y="3810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150" b="1">
                <a:solidFill>
                  <a:srgbClr val="17251F"/>
                </a:solidFill>
                <a:latin typeface="Helvetica Neue"/>
                <a:ea typeface="Helvetica Neue"/>
                <a:cs typeface="Helvetica Neue"/>
              </a:defRPr>
            </a:defPPr>
            <a:lvl1pPr>
              <a:defRPr sz="3150" b="1">
                <a:solidFill>
                  <a:srgbClr val="17251F"/>
                </a:solidFill>
                <a:latin typeface="Helvetica Neue"/>
                <a:ea typeface="Helvetica Neue"/>
                <a:cs typeface="Helvetica Neue"/>
              </a:defRPr>
            </a:lvl1pPr>
            <a:lvl2pPr>
              <a:defRPr sz="3150" b="1">
                <a:solidFill>
                  <a:srgbClr val="17251F"/>
                </a:solidFill>
                <a:latin typeface="Helvetica Neue"/>
                <a:ea typeface="Helvetica Neue"/>
                <a:cs typeface="Helvetica Neue"/>
              </a:defRPr>
            </a:lvl2pPr>
            <a:lvl3pPr>
              <a:defRPr sz="3150" b="1">
                <a:solidFill>
                  <a:srgbClr val="17251F"/>
                </a:solidFill>
                <a:latin typeface="Helvetica Neue"/>
                <a:ea typeface="Helvetica Neue"/>
                <a:cs typeface="Helvetica Neue"/>
              </a:defRPr>
            </a:lvl3pPr>
            <a:lvl4pPr>
              <a:defRPr sz="3150" b="1">
                <a:solidFill>
                  <a:srgbClr val="17251F"/>
                </a:solidFill>
                <a:latin typeface="Helvetica Neue"/>
                <a:ea typeface="Helvetica Neue"/>
                <a:cs typeface="Helvetica Neue"/>
              </a:defRPr>
            </a:lvl4pPr>
            <a:lvl5pPr>
              <a:defRPr sz="3150" b="1">
                <a:solidFill>
                  <a:srgbClr val="17251F"/>
                </a:solidFill>
                <a:latin typeface="Helvetica Neue"/>
                <a:ea typeface="Helvetica Neue"/>
                <a:cs typeface="Helvetica Neue"/>
              </a:defRPr>
            </a:lvl5pPr>
            <a:lvl6pPr>
              <a:defRPr sz="3150" b="1">
                <a:solidFill>
                  <a:srgbClr val="17251F"/>
                </a:solidFill>
                <a:latin typeface="Helvetica Neue"/>
                <a:ea typeface="Helvetica Neue"/>
                <a:cs typeface="Helvetica Neue"/>
              </a:defRPr>
            </a:lvl6pPr>
            <a:lvl7pPr>
              <a:defRPr sz="3150" b="1">
                <a:solidFill>
                  <a:srgbClr val="17251F"/>
                </a:solidFill>
                <a:latin typeface="Helvetica Neue"/>
                <a:ea typeface="Helvetica Neue"/>
                <a:cs typeface="Helvetica Neue"/>
              </a:defRPr>
            </a:lvl7pPr>
            <a:lvl8pPr>
              <a:defRPr sz="3150" b="1">
                <a:solidFill>
                  <a:srgbClr val="17251F"/>
                </a:solidFill>
                <a:latin typeface="Helvetica Neue"/>
                <a:ea typeface="Helvetica Neue"/>
                <a:cs typeface="Helvetica Neue"/>
              </a:defRPr>
            </a:lvl8pPr>
            <a:lvl9pPr>
              <a:defRPr sz="3150" b="1">
                <a:solidFill>
                  <a:srgbClr val="17251F"/>
                </a:solidFill>
                <a:latin typeface="Helvetica Neue"/>
                <a:ea typeface="Helvetica Neue"/>
                <a:cs typeface="Helvetica Neue"/>
              </a:defRPr>
            </a:lvl9pPr>
          </a:lstStyle>
          <a:p xmlns:a="http://schemas.openxmlformats.org/drawingml/2006/main">
            <a:pPr>
              <a:defRPr sz="3150" b="1">
                <a:solidFill>
                  <a:srgbClr val="17251F"/>
                </a:solidFill>
                <a:latin typeface="Helvetica Neue"/>
                <a:ea typeface="Helvetica Neue"/>
                <a:cs typeface="Helvetica Neue"/>
              </a:defRPr>
            </a:pPr>
            <a:r>
              <a:rPr sz="3150" b="1">
                <a:solidFill>
                  <a:srgbClr val="17251F"/>
                </a:solidFill>
                <a:latin typeface="Helvetica Neue"/>
                <a:ea typeface="Helvetica Neue"/>
                <a:cs typeface="Helvetica Neue"/>
              </a:rPr>
              <a:t>CPU ranking is faster with identical returned rows</a:t>
            </a:r>
          </a:p>
        </p:txBody>
      </p:sp>
      <p:sp>
        <p:nvSpPr>
          <p:cNvPr id="2" name="">
            <a:extLst xmlns:a="http://schemas.openxmlformats.org/drawingml/2006/main">
              <a:ext uri="{FF2B5EF4-FFF2-40B4-BE49-F238E27FC236}">
                <a16:creationId xmlns:a16="http://schemas.microsoft.com/office/drawing/2014/main" id="{A386FDC8-1387-45CD-AD69-D805B4A3A67A}"/>
              </a:ext>
            </a:extLst>
          </p:cNvPr>
          <p:cNvSpPr>
            <a:spLocks xmlns:a="http://schemas.openxmlformats.org/drawingml/2006/main" noGrp="1"/>
          </p:cNvSpPr>
          <p:nvPr/>
        </p:nvSpPr>
        <p:spPr>
          <a:xfrm xmlns:a="http://schemas.openxmlformats.org/drawingml/2006/main">
            <a:off x="628650" y="1057275"/>
            <a:ext cx="109347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566760"/>
                </a:solidFill>
                <a:latin typeface="Helvetica Neue"/>
                <a:ea typeface="Helvetica Neue"/>
                <a:cs typeface="Helvetica Neue"/>
              </a:defRPr>
            </a:defPPr>
            <a:lvl1pPr>
              <a:defRPr sz="1800" b="0">
                <a:solidFill>
                  <a:srgbClr val="566760"/>
                </a:solidFill>
                <a:latin typeface="Helvetica Neue"/>
                <a:ea typeface="Helvetica Neue"/>
                <a:cs typeface="Helvetica Neue"/>
              </a:defRPr>
            </a:lvl1pPr>
            <a:lvl2pPr>
              <a:defRPr sz="1800" b="0">
                <a:solidFill>
                  <a:srgbClr val="566760"/>
                </a:solidFill>
                <a:latin typeface="Helvetica Neue"/>
                <a:ea typeface="Helvetica Neue"/>
                <a:cs typeface="Helvetica Neue"/>
              </a:defRPr>
            </a:lvl2pPr>
            <a:lvl3pPr>
              <a:defRPr sz="1800" b="0">
                <a:solidFill>
                  <a:srgbClr val="566760"/>
                </a:solidFill>
                <a:latin typeface="Helvetica Neue"/>
                <a:ea typeface="Helvetica Neue"/>
                <a:cs typeface="Helvetica Neue"/>
              </a:defRPr>
            </a:lvl3pPr>
            <a:lvl4pPr>
              <a:defRPr sz="1800" b="0">
                <a:solidFill>
                  <a:srgbClr val="566760"/>
                </a:solidFill>
                <a:latin typeface="Helvetica Neue"/>
                <a:ea typeface="Helvetica Neue"/>
                <a:cs typeface="Helvetica Neue"/>
              </a:defRPr>
            </a:lvl4pPr>
            <a:lvl5pPr>
              <a:defRPr sz="1800" b="0">
                <a:solidFill>
                  <a:srgbClr val="566760"/>
                </a:solidFill>
                <a:latin typeface="Helvetica Neue"/>
                <a:ea typeface="Helvetica Neue"/>
                <a:cs typeface="Helvetica Neue"/>
              </a:defRPr>
            </a:lvl5pPr>
            <a:lvl6pPr>
              <a:defRPr sz="1800" b="0">
                <a:solidFill>
                  <a:srgbClr val="566760"/>
                </a:solidFill>
                <a:latin typeface="Helvetica Neue"/>
                <a:ea typeface="Helvetica Neue"/>
                <a:cs typeface="Helvetica Neue"/>
              </a:defRPr>
            </a:lvl6pPr>
            <a:lvl7pPr>
              <a:defRPr sz="1800" b="0">
                <a:solidFill>
                  <a:srgbClr val="566760"/>
                </a:solidFill>
                <a:latin typeface="Helvetica Neue"/>
                <a:ea typeface="Helvetica Neue"/>
                <a:cs typeface="Helvetica Neue"/>
              </a:defRPr>
            </a:lvl7pPr>
            <a:lvl8pPr>
              <a:defRPr sz="1800" b="0">
                <a:solidFill>
                  <a:srgbClr val="566760"/>
                </a:solidFill>
                <a:latin typeface="Helvetica Neue"/>
                <a:ea typeface="Helvetica Neue"/>
                <a:cs typeface="Helvetica Neue"/>
              </a:defRPr>
            </a:lvl8pPr>
            <a:lvl9pPr>
              <a:defRPr sz="1800" b="0">
                <a:solidFill>
                  <a:srgbClr val="566760"/>
                </a:solidFill>
                <a:latin typeface="Helvetica Neue"/>
                <a:ea typeface="Helvetica Neue"/>
                <a:cs typeface="Helvetica Neue"/>
              </a:defRPr>
            </a:lvl9pPr>
          </a:lstStyle>
          <a:p xmlns:a="http://schemas.openxmlformats.org/drawingml/2006/main">
            <a:pPr>
              <a:defRPr sz="1800" b="0">
                <a:solidFill>
                  <a:srgbClr val="566760"/>
                </a:solidFill>
                <a:latin typeface="Helvetica Neue"/>
                <a:ea typeface="Helvetica Neue"/>
                <a:cs typeface="Helvetica Neue"/>
              </a:defRPr>
            </a:pPr>
            <a:r>
              <a:rPr sz="1800" b="0">
                <a:solidFill>
                  <a:srgbClr val="566760"/>
                </a:solidFill>
                <a:latin typeface="Helvetica Neue"/>
                <a:ea typeface="Helvetica Neue"/>
                <a:cs typeface="Helvetica Neue"/>
              </a:rPr>
              <a:t>Apple M4, 16 GiB, 4 Torch threads. 22,491 Clothing products.</a:t>
            </a:r>
          </a:p>
        </p:txBody>
      </p:sp>
      <p:sp>
        <p:nvSpPr>
          <p:cNvPr id="3" name="">
            <a:extLst xmlns:a="http://schemas.openxmlformats.org/drawingml/2006/main">
              <a:ext uri="{FF2B5EF4-FFF2-40B4-BE49-F238E27FC236}">
                <a16:creationId xmlns:a16="http://schemas.microsoft.com/office/drawing/2014/main" id="{BB46A870-0F2D-413E-AAE8-71F9D601A7A0}"/>
              </a:ext>
            </a:extLst>
          </p:cNvPr>
          <p:cNvSpPr>
            <a:spLocks xmlns:a="http://schemas.openxmlformats.org/drawingml/2006/main" noGrp="1"/>
          </p:cNvSpPr>
          <p:nvPr/>
        </p:nvSpPr>
        <p:spPr>
          <a:xfrm xmlns:a="http://schemas.openxmlformats.org/drawingml/2006/main">
            <a:off x="11106150" y="6457950"/>
            <a:ext cx="47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00" b="0">
                <a:solidFill>
                  <a:srgbClr val="566760"/>
                </a:solidFill>
                <a:latin typeface="Helvetica Neue"/>
                <a:ea typeface="Helvetica Neue"/>
                <a:cs typeface="Helvetica Neue"/>
              </a:defRPr>
            </a:defPPr>
            <a:lvl1pPr algn="r">
              <a:defRPr sz="1200" b="0">
                <a:solidFill>
                  <a:srgbClr val="566760"/>
                </a:solidFill>
                <a:latin typeface="Helvetica Neue"/>
                <a:ea typeface="Helvetica Neue"/>
                <a:cs typeface="Helvetica Neue"/>
              </a:defRPr>
            </a:lvl1pPr>
            <a:lvl2pPr algn="r">
              <a:defRPr sz="1200" b="0">
                <a:solidFill>
                  <a:srgbClr val="566760"/>
                </a:solidFill>
                <a:latin typeface="Helvetica Neue"/>
                <a:ea typeface="Helvetica Neue"/>
                <a:cs typeface="Helvetica Neue"/>
              </a:defRPr>
            </a:lvl2pPr>
            <a:lvl3pPr algn="r">
              <a:defRPr sz="1200" b="0">
                <a:solidFill>
                  <a:srgbClr val="566760"/>
                </a:solidFill>
                <a:latin typeface="Helvetica Neue"/>
                <a:ea typeface="Helvetica Neue"/>
                <a:cs typeface="Helvetica Neue"/>
              </a:defRPr>
            </a:lvl3pPr>
            <a:lvl4pPr algn="r">
              <a:defRPr sz="1200" b="0">
                <a:solidFill>
                  <a:srgbClr val="566760"/>
                </a:solidFill>
                <a:latin typeface="Helvetica Neue"/>
                <a:ea typeface="Helvetica Neue"/>
                <a:cs typeface="Helvetica Neue"/>
              </a:defRPr>
            </a:lvl4pPr>
            <a:lvl5pPr algn="r">
              <a:defRPr sz="1200" b="0">
                <a:solidFill>
                  <a:srgbClr val="566760"/>
                </a:solidFill>
                <a:latin typeface="Helvetica Neue"/>
                <a:ea typeface="Helvetica Neue"/>
                <a:cs typeface="Helvetica Neue"/>
              </a:defRPr>
            </a:lvl5pPr>
            <a:lvl6pPr algn="r">
              <a:defRPr sz="1200" b="0">
                <a:solidFill>
                  <a:srgbClr val="566760"/>
                </a:solidFill>
                <a:latin typeface="Helvetica Neue"/>
                <a:ea typeface="Helvetica Neue"/>
                <a:cs typeface="Helvetica Neue"/>
              </a:defRPr>
            </a:lvl6pPr>
            <a:lvl7pPr algn="r">
              <a:defRPr sz="1200" b="0">
                <a:solidFill>
                  <a:srgbClr val="566760"/>
                </a:solidFill>
                <a:latin typeface="Helvetica Neue"/>
                <a:ea typeface="Helvetica Neue"/>
                <a:cs typeface="Helvetica Neue"/>
              </a:defRPr>
            </a:lvl7pPr>
            <a:lvl8pPr algn="r">
              <a:defRPr sz="1200" b="0">
                <a:solidFill>
                  <a:srgbClr val="566760"/>
                </a:solidFill>
                <a:latin typeface="Helvetica Neue"/>
                <a:ea typeface="Helvetica Neue"/>
                <a:cs typeface="Helvetica Neue"/>
              </a:defRPr>
            </a:lvl8pPr>
            <a:lvl9pPr algn="r">
              <a:defRPr sz="1200" b="0">
                <a:solidFill>
                  <a:srgbClr val="566760"/>
                </a:solidFill>
                <a:latin typeface="Helvetica Neue"/>
                <a:ea typeface="Helvetica Neue"/>
                <a:cs typeface="Helvetica Neue"/>
              </a:defRPr>
            </a:lvl9pPr>
          </a:lstStyle>
          <a:p xmlns:a="http://schemas.openxmlformats.org/drawingml/2006/main">
            <a:pPr algn="r">
              <a:defRPr sz="1200" b="0">
                <a:solidFill>
                  <a:srgbClr val="566760"/>
                </a:solidFill>
                <a:latin typeface="Helvetica Neue"/>
                <a:ea typeface="Helvetica Neue"/>
                <a:cs typeface="Helvetica Neue"/>
              </a:defRPr>
            </a:pPr>
            <a:r>
              <a:rPr sz="1200" b="0">
                <a:solidFill>
                  <a:srgbClr val="566760"/>
                </a:solidFill>
                <a:latin typeface="Helvetica Neue"/>
                <a:ea typeface="Helvetica Neue"/>
                <a:cs typeface="Helvetica Neue"/>
              </a:rPr>
              <a:t>17</a:t>
            </a:r>
          </a:p>
        </p:txBody>
      </p:sp>
      <p:graphicFrame>
        <p:nvGraphicFramePr>
          <p:cNvPr id="4" name="Chart">
            <a:extLst xmlns:a="http://schemas.openxmlformats.org/drawingml/2006/main">
              <a:ext uri="{FF2B5EF4-FFF2-40B4-BE49-F238E27FC236}">
                <a16:creationId xmlns:a16="http://schemas.microsoft.com/office/drawing/2014/main" id="{F73DDBA6-BEA2-45E4-8429-3CBBEB7EAB30}"/>
              </a:ext>
            </a:extLst>
          </p:cNvPr>
          <p:cNvGraphicFramePr/>
          <p:nvPr/>
        </p:nvGraphicFramePr>
        <p:xfrm>
          <a:off xmlns:a="http://schemas.openxmlformats.org/drawingml/2006/main" x="609600" y="1838325"/>
          <a:ext xmlns:a="http://schemas.openxmlformats.org/drawingml/2006/main" cx="7477125" cy="3295650"/>
        </p:xfrm>
        <a:graphic xmlns:a="http://schemas.openxmlformats.org/drawingml/2006/main">
          <a:graphicData uri="http://schemas.openxmlformats.org/drawingml/2006/chart">
            <c:chart xmlns:r="http://schemas.openxmlformats.org/officeDocument/2006/relationships" xmlns:c="http://schemas.openxmlformats.org/drawingml/2006/chart" r:id="Re793ca7db7704b73"/>
          </a:graphicData>
        </a:graphic>
      </p:graphicFrame>
      <p:sp>
        <p:nvSpPr>
          <p:cNvPr id="5" name="">
            <a:extLst xmlns:a="http://schemas.openxmlformats.org/drawingml/2006/main">
              <a:ext uri="{FF2B5EF4-FFF2-40B4-BE49-F238E27FC236}">
                <a16:creationId xmlns:a16="http://schemas.microsoft.com/office/drawing/2014/main" id="{396DF822-0DFA-406A-BFFB-B504943ACA1B}"/>
              </a:ext>
            </a:extLst>
          </p:cNvPr>
          <p:cNvSpPr>
            <a:spLocks xmlns:a="http://schemas.openxmlformats.org/drawingml/2006/main" noGrp="1"/>
          </p:cNvSpPr>
          <p:nvPr/>
        </p:nvSpPr>
        <p:spPr>
          <a:xfrm xmlns:a="http://schemas.openxmlformats.org/drawingml/2006/main">
            <a:off x="8534400" y="2143125"/>
            <a:ext cx="30480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675" b="1">
                <a:solidFill>
                  <a:srgbClr val="087E80"/>
                </a:solidFill>
                <a:latin typeface="Helvetica Neue"/>
                <a:ea typeface="Helvetica Neue"/>
                <a:cs typeface="Helvetica Neue"/>
              </a:defRPr>
            </a:defPPr>
            <a:lvl1pPr>
              <a:defRPr sz="3675" b="1">
                <a:solidFill>
                  <a:srgbClr val="087E80"/>
                </a:solidFill>
                <a:latin typeface="Helvetica Neue"/>
                <a:ea typeface="Helvetica Neue"/>
                <a:cs typeface="Helvetica Neue"/>
              </a:defRPr>
            </a:lvl1pPr>
            <a:lvl2pPr>
              <a:defRPr sz="3675" b="1">
                <a:solidFill>
                  <a:srgbClr val="087E80"/>
                </a:solidFill>
                <a:latin typeface="Helvetica Neue"/>
                <a:ea typeface="Helvetica Neue"/>
                <a:cs typeface="Helvetica Neue"/>
              </a:defRPr>
            </a:lvl2pPr>
            <a:lvl3pPr>
              <a:defRPr sz="3675" b="1">
                <a:solidFill>
                  <a:srgbClr val="087E80"/>
                </a:solidFill>
                <a:latin typeface="Helvetica Neue"/>
                <a:ea typeface="Helvetica Neue"/>
                <a:cs typeface="Helvetica Neue"/>
              </a:defRPr>
            </a:lvl3pPr>
            <a:lvl4pPr>
              <a:defRPr sz="3675" b="1">
                <a:solidFill>
                  <a:srgbClr val="087E80"/>
                </a:solidFill>
                <a:latin typeface="Helvetica Neue"/>
                <a:ea typeface="Helvetica Neue"/>
                <a:cs typeface="Helvetica Neue"/>
              </a:defRPr>
            </a:lvl4pPr>
            <a:lvl5pPr>
              <a:defRPr sz="3675" b="1">
                <a:solidFill>
                  <a:srgbClr val="087E80"/>
                </a:solidFill>
                <a:latin typeface="Helvetica Neue"/>
                <a:ea typeface="Helvetica Neue"/>
                <a:cs typeface="Helvetica Neue"/>
              </a:defRPr>
            </a:lvl5pPr>
            <a:lvl6pPr>
              <a:defRPr sz="3675" b="1">
                <a:solidFill>
                  <a:srgbClr val="087E80"/>
                </a:solidFill>
                <a:latin typeface="Helvetica Neue"/>
                <a:ea typeface="Helvetica Neue"/>
                <a:cs typeface="Helvetica Neue"/>
              </a:defRPr>
            </a:lvl6pPr>
            <a:lvl7pPr>
              <a:defRPr sz="3675" b="1">
                <a:solidFill>
                  <a:srgbClr val="087E80"/>
                </a:solidFill>
                <a:latin typeface="Helvetica Neue"/>
                <a:ea typeface="Helvetica Neue"/>
                <a:cs typeface="Helvetica Neue"/>
              </a:defRPr>
            </a:lvl7pPr>
            <a:lvl8pPr>
              <a:defRPr sz="3675" b="1">
                <a:solidFill>
                  <a:srgbClr val="087E80"/>
                </a:solidFill>
                <a:latin typeface="Helvetica Neue"/>
                <a:ea typeface="Helvetica Neue"/>
                <a:cs typeface="Helvetica Neue"/>
              </a:defRPr>
            </a:lvl8pPr>
            <a:lvl9pPr>
              <a:defRPr sz="3675" b="1">
                <a:solidFill>
                  <a:srgbClr val="087E80"/>
                </a:solidFill>
                <a:latin typeface="Helvetica Neue"/>
                <a:ea typeface="Helvetica Neue"/>
                <a:cs typeface="Helvetica Neue"/>
              </a:defRPr>
            </a:lvl9pPr>
          </a:lstStyle>
          <a:p xmlns:a="http://schemas.openxmlformats.org/drawingml/2006/main">
            <a:pPr>
              <a:defRPr sz="3675" b="1">
                <a:solidFill>
                  <a:srgbClr val="087E80"/>
                </a:solidFill>
                <a:latin typeface="Helvetica Neue"/>
                <a:ea typeface="Helvetica Neue"/>
                <a:cs typeface="Helvetica Neue"/>
              </a:defRPr>
            </a:pPr>
            <a:r>
              <a:rPr sz="3675" b="1">
                <a:solidFill>
                  <a:srgbClr val="087E80"/>
                </a:solidFill>
                <a:latin typeface="Helvetica Neue"/>
                <a:ea typeface="Helvetica Neue"/>
                <a:cs typeface="Helvetica Neue"/>
              </a:rPr>
              <a:t>367 ms</a:t>
            </a:r>
          </a:p>
        </p:txBody>
      </p:sp>
      <p:sp>
        <p:nvSpPr>
          <p:cNvPr id="6" name="">
            <a:extLst xmlns:a="http://schemas.openxmlformats.org/drawingml/2006/main">
              <a:ext uri="{FF2B5EF4-FFF2-40B4-BE49-F238E27FC236}">
                <a16:creationId xmlns:a16="http://schemas.microsoft.com/office/drawing/2014/main" id="{9953DEC0-FAF4-45D9-BAD6-55368E73343A}"/>
              </a:ext>
            </a:extLst>
          </p:cNvPr>
          <p:cNvSpPr>
            <a:spLocks xmlns:a="http://schemas.openxmlformats.org/drawingml/2006/main" noGrp="1"/>
          </p:cNvSpPr>
          <p:nvPr/>
        </p:nvSpPr>
        <p:spPr>
          <a:xfrm xmlns:a="http://schemas.openxmlformats.org/drawingml/2006/main">
            <a:off x="8534400" y="2876550"/>
            <a:ext cx="30480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75" b="0">
                <a:solidFill>
                  <a:srgbClr val="566760"/>
                </a:solidFill>
                <a:latin typeface="Helvetica Neue"/>
                <a:ea typeface="Helvetica Neue"/>
                <a:cs typeface="Helvetica Neue"/>
              </a:defRPr>
            </a:defPPr>
            <a:lvl1pPr>
              <a:defRPr sz="1875" b="0">
                <a:solidFill>
                  <a:srgbClr val="566760"/>
                </a:solidFill>
                <a:latin typeface="Helvetica Neue"/>
                <a:ea typeface="Helvetica Neue"/>
                <a:cs typeface="Helvetica Neue"/>
              </a:defRPr>
            </a:lvl1pPr>
            <a:lvl2pPr>
              <a:defRPr sz="1875" b="0">
                <a:solidFill>
                  <a:srgbClr val="566760"/>
                </a:solidFill>
                <a:latin typeface="Helvetica Neue"/>
                <a:ea typeface="Helvetica Neue"/>
                <a:cs typeface="Helvetica Neue"/>
              </a:defRPr>
            </a:lvl2pPr>
            <a:lvl3pPr>
              <a:defRPr sz="1875" b="0">
                <a:solidFill>
                  <a:srgbClr val="566760"/>
                </a:solidFill>
                <a:latin typeface="Helvetica Neue"/>
                <a:ea typeface="Helvetica Neue"/>
                <a:cs typeface="Helvetica Neue"/>
              </a:defRPr>
            </a:lvl3pPr>
            <a:lvl4pPr>
              <a:defRPr sz="1875" b="0">
                <a:solidFill>
                  <a:srgbClr val="566760"/>
                </a:solidFill>
                <a:latin typeface="Helvetica Neue"/>
                <a:ea typeface="Helvetica Neue"/>
                <a:cs typeface="Helvetica Neue"/>
              </a:defRPr>
            </a:lvl4pPr>
            <a:lvl5pPr>
              <a:defRPr sz="1875" b="0">
                <a:solidFill>
                  <a:srgbClr val="566760"/>
                </a:solidFill>
                <a:latin typeface="Helvetica Neue"/>
                <a:ea typeface="Helvetica Neue"/>
                <a:cs typeface="Helvetica Neue"/>
              </a:defRPr>
            </a:lvl5pPr>
            <a:lvl6pPr>
              <a:defRPr sz="1875" b="0">
                <a:solidFill>
                  <a:srgbClr val="566760"/>
                </a:solidFill>
                <a:latin typeface="Helvetica Neue"/>
                <a:ea typeface="Helvetica Neue"/>
                <a:cs typeface="Helvetica Neue"/>
              </a:defRPr>
            </a:lvl6pPr>
            <a:lvl7pPr>
              <a:defRPr sz="1875" b="0">
                <a:solidFill>
                  <a:srgbClr val="566760"/>
                </a:solidFill>
                <a:latin typeface="Helvetica Neue"/>
                <a:ea typeface="Helvetica Neue"/>
                <a:cs typeface="Helvetica Neue"/>
              </a:defRPr>
            </a:lvl7pPr>
            <a:lvl8pPr>
              <a:defRPr sz="1875" b="0">
                <a:solidFill>
                  <a:srgbClr val="566760"/>
                </a:solidFill>
                <a:latin typeface="Helvetica Neue"/>
                <a:ea typeface="Helvetica Neue"/>
                <a:cs typeface="Helvetica Neue"/>
              </a:defRPr>
            </a:lvl8pPr>
            <a:lvl9pPr>
              <a:defRPr sz="1875" b="0">
                <a:solidFill>
                  <a:srgbClr val="566760"/>
                </a:solidFill>
                <a:latin typeface="Helvetica Neue"/>
                <a:ea typeface="Helvetica Neue"/>
                <a:cs typeface="Helvetica Neue"/>
              </a:defRPr>
            </a:lvl9pPr>
          </a:lstStyle>
          <a:p xmlns:a="http://schemas.openxmlformats.org/drawingml/2006/main">
            <a:pPr>
              <a:defRPr sz="1875" b="0">
                <a:solidFill>
                  <a:srgbClr val="566760"/>
                </a:solidFill>
                <a:latin typeface="Helvetica Neue"/>
                <a:ea typeface="Helvetica Neue"/>
                <a:cs typeface="Helvetica Neue"/>
              </a:defRPr>
            </a:pPr>
            <a:r>
              <a:rPr sz="1875" b="0">
                <a:solidFill>
                  <a:srgbClr val="566760"/>
                </a:solidFill>
                <a:latin typeface="Helvetica Neue"/>
                <a:ea typeface="Helvetica Neue"/>
                <a:cs typeface="Helvetica Neue"/>
              </a:rPr>
              <a:t>Full engine, new request</a:t>
            </a:r>
          </a:p>
          <a:p xmlns:a="http://schemas.openxmlformats.org/drawingml/2006/main">
            <a:pPr>
              <a:defRPr sz="1875" b="0">
                <a:solidFill>
                  <a:srgbClr val="566760"/>
                </a:solidFill>
                <a:latin typeface="Helvetica Neue"/>
                <a:ea typeface="Helvetica Neue"/>
                <a:cs typeface="Helvetica Neue"/>
              </a:defRPr>
            </a:pPr>
            <a:r>
              <a:rPr sz="1875" b="0">
                <a:solidFill>
                  <a:srgbClr val="566760"/>
                </a:solidFill>
                <a:latin typeface="Helvetica Neue"/>
                <a:ea typeface="Helvetica Neue"/>
                <a:cs typeface="Helvetica Neue"/>
              </a:rPr>
              <a:t>Warm median, n = 12</a:t>
            </a:r>
          </a:p>
        </p:txBody>
      </p:sp>
      <p:sp>
        <p:nvSpPr>
          <p:cNvPr id="7" name="">
            <a:extLst xmlns:a="http://schemas.openxmlformats.org/drawingml/2006/main">
              <a:ext uri="{FF2B5EF4-FFF2-40B4-BE49-F238E27FC236}">
                <a16:creationId xmlns:a16="http://schemas.microsoft.com/office/drawing/2014/main" id="{996801F4-1D1B-4220-B91A-F9A6A539F364}"/>
              </a:ext>
            </a:extLst>
          </p:cNvPr>
          <p:cNvSpPr>
            <a:spLocks xmlns:a="http://schemas.openxmlformats.org/drawingml/2006/main" noGrp="1"/>
          </p:cNvSpPr>
          <p:nvPr/>
        </p:nvSpPr>
        <p:spPr>
          <a:xfrm xmlns:a="http://schemas.openxmlformats.org/drawingml/2006/main">
            <a:off x="8534400" y="4038600"/>
            <a:ext cx="3048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17251F"/>
                </a:solidFill>
                <a:latin typeface="Helvetica Neue"/>
                <a:ea typeface="Helvetica Neue"/>
                <a:cs typeface="Helvetica Neue"/>
              </a:defRPr>
            </a:defPPr>
            <a:lvl1pPr>
              <a:defRPr sz="2700" b="1">
                <a:solidFill>
                  <a:srgbClr val="17251F"/>
                </a:solidFill>
                <a:latin typeface="Helvetica Neue"/>
                <a:ea typeface="Helvetica Neue"/>
                <a:cs typeface="Helvetica Neue"/>
              </a:defRPr>
            </a:lvl1pPr>
            <a:lvl2pPr>
              <a:defRPr sz="2700" b="1">
                <a:solidFill>
                  <a:srgbClr val="17251F"/>
                </a:solidFill>
                <a:latin typeface="Helvetica Neue"/>
                <a:ea typeface="Helvetica Neue"/>
                <a:cs typeface="Helvetica Neue"/>
              </a:defRPr>
            </a:lvl2pPr>
            <a:lvl3pPr>
              <a:defRPr sz="2700" b="1">
                <a:solidFill>
                  <a:srgbClr val="17251F"/>
                </a:solidFill>
                <a:latin typeface="Helvetica Neue"/>
                <a:ea typeface="Helvetica Neue"/>
                <a:cs typeface="Helvetica Neue"/>
              </a:defRPr>
            </a:lvl3pPr>
            <a:lvl4pPr>
              <a:defRPr sz="2700" b="1">
                <a:solidFill>
                  <a:srgbClr val="17251F"/>
                </a:solidFill>
                <a:latin typeface="Helvetica Neue"/>
                <a:ea typeface="Helvetica Neue"/>
                <a:cs typeface="Helvetica Neue"/>
              </a:defRPr>
            </a:lvl4pPr>
            <a:lvl5pPr>
              <a:defRPr sz="2700" b="1">
                <a:solidFill>
                  <a:srgbClr val="17251F"/>
                </a:solidFill>
                <a:latin typeface="Helvetica Neue"/>
                <a:ea typeface="Helvetica Neue"/>
                <a:cs typeface="Helvetica Neue"/>
              </a:defRPr>
            </a:lvl5pPr>
            <a:lvl6pPr>
              <a:defRPr sz="2700" b="1">
                <a:solidFill>
                  <a:srgbClr val="17251F"/>
                </a:solidFill>
                <a:latin typeface="Helvetica Neue"/>
                <a:ea typeface="Helvetica Neue"/>
                <a:cs typeface="Helvetica Neue"/>
              </a:defRPr>
            </a:lvl6pPr>
            <a:lvl7pPr>
              <a:defRPr sz="2700" b="1">
                <a:solidFill>
                  <a:srgbClr val="17251F"/>
                </a:solidFill>
                <a:latin typeface="Helvetica Neue"/>
                <a:ea typeface="Helvetica Neue"/>
                <a:cs typeface="Helvetica Neue"/>
              </a:defRPr>
            </a:lvl7pPr>
            <a:lvl8pPr>
              <a:defRPr sz="2700" b="1">
                <a:solidFill>
                  <a:srgbClr val="17251F"/>
                </a:solidFill>
                <a:latin typeface="Helvetica Neue"/>
                <a:ea typeface="Helvetica Neue"/>
                <a:cs typeface="Helvetica Neue"/>
              </a:defRPr>
            </a:lvl8pPr>
            <a:lvl9pPr>
              <a:defRPr sz="2700" b="1">
                <a:solidFill>
                  <a:srgbClr val="17251F"/>
                </a:solidFill>
                <a:latin typeface="Helvetica Neue"/>
                <a:ea typeface="Helvetica Neue"/>
                <a:cs typeface="Helvetica Neue"/>
              </a:defRPr>
            </a:lvl9pPr>
          </a:lstStyle>
          <a:p xmlns:a="http://schemas.openxmlformats.org/drawingml/2006/main">
            <a:pPr>
              <a:defRPr sz="2700" b="1">
                <a:solidFill>
                  <a:srgbClr val="17251F"/>
                </a:solidFill>
                <a:latin typeface="Helvetica Neue"/>
                <a:ea typeface="Helvetica Neue"/>
                <a:cs typeface="Helvetica Neue"/>
              </a:defRPr>
            </a:pPr>
            <a:r>
              <a:rPr sz="2700" b="1">
                <a:solidFill>
                  <a:srgbClr val="17251F"/>
                </a:solidFill>
                <a:latin typeface="Helvetica Neue"/>
                <a:ea typeface="Helvetica Neue"/>
                <a:cs typeface="Helvetica Neue"/>
              </a:rPr>
              <a:t>6.819 s</a:t>
            </a:r>
          </a:p>
        </p:txBody>
      </p:sp>
      <p:sp>
        <p:nvSpPr>
          <p:cNvPr id="8" name="">
            <a:extLst xmlns:a="http://schemas.openxmlformats.org/drawingml/2006/main">
              <a:ext uri="{FF2B5EF4-FFF2-40B4-BE49-F238E27FC236}">
                <a16:creationId xmlns:a16="http://schemas.microsoft.com/office/drawing/2014/main" id="{52EB8C45-728C-45C4-921E-420BE8E3280B}"/>
              </a:ext>
            </a:extLst>
          </p:cNvPr>
          <p:cNvSpPr>
            <a:spLocks xmlns:a="http://schemas.openxmlformats.org/drawingml/2006/main" noGrp="1"/>
          </p:cNvSpPr>
          <p:nvPr/>
        </p:nvSpPr>
        <p:spPr>
          <a:xfrm xmlns:a="http://schemas.openxmlformats.org/drawingml/2006/main">
            <a:off x="8534400" y="4591050"/>
            <a:ext cx="3048000" cy="676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566760"/>
                </a:solidFill>
                <a:latin typeface="Helvetica Neue"/>
                <a:ea typeface="Helvetica Neue"/>
                <a:cs typeface="Helvetica Neue"/>
              </a:defRPr>
            </a:defPPr>
            <a:lvl1pPr>
              <a:defRPr sz="1725" b="0">
                <a:solidFill>
                  <a:srgbClr val="566760"/>
                </a:solidFill>
                <a:latin typeface="Helvetica Neue"/>
                <a:ea typeface="Helvetica Neue"/>
                <a:cs typeface="Helvetica Neue"/>
              </a:defRPr>
            </a:lvl1pPr>
            <a:lvl2pPr>
              <a:defRPr sz="1725" b="0">
                <a:solidFill>
                  <a:srgbClr val="566760"/>
                </a:solidFill>
                <a:latin typeface="Helvetica Neue"/>
                <a:ea typeface="Helvetica Neue"/>
                <a:cs typeface="Helvetica Neue"/>
              </a:defRPr>
            </a:lvl2pPr>
            <a:lvl3pPr>
              <a:defRPr sz="1725" b="0">
                <a:solidFill>
                  <a:srgbClr val="566760"/>
                </a:solidFill>
                <a:latin typeface="Helvetica Neue"/>
                <a:ea typeface="Helvetica Neue"/>
                <a:cs typeface="Helvetica Neue"/>
              </a:defRPr>
            </a:lvl3pPr>
            <a:lvl4pPr>
              <a:defRPr sz="1725" b="0">
                <a:solidFill>
                  <a:srgbClr val="566760"/>
                </a:solidFill>
                <a:latin typeface="Helvetica Neue"/>
                <a:ea typeface="Helvetica Neue"/>
                <a:cs typeface="Helvetica Neue"/>
              </a:defRPr>
            </a:lvl4pPr>
            <a:lvl5pPr>
              <a:defRPr sz="1725" b="0">
                <a:solidFill>
                  <a:srgbClr val="566760"/>
                </a:solidFill>
                <a:latin typeface="Helvetica Neue"/>
                <a:ea typeface="Helvetica Neue"/>
                <a:cs typeface="Helvetica Neue"/>
              </a:defRPr>
            </a:lvl5pPr>
            <a:lvl6pPr>
              <a:defRPr sz="1725" b="0">
                <a:solidFill>
                  <a:srgbClr val="566760"/>
                </a:solidFill>
                <a:latin typeface="Helvetica Neue"/>
                <a:ea typeface="Helvetica Neue"/>
                <a:cs typeface="Helvetica Neue"/>
              </a:defRPr>
            </a:lvl6pPr>
            <a:lvl7pPr>
              <a:defRPr sz="1725" b="0">
                <a:solidFill>
                  <a:srgbClr val="566760"/>
                </a:solidFill>
                <a:latin typeface="Helvetica Neue"/>
                <a:ea typeface="Helvetica Neue"/>
                <a:cs typeface="Helvetica Neue"/>
              </a:defRPr>
            </a:lvl7pPr>
            <a:lvl8pPr>
              <a:defRPr sz="1725" b="0">
                <a:solidFill>
                  <a:srgbClr val="566760"/>
                </a:solidFill>
                <a:latin typeface="Helvetica Neue"/>
                <a:ea typeface="Helvetica Neue"/>
                <a:cs typeface="Helvetica Neue"/>
              </a:defRPr>
            </a:lvl8pPr>
            <a:lvl9pPr>
              <a:defRPr sz="1725" b="0">
                <a:solidFill>
                  <a:srgbClr val="566760"/>
                </a:solidFill>
                <a:latin typeface="Helvetica Neue"/>
                <a:ea typeface="Helvetica Neue"/>
                <a:cs typeface="Helvetica Neue"/>
              </a:defRPr>
            </a:lvl9pPr>
          </a:lstStyle>
          <a:p xmlns:a="http://schemas.openxmlformats.org/drawingml/2006/main">
            <a:pPr>
              <a:defRPr sz="1725" b="0">
                <a:solidFill>
                  <a:srgbClr val="566760"/>
                </a:solidFill>
                <a:latin typeface="Helvetica Neue"/>
                <a:ea typeface="Helvetica Neue"/>
                <a:cs typeface="Helvetica Neue"/>
              </a:defRPr>
            </a:pPr>
            <a:r>
              <a:rPr sz="1725" b="0">
                <a:solidFill>
                  <a:srgbClr val="566760"/>
                </a:solidFill>
                <a:latin typeface="Helvetica Neue"/>
                <a:ea typeface="Helvetica Neue"/>
                <a:cs typeface="Helvetica Neue"/>
              </a:rPr>
              <a:t>First three text encoders</a:t>
            </a:r>
          </a:p>
          <a:p xmlns:a="http://schemas.openxmlformats.org/drawingml/2006/main">
            <a:pPr>
              <a:defRPr sz="1725" b="0">
                <a:solidFill>
                  <a:srgbClr val="566760"/>
                </a:solidFill>
                <a:latin typeface="Helvetica Neue"/>
                <a:ea typeface="Helvetica Neue"/>
                <a:cs typeface="Helvetica Neue"/>
              </a:defRPr>
            </a:pPr>
            <a:r>
              <a:rPr sz="1725" b="0">
                <a:solidFill>
                  <a:srgbClr val="566760"/>
                </a:solidFill>
                <a:latin typeface="Helvetica Neue"/>
                <a:ea typeface="Helvetica Neue"/>
                <a:cs typeface="Helvetica Neue"/>
              </a:rPr>
              <a:t>One cold observation</a:t>
            </a:r>
          </a:p>
        </p:txBody>
      </p:sp>
      <p:sp>
        <p:nvSpPr>
          <p:cNvPr id="9" name="">
            <a:extLst xmlns:a="http://schemas.openxmlformats.org/drawingml/2006/main">
              <a:ext uri="{FF2B5EF4-FFF2-40B4-BE49-F238E27FC236}">
                <a16:creationId xmlns:a16="http://schemas.microsoft.com/office/drawing/2014/main" id="{290E31BD-94D6-44C3-8237-569D5866DE50}"/>
              </a:ext>
            </a:extLst>
          </p:cNvPr>
          <p:cNvSpPr>
            <a:spLocks xmlns:a="http://schemas.openxmlformats.org/drawingml/2006/main" noGrp="1"/>
          </p:cNvSpPr>
          <p:nvPr/>
        </p:nvSpPr>
        <p:spPr>
          <a:xfrm xmlns:a="http://schemas.openxmlformats.org/drawingml/2006/main">
            <a:off x="628650" y="5562600"/>
            <a:ext cx="10906125"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950" b="1">
                <a:solidFill>
                  <a:srgbClr val="087E80"/>
                </a:solidFill>
                <a:latin typeface="Helvetica Neue"/>
                <a:ea typeface="Helvetica Neue"/>
                <a:cs typeface="Helvetica Neue"/>
              </a:defRPr>
            </a:defPPr>
            <a:lvl1pPr>
              <a:defRPr sz="1950" b="1">
                <a:solidFill>
                  <a:srgbClr val="087E80"/>
                </a:solidFill>
                <a:latin typeface="Helvetica Neue"/>
                <a:ea typeface="Helvetica Neue"/>
                <a:cs typeface="Helvetica Neue"/>
              </a:defRPr>
            </a:lvl1pPr>
            <a:lvl2pPr>
              <a:defRPr sz="1950" b="1">
                <a:solidFill>
                  <a:srgbClr val="087E80"/>
                </a:solidFill>
                <a:latin typeface="Helvetica Neue"/>
                <a:ea typeface="Helvetica Neue"/>
                <a:cs typeface="Helvetica Neue"/>
              </a:defRPr>
            </a:lvl2pPr>
            <a:lvl3pPr>
              <a:defRPr sz="1950" b="1">
                <a:solidFill>
                  <a:srgbClr val="087E80"/>
                </a:solidFill>
                <a:latin typeface="Helvetica Neue"/>
                <a:ea typeface="Helvetica Neue"/>
                <a:cs typeface="Helvetica Neue"/>
              </a:defRPr>
            </a:lvl3pPr>
            <a:lvl4pPr>
              <a:defRPr sz="1950" b="1">
                <a:solidFill>
                  <a:srgbClr val="087E80"/>
                </a:solidFill>
                <a:latin typeface="Helvetica Neue"/>
                <a:ea typeface="Helvetica Neue"/>
                <a:cs typeface="Helvetica Neue"/>
              </a:defRPr>
            </a:lvl4pPr>
            <a:lvl5pPr>
              <a:defRPr sz="1950" b="1">
                <a:solidFill>
                  <a:srgbClr val="087E80"/>
                </a:solidFill>
                <a:latin typeface="Helvetica Neue"/>
                <a:ea typeface="Helvetica Neue"/>
                <a:cs typeface="Helvetica Neue"/>
              </a:defRPr>
            </a:lvl5pPr>
            <a:lvl6pPr>
              <a:defRPr sz="1950" b="1">
                <a:solidFill>
                  <a:srgbClr val="087E80"/>
                </a:solidFill>
                <a:latin typeface="Helvetica Neue"/>
                <a:ea typeface="Helvetica Neue"/>
                <a:cs typeface="Helvetica Neue"/>
              </a:defRPr>
            </a:lvl6pPr>
            <a:lvl7pPr>
              <a:defRPr sz="1950" b="1">
                <a:solidFill>
                  <a:srgbClr val="087E80"/>
                </a:solidFill>
                <a:latin typeface="Helvetica Neue"/>
                <a:ea typeface="Helvetica Neue"/>
                <a:cs typeface="Helvetica Neue"/>
              </a:defRPr>
            </a:lvl7pPr>
            <a:lvl8pPr>
              <a:defRPr sz="1950" b="1">
                <a:solidFill>
                  <a:srgbClr val="087E80"/>
                </a:solidFill>
                <a:latin typeface="Helvetica Neue"/>
                <a:ea typeface="Helvetica Neue"/>
                <a:cs typeface="Helvetica Neue"/>
              </a:defRPr>
            </a:lvl8pPr>
            <a:lvl9pPr>
              <a:defRPr sz="1950" b="1">
                <a:solidFill>
                  <a:srgbClr val="087E80"/>
                </a:solidFill>
                <a:latin typeface="Helvetica Neue"/>
                <a:ea typeface="Helvetica Neue"/>
                <a:cs typeface="Helvetica Neue"/>
              </a:defRPr>
            </a:lvl9pPr>
          </a:lstStyle>
          <a:p xmlns:a="http://schemas.openxmlformats.org/drawingml/2006/main">
            <a:pPr>
              <a:defRPr sz="1950" b="1">
                <a:solidFill>
                  <a:srgbClr val="087E80"/>
                </a:solidFill>
                <a:latin typeface="Helvetica Neue"/>
                <a:ea typeface="Helvetica Neue"/>
                <a:cs typeface="Helvetica Neue"/>
              </a:defRPr>
            </a:pPr>
            <a:r>
              <a:rPr sz="1950" b="1">
                <a:solidFill>
                  <a:srgbClr val="087E80"/>
                </a:solidFill>
                <a:latin typeface="Helvetica Neue"/>
                <a:ea typeface="Helvetica Neue"/>
                <a:cs typeface="Helvetica Neue"/>
              </a:rPr>
              <a:t>Ranking stage: 3.3–7.9×, with exact row parity in all three scenarios.</a:t>
            </a:r>
          </a:p>
        </p:txBody>
      </p:sp>
      <p:sp>
        <p:nvSpPr>
          <p:cNvPr id="10" name="">
            <a:extLst xmlns:a="http://schemas.openxmlformats.org/drawingml/2006/main">
              <a:ext uri="{FF2B5EF4-FFF2-40B4-BE49-F238E27FC236}">
                <a16:creationId xmlns:a16="http://schemas.microsoft.com/office/drawing/2014/main" id="{76D902C8-E052-49A5-9879-BA2AC5AD4FE5}"/>
              </a:ext>
            </a:extLst>
          </p:cNvPr>
          <p:cNvSpPr>
            <a:spLocks xmlns:a="http://schemas.openxmlformats.org/drawingml/2006/main" noGrp="1"/>
          </p:cNvSpPr>
          <p:nvPr/>
        </p:nvSpPr>
        <p:spPr>
          <a:xfrm xmlns:a="http://schemas.openxmlformats.org/drawingml/2006/main">
            <a:off x="628650" y="6210300"/>
            <a:ext cx="10572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566760"/>
                </a:solidFill>
                <a:latin typeface="Helvetica Neue"/>
                <a:ea typeface="Helvetica Neue"/>
                <a:cs typeface="Helvetica Neue"/>
              </a:defRPr>
            </a:defPPr>
            <a:lvl1pPr>
              <a:defRPr sz="1500" b="0">
                <a:solidFill>
                  <a:srgbClr val="566760"/>
                </a:solidFill>
                <a:latin typeface="Helvetica Neue"/>
                <a:ea typeface="Helvetica Neue"/>
                <a:cs typeface="Helvetica Neue"/>
              </a:defRPr>
            </a:lvl1pPr>
            <a:lvl2pPr>
              <a:defRPr sz="1500" b="0">
                <a:solidFill>
                  <a:srgbClr val="566760"/>
                </a:solidFill>
                <a:latin typeface="Helvetica Neue"/>
                <a:ea typeface="Helvetica Neue"/>
                <a:cs typeface="Helvetica Neue"/>
              </a:defRPr>
            </a:lvl2pPr>
            <a:lvl3pPr>
              <a:defRPr sz="1500" b="0">
                <a:solidFill>
                  <a:srgbClr val="566760"/>
                </a:solidFill>
                <a:latin typeface="Helvetica Neue"/>
                <a:ea typeface="Helvetica Neue"/>
                <a:cs typeface="Helvetica Neue"/>
              </a:defRPr>
            </a:lvl3pPr>
            <a:lvl4pPr>
              <a:defRPr sz="1500" b="0">
                <a:solidFill>
                  <a:srgbClr val="566760"/>
                </a:solidFill>
                <a:latin typeface="Helvetica Neue"/>
                <a:ea typeface="Helvetica Neue"/>
                <a:cs typeface="Helvetica Neue"/>
              </a:defRPr>
            </a:lvl4pPr>
            <a:lvl5pPr>
              <a:defRPr sz="1500" b="0">
                <a:solidFill>
                  <a:srgbClr val="566760"/>
                </a:solidFill>
                <a:latin typeface="Helvetica Neue"/>
                <a:ea typeface="Helvetica Neue"/>
                <a:cs typeface="Helvetica Neue"/>
              </a:defRPr>
            </a:lvl5pPr>
            <a:lvl6pPr>
              <a:defRPr sz="1500" b="0">
                <a:solidFill>
                  <a:srgbClr val="566760"/>
                </a:solidFill>
                <a:latin typeface="Helvetica Neue"/>
                <a:ea typeface="Helvetica Neue"/>
                <a:cs typeface="Helvetica Neue"/>
              </a:defRPr>
            </a:lvl6pPr>
            <a:lvl7pPr>
              <a:defRPr sz="1500" b="0">
                <a:solidFill>
                  <a:srgbClr val="566760"/>
                </a:solidFill>
                <a:latin typeface="Helvetica Neue"/>
                <a:ea typeface="Helvetica Neue"/>
                <a:cs typeface="Helvetica Neue"/>
              </a:defRPr>
            </a:lvl7pPr>
            <a:lvl8pPr>
              <a:defRPr sz="1500" b="0">
                <a:solidFill>
                  <a:srgbClr val="566760"/>
                </a:solidFill>
                <a:latin typeface="Helvetica Neue"/>
                <a:ea typeface="Helvetica Neue"/>
                <a:cs typeface="Helvetica Neue"/>
              </a:defRPr>
            </a:lvl8pPr>
            <a:lvl9pPr>
              <a:defRPr sz="1500" b="0">
                <a:solidFill>
                  <a:srgbClr val="566760"/>
                </a:solidFill>
                <a:latin typeface="Helvetica Neue"/>
                <a:ea typeface="Helvetica Neue"/>
                <a:cs typeface="Helvetica Neue"/>
              </a:defRPr>
            </a:lvl9pPr>
          </a:lstStyle>
          <a:p xmlns:a="http://schemas.openxmlformats.org/drawingml/2006/main">
            <a:pPr>
              <a:defRPr sz="1500" b="0">
                <a:solidFill>
                  <a:srgbClr val="566760"/>
                </a:solidFill>
                <a:latin typeface="Helvetica Neue"/>
                <a:ea typeface="Helvetica Neue"/>
                <a:cs typeface="Helvetica Neue"/>
              </a:defRPr>
            </a:pPr>
            <a:r>
              <a:rPr sz="1500" b="0">
                <a:solidFill>
                  <a:srgbClr val="566760"/>
                </a:solidFill>
                <a:latin typeface="Helvetica Neue"/>
                <a:ea typeface="Helvetica Neue"/>
                <a:cs typeface="Helvetica Neue"/>
              </a:rPr>
              <a:t>Engine timings exclude browser rendering, network and downloads. New input differs from an exact cache hit.</a:t>
            </a:r>
          </a:p>
        </p:txBody>
      </p:sp>
    </p:spTree>
    <p:extLst>
      <p:ext uri="{BB962C8B-B14F-4D97-AF65-F5344CB8AC3E}">
        <p14:creationId xmlns:p14="http://schemas.microsoft.com/office/powerpoint/2010/main" val="57986519"/>
      </p:ext>
    </p:extLst>
  </p:cSld>
</p:sld>
</file>

<file path=ppt/slides/slide18.xml><?xml version="1.0" encoding="utf-8"?>
<p:sld xmlns:p="http://schemas.openxmlformats.org/presentationml/2006/main">
  <p:cSld>
    <p:bg>
      <p:bgPr>
        <a:solidFill xmlns:a="http://schemas.openxmlformats.org/drawingml/2006/main">
          <a:srgbClr val="FAF8F3"/>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F19FEEBB-92FF-43FD-9744-7031B8A36557}"/>
              </a:ext>
            </a:extLst>
          </p:cNvPr>
          <p:cNvSpPr>
            <a:spLocks xmlns:a="http://schemas.openxmlformats.org/drawingml/2006/main" noGrp="1"/>
          </p:cNvSpPr>
          <p:nvPr/>
        </p:nvSpPr>
        <p:spPr>
          <a:xfrm xmlns:a="http://schemas.openxmlformats.org/drawingml/2006/main">
            <a:off x="609600" y="3810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150" b="1">
                <a:solidFill>
                  <a:srgbClr val="17251F"/>
                </a:solidFill>
                <a:latin typeface="Helvetica Neue"/>
                <a:ea typeface="Helvetica Neue"/>
                <a:cs typeface="Helvetica Neue"/>
              </a:defRPr>
            </a:defPPr>
            <a:lvl1pPr>
              <a:defRPr sz="3150" b="1">
                <a:solidFill>
                  <a:srgbClr val="17251F"/>
                </a:solidFill>
                <a:latin typeface="Helvetica Neue"/>
                <a:ea typeface="Helvetica Neue"/>
                <a:cs typeface="Helvetica Neue"/>
              </a:defRPr>
            </a:lvl1pPr>
            <a:lvl2pPr>
              <a:defRPr sz="3150" b="1">
                <a:solidFill>
                  <a:srgbClr val="17251F"/>
                </a:solidFill>
                <a:latin typeface="Helvetica Neue"/>
                <a:ea typeface="Helvetica Neue"/>
                <a:cs typeface="Helvetica Neue"/>
              </a:defRPr>
            </a:lvl2pPr>
            <a:lvl3pPr>
              <a:defRPr sz="3150" b="1">
                <a:solidFill>
                  <a:srgbClr val="17251F"/>
                </a:solidFill>
                <a:latin typeface="Helvetica Neue"/>
                <a:ea typeface="Helvetica Neue"/>
                <a:cs typeface="Helvetica Neue"/>
              </a:defRPr>
            </a:lvl3pPr>
            <a:lvl4pPr>
              <a:defRPr sz="3150" b="1">
                <a:solidFill>
                  <a:srgbClr val="17251F"/>
                </a:solidFill>
                <a:latin typeface="Helvetica Neue"/>
                <a:ea typeface="Helvetica Neue"/>
                <a:cs typeface="Helvetica Neue"/>
              </a:defRPr>
            </a:lvl4pPr>
            <a:lvl5pPr>
              <a:defRPr sz="3150" b="1">
                <a:solidFill>
                  <a:srgbClr val="17251F"/>
                </a:solidFill>
                <a:latin typeface="Helvetica Neue"/>
                <a:ea typeface="Helvetica Neue"/>
                <a:cs typeface="Helvetica Neue"/>
              </a:defRPr>
            </a:lvl5pPr>
            <a:lvl6pPr>
              <a:defRPr sz="3150" b="1">
                <a:solidFill>
                  <a:srgbClr val="17251F"/>
                </a:solidFill>
                <a:latin typeface="Helvetica Neue"/>
                <a:ea typeface="Helvetica Neue"/>
                <a:cs typeface="Helvetica Neue"/>
              </a:defRPr>
            </a:lvl6pPr>
            <a:lvl7pPr>
              <a:defRPr sz="3150" b="1">
                <a:solidFill>
                  <a:srgbClr val="17251F"/>
                </a:solidFill>
                <a:latin typeface="Helvetica Neue"/>
                <a:ea typeface="Helvetica Neue"/>
                <a:cs typeface="Helvetica Neue"/>
              </a:defRPr>
            </a:lvl7pPr>
            <a:lvl8pPr>
              <a:defRPr sz="3150" b="1">
                <a:solidFill>
                  <a:srgbClr val="17251F"/>
                </a:solidFill>
                <a:latin typeface="Helvetica Neue"/>
                <a:ea typeface="Helvetica Neue"/>
                <a:cs typeface="Helvetica Neue"/>
              </a:defRPr>
            </a:lvl8pPr>
            <a:lvl9pPr>
              <a:defRPr sz="3150" b="1">
                <a:solidFill>
                  <a:srgbClr val="17251F"/>
                </a:solidFill>
                <a:latin typeface="Helvetica Neue"/>
                <a:ea typeface="Helvetica Neue"/>
                <a:cs typeface="Helvetica Neue"/>
              </a:defRPr>
            </a:lvl9pPr>
          </a:lstStyle>
          <a:p xmlns:a="http://schemas.openxmlformats.org/drawingml/2006/main">
            <a:pPr>
              <a:defRPr sz="3150" b="1">
                <a:solidFill>
                  <a:srgbClr val="17251F"/>
                </a:solidFill>
                <a:latin typeface="Helvetica Neue"/>
                <a:ea typeface="Helvetica Neue"/>
                <a:cs typeface="Helvetica Neue"/>
              </a:defRPr>
            </a:pPr>
            <a:r>
              <a:rPr sz="3150" b="1">
                <a:solidFill>
                  <a:srgbClr val="17251F"/>
                </a:solidFill>
                <a:latin typeface="Helvetica Neue"/>
                <a:ea typeface="Helvetica Neue"/>
                <a:cs typeface="Helvetica Neue"/>
              </a:rPr>
              <a:t>A custom edit changes the retrieved image</a:t>
            </a:r>
          </a:p>
        </p:txBody>
      </p:sp>
      <p:sp>
        <p:nvSpPr>
          <p:cNvPr id="2" name="">
            <a:extLst xmlns:a="http://schemas.openxmlformats.org/drawingml/2006/main">
              <a:ext uri="{FF2B5EF4-FFF2-40B4-BE49-F238E27FC236}">
                <a16:creationId xmlns:a16="http://schemas.microsoft.com/office/drawing/2014/main" id="{7FB93F04-BDF0-497A-B0B8-6249C495BAD3}"/>
              </a:ext>
            </a:extLst>
          </p:cNvPr>
          <p:cNvSpPr>
            <a:spLocks xmlns:a="http://schemas.openxmlformats.org/drawingml/2006/main" noGrp="1"/>
          </p:cNvSpPr>
          <p:nvPr/>
        </p:nvSpPr>
        <p:spPr>
          <a:xfrm xmlns:a="http://schemas.openxmlformats.org/drawingml/2006/main">
            <a:off x="628650" y="1057275"/>
            <a:ext cx="109347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566760"/>
                </a:solidFill>
                <a:latin typeface="Helvetica Neue"/>
                <a:ea typeface="Helvetica Neue"/>
                <a:cs typeface="Helvetica Neue"/>
              </a:defRPr>
            </a:defPPr>
            <a:lvl1pPr>
              <a:defRPr sz="1800" b="0">
                <a:solidFill>
                  <a:srgbClr val="566760"/>
                </a:solidFill>
                <a:latin typeface="Helvetica Neue"/>
                <a:ea typeface="Helvetica Neue"/>
                <a:cs typeface="Helvetica Neue"/>
              </a:defRPr>
            </a:lvl1pPr>
            <a:lvl2pPr>
              <a:defRPr sz="1800" b="0">
                <a:solidFill>
                  <a:srgbClr val="566760"/>
                </a:solidFill>
                <a:latin typeface="Helvetica Neue"/>
                <a:ea typeface="Helvetica Neue"/>
                <a:cs typeface="Helvetica Neue"/>
              </a:defRPr>
            </a:lvl2pPr>
            <a:lvl3pPr>
              <a:defRPr sz="1800" b="0">
                <a:solidFill>
                  <a:srgbClr val="566760"/>
                </a:solidFill>
                <a:latin typeface="Helvetica Neue"/>
                <a:ea typeface="Helvetica Neue"/>
                <a:cs typeface="Helvetica Neue"/>
              </a:defRPr>
            </a:lvl3pPr>
            <a:lvl4pPr>
              <a:defRPr sz="1800" b="0">
                <a:solidFill>
                  <a:srgbClr val="566760"/>
                </a:solidFill>
                <a:latin typeface="Helvetica Neue"/>
                <a:ea typeface="Helvetica Neue"/>
                <a:cs typeface="Helvetica Neue"/>
              </a:defRPr>
            </a:lvl4pPr>
            <a:lvl5pPr>
              <a:defRPr sz="1800" b="0">
                <a:solidFill>
                  <a:srgbClr val="566760"/>
                </a:solidFill>
                <a:latin typeface="Helvetica Neue"/>
                <a:ea typeface="Helvetica Neue"/>
                <a:cs typeface="Helvetica Neue"/>
              </a:defRPr>
            </a:lvl5pPr>
            <a:lvl6pPr>
              <a:defRPr sz="1800" b="0">
                <a:solidFill>
                  <a:srgbClr val="566760"/>
                </a:solidFill>
                <a:latin typeface="Helvetica Neue"/>
                <a:ea typeface="Helvetica Neue"/>
                <a:cs typeface="Helvetica Neue"/>
              </a:defRPr>
            </a:lvl6pPr>
            <a:lvl7pPr>
              <a:defRPr sz="1800" b="0">
                <a:solidFill>
                  <a:srgbClr val="566760"/>
                </a:solidFill>
                <a:latin typeface="Helvetica Neue"/>
                <a:ea typeface="Helvetica Neue"/>
                <a:cs typeface="Helvetica Neue"/>
              </a:defRPr>
            </a:lvl7pPr>
            <a:lvl8pPr>
              <a:defRPr sz="1800" b="0">
                <a:solidFill>
                  <a:srgbClr val="566760"/>
                </a:solidFill>
                <a:latin typeface="Helvetica Neue"/>
                <a:ea typeface="Helvetica Neue"/>
                <a:cs typeface="Helvetica Neue"/>
              </a:defRPr>
            </a:lvl8pPr>
            <a:lvl9pPr>
              <a:defRPr sz="1800" b="0">
                <a:solidFill>
                  <a:srgbClr val="566760"/>
                </a:solidFill>
                <a:latin typeface="Helvetica Neue"/>
                <a:ea typeface="Helvetica Neue"/>
                <a:cs typeface="Helvetica Neue"/>
              </a:defRPr>
            </a:lvl9pPr>
          </a:lstStyle>
          <a:p xmlns:a="http://schemas.openxmlformats.org/drawingml/2006/main">
            <a:pPr>
              <a:defRPr sz="1800" b="0">
                <a:solidFill>
                  <a:srgbClr val="566760"/>
                </a:solidFill>
                <a:latin typeface="Helvetica Neue"/>
                <a:ea typeface="Helvetica Neue"/>
                <a:cs typeface="Helvetica Neue"/>
              </a:defRPr>
            </a:pPr>
            <a:r>
              <a:rPr sz="1800" b="0">
                <a:solidFill>
                  <a:srgbClr val="566760"/>
                </a:solidFill>
                <a:latin typeface="Helvetica Neue"/>
                <a:ea typeface="Helvetica Neue"/>
                <a:cs typeface="Helvetica Neue"/>
              </a:rPr>
              <a:t>Actual custom requests with the final fusion head. No ground truth.</a:t>
            </a:r>
          </a:p>
        </p:txBody>
      </p:sp>
      <p:sp>
        <p:nvSpPr>
          <p:cNvPr id="3" name="">
            <a:extLst xmlns:a="http://schemas.openxmlformats.org/drawingml/2006/main">
              <a:ext uri="{FF2B5EF4-FFF2-40B4-BE49-F238E27FC236}">
                <a16:creationId xmlns:a16="http://schemas.microsoft.com/office/drawing/2014/main" id="{448DEBAB-92C9-4803-BE3A-D86A0A20B915}"/>
              </a:ext>
            </a:extLst>
          </p:cNvPr>
          <p:cNvSpPr>
            <a:spLocks xmlns:a="http://schemas.openxmlformats.org/drawingml/2006/main" noGrp="1"/>
          </p:cNvSpPr>
          <p:nvPr/>
        </p:nvSpPr>
        <p:spPr>
          <a:xfrm xmlns:a="http://schemas.openxmlformats.org/drawingml/2006/main">
            <a:off x="11106150" y="6457950"/>
            <a:ext cx="47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00" b="0">
                <a:solidFill>
                  <a:srgbClr val="566760"/>
                </a:solidFill>
                <a:latin typeface="Helvetica Neue"/>
                <a:ea typeface="Helvetica Neue"/>
                <a:cs typeface="Helvetica Neue"/>
              </a:defRPr>
            </a:defPPr>
            <a:lvl1pPr algn="r">
              <a:defRPr sz="1200" b="0">
                <a:solidFill>
                  <a:srgbClr val="566760"/>
                </a:solidFill>
                <a:latin typeface="Helvetica Neue"/>
                <a:ea typeface="Helvetica Neue"/>
                <a:cs typeface="Helvetica Neue"/>
              </a:defRPr>
            </a:lvl1pPr>
            <a:lvl2pPr algn="r">
              <a:defRPr sz="1200" b="0">
                <a:solidFill>
                  <a:srgbClr val="566760"/>
                </a:solidFill>
                <a:latin typeface="Helvetica Neue"/>
                <a:ea typeface="Helvetica Neue"/>
                <a:cs typeface="Helvetica Neue"/>
              </a:defRPr>
            </a:lvl2pPr>
            <a:lvl3pPr algn="r">
              <a:defRPr sz="1200" b="0">
                <a:solidFill>
                  <a:srgbClr val="566760"/>
                </a:solidFill>
                <a:latin typeface="Helvetica Neue"/>
                <a:ea typeface="Helvetica Neue"/>
                <a:cs typeface="Helvetica Neue"/>
              </a:defRPr>
            </a:lvl3pPr>
            <a:lvl4pPr algn="r">
              <a:defRPr sz="1200" b="0">
                <a:solidFill>
                  <a:srgbClr val="566760"/>
                </a:solidFill>
                <a:latin typeface="Helvetica Neue"/>
                <a:ea typeface="Helvetica Neue"/>
                <a:cs typeface="Helvetica Neue"/>
              </a:defRPr>
            </a:lvl4pPr>
            <a:lvl5pPr algn="r">
              <a:defRPr sz="1200" b="0">
                <a:solidFill>
                  <a:srgbClr val="566760"/>
                </a:solidFill>
                <a:latin typeface="Helvetica Neue"/>
                <a:ea typeface="Helvetica Neue"/>
                <a:cs typeface="Helvetica Neue"/>
              </a:defRPr>
            </a:lvl5pPr>
            <a:lvl6pPr algn="r">
              <a:defRPr sz="1200" b="0">
                <a:solidFill>
                  <a:srgbClr val="566760"/>
                </a:solidFill>
                <a:latin typeface="Helvetica Neue"/>
                <a:ea typeface="Helvetica Neue"/>
                <a:cs typeface="Helvetica Neue"/>
              </a:defRPr>
            </a:lvl6pPr>
            <a:lvl7pPr algn="r">
              <a:defRPr sz="1200" b="0">
                <a:solidFill>
                  <a:srgbClr val="566760"/>
                </a:solidFill>
                <a:latin typeface="Helvetica Neue"/>
                <a:ea typeface="Helvetica Neue"/>
                <a:cs typeface="Helvetica Neue"/>
              </a:defRPr>
            </a:lvl7pPr>
            <a:lvl8pPr algn="r">
              <a:defRPr sz="1200" b="0">
                <a:solidFill>
                  <a:srgbClr val="566760"/>
                </a:solidFill>
                <a:latin typeface="Helvetica Neue"/>
                <a:ea typeface="Helvetica Neue"/>
                <a:cs typeface="Helvetica Neue"/>
              </a:defRPr>
            </a:lvl8pPr>
            <a:lvl9pPr algn="r">
              <a:defRPr sz="1200" b="0">
                <a:solidFill>
                  <a:srgbClr val="566760"/>
                </a:solidFill>
                <a:latin typeface="Helvetica Neue"/>
                <a:ea typeface="Helvetica Neue"/>
                <a:cs typeface="Helvetica Neue"/>
              </a:defRPr>
            </a:lvl9pPr>
          </a:lstStyle>
          <a:p xmlns:a="http://schemas.openxmlformats.org/drawingml/2006/main">
            <a:pPr algn="r">
              <a:defRPr sz="1200" b="0">
                <a:solidFill>
                  <a:srgbClr val="566760"/>
                </a:solidFill>
                <a:latin typeface="Helvetica Neue"/>
                <a:ea typeface="Helvetica Neue"/>
                <a:cs typeface="Helvetica Neue"/>
              </a:defRPr>
            </a:pPr>
            <a:r>
              <a:rPr sz="1200" b="0">
                <a:solidFill>
                  <a:srgbClr val="566760"/>
                </a:solidFill>
                <a:latin typeface="Helvetica Neue"/>
                <a:ea typeface="Helvetica Neue"/>
                <a:cs typeface="Helvetica Neue"/>
              </a:rPr>
              <a:t>18</a:t>
            </a:r>
          </a:p>
        </p:txBody>
      </p:sp>
      <p:sp>
        <p:nvSpPr>
          <p:cNvPr id="4" name="">
            <a:extLst xmlns:a="http://schemas.openxmlformats.org/drawingml/2006/main">
              <a:ext uri="{FF2B5EF4-FFF2-40B4-BE49-F238E27FC236}">
                <a16:creationId xmlns:a16="http://schemas.microsoft.com/office/drawing/2014/main" id="{F73673DC-64CD-4207-B31E-D346D0EEE343}"/>
              </a:ext>
            </a:extLst>
          </p:cNvPr>
          <p:cNvSpPr>
            <a:spLocks xmlns:a="http://schemas.openxmlformats.org/drawingml/2006/main" noGrp="1"/>
          </p:cNvSpPr>
          <p:nvPr/>
        </p:nvSpPr>
        <p:spPr>
          <a:xfrm xmlns:a="http://schemas.openxmlformats.org/drawingml/2006/main">
            <a:off x="628650" y="1685925"/>
            <a:ext cx="2667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75" b="1">
                <a:solidFill>
                  <a:srgbClr val="087E80"/>
                </a:solidFill>
                <a:latin typeface="Helvetica Neue"/>
                <a:ea typeface="Helvetica Neue"/>
                <a:cs typeface="Helvetica Neue"/>
              </a:defRPr>
            </a:defPPr>
            <a:lvl1pPr>
              <a:defRPr sz="1875" b="1">
                <a:solidFill>
                  <a:srgbClr val="087E80"/>
                </a:solidFill>
                <a:latin typeface="Helvetica Neue"/>
                <a:ea typeface="Helvetica Neue"/>
                <a:cs typeface="Helvetica Neue"/>
              </a:defRPr>
            </a:lvl1pPr>
            <a:lvl2pPr>
              <a:defRPr sz="1875" b="1">
                <a:solidFill>
                  <a:srgbClr val="087E80"/>
                </a:solidFill>
                <a:latin typeface="Helvetica Neue"/>
                <a:ea typeface="Helvetica Neue"/>
                <a:cs typeface="Helvetica Neue"/>
              </a:defRPr>
            </a:lvl2pPr>
            <a:lvl3pPr>
              <a:defRPr sz="1875" b="1">
                <a:solidFill>
                  <a:srgbClr val="087E80"/>
                </a:solidFill>
                <a:latin typeface="Helvetica Neue"/>
                <a:ea typeface="Helvetica Neue"/>
                <a:cs typeface="Helvetica Neue"/>
              </a:defRPr>
            </a:lvl3pPr>
            <a:lvl4pPr>
              <a:defRPr sz="1875" b="1">
                <a:solidFill>
                  <a:srgbClr val="087E80"/>
                </a:solidFill>
                <a:latin typeface="Helvetica Neue"/>
                <a:ea typeface="Helvetica Neue"/>
                <a:cs typeface="Helvetica Neue"/>
              </a:defRPr>
            </a:lvl4pPr>
            <a:lvl5pPr>
              <a:defRPr sz="1875" b="1">
                <a:solidFill>
                  <a:srgbClr val="087E80"/>
                </a:solidFill>
                <a:latin typeface="Helvetica Neue"/>
                <a:ea typeface="Helvetica Neue"/>
                <a:cs typeface="Helvetica Neue"/>
              </a:defRPr>
            </a:lvl5pPr>
            <a:lvl6pPr>
              <a:defRPr sz="1875" b="1">
                <a:solidFill>
                  <a:srgbClr val="087E80"/>
                </a:solidFill>
                <a:latin typeface="Helvetica Neue"/>
                <a:ea typeface="Helvetica Neue"/>
                <a:cs typeface="Helvetica Neue"/>
              </a:defRPr>
            </a:lvl6pPr>
            <a:lvl7pPr>
              <a:defRPr sz="1875" b="1">
                <a:solidFill>
                  <a:srgbClr val="087E80"/>
                </a:solidFill>
                <a:latin typeface="Helvetica Neue"/>
                <a:ea typeface="Helvetica Neue"/>
                <a:cs typeface="Helvetica Neue"/>
              </a:defRPr>
            </a:lvl7pPr>
            <a:lvl8pPr>
              <a:defRPr sz="1875" b="1">
                <a:solidFill>
                  <a:srgbClr val="087E80"/>
                </a:solidFill>
                <a:latin typeface="Helvetica Neue"/>
                <a:ea typeface="Helvetica Neue"/>
                <a:cs typeface="Helvetica Neue"/>
              </a:defRPr>
            </a:lvl8pPr>
            <a:lvl9pPr>
              <a:defRPr sz="1875" b="1">
                <a:solidFill>
                  <a:srgbClr val="087E80"/>
                </a:solidFill>
                <a:latin typeface="Helvetica Neue"/>
                <a:ea typeface="Helvetica Neue"/>
                <a:cs typeface="Helvetica Neue"/>
              </a:defRPr>
            </a:lvl9pPr>
          </a:lstStyle>
          <a:p xmlns:a="http://schemas.openxmlformats.org/drawingml/2006/main">
            <a:pPr>
              <a:defRPr sz="1875" b="1">
                <a:solidFill>
                  <a:srgbClr val="087E80"/>
                </a:solidFill>
                <a:latin typeface="Helvetica Neue"/>
                <a:ea typeface="Helvetica Neue"/>
                <a:cs typeface="Helvetica Neue"/>
              </a:defRPr>
            </a:pPr>
            <a:r>
              <a:rPr sz="1875" b="1">
                <a:solidFill>
                  <a:srgbClr val="087E80"/>
                </a:solidFill>
                <a:latin typeface="Helvetica Neue"/>
                <a:ea typeface="Helvetica Neue"/>
                <a:cs typeface="Helvetica Neue"/>
              </a:rPr>
              <a:t>Same reference</a:t>
            </a:r>
          </a:p>
        </p:txBody>
      </p:sp>
      <p:sp>
        <p:nvSpPr>
          <p:cNvPr id="5" name="">
            <a:extLst xmlns:a="http://schemas.openxmlformats.org/drawingml/2006/main">
              <a:ext uri="{FF2B5EF4-FFF2-40B4-BE49-F238E27FC236}">
                <a16:creationId xmlns:a16="http://schemas.microsoft.com/office/drawing/2014/main" id="{C814B864-85DC-4CFD-AB7F-9E23F89BD48D}"/>
              </a:ext>
            </a:extLst>
          </p:cNvPr>
          <p:cNvSpPr>
            <a:spLocks xmlns:a="http://schemas.openxmlformats.org/drawingml/2006/main" noGrp="1"/>
          </p:cNvSpPr>
          <p:nvPr/>
        </p:nvSpPr>
        <p:spPr>
          <a:xfrm xmlns:a="http://schemas.openxmlformats.org/drawingml/2006/main">
            <a:off x="4095750" y="1685925"/>
            <a:ext cx="347662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00" b="1">
                <a:solidFill>
                  <a:srgbClr val="17251F"/>
                </a:solidFill>
                <a:latin typeface="Helvetica Neue"/>
                <a:ea typeface="Helvetica Neue"/>
                <a:cs typeface="Helvetica Neue"/>
              </a:defRPr>
            </a:defPPr>
            <a:lvl1pPr>
              <a:defRPr sz="2100" b="1">
                <a:solidFill>
                  <a:srgbClr val="17251F"/>
                </a:solidFill>
                <a:latin typeface="Helvetica Neue"/>
                <a:ea typeface="Helvetica Neue"/>
                <a:cs typeface="Helvetica Neue"/>
              </a:defRPr>
            </a:lvl1pPr>
            <a:lvl2pPr>
              <a:defRPr sz="2100" b="1">
                <a:solidFill>
                  <a:srgbClr val="17251F"/>
                </a:solidFill>
                <a:latin typeface="Helvetica Neue"/>
                <a:ea typeface="Helvetica Neue"/>
                <a:cs typeface="Helvetica Neue"/>
              </a:defRPr>
            </a:lvl2pPr>
            <a:lvl3pPr>
              <a:defRPr sz="2100" b="1">
                <a:solidFill>
                  <a:srgbClr val="17251F"/>
                </a:solidFill>
                <a:latin typeface="Helvetica Neue"/>
                <a:ea typeface="Helvetica Neue"/>
                <a:cs typeface="Helvetica Neue"/>
              </a:defRPr>
            </a:lvl3pPr>
            <a:lvl4pPr>
              <a:defRPr sz="2100" b="1">
                <a:solidFill>
                  <a:srgbClr val="17251F"/>
                </a:solidFill>
                <a:latin typeface="Helvetica Neue"/>
                <a:ea typeface="Helvetica Neue"/>
                <a:cs typeface="Helvetica Neue"/>
              </a:defRPr>
            </a:lvl4pPr>
            <a:lvl5pPr>
              <a:defRPr sz="2100" b="1">
                <a:solidFill>
                  <a:srgbClr val="17251F"/>
                </a:solidFill>
                <a:latin typeface="Helvetica Neue"/>
                <a:ea typeface="Helvetica Neue"/>
                <a:cs typeface="Helvetica Neue"/>
              </a:defRPr>
            </a:lvl5pPr>
            <a:lvl6pPr>
              <a:defRPr sz="2100" b="1">
                <a:solidFill>
                  <a:srgbClr val="17251F"/>
                </a:solidFill>
                <a:latin typeface="Helvetica Neue"/>
                <a:ea typeface="Helvetica Neue"/>
                <a:cs typeface="Helvetica Neue"/>
              </a:defRPr>
            </a:lvl6pPr>
            <a:lvl7pPr>
              <a:defRPr sz="2100" b="1">
                <a:solidFill>
                  <a:srgbClr val="17251F"/>
                </a:solidFill>
                <a:latin typeface="Helvetica Neue"/>
                <a:ea typeface="Helvetica Neue"/>
                <a:cs typeface="Helvetica Neue"/>
              </a:defRPr>
            </a:lvl7pPr>
            <a:lvl8pPr>
              <a:defRPr sz="2100" b="1">
                <a:solidFill>
                  <a:srgbClr val="17251F"/>
                </a:solidFill>
                <a:latin typeface="Helvetica Neue"/>
                <a:ea typeface="Helvetica Neue"/>
                <a:cs typeface="Helvetica Neue"/>
              </a:defRPr>
            </a:lvl8pPr>
            <a:lvl9pPr>
              <a:defRPr sz="2100" b="1">
                <a:solidFill>
                  <a:srgbClr val="17251F"/>
                </a:solidFill>
                <a:latin typeface="Helvetica Neue"/>
                <a:ea typeface="Helvetica Neue"/>
                <a:cs typeface="Helvetica Neue"/>
              </a:defRPr>
            </a:lvl9pPr>
          </a:lstStyle>
          <a:p xmlns:a="http://schemas.openxmlformats.org/drawingml/2006/main">
            <a:pPr>
              <a:defRPr sz="2100" b="1">
                <a:solidFill>
                  <a:srgbClr val="17251F"/>
                </a:solidFill>
                <a:latin typeface="Helvetica Neue"/>
                <a:ea typeface="Helvetica Neue"/>
                <a:cs typeface="Helvetica Neue"/>
              </a:defRPr>
            </a:pPr>
            <a:r>
              <a:rPr sz="2100" b="1">
                <a:solidFill>
                  <a:srgbClr val="17251F"/>
                </a:solidFill>
                <a:latin typeface="Helvetica Neue"/>
                <a:ea typeface="Helvetica Neue"/>
                <a:cs typeface="Helvetica Neue"/>
              </a:rPr>
              <a:t>“is blue with long sleeves”</a:t>
            </a:r>
          </a:p>
        </p:txBody>
      </p:sp>
      <p:sp>
        <p:nvSpPr>
          <p:cNvPr id="6" name="">
            <a:extLst xmlns:a="http://schemas.openxmlformats.org/drawingml/2006/main">
              <a:ext uri="{FF2B5EF4-FFF2-40B4-BE49-F238E27FC236}">
                <a16:creationId xmlns:a16="http://schemas.microsoft.com/office/drawing/2014/main" id="{C614E39B-8899-4D8F-9279-1A9CA28E02A8}"/>
              </a:ext>
            </a:extLst>
          </p:cNvPr>
          <p:cNvSpPr>
            <a:spLocks xmlns:a="http://schemas.openxmlformats.org/drawingml/2006/main" noGrp="1"/>
          </p:cNvSpPr>
          <p:nvPr/>
        </p:nvSpPr>
        <p:spPr>
          <a:xfrm xmlns:a="http://schemas.openxmlformats.org/drawingml/2006/main">
            <a:off x="8096250" y="1685925"/>
            <a:ext cx="348615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00" b="1">
                <a:solidFill>
                  <a:srgbClr val="17251F"/>
                </a:solidFill>
                <a:latin typeface="Helvetica Neue"/>
                <a:ea typeface="Helvetica Neue"/>
                <a:cs typeface="Helvetica Neue"/>
              </a:defRPr>
            </a:defPPr>
            <a:lvl1pPr>
              <a:defRPr sz="2100" b="1">
                <a:solidFill>
                  <a:srgbClr val="17251F"/>
                </a:solidFill>
                <a:latin typeface="Helvetica Neue"/>
                <a:ea typeface="Helvetica Neue"/>
                <a:cs typeface="Helvetica Neue"/>
              </a:defRPr>
            </a:lvl1pPr>
            <a:lvl2pPr>
              <a:defRPr sz="2100" b="1">
                <a:solidFill>
                  <a:srgbClr val="17251F"/>
                </a:solidFill>
                <a:latin typeface="Helvetica Neue"/>
                <a:ea typeface="Helvetica Neue"/>
                <a:cs typeface="Helvetica Neue"/>
              </a:defRPr>
            </a:lvl2pPr>
            <a:lvl3pPr>
              <a:defRPr sz="2100" b="1">
                <a:solidFill>
                  <a:srgbClr val="17251F"/>
                </a:solidFill>
                <a:latin typeface="Helvetica Neue"/>
                <a:ea typeface="Helvetica Neue"/>
                <a:cs typeface="Helvetica Neue"/>
              </a:defRPr>
            </a:lvl3pPr>
            <a:lvl4pPr>
              <a:defRPr sz="2100" b="1">
                <a:solidFill>
                  <a:srgbClr val="17251F"/>
                </a:solidFill>
                <a:latin typeface="Helvetica Neue"/>
                <a:ea typeface="Helvetica Neue"/>
                <a:cs typeface="Helvetica Neue"/>
              </a:defRPr>
            </a:lvl4pPr>
            <a:lvl5pPr>
              <a:defRPr sz="2100" b="1">
                <a:solidFill>
                  <a:srgbClr val="17251F"/>
                </a:solidFill>
                <a:latin typeface="Helvetica Neue"/>
                <a:ea typeface="Helvetica Neue"/>
                <a:cs typeface="Helvetica Neue"/>
              </a:defRPr>
            </a:lvl5pPr>
            <a:lvl6pPr>
              <a:defRPr sz="2100" b="1">
                <a:solidFill>
                  <a:srgbClr val="17251F"/>
                </a:solidFill>
                <a:latin typeface="Helvetica Neue"/>
                <a:ea typeface="Helvetica Neue"/>
                <a:cs typeface="Helvetica Neue"/>
              </a:defRPr>
            </a:lvl6pPr>
            <a:lvl7pPr>
              <a:defRPr sz="2100" b="1">
                <a:solidFill>
                  <a:srgbClr val="17251F"/>
                </a:solidFill>
                <a:latin typeface="Helvetica Neue"/>
                <a:ea typeface="Helvetica Neue"/>
                <a:cs typeface="Helvetica Neue"/>
              </a:defRPr>
            </a:lvl7pPr>
            <a:lvl8pPr>
              <a:defRPr sz="2100" b="1">
                <a:solidFill>
                  <a:srgbClr val="17251F"/>
                </a:solidFill>
                <a:latin typeface="Helvetica Neue"/>
                <a:ea typeface="Helvetica Neue"/>
                <a:cs typeface="Helvetica Neue"/>
              </a:defRPr>
            </a:lvl8pPr>
            <a:lvl9pPr>
              <a:defRPr sz="2100" b="1">
                <a:solidFill>
                  <a:srgbClr val="17251F"/>
                </a:solidFill>
                <a:latin typeface="Helvetica Neue"/>
                <a:ea typeface="Helvetica Neue"/>
                <a:cs typeface="Helvetica Neue"/>
              </a:defRPr>
            </a:lvl9pPr>
          </a:lstStyle>
          <a:p xmlns:a="http://schemas.openxmlformats.org/drawingml/2006/main">
            <a:pPr>
              <a:defRPr sz="2100" b="1">
                <a:solidFill>
                  <a:srgbClr val="17251F"/>
                </a:solidFill>
                <a:latin typeface="Helvetica Neue"/>
                <a:ea typeface="Helvetica Neue"/>
                <a:cs typeface="Helvetica Neue"/>
              </a:defRPr>
            </a:pPr>
            <a:r>
              <a:rPr sz="2100" b="1">
                <a:solidFill>
                  <a:srgbClr val="17251F"/>
                </a:solidFill>
                <a:latin typeface="Helvetica Neue"/>
                <a:ea typeface="Helvetica Neue"/>
                <a:cs typeface="Helvetica Neue"/>
              </a:rPr>
              <a:t>“is red and sleeveless”</a:t>
            </a:r>
          </a:p>
        </p:txBody>
      </p:sp>
      <p:pic>
        <p:nvPicPr>
          <p:cNvPr id="7" name="">
            <a:extLst xmlns:a="http://schemas.openxmlformats.org/drawingml/2006/main">
              <a:ext uri="{FF2B5EF4-FFF2-40B4-BE49-F238E27FC236}">
                <a16:creationId xmlns:a16="http://schemas.microsoft.com/office/drawing/2014/main" id="{392EAE31-3176-4FD4-92A3-E7A285D0575B}"/>
              </a:ext>
            </a:extLst>
          </p:cNvPr>
          <p:cNvPicPr>
            <a:picLocks xmlns:a="http://schemas.openxmlformats.org/drawingml/2006/main" noChangeAspect="1"/>
          </p:cNvPicPr>
          <p:nvPr/>
        </p:nvPicPr>
        <p:blipFill>
          <a:blip xmlns:r="http://schemas.openxmlformats.org/officeDocument/2006/relationships" xmlns:a="http://schemas.openxmlformats.org/drawingml/2006/main" r:embed="R4080d492e54c402c"/>
          <a:stretch xmlns:a="http://schemas.openxmlformats.org/drawingml/2006/main"/>
        </p:blipFill>
        <p:spPr>
          <a:xfrm xmlns:a="http://schemas.openxmlformats.org/drawingml/2006/main">
            <a:off x="983012" y="2543175"/>
            <a:ext cx="1891601" cy="2724150"/>
          </a:xfrm>
          <a:prstGeom xmlns:a="http://schemas.openxmlformats.org/drawingml/2006/main" prst="rect">
            <a:avLst/>
          </a:prstGeom>
        </p:spPr>
      </p:pic>
      <p:pic>
        <p:nvPicPr>
          <p:cNvPr id="8" name="">
            <a:extLst xmlns:a="http://schemas.openxmlformats.org/drawingml/2006/main">
              <a:ext uri="{FF2B5EF4-FFF2-40B4-BE49-F238E27FC236}">
                <a16:creationId xmlns:a16="http://schemas.microsoft.com/office/drawing/2014/main" id="{42992BA4-A5BB-42F3-A729-7EB75B4E0D10}"/>
              </a:ext>
            </a:extLst>
          </p:cNvPr>
          <p:cNvPicPr>
            <a:picLocks xmlns:a="http://schemas.openxmlformats.org/drawingml/2006/main" noChangeAspect="1"/>
          </p:cNvPicPr>
          <p:nvPr/>
        </p:nvPicPr>
        <p:blipFill>
          <a:blip xmlns:r="http://schemas.openxmlformats.org/officeDocument/2006/relationships" xmlns:a="http://schemas.openxmlformats.org/drawingml/2006/main" r:embed="R12baad94552a49b2"/>
          <a:stretch xmlns:a="http://schemas.openxmlformats.org/drawingml/2006/main"/>
        </p:blipFill>
        <p:spPr>
          <a:xfrm xmlns:a="http://schemas.openxmlformats.org/drawingml/2006/main">
            <a:off x="4639647" y="2543175"/>
            <a:ext cx="2112606" cy="2724150"/>
          </a:xfrm>
          <a:prstGeom xmlns:a="http://schemas.openxmlformats.org/drawingml/2006/main" prst="rect">
            <a:avLst/>
          </a:prstGeom>
        </p:spPr>
      </p:pic>
      <p:pic>
        <p:nvPicPr>
          <p:cNvPr id="9" name="">
            <a:extLst xmlns:a="http://schemas.openxmlformats.org/drawingml/2006/main">
              <a:ext uri="{FF2B5EF4-FFF2-40B4-BE49-F238E27FC236}">
                <a16:creationId xmlns:a16="http://schemas.microsoft.com/office/drawing/2014/main" id="{6A25ADDB-0610-4D5E-A3EA-E97ECC09174C}"/>
              </a:ext>
            </a:extLst>
          </p:cNvPr>
          <p:cNvPicPr>
            <a:picLocks xmlns:a="http://schemas.openxmlformats.org/drawingml/2006/main" noChangeAspect="1"/>
          </p:cNvPicPr>
          <p:nvPr/>
        </p:nvPicPr>
        <p:blipFill>
          <a:blip xmlns:r="http://schemas.openxmlformats.org/officeDocument/2006/relationships" xmlns:a="http://schemas.openxmlformats.org/drawingml/2006/main" r:embed="R89aa4770fb7f4f1d"/>
          <a:stretch xmlns:a="http://schemas.openxmlformats.org/drawingml/2006/main"/>
        </p:blipFill>
        <p:spPr>
          <a:xfrm xmlns:a="http://schemas.openxmlformats.org/drawingml/2006/main">
            <a:off x="9160460" y="2543175"/>
            <a:ext cx="1052930" cy="2724150"/>
          </a:xfrm>
          <a:prstGeom xmlns:a="http://schemas.openxmlformats.org/drawingml/2006/main" prst="rect">
            <a:avLst/>
          </a:prstGeom>
        </p:spPr>
      </p:pic>
      <p:sp>
        <p:nvSpPr>
          <p:cNvPr id="10" name="">
            <a:extLst xmlns:a="http://schemas.openxmlformats.org/drawingml/2006/main">
              <a:ext uri="{FF2B5EF4-FFF2-40B4-BE49-F238E27FC236}">
                <a16:creationId xmlns:a16="http://schemas.microsoft.com/office/drawing/2014/main" id="{404BA108-28C2-4193-8DAB-15E77D3460A5}"/>
              </a:ext>
            </a:extLst>
          </p:cNvPr>
          <p:cNvSpPr>
            <a:spLocks xmlns:a="http://schemas.openxmlformats.org/drawingml/2006/main" noGrp="1"/>
          </p:cNvSpPr>
          <p:nvPr/>
        </p:nvSpPr>
        <p:spPr>
          <a:xfrm xmlns:a="http://schemas.openxmlformats.org/drawingml/2006/main">
            <a:off x="628650" y="5476875"/>
            <a:ext cx="266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566760"/>
                </a:solidFill>
                <a:latin typeface="Helvetica Neue"/>
                <a:ea typeface="Helvetica Neue"/>
                <a:cs typeface="Helvetica Neue"/>
              </a:defRPr>
            </a:defPPr>
            <a:lvl1pPr>
              <a:defRPr sz="1725" b="0">
                <a:solidFill>
                  <a:srgbClr val="566760"/>
                </a:solidFill>
                <a:latin typeface="Helvetica Neue"/>
                <a:ea typeface="Helvetica Neue"/>
                <a:cs typeface="Helvetica Neue"/>
              </a:defRPr>
            </a:lvl1pPr>
            <a:lvl2pPr>
              <a:defRPr sz="1725" b="0">
                <a:solidFill>
                  <a:srgbClr val="566760"/>
                </a:solidFill>
                <a:latin typeface="Helvetica Neue"/>
                <a:ea typeface="Helvetica Neue"/>
                <a:cs typeface="Helvetica Neue"/>
              </a:defRPr>
            </a:lvl2pPr>
            <a:lvl3pPr>
              <a:defRPr sz="1725" b="0">
                <a:solidFill>
                  <a:srgbClr val="566760"/>
                </a:solidFill>
                <a:latin typeface="Helvetica Neue"/>
                <a:ea typeface="Helvetica Neue"/>
                <a:cs typeface="Helvetica Neue"/>
              </a:defRPr>
            </a:lvl3pPr>
            <a:lvl4pPr>
              <a:defRPr sz="1725" b="0">
                <a:solidFill>
                  <a:srgbClr val="566760"/>
                </a:solidFill>
                <a:latin typeface="Helvetica Neue"/>
                <a:ea typeface="Helvetica Neue"/>
                <a:cs typeface="Helvetica Neue"/>
              </a:defRPr>
            </a:lvl4pPr>
            <a:lvl5pPr>
              <a:defRPr sz="1725" b="0">
                <a:solidFill>
                  <a:srgbClr val="566760"/>
                </a:solidFill>
                <a:latin typeface="Helvetica Neue"/>
                <a:ea typeface="Helvetica Neue"/>
                <a:cs typeface="Helvetica Neue"/>
              </a:defRPr>
            </a:lvl5pPr>
            <a:lvl6pPr>
              <a:defRPr sz="1725" b="0">
                <a:solidFill>
                  <a:srgbClr val="566760"/>
                </a:solidFill>
                <a:latin typeface="Helvetica Neue"/>
                <a:ea typeface="Helvetica Neue"/>
                <a:cs typeface="Helvetica Neue"/>
              </a:defRPr>
            </a:lvl6pPr>
            <a:lvl7pPr>
              <a:defRPr sz="1725" b="0">
                <a:solidFill>
                  <a:srgbClr val="566760"/>
                </a:solidFill>
                <a:latin typeface="Helvetica Neue"/>
                <a:ea typeface="Helvetica Neue"/>
                <a:cs typeface="Helvetica Neue"/>
              </a:defRPr>
            </a:lvl7pPr>
            <a:lvl8pPr>
              <a:defRPr sz="1725" b="0">
                <a:solidFill>
                  <a:srgbClr val="566760"/>
                </a:solidFill>
                <a:latin typeface="Helvetica Neue"/>
                <a:ea typeface="Helvetica Neue"/>
                <a:cs typeface="Helvetica Neue"/>
              </a:defRPr>
            </a:lvl8pPr>
            <a:lvl9pPr>
              <a:defRPr sz="1725" b="0">
                <a:solidFill>
                  <a:srgbClr val="566760"/>
                </a:solidFill>
                <a:latin typeface="Helvetica Neue"/>
                <a:ea typeface="Helvetica Neue"/>
                <a:cs typeface="Helvetica Neue"/>
              </a:defRPr>
            </a:lvl9pPr>
          </a:lstStyle>
          <a:p xmlns:a="http://schemas.openxmlformats.org/drawingml/2006/main">
            <a:pPr>
              <a:defRPr sz="1725" b="0">
                <a:solidFill>
                  <a:srgbClr val="566760"/>
                </a:solidFill>
                <a:latin typeface="Helvetica Neue"/>
                <a:ea typeface="Helvetica Neue"/>
                <a:cs typeface="Helvetica Neue"/>
              </a:defRPr>
            </a:pPr>
            <a:r>
              <a:rPr sz="1725" b="0">
                <a:solidFill>
                  <a:srgbClr val="566760"/>
                </a:solidFill>
                <a:latin typeface="Helvetica Neue"/>
                <a:ea typeface="Helvetica Neue"/>
                <a:cs typeface="Helvetica Neue"/>
              </a:rPr>
              <a:t>Reference photograph</a:t>
            </a:r>
          </a:p>
        </p:txBody>
      </p:sp>
      <p:sp>
        <p:nvSpPr>
          <p:cNvPr id="11" name="">
            <a:extLst xmlns:a="http://schemas.openxmlformats.org/drawingml/2006/main">
              <a:ext uri="{FF2B5EF4-FFF2-40B4-BE49-F238E27FC236}">
                <a16:creationId xmlns:a16="http://schemas.microsoft.com/office/drawing/2014/main" id="{5EBECB98-B5F3-4860-B10C-9BD6B3A48365}"/>
              </a:ext>
            </a:extLst>
          </p:cNvPr>
          <p:cNvSpPr>
            <a:spLocks xmlns:a="http://schemas.openxmlformats.org/drawingml/2006/main" noGrp="1"/>
          </p:cNvSpPr>
          <p:nvPr/>
        </p:nvSpPr>
        <p:spPr>
          <a:xfrm xmlns:a="http://schemas.openxmlformats.org/drawingml/2006/main">
            <a:off x="4095750" y="5476875"/>
            <a:ext cx="3476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087E80"/>
                </a:solidFill>
                <a:latin typeface="Helvetica Neue"/>
                <a:ea typeface="Helvetica Neue"/>
                <a:cs typeface="Helvetica Neue"/>
              </a:defRPr>
            </a:defPPr>
            <a:lvl1pPr>
              <a:defRPr sz="1725" b="0">
                <a:solidFill>
                  <a:srgbClr val="087E80"/>
                </a:solidFill>
                <a:latin typeface="Helvetica Neue"/>
                <a:ea typeface="Helvetica Neue"/>
                <a:cs typeface="Helvetica Neue"/>
              </a:defRPr>
            </a:lvl1pPr>
            <a:lvl2pPr>
              <a:defRPr sz="1725" b="0">
                <a:solidFill>
                  <a:srgbClr val="087E80"/>
                </a:solidFill>
                <a:latin typeface="Helvetica Neue"/>
                <a:ea typeface="Helvetica Neue"/>
                <a:cs typeface="Helvetica Neue"/>
              </a:defRPr>
            </a:lvl2pPr>
            <a:lvl3pPr>
              <a:defRPr sz="1725" b="0">
                <a:solidFill>
                  <a:srgbClr val="087E80"/>
                </a:solidFill>
                <a:latin typeface="Helvetica Neue"/>
                <a:ea typeface="Helvetica Neue"/>
                <a:cs typeface="Helvetica Neue"/>
              </a:defRPr>
            </a:lvl3pPr>
            <a:lvl4pPr>
              <a:defRPr sz="1725" b="0">
                <a:solidFill>
                  <a:srgbClr val="087E80"/>
                </a:solidFill>
                <a:latin typeface="Helvetica Neue"/>
                <a:ea typeface="Helvetica Neue"/>
                <a:cs typeface="Helvetica Neue"/>
              </a:defRPr>
            </a:lvl4pPr>
            <a:lvl5pPr>
              <a:defRPr sz="1725" b="0">
                <a:solidFill>
                  <a:srgbClr val="087E80"/>
                </a:solidFill>
                <a:latin typeface="Helvetica Neue"/>
                <a:ea typeface="Helvetica Neue"/>
                <a:cs typeface="Helvetica Neue"/>
              </a:defRPr>
            </a:lvl5pPr>
            <a:lvl6pPr>
              <a:defRPr sz="1725" b="0">
                <a:solidFill>
                  <a:srgbClr val="087E80"/>
                </a:solidFill>
                <a:latin typeface="Helvetica Neue"/>
                <a:ea typeface="Helvetica Neue"/>
                <a:cs typeface="Helvetica Neue"/>
              </a:defRPr>
            </a:lvl6pPr>
            <a:lvl7pPr>
              <a:defRPr sz="1725" b="0">
                <a:solidFill>
                  <a:srgbClr val="087E80"/>
                </a:solidFill>
                <a:latin typeface="Helvetica Neue"/>
                <a:ea typeface="Helvetica Neue"/>
                <a:cs typeface="Helvetica Neue"/>
              </a:defRPr>
            </a:lvl7pPr>
            <a:lvl8pPr>
              <a:defRPr sz="1725" b="0">
                <a:solidFill>
                  <a:srgbClr val="087E80"/>
                </a:solidFill>
                <a:latin typeface="Helvetica Neue"/>
                <a:ea typeface="Helvetica Neue"/>
                <a:cs typeface="Helvetica Neue"/>
              </a:defRPr>
            </a:lvl8pPr>
            <a:lvl9pPr>
              <a:defRPr sz="1725" b="0">
                <a:solidFill>
                  <a:srgbClr val="087E80"/>
                </a:solidFill>
                <a:latin typeface="Helvetica Neue"/>
                <a:ea typeface="Helvetica Neue"/>
                <a:cs typeface="Helvetica Neue"/>
              </a:defRPr>
            </a:lvl9pPr>
          </a:lstStyle>
          <a:p xmlns:a="http://schemas.openxmlformats.org/drawingml/2006/main">
            <a:pPr>
              <a:defRPr sz="1725" b="0">
                <a:solidFill>
                  <a:srgbClr val="087E80"/>
                </a:solidFill>
                <a:latin typeface="Helvetica Neue"/>
                <a:ea typeface="Helvetica Neue"/>
                <a:cs typeface="Helvetica Neue"/>
              </a:defRPr>
            </a:pPr>
            <a:r>
              <a:rPr sz="1725" b="0">
                <a:solidFill>
                  <a:srgbClr val="087E80"/>
                </a:solidFill>
                <a:latin typeface="Helvetica Neue"/>
                <a:ea typeface="Helvetica Neue"/>
                <a:cs typeface="Helvetica Neue"/>
              </a:rPr>
              <a:t>Learned fusion Top 1</a:t>
            </a:r>
          </a:p>
        </p:txBody>
      </p:sp>
      <p:sp>
        <p:nvSpPr>
          <p:cNvPr id="12" name="">
            <a:extLst xmlns:a="http://schemas.openxmlformats.org/drawingml/2006/main">
              <a:ext uri="{FF2B5EF4-FFF2-40B4-BE49-F238E27FC236}">
                <a16:creationId xmlns:a16="http://schemas.microsoft.com/office/drawing/2014/main" id="{C6FFB7B8-0499-4434-B552-E8C876C88913}"/>
              </a:ext>
            </a:extLst>
          </p:cNvPr>
          <p:cNvSpPr>
            <a:spLocks xmlns:a="http://schemas.openxmlformats.org/drawingml/2006/main" noGrp="1"/>
          </p:cNvSpPr>
          <p:nvPr/>
        </p:nvSpPr>
        <p:spPr>
          <a:xfrm xmlns:a="http://schemas.openxmlformats.org/drawingml/2006/main">
            <a:off x="8096250" y="5476875"/>
            <a:ext cx="34861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087E80"/>
                </a:solidFill>
                <a:latin typeface="Helvetica Neue"/>
                <a:ea typeface="Helvetica Neue"/>
                <a:cs typeface="Helvetica Neue"/>
              </a:defRPr>
            </a:defPPr>
            <a:lvl1pPr>
              <a:defRPr sz="1725" b="0">
                <a:solidFill>
                  <a:srgbClr val="087E80"/>
                </a:solidFill>
                <a:latin typeface="Helvetica Neue"/>
                <a:ea typeface="Helvetica Neue"/>
                <a:cs typeface="Helvetica Neue"/>
              </a:defRPr>
            </a:lvl1pPr>
            <a:lvl2pPr>
              <a:defRPr sz="1725" b="0">
                <a:solidFill>
                  <a:srgbClr val="087E80"/>
                </a:solidFill>
                <a:latin typeface="Helvetica Neue"/>
                <a:ea typeface="Helvetica Neue"/>
                <a:cs typeface="Helvetica Neue"/>
              </a:defRPr>
            </a:lvl2pPr>
            <a:lvl3pPr>
              <a:defRPr sz="1725" b="0">
                <a:solidFill>
                  <a:srgbClr val="087E80"/>
                </a:solidFill>
                <a:latin typeface="Helvetica Neue"/>
                <a:ea typeface="Helvetica Neue"/>
                <a:cs typeface="Helvetica Neue"/>
              </a:defRPr>
            </a:lvl3pPr>
            <a:lvl4pPr>
              <a:defRPr sz="1725" b="0">
                <a:solidFill>
                  <a:srgbClr val="087E80"/>
                </a:solidFill>
                <a:latin typeface="Helvetica Neue"/>
                <a:ea typeface="Helvetica Neue"/>
                <a:cs typeface="Helvetica Neue"/>
              </a:defRPr>
            </a:lvl4pPr>
            <a:lvl5pPr>
              <a:defRPr sz="1725" b="0">
                <a:solidFill>
                  <a:srgbClr val="087E80"/>
                </a:solidFill>
                <a:latin typeface="Helvetica Neue"/>
                <a:ea typeface="Helvetica Neue"/>
                <a:cs typeface="Helvetica Neue"/>
              </a:defRPr>
            </a:lvl5pPr>
            <a:lvl6pPr>
              <a:defRPr sz="1725" b="0">
                <a:solidFill>
                  <a:srgbClr val="087E80"/>
                </a:solidFill>
                <a:latin typeface="Helvetica Neue"/>
                <a:ea typeface="Helvetica Neue"/>
                <a:cs typeface="Helvetica Neue"/>
              </a:defRPr>
            </a:lvl6pPr>
            <a:lvl7pPr>
              <a:defRPr sz="1725" b="0">
                <a:solidFill>
                  <a:srgbClr val="087E80"/>
                </a:solidFill>
                <a:latin typeface="Helvetica Neue"/>
                <a:ea typeface="Helvetica Neue"/>
                <a:cs typeface="Helvetica Neue"/>
              </a:defRPr>
            </a:lvl7pPr>
            <a:lvl8pPr>
              <a:defRPr sz="1725" b="0">
                <a:solidFill>
                  <a:srgbClr val="087E80"/>
                </a:solidFill>
                <a:latin typeface="Helvetica Neue"/>
                <a:ea typeface="Helvetica Neue"/>
                <a:cs typeface="Helvetica Neue"/>
              </a:defRPr>
            </a:lvl8pPr>
            <a:lvl9pPr>
              <a:defRPr sz="1725" b="0">
                <a:solidFill>
                  <a:srgbClr val="087E80"/>
                </a:solidFill>
                <a:latin typeface="Helvetica Neue"/>
                <a:ea typeface="Helvetica Neue"/>
                <a:cs typeface="Helvetica Neue"/>
              </a:defRPr>
            </a:lvl9pPr>
          </a:lstStyle>
          <a:p xmlns:a="http://schemas.openxmlformats.org/drawingml/2006/main">
            <a:pPr>
              <a:defRPr sz="1725" b="0">
                <a:solidFill>
                  <a:srgbClr val="087E80"/>
                </a:solidFill>
                <a:latin typeface="Helvetica Neue"/>
                <a:ea typeface="Helvetica Neue"/>
                <a:cs typeface="Helvetica Neue"/>
              </a:defRPr>
            </a:pPr>
            <a:r>
              <a:rPr sz="1725" b="0">
                <a:solidFill>
                  <a:srgbClr val="087E80"/>
                </a:solidFill>
                <a:latin typeface="Helvetica Neue"/>
                <a:ea typeface="Helvetica Neue"/>
                <a:cs typeface="Helvetica Neue"/>
              </a:rPr>
              <a:t>Learned fusion Top 1</a:t>
            </a:r>
          </a:p>
        </p:txBody>
      </p:sp>
      <p:sp>
        <p:nvSpPr>
          <p:cNvPr id="13" name="">
            <a:extLst xmlns:a="http://schemas.openxmlformats.org/drawingml/2006/main">
              <a:ext uri="{FF2B5EF4-FFF2-40B4-BE49-F238E27FC236}">
                <a16:creationId xmlns:a16="http://schemas.microsoft.com/office/drawing/2014/main" id="{649A5C55-8F58-468F-B55B-C2CC48A57392}"/>
              </a:ext>
            </a:extLst>
          </p:cNvPr>
          <p:cNvSpPr>
            <a:spLocks xmlns:a="http://schemas.openxmlformats.org/drawingml/2006/main" noGrp="1"/>
          </p:cNvSpPr>
          <p:nvPr/>
        </p:nvSpPr>
        <p:spPr>
          <a:xfrm xmlns:a="http://schemas.openxmlformats.org/drawingml/2006/main">
            <a:off x="628650" y="6096000"/>
            <a:ext cx="10572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566760"/>
                </a:solidFill>
                <a:latin typeface="Helvetica Neue"/>
                <a:ea typeface="Helvetica Neue"/>
                <a:cs typeface="Helvetica Neue"/>
              </a:defRPr>
            </a:defPPr>
            <a:lvl1pPr>
              <a:defRPr sz="1500" b="0">
                <a:solidFill>
                  <a:srgbClr val="566760"/>
                </a:solidFill>
                <a:latin typeface="Helvetica Neue"/>
                <a:ea typeface="Helvetica Neue"/>
                <a:cs typeface="Helvetica Neue"/>
              </a:defRPr>
            </a:lvl1pPr>
            <a:lvl2pPr>
              <a:defRPr sz="1500" b="0">
                <a:solidFill>
                  <a:srgbClr val="566760"/>
                </a:solidFill>
                <a:latin typeface="Helvetica Neue"/>
                <a:ea typeface="Helvetica Neue"/>
                <a:cs typeface="Helvetica Neue"/>
              </a:defRPr>
            </a:lvl2pPr>
            <a:lvl3pPr>
              <a:defRPr sz="1500" b="0">
                <a:solidFill>
                  <a:srgbClr val="566760"/>
                </a:solidFill>
                <a:latin typeface="Helvetica Neue"/>
                <a:ea typeface="Helvetica Neue"/>
                <a:cs typeface="Helvetica Neue"/>
              </a:defRPr>
            </a:lvl3pPr>
            <a:lvl4pPr>
              <a:defRPr sz="1500" b="0">
                <a:solidFill>
                  <a:srgbClr val="566760"/>
                </a:solidFill>
                <a:latin typeface="Helvetica Neue"/>
                <a:ea typeface="Helvetica Neue"/>
                <a:cs typeface="Helvetica Neue"/>
              </a:defRPr>
            </a:lvl4pPr>
            <a:lvl5pPr>
              <a:defRPr sz="1500" b="0">
                <a:solidFill>
                  <a:srgbClr val="566760"/>
                </a:solidFill>
                <a:latin typeface="Helvetica Neue"/>
                <a:ea typeface="Helvetica Neue"/>
                <a:cs typeface="Helvetica Neue"/>
              </a:defRPr>
            </a:lvl5pPr>
            <a:lvl6pPr>
              <a:defRPr sz="1500" b="0">
                <a:solidFill>
                  <a:srgbClr val="566760"/>
                </a:solidFill>
                <a:latin typeface="Helvetica Neue"/>
                <a:ea typeface="Helvetica Neue"/>
                <a:cs typeface="Helvetica Neue"/>
              </a:defRPr>
            </a:lvl6pPr>
            <a:lvl7pPr>
              <a:defRPr sz="1500" b="0">
                <a:solidFill>
                  <a:srgbClr val="566760"/>
                </a:solidFill>
                <a:latin typeface="Helvetica Neue"/>
                <a:ea typeface="Helvetica Neue"/>
                <a:cs typeface="Helvetica Neue"/>
              </a:defRPr>
            </a:lvl7pPr>
            <a:lvl8pPr>
              <a:defRPr sz="1500" b="0">
                <a:solidFill>
                  <a:srgbClr val="566760"/>
                </a:solidFill>
                <a:latin typeface="Helvetica Neue"/>
                <a:ea typeface="Helvetica Neue"/>
                <a:cs typeface="Helvetica Neue"/>
              </a:defRPr>
            </a:lvl8pPr>
            <a:lvl9pPr>
              <a:defRPr sz="1500" b="0">
                <a:solidFill>
                  <a:srgbClr val="566760"/>
                </a:solidFill>
                <a:latin typeface="Helvetica Neue"/>
                <a:ea typeface="Helvetica Neue"/>
                <a:cs typeface="Helvetica Neue"/>
              </a:defRPr>
            </a:lvl9pPr>
          </a:lstStyle>
          <a:p xmlns:a="http://schemas.openxmlformats.org/drawingml/2006/main">
            <a:pPr>
              <a:defRPr sz="1500" b="0">
                <a:solidFill>
                  <a:srgbClr val="566760"/>
                </a:solidFill>
                <a:latin typeface="Helvetica Neue"/>
                <a:ea typeface="Helvetica Neue"/>
                <a:cs typeface="Helvetica Neue"/>
              </a:defRPr>
            </a:pPr>
            <a:r>
              <a:rPr sz="1500" b="0">
                <a:solidFill>
                  <a:srgbClr val="566760"/>
                </a:solidFill>
                <a:latin typeface="Helvetica Neue"/>
                <a:ea typeface="Helvetica Neue"/>
                <a:cs typeface="Helvetica Neue"/>
              </a:rPr>
              <a:t>Local CLIP text encoding, cached reference features, 280 candidates. A changed result can still miss the request.</a:t>
            </a:r>
          </a:p>
        </p:txBody>
      </p:sp>
    </p:spTree>
    <p:extLst>
      <p:ext uri="{BB962C8B-B14F-4D97-AF65-F5344CB8AC3E}">
        <p14:creationId xmlns:p14="http://schemas.microsoft.com/office/powerpoint/2010/main" val="1555634022"/>
      </p:ext>
    </p:extLst>
  </p:cSld>
</p:sld>
</file>

<file path=ppt/slides/slide19.xml><?xml version="1.0" encoding="utf-8"?>
<p:sld xmlns:p="http://schemas.openxmlformats.org/presentationml/2006/main">
  <p:cSld>
    <p:bg>
      <p:bgPr>
        <a:solidFill xmlns:a="http://schemas.openxmlformats.org/drawingml/2006/main">
          <a:srgbClr val="FAF8F3"/>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60FBEDD-F68F-4CB4-BD09-7EFABDC6CE2C}"/>
              </a:ext>
            </a:extLst>
          </p:cNvPr>
          <p:cNvSpPr>
            <a:spLocks xmlns:a="http://schemas.openxmlformats.org/drawingml/2006/main" noGrp="1"/>
          </p:cNvSpPr>
          <p:nvPr/>
        </p:nvSpPr>
        <p:spPr>
          <a:xfrm xmlns:a="http://schemas.openxmlformats.org/drawingml/2006/main">
            <a:off x="609600" y="3810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150" b="1">
                <a:solidFill>
                  <a:srgbClr val="17251F"/>
                </a:solidFill>
                <a:latin typeface="Helvetica Neue"/>
                <a:ea typeface="Helvetica Neue"/>
                <a:cs typeface="Helvetica Neue"/>
              </a:defRPr>
            </a:defPPr>
            <a:lvl1pPr>
              <a:defRPr sz="3150" b="1">
                <a:solidFill>
                  <a:srgbClr val="17251F"/>
                </a:solidFill>
                <a:latin typeface="Helvetica Neue"/>
                <a:ea typeface="Helvetica Neue"/>
                <a:cs typeface="Helvetica Neue"/>
              </a:defRPr>
            </a:lvl1pPr>
            <a:lvl2pPr>
              <a:defRPr sz="3150" b="1">
                <a:solidFill>
                  <a:srgbClr val="17251F"/>
                </a:solidFill>
                <a:latin typeface="Helvetica Neue"/>
                <a:ea typeface="Helvetica Neue"/>
                <a:cs typeface="Helvetica Neue"/>
              </a:defRPr>
            </a:lvl2pPr>
            <a:lvl3pPr>
              <a:defRPr sz="3150" b="1">
                <a:solidFill>
                  <a:srgbClr val="17251F"/>
                </a:solidFill>
                <a:latin typeface="Helvetica Neue"/>
                <a:ea typeface="Helvetica Neue"/>
                <a:cs typeface="Helvetica Neue"/>
              </a:defRPr>
            </a:lvl3pPr>
            <a:lvl4pPr>
              <a:defRPr sz="3150" b="1">
                <a:solidFill>
                  <a:srgbClr val="17251F"/>
                </a:solidFill>
                <a:latin typeface="Helvetica Neue"/>
                <a:ea typeface="Helvetica Neue"/>
                <a:cs typeface="Helvetica Neue"/>
              </a:defRPr>
            </a:lvl4pPr>
            <a:lvl5pPr>
              <a:defRPr sz="3150" b="1">
                <a:solidFill>
                  <a:srgbClr val="17251F"/>
                </a:solidFill>
                <a:latin typeface="Helvetica Neue"/>
                <a:ea typeface="Helvetica Neue"/>
                <a:cs typeface="Helvetica Neue"/>
              </a:defRPr>
            </a:lvl5pPr>
            <a:lvl6pPr>
              <a:defRPr sz="3150" b="1">
                <a:solidFill>
                  <a:srgbClr val="17251F"/>
                </a:solidFill>
                <a:latin typeface="Helvetica Neue"/>
                <a:ea typeface="Helvetica Neue"/>
                <a:cs typeface="Helvetica Neue"/>
              </a:defRPr>
            </a:lvl6pPr>
            <a:lvl7pPr>
              <a:defRPr sz="3150" b="1">
                <a:solidFill>
                  <a:srgbClr val="17251F"/>
                </a:solidFill>
                <a:latin typeface="Helvetica Neue"/>
                <a:ea typeface="Helvetica Neue"/>
                <a:cs typeface="Helvetica Neue"/>
              </a:defRPr>
            </a:lvl7pPr>
            <a:lvl8pPr>
              <a:defRPr sz="3150" b="1">
                <a:solidFill>
                  <a:srgbClr val="17251F"/>
                </a:solidFill>
                <a:latin typeface="Helvetica Neue"/>
                <a:ea typeface="Helvetica Neue"/>
                <a:cs typeface="Helvetica Neue"/>
              </a:defRPr>
            </a:lvl8pPr>
            <a:lvl9pPr>
              <a:defRPr sz="3150" b="1">
                <a:solidFill>
                  <a:srgbClr val="17251F"/>
                </a:solidFill>
                <a:latin typeface="Helvetica Neue"/>
                <a:ea typeface="Helvetica Neue"/>
                <a:cs typeface="Helvetica Neue"/>
              </a:defRPr>
            </a:lvl9pPr>
          </a:lstStyle>
          <a:p xmlns:a="http://schemas.openxmlformats.org/drawingml/2006/main">
            <a:pPr>
              <a:defRPr sz="3150" b="1">
                <a:solidFill>
                  <a:srgbClr val="17251F"/>
                </a:solidFill>
                <a:latin typeface="Helvetica Neue"/>
                <a:ea typeface="Helvetica Neue"/>
                <a:cs typeface="Helvetica Neue"/>
              </a:defRPr>
            </a:pPr>
            <a:r>
              <a:rPr sz="3150" b="1">
                <a:solidFill>
                  <a:srgbClr val="17251F"/>
                </a:solidFill>
                <a:latin typeface="Helvetica Neue"/>
                <a:ea typeface="Helvetica Neue"/>
                <a:cs typeface="Helvetica Neue"/>
              </a:rPr>
              <a:t>The experiments support task-specific conclusions</a:t>
            </a:r>
          </a:p>
        </p:txBody>
      </p:sp>
      <p:sp>
        <p:nvSpPr>
          <p:cNvPr id="2" name="">
            <a:extLst xmlns:a="http://schemas.openxmlformats.org/drawingml/2006/main">
              <a:ext uri="{FF2B5EF4-FFF2-40B4-BE49-F238E27FC236}">
                <a16:creationId xmlns:a16="http://schemas.microsoft.com/office/drawing/2014/main" id="{2CF181D5-31B5-4AE1-9031-4B98889C96F1}"/>
              </a:ext>
            </a:extLst>
          </p:cNvPr>
          <p:cNvSpPr>
            <a:spLocks xmlns:a="http://schemas.openxmlformats.org/drawingml/2006/main" noGrp="1"/>
          </p:cNvSpPr>
          <p:nvPr/>
        </p:nvSpPr>
        <p:spPr>
          <a:xfrm xmlns:a="http://schemas.openxmlformats.org/drawingml/2006/main">
            <a:off x="11106150" y="6457950"/>
            <a:ext cx="47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00" b="0">
                <a:solidFill>
                  <a:srgbClr val="566760"/>
                </a:solidFill>
                <a:latin typeface="Helvetica Neue"/>
                <a:ea typeface="Helvetica Neue"/>
                <a:cs typeface="Helvetica Neue"/>
              </a:defRPr>
            </a:defPPr>
            <a:lvl1pPr algn="r">
              <a:defRPr sz="1200" b="0">
                <a:solidFill>
                  <a:srgbClr val="566760"/>
                </a:solidFill>
                <a:latin typeface="Helvetica Neue"/>
                <a:ea typeface="Helvetica Neue"/>
                <a:cs typeface="Helvetica Neue"/>
              </a:defRPr>
            </a:lvl1pPr>
            <a:lvl2pPr algn="r">
              <a:defRPr sz="1200" b="0">
                <a:solidFill>
                  <a:srgbClr val="566760"/>
                </a:solidFill>
                <a:latin typeface="Helvetica Neue"/>
                <a:ea typeface="Helvetica Neue"/>
                <a:cs typeface="Helvetica Neue"/>
              </a:defRPr>
            </a:lvl2pPr>
            <a:lvl3pPr algn="r">
              <a:defRPr sz="1200" b="0">
                <a:solidFill>
                  <a:srgbClr val="566760"/>
                </a:solidFill>
                <a:latin typeface="Helvetica Neue"/>
                <a:ea typeface="Helvetica Neue"/>
                <a:cs typeface="Helvetica Neue"/>
              </a:defRPr>
            </a:lvl3pPr>
            <a:lvl4pPr algn="r">
              <a:defRPr sz="1200" b="0">
                <a:solidFill>
                  <a:srgbClr val="566760"/>
                </a:solidFill>
                <a:latin typeface="Helvetica Neue"/>
                <a:ea typeface="Helvetica Neue"/>
                <a:cs typeface="Helvetica Neue"/>
              </a:defRPr>
            </a:lvl4pPr>
            <a:lvl5pPr algn="r">
              <a:defRPr sz="1200" b="0">
                <a:solidFill>
                  <a:srgbClr val="566760"/>
                </a:solidFill>
                <a:latin typeface="Helvetica Neue"/>
                <a:ea typeface="Helvetica Neue"/>
                <a:cs typeface="Helvetica Neue"/>
              </a:defRPr>
            </a:lvl5pPr>
            <a:lvl6pPr algn="r">
              <a:defRPr sz="1200" b="0">
                <a:solidFill>
                  <a:srgbClr val="566760"/>
                </a:solidFill>
                <a:latin typeface="Helvetica Neue"/>
                <a:ea typeface="Helvetica Neue"/>
                <a:cs typeface="Helvetica Neue"/>
              </a:defRPr>
            </a:lvl6pPr>
            <a:lvl7pPr algn="r">
              <a:defRPr sz="1200" b="0">
                <a:solidFill>
                  <a:srgbClr val="566760"/>
                </a:solidFill>
                <a:latin typeface="Helvetica Neue"/>
                <a:ea typeface="Helvetica Neue"/>
                <a:cs typeface="Helvetica Neue"/>
              </a:defRPr>
            </a:lvl7pPr>
            <a:lvl8pPr algn="r">
              <a:defRPr sz="1200" b="0">
                <a:solidFill>
                  <a:srgbClr val="566760"/>
                </a:solidFill>
                <a:latin typeface="Helvetica Neue"/>
                <a:ea typeface="Helvetica Neue"/>
                <a:cs typeface="Helvetica Neue"/>
              </a:defRPr>
            </a:lvl8pPr>
            <a:lvl9pPr algn="r">
              <a:defRPr sz="1200" b="0">
                <a:solidFill>
                  <a:srgbClr val="566760"/>
                </a:solidFill>
                <a:latin typeface="Helvetica Neue"/>
                <a:ea typeface="Helvetica Neue"/>
                <a:cs typeface="Helvetica Neue"/>
              </a:defRPr>
            </a:lvl9pPr>
          </a:lstStyle>
          <a:p xmlns:a="http://schemas.openxmlformats.org/drawingml/2006/main">
            <a:pPr algn="r">
              <a:defRPr sz="1200" b="0">
                <a:solidFill>
                  <a:srgbClr val="566760"/>
                </a:solidFill>
                <a:latin typeface="Helvetica Neue"/>
                <a:ea typeface="Helvetica Neue"/>
                <a:cs typeface="Helvetica Neue"/>
              </a:defRPr>
            </a:pPr>
            <a:r>
              <a:rPr sz="1200" b="0">
                <a:solidFill>
                  <a:srgbClr val="566760"/>
                </a:solidFill>
                <a:latin typeface="Helvetica Neue"/>
                <a:ea typeface="Helvetica Neue"/>
                <a:cs typeface="Helvetica Neue"/>
              </a:rPr>
              <a:t>19</a:t>
            </a:r>
          </a:p>
        </p:txBody>
      </p:sp>
      <p:sp>
        <p:nvSpPr>
          <p:cNvPr id="3" name="">
            <a:extLst xmlns:a="http://schemas.openxmlformats.org/drawingml/2006/main">
              <a:ext uri="{FF2B5EF4-FFF2-40B4-BE49-F238E27FC236}">
                <a16:creationId xmlns:a16="http://schemas.microsoft.com/office/drawing/2014/main" id="{DDB7DBC3-53D5-4F97-91E8-3E4EECC55263}"/>
              </a:ext>
            </a:extLst>
          </p:cNvPr>
          <p:cNvSpPr>
            <a:spLocks xmlns:a="http://schemas.openxmlformats.org/drawingml/2006/main" noGrp="1"/>
          </p:cNvSpPr>
          <p:nvPr/>
        </p:nvSpPr>
        <p:spPr>
          <a:xfrm xmlns:a="http://schemas.openxmlformats.org/drawingml/2006/main">
            <a:off x="628650" y="1533525"/>
            <a:ext cx="10763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550" b="1">
                <a:solidFill>
                  <a:srgbClr val="17251F"/>
                </a:solidFill>
                <a:latin typeface="Helvetica Neue"/>
                <a:ea typeface="Helvetica Neue"/>
                <a:cs typeface="Helvetica Neue"/>
              </a:defRPr>
            </a:defPPr>
            <a:lvl1pPr>
              <a:defRPr sz="2550" b="1">
                <a:solidFill>
                  <a:srgbClr val="17251F"/>
                </a:solidFill>
                <a:latin typeface="Helvetica Neue"/>
                <a:ea typeface="Helvetica Neue"/>
                <a:cs typeface="Helvetica Neue"/>
              </a:defRPr>
            </a:lvl1pPr>
            <a:lvl2pPr>
              <a:defRPr sz="2550" b="1">
                <a:solidFill>
                  <a:srgbClr val="17251F"/>
                </a:solidFill>
                <a:latin typeface="Helvetica Neue"/>
                <a:ea typeface="Helvetica Neue"/>
                <a:cs typeface="Helvetica Neue"/>
              </a:defRPr>
            </a:lvl2pPr>
            <a:lvl3pPr>
              <a:defRPr sz="2550" b="1">
                <a:solidFill>
                  <a:srgbClr val="17251F"/>
                </a:solidFill>
                <a:latin typeface="Helvetica Neue"/>
                <a:ea typeface="Helvetica Neue"/>
                <a:cs typeface="Helvetica Neue"/>
              </a:defRPr>
            </a:lvl3pPr>
            <a:lvl4pPr>
              <a:defRPr sz="2550" b="1">
                <a:solidFill>
                  <a:srgbClr val="17251F"/>
                </a:solidFill>
                <a:latin typeface="Helvetica Neue"/>
                <a:ea typeface="Helvetica Neue"/>
                <a:cs typeface="Helvetica Neue"/>
              </a:defRPr>
            </a:lvl4pPr>
            <a:lvl5pPr>
              <a:defRPr sz="2550" b="1">
                <a:solidFill>
                  <a:srgbClr val="17251F"/>
                </a:solidFill>
                <a:latin typeface="Helvetica Neue"/>
                <a:ea typeface="Helvetica Neue"/>
                <a:cs typeface="Helvetica Neue"/>
              </a:defRPr>
            </a:lvl5pPr>
            <a:lvl6pPr>
              <a:defRPr sz="2550" b="1">
                <a:solidFill>
                  <a:srgbClr val="17251F"/>
                </a:solidFill>
                <a:latin typeface="Helvetica Neue"/>
                <a:ea typeface="Helvetica Neue"/>
                <a:cs typeface="Helvetica Neue"/>
              </a:defRPr>
            </a:lvl6pPr>
            <a:lvl7pPr>
              <a:defRPr sz="2550" b="1">
                <a:solidFill>
                  <a:srgbClr val="17251F"/>
                </a:solidFill>
                <a:latin typeface="Helvetica Neue"/>
                <a:ea typeface="Helvetica Neue"/>
                <a:cs typeface="Helvetica Neue"/>
              </a:defRPr>
            </a:lvl7pPr>
            <a:lvl8pPr>
              <a:defRPr sz="2550" b="1">
                <a:solidFill>
                  <a:srgbClr val="17251F"/>
                </a:solidFill>
                <a:latin typeface="Helvetica Neue"/>
                <a:ea typeface="Helvetica Neue"/>
                <a:cs typeface="Helvetica Neue"/>
              </a:defRPr>
            </a:lvl8pPr>
            <a:lvl9pPr>
              <a:defRPr sz="2550" b="1">
                <a:solidFill>
                  <a:srgbClr val="17251F"/>
                </a:solidFill>
                <a:latin typeface="Helvetica Neue"/>
                <a:ea typeface="Helvetica Neue"/>
                <a:cs typeface="Helvetica Neue"/>
              </a:defRPr>
            </a:lvl9pPr>
          </a:lstStyle>
          <a:p xmlns:a="http://schemas.openxmlformats.org/drawingml/2006/main">
            <a:pPr>
              <a:defRPr sz="2550" b="1">
                <a:solidFill>
                  <a:srgbClr val="17251F"/>
                </a:solidFill>
                <a:latin typeface="Helvetica Neue"/>
                <a:ea typeface="Helvetica Neue"/>
                <a:cs typeface="Helvetica Neue"/>
              </a:defRPr>
            </a:pPr>
            <a:r>
              <a:rPr sz="2550" b="1">
                <a:solidFill>
                  <a:srgbClr val="17251F"/>
                </a:solidFill>
                <a:latin typeface="Helvetica Neue"/>
                <a:ea typeface="Helvetica Neue"/>
                <a:cs typeface="Helvetica Neue"/>
              </a:rPr>
              <a:t>Fine-tuning does not win consistently</a:t>
            </a:r>
          </a:p>
        </p:txBody>
      </p:sp>
      <p:sp>
        <p:nvSpPr>
          <p:cNvPr id="4" name="">
            <a:extLst xmlns:a="http://schemas.openxmlformats.org/drawingml/2006/main">
              <a:ext uri="{FF2B5EF4-FFF2-40B4-BE49-F238E27FC236}">
                <a16:creationId xmlns:a16="http://schemas.microsoft.com/office/drawing/2014/main" id="{8D4CF5D8-1CAC-4F02-9892-895EED29BF22}"/>
              </a:ext>
            </a:extLst>
          </p:cNvPr>
          <p:cNvSpPr>
            <a:spLocks xmlns:a="http://schemas.openxmlformats.org/drawingml/2006/main" noGrp="1"/>
          </p:cNvSpPr>
          <p:nvPr/>
        </p:nvSpPr>
        <p:spPr>
          <a:xfrm xmlns:a="http://schemas.openxmlformats.org/drawingml/2006/main">
            <a:off x="628650" y="2095500"/>
            <a:ext cx="1076325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00" b="0">
                <a:solidFill>
                  <a:srgbClr val="566760"/>
                </a:solidFill>
                <a:latin typeface="Helvetica Neue"/>
                <a:ea typeface="Helvetica Neue"/>
                <a:cs typeface="Helvetica Neue"/>
              </a:defRPr>
            </a:defPPr>
            <a:lvl1pPr>
              <a:defRPr sz="2100" b="0">
                <a:solidFill>
                  <a:srgbClr val="566760"/>
                </a:solidFill>
                <a:latin typeface="Helvetica Neue"/>
                <a:ea typeface="Helvetica Neue"/>
                <a:cs typeface="Helvetica Neue"/>
              </a:defRPr>
            </a:lvl1pPr>
            <a:lvl2pPr>
              <a:defRPr sz="2100" b="0">
                <a:solidFill>
                  <a:srgbClr val="566760"/>
                </a:solidFill>
                <a:latin typeface="Helvetica Neue"/>
                <a:ea typeface="Helvetica Neue"/>
                <a:cs typeface="Helvetica Neue"/>
              </a:defRPr>
            </a:lvl2pPr>
            <a:lvl3pPr>
              <a:defRPr sz="2100" b="0">
                <a:solidFill>
                  <a:srgbClr val="566760"/>
                </a:solidFill>
                <a:latin typeface="Helvetica Neue"/>
                <a:ea typeface="Helvetica Neue"/>
                <a:cs typeface="Helvetica Neue"/>
              </a:defRPr>
            </a:lvl3pPr>
            <a:lvl4pPr>
              <a:defRPr sz="2100" b="0">
                <a:solidFill>
                  <a:srgbClr val="566760"/>
                </a:solidFill>
                <a:latin typeface="Helvetica Neue"/>
                <a:ea typeface="Helvetica Neue"/>
                <a:cs typeface="Helvetica Neue"/>
              </a:defRPr>
            </a:lvl4pPr>
            <a:lvl5pPr>
              <a:defRPr sz="2100" b="0">
                <a:solidFill>
                  <a:srgbClr val="566760"/>
                </a:solidFill>
                <a:latin typeface="Helvetica Neue"/>
                <a:ea typeface="Helvetica Neue"/>
                <a:cs typeface="Helvetica Neue"/>
              </a:defRPr>
            </a:lvl5pPr>
            <a:lvl6pPr>
              <a:defRPr sz="2100" b="0">
                <a:solidFill>
                  <a:srgbClr val="566760"/>
                </a:solidFill>
                <a:latin typeface="Helvetica Neue"/>
                <a:ea typeface="Helvetica Neue"/>
                <a:cs typeface="Helvetica Neue"/>
              </a:defRPr>
            </a:lvl6pPr>
            <a:lvl7pPr>
              <a:defRPr sz="2100" b="0">
                <a:solidFill>
                  <a:srgbClr val="566760"/>
                </a:solidFill>
                <a:latin typeface="Helvetica Neue"/>
                <a:ea typeface="Helvetica Neue"/>
                <a:cs typeface="Helvetica Neue"/>
              </a:defRPr>
            </a:lvl7pPr>
            <a:lvl8pPr>
              <a:defRPr sz="2100" b="0">
                <a:solidFill>
                  <a:srgbClr val="566760"/>
                </a:solidFill>
                <a:latin typeface="Helvetica Neue"/>
                <a:ea typeface="Helvetica Neue"/>
                <a:cs typeface="Helvetica Neue"/>
              </a:defRPr>
            </a:lvl8pPr>
            <a:lvl9pPr>
              <a:defRPr sz="2100" b="0">
                <a:solidFill>
                  <a:srgbClr val="566760"/>
                </a:solidFill>
                <a:latin typeface="Helvetica Neue"/>
                <a:ea typeface="Helvetica Neue"/>
                <a:cs typeface="Helvetica Neue"/>
              </a:defRPr>
            </a:lvl9pPr>
          </a:lstStyle>
          <a:p xmlns:a="http://schemas.openxmlformats.org/drawingml/2006/main">
            <a:pPr>
              <a:defRPr sz="2100" b="0">
                <a:solidFill>
                  <a:srgbClr val="566760"/>
                </a:solidFill>
                <a:latin typeface="Helvetica Neue"/>
                <a:ea typeface="Helvetica Neue"/>
                <a:cs typeface="Helvetica Neue"/>
              </a:defRPr>
            </a:pPr>
            <a:r>
              <a:rPr sz="2100" b="0">
                <a:solidFill>
                  <a:srgbClr val="566760"/>
                </a:solidFill>
                <a:latin typeface="Helvetica Neue"/>
                <a:ea typeface="Helvetica Neue"/>
                <a:cs typeface="Helvetica Neue"/>
              </a:rPr>
              <a:t>Frozen leads mean historical NDCG@10 in all three domains.</a:t>
            </a:r>
          </a:p>
          <a:p xmlns:a="http://schemas.openxmlformats.org/drawingml/2006/main">
            <a:pPr>
              <a:defRPr sz="2100" b="0">
                <a:solidFill>
                  <a:srgbClr val="566760"/>
                </a:solidFill>
                <a:latin typeface="Helvetica Neue"/>
                <a:ea typeface="Helvetica Neue"/>
                <a:cs typeface="Helvetica Neue"/>
              </a:defRPr>
            </a:pPr>
            <a:r>
              <a:rPr sz="2100" b="0">
                <a:solidFill>
                  <a:srgbClr val="566760"/>
                </a:solidFill>
                <a:latin typeface="Helvetica Neue"/>
                <a:ea typeface="Helvetica Neue"/>
                <a:cs typeface="Helvetica Neue"/>
              </a:rPr>
              <a:t>ESCI transfer differences are small and depend on the metric.</a:t>
            </a:r>
          </a:p>
        </p:txBody>
      </p:sp>
      <p:sp>
        <p:nvSpPr>
          <p:cNvPr id="5" name="">
            <a:extLst xmlns:a="http://schemas.openxmlformats.org/drawingml/2006/main">
              <a:ext uri="{FF2B5EF4-FFF2-40B4-BE49-F238E27FC236}">
                <a16:creationId xmlns:a16="http://schemas.microsoft.com/office/drawing/2014/main" id="{8241D363-3E29-4B52-B18E-011CB0FF7706}"/>
              </a:ext>
            </a:extLst>
          </p:cNvPr>
          <p:cNvSpPr>
            <a:spLocks xmlns:a="http://schemas.openxmlformats.org/drawingml/2006/main" noGrp="1"/>
          </p:cNvSpPr>
          <p:nvPr/>
        </p:nvSpPr>
        <p:spPr>
          <a:xfrm xmlns:a="http://schemas.openxmlformats.org/drawingml/2006/main">
            <a:off x="628650" y="3295650"/>
            <a:ext cx="10763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550" b="1">
                <a:solidFill>
                  <a:srgbClr val="17251F"/>
                </a:solidFill>
                <a:latin typeface="Helvetica Neue"/>
                <a:ea typeface="Helvetica Neue"/>
                <a:cs typeface="Helvetica Neue"/>
              </a:defRPr>
            </a:defPPr>
            <a:lvl1pPr>
              <a:defRPr sz="2550" b="1">
                <a:solidFill>
                  <a:srgbClr val="17251F"/>
                </a:solidFill>
                <a:latin typeface="Helvetica Neue"/>
                <a:ea typeface="Helvetica Neue"/>
                <a:cs typeface="Helvetica Neue"/>
              </a:defRPr>
            </a:lvl1pPr>
            <a:lvl2pPr>
              <a:defRPr sz="2550" b="1">
                <a:solidFill>
                  <a:srgbClr val="17251F"/>
                </a:solidFill>
                <a:latin typeface="Helvetica Neue"/>
                <a:ea typeface="Helvetica Neue"/>
                <a:cs typeface="Helvetica Neue"/>
              </a:defRPr>
            </a:lvl2pPr>
            <a:lvl3pPr>
              <a:defRPr sz="2550" b="1">
                <a:solidFill>
                  <a:srgbClr val="17251F"/>
                </a:solidFill>
                <a:latin typeface="Helvetica Neue"/>
                <a:ea typeface="Helvetica Neue"/>
                <a:cs typeface="Helvetica Neue"/>
              </a:defRPr>
            </a:lvl3pPr>
            <a:lvl4pPr>
              <a:defRPr sz="2550" b="1">
                <a:solidFill>
                  <a:srgbClr val="17251F"/>
                </a:solidFill>
                <a:latin typeface="Helvetica Neue"/>
                <a:ea typeface="Helvetica Neue"/>
                <a:cs typeface="Helvetica Neue"/>
              </a:defRPr>
            </a:lvl4pPr>
            <a:lvl5pPr>
              <a:defRPr sz="2550" b="1">
                <a:solidFill>
                  <a:srgbClr val="17251F"/>
                </a:solidFill>
                <a:latin typeface="Helvetica Neue"/>
                <a:ea typeface="Helvetica Neue"/>
                <a:cs typeface="Helvetica Neue"/>
              </a:defRPr>
            </a:lvl5pPr>
            <a:lvl6pPr>
              <a:defRPr sz="2550" b="1">
                <a:solidFill>
                  <a:srgbClr val="17251F"/>
                </a:solidFill>
                <a:latin typeface="Helvetica Neue"/>
                <a:ea typeface="Helvetica Neue"/>
                <a:cs typeface="Helvetica Neue"/>
              </a:defRPr>
            </a:lvl6pPr>
            <a:lvl7pPr>
              <a:defRPr sz="2550" b="1">
                <a:solidFill>
                  <a:srgbClr val="17251F"/>
                </a:solidFill>
                <a:latin typeface="Helvetica Neue"/>
                <a:ea typeface="Helvetica Neue"/>
                <a:cs typeface="Helvetica Neue"/>
              </a:defRPr>
            </a:lvl7pPr>
            <a:lvl8pPr>
              <a:defRPr sz="2550" b="1">
                <a:solidFill>
                  <a:srgbClr val="17251F"/>
                </a:solidFill>
                <a:latin typeface="Helvetica Neue"/>
                <a:ea typeface="Helvetica Neue"/>
                <a:cs typeface="Helvetica Neue"/>
              </a:defRPr>
            </a:lvl8pPr>
            <a:lvl9pPr>
              <a:defRPr sz="2550" b="1">
                <a:solidFill>
                  <a:srgbClr val="17251F"/>
                </a:solidFill>
                <a:latin typeface="Helvetica Neue"/>
                <a:ea typeface="Helvetica Neue"/>
                <a:cs typeface="Helvetica Neue"/>
              </a:defRPr>
            </a:lvl9pPr>
          </a:lstStyle>
          <a:p xmlns:a="http://schemas.openxmlformats.org/drawingml/2006/main">
            <a:pPr>
              <a:defRPr sz="2550" b="1">
                <a:solidFill>
                  <a:srgbClr val="17251F"/>
                </a:solidFill>
                <a:latin typeface="Helvetica Neue"/>
                <a:ea typeface="Helvetica Neue"/>
                <a:cs typeface="Helvetica Neue"/>
              </a:defRPr>
            </a:pPr>
            <a:r>
              <a:rPr sz="2550" b="1">
                <a:solidFill>
                  <a:srgbClr val="17251F"/>
                </a:solidFill>
                <a:latin typeface="Helvetica Neue"/>
                <a:ea typeface="Helvetica Neue"/>
                <a:cs typeface="Helvetica Neue"/>
              </a:rPr>
              <a:t>Text is a strong multimodal baseline</a:t>
            </a:r>
          </a:p>
        </p:txBody>
      </p:sp>
      <p:sp>
        <p:nvSpPr>
          <p:cNvPr id="6" name="">
            <a:extLst xmlns:a="http://schemas.openxmlformats.org/drawingml/2006/main">
              <a:ext uri="{FF2B5EF4-FFF2-40B4-BE49-F238E27FC236}">
                <a16:creationId xmlns:a16="http://schemas.microsoft.com/office/drawing/2014/main" id="{0EBB2299-4C35-48FB-BF94-F82D92BDC6A8}"/>
              </a:ext>
            </a:extLst>
          </p:cNvPr>
          <p:cNvSpPr>
            <a:spLocks xmlns:a="http://schemas.openxmlformats.org/drawingml/2006/main" noGrp="1"/>
          </p:cNvSpPr>
          <p:nvPr/>
        </p:nvSpPr>
        <p:spPr>
          <a:xfrm xmlns:a="http://schemas.openxmlformats.org/drawingml/2006/main">
            <a:off x="628650" y="3857625"/>
            <a:ext cx="1076325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00" b="0">
                <a:solidFill>
                  <a:srgbClr val="566760"/>
                </a:solidFill>
                <a:latin typeface="Helvetica Neue"/>
                <a:ea typeface="Helvetica Neue"/>
                <a:cs typeface="Helvetica Neue"/>
              </a:defRPr>
            </a:defPPr>
            <a:lvl1pPr>
              <a:defRPr sz="2100" b="0">
                <a:solidFill>
                  <a:srgbClr val="566760"/>
                </a:solidFill>
                <a:latin typeface="Helvetica Neue"/>
                <a:ea typeface="Helvetica Neue"/>
                <a:cs typeface="Helvetica Neue"/>
              </a:defRPr>
            </a:lvl1pPr>
            <a:lvl2pPr>
              <a:defRPr sz="2100" b="0">
                <a:solidFill>
                  <a:srgbClr val="566760"/>
                </a:solidFill>
                <a:latin typeface="Helvetica Neue"/>
                <a:ea typeface="Helvetica Neue"/>
                <a:cs typeface="Helvetica Neue"/>
              </a:defRPr>
            </a:lvl2pPr>
            <a:lvl3pPr>
              <a:defRPr sz="2100" b="0">
                <a:solidFill>
                  <a:srgbClr val="566760"/>
                </a:solidFill>
                <a:latin typeface="Helvetica Neue"/>
                <a:ea typeface="Helvetica Neue"/>
                <a:cs typeface="Helvetica Neue"/>
              </a:defRPr>
            </a:lvl3pPr>
            <a:lvl4pPr>
              <a:defRPr sz="2100" b="0">
                <a:solidFill>
                  <a:srgbClr val="566760"/>
                </a:solidFill>
                <a:latin typeface="Helvetica Neue"/>
                <a:ea typeface="Helvetica Neue"/>
                <a:cs typeface="Helvetica Neue"/>
              </a:defRPr>
            </a:lvl4pPr>
            <a:lvl5pPr>
              <a:defRPr sz="2100" b="0">
                <a:solidFill>
                  <a:srgbClr val="566760"/>
                </a:solidFill>
                <a:latin typeface="Helvetica Neue"/>
                <a:ea typeface="Helvetica Neue"/>
                <a:cs typeface="Helvetica Neue"/>
              </a:defRPr>
            </a:lvl5pPr>
            <a:lvl6pPr>
              <a:defRPr sz="2100" b="0">
                <a:solidFill>
                  <a:srgbClr val="566760"/>
                </a:solidFill>
                <a:latin typeface="Helvetica Neue"/>
                <a:ea typeface="Helvetica Neue"/>
                <a:cs typeface="Helvetica Neue"/>
              </a:defRPr>
            </a:lvl6pPr>
            <a:lvl7pPr>
              <a:defRPr sz="2100" b="0">
                <a:solidFill>
                  <a:srgbClr val="566760"/>
                </a:solidFill>
                <a:latin typeface="Helvetica Neue"/>
                <a:ea typeface="Helvetica Neue"/>
                <a:cs typeface="Helvetica Neue"/>
              </a:defRPr>
            </a:lvl7pPr>
            <a:lvl8pPr>
              <a:defRPr sz="2100" b="0">
                <a:solidFill>
                  <a:srgbClr val="566760"/>
                </a:solidFill>
                <a:latin typeface="Helvetica Neue"/>
                <a:ea typeface="Helvetica Neue"/>
                <a:cs typeface="Helvetica Neue"/>
              </a:defRPr>
            </a:lvl8pPr>
            <a:lvl9pPr>
              <a:defRPr sz="2100" b="0">
                <a:solidFill>
                  <a:srgbClr val="566760"/>
                </a:solidFill>
                <a:latin typeface="Helvetica Neue"/>
                <a:ea typeface="Helvetica Neue"/>
                <a:cs typeface="Helvetica Neue"/>
              </a:defRPr>
            </a:lvl9pPr>
          </a:lstStyle>
          <a:p xmlns:a="http://schemas.openxmlformats.org/drawingml/2006/main">
            <a:pPr>
              <a:defRPr sz="2100" b="0">
                <a:solidFill>
                  <a:srgbClr val="566760"/>
                </a:solidFill>
                <a:latin typeface="Helvetica Neue"/>
                <a:ea typeface="Helvetica Neue"/>
                <a:cs typeface="Helvetica Neue"/>
              </a:defRPr>
            </a:pPr>
            <a:r>
              <a:rPr sz="2100" b="0">
                <a:solidFill>
                  <a:srgbClr val="566760"/>
                </a:solidFill>
                <a:latin typeface="Helvetica Neue"/>
                <a:ea typeface="Helvetica Neue"/>
                <a:cs typeface="Helvetica Neue"/>
              </a:rPr>
              <a:t>Learned fusion improves fixed fusion. Text alone still leads Recall@10.</a:t>
            </a:r>
          </a:p>
          <a:p xmlns:a="http://schemas.openxmlformats.org/drawingml/2006/main">
            <a:pPr>
              <a:defRPr sz="2100" b="0">
                <a:solidFill>
                  <a:srgbClr val="566760"/>
                </a:solidFill>
                <a:latin typeface="Helvetica Neue"/>
                <a:ea typeface="Helvetica Neue"/>
                <a:cs typeface="Helvetica Neue"/>
              </a:defRPr>
            </a:pPr>
            <a:r>
              <a:rPr sz="2100" b="0">
                <a:solidFill>
                  <a:srgbClr val="566760"/>
                </a:solidFill>
                <a:latin typeface="Helvetica Neue"/>
                <a:ea typeface="Helvetica Neue"/>
                <a:cs typeface="Helvetica Neue"/>
              </a:rPr>
              <a:t>Custom outputs show responsiveness, without new accuracy labels.</a:t>
            </a:r>
          </a:p>
        </p:txBody>
      </p:sp>
      <p:sp>
        <p:nvSpPr>
          <p:cNvPr id="7" name="">
            <a:extLst xmlns:a="http://schemas.openxmlformats.org/drawingml/2006/main">
              <a:ext uri="{FF2B5EF4-FFF2-40B4-BE49-F238E27FC236}">
                <a16:creationId xmlns:a16="http://schemas.microsoft.com/office/drawing/2014/main" id="{FE500C91-D68D-44B8-9AB0-F15BF7DCC03A}"/>
              </a:ext>
            </a:extLst>
          </p:cNvPr>
          <p:cNvSpPr>
            <a:spLocks xmlns:a="http://schemas.openxmlformats.org/drawingml/2006/main" noGrp="1"/>
          </p:cNvSpPr>
          <p:nvPr/>
        </p:nvSpPr>
        <p:spPr>
          <a:xfrm xmlns:a="http://schemas.openxmlformats.org/drawingml/2006/main">
            <a:off x="628650" y="5067300"/>
            <a:ext cx="10763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550" b="1">
                <a:solidFill>
                  <a:srgbClr val="17251F"/>
                </a:solidFill>
                <a:latin typeface="Helvetica Neue"/>
                <a:ea typeface="Helvetica Neue"/>
                <a:cs typeface="Helvetica Neue"/>
              </a:defRPr>
            </a:defPPr>
            <a:lvl1pPr>
              <a:defRPr sz="2550" b="1">
                <a:solidFill>
                  <a:srgbClr val="17251F"/>
                </a:solidFill>
                <a:latin typeface="Helvetica Neue"/>
                <a:ea typeface="Helvetica Neue"/>
                <a:cs typeface="Helvetica Neue"/>
              </a:defRPr>
            </a:lvl1pPr>
            <a:lvl2pPr>
              <a:defRPr sz="2550" b="1">
                <a:solidFill>
                  <a:srgbClr val="17251F"/>
                </a:solidFill>
                <a:latin typeface="Helvetica Neue"/>
                <a:ea typeface="Helvetica Neue"/>
                <a:cs typeface="Helvetica Neue"/>
              </a:defRPr>
            </a:lvl2pPr>
            <a:lvl3pPr>
              <a:defRPr sz="2550" b="1">
                <a:solidFill>
                  <a:srgbClr val="17251F"/>
                </a:solidFill>
                <a:latin typeface="Helvetica Neue"/>
                <a:ea typeface="Helvetica Neue"/>
                <a:cs typeface="Helvetica Neue"/>
              </a:defRPr>
            </a:lvl3pPr>
            <a:lvl4pPr>
              <a:defRPr sz="2550" b="1">
                <a:solidFill>
                  <a:srgbClr val="17251F"/>
                </a:solidFill>
                <a:latin typeface="Helvetica Neue"/>
                <a:ea typeface="Helvetica Neue"/>
                <a:cs typeface="Helvetica Neue"/>
              </a:defRPr>
            </a:lvl4pPr>
            <a:lvl5pPr>
              <a:defRPr sz="2550" b="1">
                <a:solidFill>
                  <a:srgbClr val="17251F"/>
                </a:solidFill>
                <a:latin typeface="Helvetica Neue"/>
                <a:ea typeface="Helvetica Neue"/>
                <a:cs typeface="Helvetica Neue"/>
              </a:defRPr>
            </a:lvl5pPr>
            <a:lvl6pPr>
              <a:defRPr sz="2550" b="1">
                <a:solidFill>
                  <a:srgbClr val="17251F"/>
                </a:solidFill>
                <a:latin typeface="Helvetica Neue"/>
                <a:ea typeface="Helvetica Neue"/>
                <a:cs typeface="Helvetica Neue"/>
              </a:defRPr>
            </a:lvl6pPr>
            <a:lvl7pPr>
              <a:defRPr sz="2550" b="1">
                <a:solidFill>
                  <a:srgbClr val="17251F"/>
                </a:solidFill>
                <a:latin typeface="Helvetica Neue"/>
                <a:ea typeface="Helvetica Neue"/>
                <a:cs typeface="Helvetica Neue"/>
              </a:defRPr>
            </a:lvl7pPr>
            <a:lvl8pPr>
              <a:defRPr sz="2550" b="1">
                <a:solidFill>
                  <a:srgbClr val="17251F"/>
                </a:solidFill>
                <a:latin typeface="Helvetica Neue"/>
                <a:ea typeface="Helvetica Neue"/>
                <a:cs typeface="Helvetica Neue"/>
              </a:defRPr>
            </a:lvl8pPr>
            <a:lvl9pPr>
              <a:defRPr sz="2550" b="1">
                <a:solidFill>
                  <a:srgbClr val="17251F"/>
                </a:solidFill>
                <a:latin typeface="Helvetica Neue"/>
                <a:ea typeface="Helvetica Neue"/>
                <a:cs typeface="Helvetica Neue"/>
              </a:defRPr>
            </a:lvl9pPr>
          </a:lstStyle>
          <a:p xmlns:a="http://schemas.openxmlformats.org/drawingml/2006/main">
            <a:pPr>
              <a:defRPr sz="2550" b="1">
                <a:solidFill>
                  <a:srgbClr val="17251F"/>
                </a:solidFill>
                <a:latin typeface="Helvetica Neue"/>
                <a:ea typeface="Helvetica Neue"/>
                <a:cs typeface="Helvetica Neue"/>
              </a:defRPr>
            </a:pPr>
            <a:r>
              <a:rPr sz="2550" b="1">
                <a:solidFill>
                  <a:srgbClr val="17251F"/>
                </a:solidFill>
                <a:latin typeface="Helvetica Neue"/>
                <a:ea typeface="Helvetica Neue"/>
                <a:cs typeface="Helvetica Neue"/>
              </a:rPr>
              <a:t>Scope limits the claim</a:t>
            </a:r>
          </a:p>
        </p:txBody>
      </p:sp>
      <p:sp>
        <p:nvSpPr>
          <p:cNvPr id="8" name="">
            <a:extLst xmlns:a="http://schemas.openxmlformats.org/drawingml/2006/main">
              <a:ext uri="{FF2B5EF4-FFF2-40B4-BE49-F238E27FC236}">
                <a16:creationId xmlns:a16="http://schemas.microsoft.com/office/drawing/2014/main" id="{CFD52F06-EEA1-4E5E-9A6F-3E3096FA6A5A}"/>
              </a:ext>
            </a:extLst>
          </p:cNvPr>
          <p:cNvSpPr>
            <a:spLocks xmlns:a="http://schemas.openxmlformats.org/drawingml/2006/main" noGrp="1"/>
          </p:cNvSpPr>
          <p:nvPr/>
        </p:nvSpPr>
        <p:spPr>
          <a:xfrm xmlns:a="http://schemas.openxmlformats.org/drawingml/2006/main">
            <a:off x="628650" y="5629275"/>
            <a:ext cx="107632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025" b="0">
                <a:solidFill>
                  <a:srgbClr val="566760"/>
                </a:solidFill>
                <a:latin typeface="Helvetica Neue"/>
                <a:ea typeface="Helvetica Neue"/>
                <a:cs typeface="Helvetica Neue"/>
              </a:defRPr>
            </a:defPPr>
            <a:lvl1pPr>
              <a:defRPr sz="2025" b="0">
                <a:solidFill>
                  <a:srgbClr val="566760"/>
                </a:solidFill>
                <a:latin typeface="Helvetica Neue"/>
                <a:ea typeface="Helvetica Neue"/>
                <a:cs typeface="Helvetica Neue"/>
              </a:defRPr>
            </a:lvl1pPr>
            <a:lvl2pPr>
              <a:defRPr sz="2025" b="0">
                <a:solidFill>
                  <a:srgbClr val="566760"/>
                </a:solidFill>
                <a:latin typeface="Helvetica Neue"/>
                <a:ea typeface="Helvetica Neue"/>
                <a:cs typeface="Helvetica Neue"/>
              </a:defRPr>
            </a:lvl2pPr>
            <a:lvl3pPr>
              <a:defRPr sz="2025" b="0">
                <a:solidFill>
                  <a:srgbClr val="566760"/>
                </a:solidFill>
                <a:latin typeface="Helvetica Neue"/>
                <a:ea typeface="Helvetica Neue"/>
                <a:cs typeface="Helvetica Neue"/>
              </a:defRPr>
            </a:lvl3pPr>
            <a:lvl4pPr>
              <a:defRPr sz="2025" b="0">
                <a:solidFill>
                  <a:srgbClr val="566760"/>
                </a:solidFill>
                <a:latin typeface="Helvetica Neue"/>
                <a:ea typeface="Helvetica Neue"/>
                <a:cs typeface="Helvetica Neue"/>
              </a:defRPr>
            </a:lvl4pPr>
            <a:lvl5pPr>
              <a:defRPr sz="2025" b="0">
                <a:solidFill>
                  <a:srgbClr val="566760"/>
                </a:solidFill>
                <a:latin typeface="Helvetica Neue"/>
                <a:ea typeface="Helvetica Neue"/>
                <a:cs typeface="Helvetica Neue"/>
              </a:defRPr>
            </a:lvl5pPr>
            <a:lvl6pPr>
              <a:defRPr sz="2025" b="0">
                <a:solidFill>
                  <a:srgbClr val="566760"/>
                </a:solidFill>
                <a:latin typeface="Helvetica Neue"/>
                <a:ea typeface="Helvetica Neue"/>
                <a:cs typeface="Helvetica Neue"/>
              </a:defRPr>
            </a:lvl6pPr>
            <a:lvl7pPr>
              <a:defRPr sz="2025" b="0">
                <a:solidFill>
                  <a:srgbClr val="566760"/>
                </a:solidFill>
                <a:latin typeface="Helvetica Neue"/>
                <a:ea typeface="Helvetica Neue"/>
                <a:cs typeface="Helvetica Neue"/>
              </a:defRPr>
            </a:lvl7pPr>
            <a:lvl8pPr>
              <a:defRPr sz="2025" b="0">
                <a:solidFill>
                  <a:srgbClr val="566760"/>
                </a:solidFill>
                <a:latin typeface="Helvetica Neue"/>
                <a:ea typeface="Helvetica Neue"/>
                <a:cs typeface="Helvetica Neue"/>
              </a:defRPr>
            </a:lvl8pPr>
            <a:lvl9pPr>
              <a:defRPr sz="2025" b="0">
                <a:solidFill>
                  <a:srgbClr val="566760"/>
                </a:solidFill>
                <a:latin typeface="Helvetica Neue"/>
                <a:ea typeface="Helvetica Neue"/>
                <a:cs typeface="Helvetica Neue"/>
              </a:defRPr>
            </a:lvl9pPr>
          </a:lstStyle>
          <a:p xmlns:a="http://schemas.openxmlformats.org/drawingml/2006/main">
            <a:pPr>
              <a:defRPr sz="2025" b="0">
                <a:solidFill>
                  <a:srgbClr val="566760"/>
                </a:solidFill>
                <a:latin typeface="Helvetica Neue"/>
                <a:ea typeface="Helvetica Neue"/>
                <a:cs typeface="Helvetica Neue"/>
              </a:defRPr>
            </a:pPr>
            <a:r>
              <a:rPr sz="2025" b="0">
                <a:solidFill>
                  <a:srgbClr val="566760"/>
                </a:solidFill>
                <a:latin typeface="Helvetica Neue"/>
                <a:ea typeface="Helvetica Neue"/>
                <a:cs typeface="Helvetica Neue"/>
              </a:rPr>
              <a:t>Selected galleries and cohorts, one fusion seed, possible pretraining overlap.</a:t>
            </a:r>
          </a:p>
          <a:p xmlns:a="http://schemas.openxmlformats.org/drawingml/2006/main">
            <a:pPr>
              <a:defRPr sz="2025" b="0">
                <a:solidFill>
                  <a:srgbClr val="566760"/>
                </a:solidFill>
                <a:latin typeface="Helvetica Neue"/>
                <a:ea typeface="Helvetica Neue"/>
                <a:cs typeface="Helvetica Neue"/>
              </a:defRPr>
            </a:pPr>
            <a:r>
              <a:rPr sz="2025" b="0">
                <a:solidFill>
                  <a:srgbClr val="566760"/>
                </a:solidFill>
                <a:latin typeface="Helvetica Neue"/>
                <a:ea typeface="Helvetica Neue"/>
                <a:cs typeface="Helvetica Neue"/>
              </a:rPr>
              <a:t>Exposure and ranking speed do not establish user satisfaction.</a:t>
            </a:r>
          </a:p>
        </p:txBody>
      </p:sp>
    </p:spTree>
    <p:extLst>
      <p:ext uri="{BB962C8B-B14F-4D97-AF65-F5344CB8AC3E}">
        <p14:creationId xmlns:p14="http://schemas.microsoft.com/office/powerpoint/2010/main" val="971728587"/>
      </p:ext>
    </p:extLst>
  </p:cSld>
</p:sld>
</file>

<file path=ppt/slides/slide20.xml><?xml version="1.0" encoding="utf-8"?>
<p:sld xmlns:p="http://schemas.openxmlformats.org/presentationml/2006/main">
  <p:cSld>
    <p:bg>
      <p:bgPr>
        <a:solidFill xmlns:a="http://schemas.openxmlformats.org/drawingml/2006/main">
          <a:srgbClr val="FAF8F3"/>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2EBED321-676D-4B4E-AECB-ECC6A237E7A1}"/>
              </a:ext>
            </a:extLst>
          </p:cNvPr>
          <p:cNvSpPr>
            <a:spLocks xmlns:a="http://schemas.openxmlformats.org/drawingml/2006/main" noGrp="1"/>
          </p:cNvSpPr>
          <p:nvPr/>
        </p:nvSpPr>
        <p:spPr>
          <a:xfrm xmlns:a="http://schemas.openxmlformats.org/drawingml/2006/main">
            <a:off x="609600" y="3810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150" b="1">
                <a:solidFill>
                  <a:srgbClr val="17251F"/>
                </a:solidFill>
                <a:latin typeface="Helvetica Neue"/>
                <a:ea typeface="Helvetica Neue"/>
                <a:cs typeface="Helvetica Neue"/>
              </a:defRPr>
            </a:defPPr>
            <a:lvl1pPr>
              <a:defRPr sz="3150" b="1">
                <a:solidFill>
                  <a:srgbClr val="17251F"/>
                </a:solidFill>
                <a:latin typeface="Helvetica Neue"/>
                <a:ea typeface="Helvetica Neue"/>
                <a:cs typeface="Helvetica Neue"/>
              </a:defRPr>
            </a:lvl1pPr>
            <a:lvl2pPr>
              <a:defRPr sz="3150" b="1">
                <a:solidFill>
                  <a:srgbClr val="17251F"/>
                </a:solidFill>
                <a:latin typeface="Helvetica Neue"/>
                <a:ea typeface="Helvetica Neue"/>
                <a:cs typeface="Helvetica Neue"/>
              </a:defRPr>
            </a:lvl2pPr>
            <a:lvl3pPr>
              <a:defRPr sz="3150" b="1">
                <a:solidFill>
                  <a:srgbClr val="17251F"/>
                </a:solidFill>
                <a:latin typeface="Helvetica Neue"/>
                <a:ea typeface="Helvetica Neue"/>
                <a:cs typeface="Helvetica Neue"/>
              </a:defRPr>
            </a:lvl3pPr>
            <a:lvl4pPr>
              <a:defRPr sz="3150" b="1">
                <a:solidFill>
                  <a:srgbClr val="17251F"/>
                </a:solidFill>
                <a:latin typeface="Helvetica Neue"/>
                <a:ea typeface="Helvetica Neue"/>
                <a:cs typeface="Helvetica Neue"/>
              </a:defRPr>
            </a:lvl4pPr>
            <a:lvl5pPr>
              <a:defRPr sz="3150" b="1">
                <a:solidFill>
                  <a:srgbClr val="17251F"/>
                </a:solidFill>
                <a:latin typeface="Helvetica Neue"/>
                <a:ea typeface="Helvetica Neue"/>
                <a:cs typeface="Helvetica Neue"/>
              </a:defRPr>
            </a:lvl5pPr>
            <a:lvl6pPr>
              <a:defRPr sz="3150" b="1">
                <a:solidFill>
                  <a:srgbClr val="17251F"/>
                </a:solidFill>
                <a:latin typeface="Helvetica Neue"/>
                <a:ea typeface="Helvetica Neue"/>
                <a:cs typeface="Helvetica Neue"/>
              </a:defRPr>
            </a:lvl6pPr>
            <a:lvl7pPr>
              <a:defRPr sz="3150" b="1">
                <a:solidFill>
                  <a:srgbClr val="17251F"/>
                </a:solidFill>
                <a:latin typeface="Helvetica Neue"/>
                <a:ea typeface="Helvetica Neue"/>
                <a:cs typeface="Helvetica Neue"/>
              </a:defRPr>
            </a:lvl7pPr>
            <a:lvl8pPr>
              <a:defRPr sz="3150" b="1">
                <a:solidFill>
                  <a:srgbClr val="17251F"/>
                </a:solidFill>
                <a:latin typeface="Helvetica Neue"/>
                <a:ea typeface="Helvetica Neue"/>
                <a:cs typeface="Helvetica Neue"/>
              </a:defRPr>
            </a:lvl8pPr>
            <a:lvl9pPr>
              <a:defRPr sz="3150" b="1">
                <a:solidFill>
                  <a:srgbClr val="17251F"/>
                </a:solidFill>
                <a:latin typeface="Helvetica Neue"/>
                <a:ea typeface="Helvetica Neue"/>
                <a:cs typeface="Helvetica Neue"/>
              </a:defRPr>
            </a:lvl9pPr>
          </a:lstStyle>
          <a:p xmlns:a="http://schemas.openxmlformats.org/drawingml/2006/main">
            <a:pPr>
              <a:defRPr sz="3150" b="1">
                <a:solidFill>
                  <a:srgbClr val="17251F"/>
                </a:solidFill>
                <a:latin typeface="Helvetica Neue"/>
                <a:ea typeface="Helvetica Neue"/>
                <a:cs typeface="Helvetica Neue"/>
              </a:defRPr>
            </a:pPr>
            <a:r>
              <a:rPr sz="3150" b="1">
                <a:solidFill>
                  <a:srgbClr val="17251F"/>
                </a:solidFill>
                <a:latin typeface="Helvetica Neue"/>
                <a:ea typeface="Helvetica Neue"/>
                <a:cs typeface="Helvetica Neue"/>
              </a:rPr>
              <a:t>Local demo and reproducible evidence</a:t>
            </a:r>
          </a:p>
        </p:txBody>
      </p:sp>
      <p:sp>
        <p:nvSpPr>
          <p:cNvPr id="2" name="">
            <a:extLst xmlns:a="http://schemas.openxmlformats.org/drawingml/2006/main">
              <a:ext uri="{FF2B5EF4-FFF2-40B4-BE49-F238E27FC236}">
                <a16:creationId xmlns:a16="http://schemas.microsoft.com/office/drawing/2014/main" id="{6D10C5FC-CBE3-4894-9812-E8222FBD6AD3}"/>
              </a:ext>
            </a:extLst>
          </p:cNvPr>
          <p:cNvSpPr>
            <a:spLocks xmlns:a="http://schemas.openxmlformats.org/drawingml/2006/main" noGrp="1"/>
          </p:cNvSpPr>
          <p:nvPr/>
        </p:nvSpPr>
        <p:spPr>
          <a:xfrm xmlns:a="http://schemas.openxmlformats.org/drawingml/2006/main">
            <a:off x="11106150" y="6457950"/>
            <a:ext cx="47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00" b="0">
                <a:solidFill>
                  <a:srgbClr val="566760"/>
                </a:solidFill>
                <a:latin typeface="Helvetica Neue"/>
                <a:ea typeface="Helvetica Neue"/>
                <a:cs typeface="Helvetica Neue"/>
              </a:defRPr>
            </a:defPPr>
            <a:lvl1pPr algn="r">
              <a:defRPr sz="1200" b="0">
                <a:solidFill>
                  <a:srgbClr val="566760"/>
                </a:solidFill>
                <a:latin typeface="Helvetica Neue"/>
                <a:ea typeface="Helvetica Neue"/>
                <a:cs typeface="Helvetica Neue"/>
              </a:defRPr>
            </a:lvl1pPr>
            <a:lvl2pPr algn="r">
              <a:defRPr sz="1200" b="0">
                <a:solidFill>
                  <a:srgbClr val="566760"/>
                </a:solidFill>
                <a:latin typeface="Helvetica Neue"/>
                <a:ea typeface="Helvetica Neue"/>
                <a:cs typeface="Helvetica Neue"/>
              </a:defRPr>
            </a:lvl2pPr>
            <a:lvl3pPr algn="r">
              <a:defRPr sz="1200" b="0">
                <a:solidFill>
                  <a:srgbClr val="566760"/>
                </a:solidFill>
                <a:latin typeface="Helvetica Neue"/>
                <a:ea typeface="Helvetica Neue"/>
                <a:cs typeface="Helvetica Neue"/>
              </a:defRPr>
            </a:lvl3pPr>
            <a:lvl4pPr algn="r">
              <a:defRPr sz="1200" b="0">
                <a:solidFill>
                  <a:srgbClr val="566760"/>
                </a:solidFill>
                <a:latin typeface="Helvetica Neue"/>
                <a:ea typeface="Helvetica Neue"/>
                <a:cs typeface="Helvetica Neue"/>
              </a:defRPr>
            </a:lvl4pPr>
            <a:lvl5pPr algn="r">
              <a:defRPr sz="1200" b="0">
                <a:solidFill>
                  <a:srgbClr val="566760"/>
                </a:solidFill>
                <a:latin typeface="Helvetica Neue"/>
                <a:ea typeface="Helvetica Neue"/>
                <a:cs typeface="Helvetica Neue"/>
              </a:defRPr>
            </a:lvl5pPr>
            <a:lvl6pPr algn="r">
              <a:defRPr sz="1200" b="0">
                <a:solidFill>
                  <a:srgbClr val="566760"/>
                </a:solidFill>
                <a:latin typeface="Helvetica Neue"/>
                <a:ea typeface="Helvetica Neue"/>
                <a:cs typeface="Helvetica Neue"/>
              </a:defRPr>
            </a:lvl6pPr>
            <a:lvl7pPr algn="r">
              <a:defRPr sz="1200" b="0">
                <a:solidFill>
                  <a:srgbClr val="566760"/>
                </a:solidFill>
                <a:latin typeface="Helvetica Neue"/>
                <a:ea typeface="Helvetica Neue"/>
                <a:cs typeface="Helvetica Neue"/>
              </a:defRPr>
            </a:lvl7pPr>
            <a:lvl8pPr algn="r">
              <a:defRPr sz="1200" b="0">
                <a:solidFill>
                  <a:srgbClr val="566760"/>
                </a:solidFill>
                <a:latin typeface="Helvetica Neue"/>
                <a:ea typeface="Helvetica Neue"/>
                <a:cs typeface="Helvetica Neue"/>
              </a:defRPr>
            </a:lvl8pPr>
            <a:lvl9pPr algn="r">
              <a:defRPr sz="1200" b="0">
                <a:solidFill>
                  <a:srgbClr val="566760"/>
                </a:solidFill>
                <a:latin typeface="Helvetica Neue"/>
                <a:ea typeface="Helvetica Neue"/>
                <a:cs typeface="Helvetica Neue"/>
              </a:defRPr>
            </a:lvl9pPr>
          </a:lstStyle>
          <a:p xmlns:a="http://schemas.openxmlformats.org/drawingml/2006/main">
            <a:pPr algn="r">
              <a:defRPr sz="1200" b="0">
                <a:solidFill>
                  <a:srgbClr val="566760"/>
                </a:solidFill>
                <a:latin typeface="Helvetica Neue"/>
                <a:ea typeface="Helvetica Neue"/>
                <a:cs typeface="Helvetica Neue"/>
              </a:defRPr>
            </a:pPr>
            <a:r>
              <a:rPr sz="1200" b="0">
                <a:solidFill>
                  <a:srgbClr val="566760"/>
                </a:solidFill>
                <a:latin typeface="Helvetica Neue"/>
                <a:ea typeface="Helvetica Neue"/>
                <a:cs typeface="Helvetica Neue"/>
              </a:rPr>
              <a:t>20</a:t>
            </a:r>
          </a:p>
        </p:txBody>
      </p:sp>
      <p:sp>
        <p:nvSpPr>
          <p:cNvPr id="3" name="">
            <a:extLst xmlns:a="http://schemas.openxmlformats.org/drawingml/2006/main">
              <a:ext uri="{FF2B5EF4-FFF2-40B4-BE49-F238E27FC236}">
                <a16:creationId xmlns:a16="http://schemas.microsoft.com/office/drawing/2014/main" id="{61DE8680-A88F-4366-8418-A72C08BC81F6}"/>
              </a:ext>
            </a:extLst>
          </p:cNvPr>
          <p:cNvSpPr>
            <a:spLocks xmlns:a="http://schemas.openxmlformats.org/drawingml/2006/main" noGrp="1"/>
          </p:cNvSpPr>
          <p:nvPr/>
        </p:nvSpPr>
        <p:spPr>
          <a:xfrm xmlns:a="http://schemas.openxmlformats.org/drawingml/2006/main">
            <a:off x="628650" y="1600200"/>
            <a:ext cx="10953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925" b="1">
                <a:solidFill>
                  <a:srgbClr val="087E80"/>
                </a:solidFill>
                <a:latin typeface="Helvetica Neue"/>
                <a:ea typeface="Helvetica Neue"/>
                <a:cs typeface="Helvetica Neue"/>
              </a:defRPr>
            </a:defPPr>
            <a:lvl1pPr>
              <a:defRPr sz="2925" b="1">
                <a:solidFill>
                  <a:srgbClr val="087E80"/>
                </a:solidFill>
                <a:latin typeface="Helvetica Neue"/>
                <a:ea typeface="Helvetica Neue"/>
                <a:cs typeface="Helvetica Neue"/>
              </a:defRPr>
            </a:lvl1pPr>
            <a:lvl2pPr>
              <a:defRPr sz="2925" b="1">
                <a:solidFill>
                  <a:srgbClr val="087E80"/>
                </a:solidFill>
                <a:latin typeface="Helvetica Neue"/>
                <a:ea typeface="Helvetica Neue"/>
                <a:cs typeface="Helvetica Neue"/>
              </a:defRPr>
            </a:lvl2pPr>
            <a:lvl3pPr>
              <a:defRPr sz="2925" b="1">
                <a:solidFill>
                  <a:srgbClr val="087E80"/>
                </a:solidFill>
                <a:latin typeface="Helvetica Neue"/>
                <a:ea typeface="Helvetica Neue"/>
                <a:cs typeface="Helvetica Neue"/>
              </a:defRPr>
            </a:lvl3pPr>
            <a:lvl4pPr>
              <a:defRPr sz="2925" b="1">
                <a:solidFill>
                  <a:srgbClr val="087E80"/>
                </a:solidFill>
                <a:latin typeface="Helvetica Neue"/>
                <a:ea typeface="Helvetica Neue"/>
                <a:cs typeface="Helvetica Neue"/>
              </a:defRPr>
            </a:lvl4pPr>
            <a:lvl5pPr>
              <a:defRPr sz="2925" b="1">
                <a:solidFill>
                  <a:srgbClr val="087E80"/>
                </a:solidFill>
                <a:latin typeface="Helvetica Neue"/>
                <a:ea typeface="Helvetica Neue"/>
                <a:cs typeface="Helvetica Neue"/>
              </a:defRPr>
            </a:lvl5pPr>
            <a:lvl6pPr>
              <a:defRPr sz="2925" b="1">
                <a:solidFill>
                  <a:srgbClr val="087E80"/>
                </a:solidFill>
                <a:latin typeface="Helvetica Neue"/>
                <a:ea typeface="Helvetica Neue"/>
                <a:cs typeface="Helvetica Neue"/>
              </a:defRPr>
            </a:lvl6pPr>
            <a:lvl7pPr>
              <a:defRPr sz="2925" b="1">
                <a:solidFill>
                  <a:srgbClr val="087E80"/>
                </a:solidFill>
                <a:latin typeface="Helvetica Neue"/>
                <a:ea typeface="Helvetica Neue"/>
                <a:cs typeface="Helvetica Neue"/>
              </a:defRPr>
            </a:lvl7pPr>
            <a:lvl8pPr>
              <a:defRPr sz="2925" b="1">
                <a:solidFill>
                  <a:srgbClr val="087E80"/>
                </a:solidFill>
                <a:latin typeface="Helvetica Neue"/>
                <a:ea typeface="Helvetica Neue"/>
                <a:cs typeface="Helvetica Neue"/>
              </a:defRPr>
            </a:lvl8pPr>
            <a:lvl9pPr>
              <a:defRPr sz="2925" b="1">
                <a:solidFill>
                  <a:srgbClr val="087E80"/>
                </a:solidFill>
                <a:latin typeface="Helvetica Neue"/>
                <a:ea typeface="Helvetica Neue"/>
                <a:cs typeface="Helvetica Neue"/>
              </a:defRPr>
            </a:lvl9pPr>
          </a:lstStyle>
          <a:p xmlns:a="http://schemas.openxmlformats.org/drawingml/2006/main">
            <a:pPr>
              <a:defRPr sz="2925" b="1">
                <a:solidFill>
                  <a:srgbClr val="087E80"/>
                </a:solidFill>
                <a:latin typeface="Helvetica Neue"/>
                <a:ea typeface="Helvetica Neue"/>
                <a:cs typeface="Helvetica Neue"/>
              </a:defRPr>
            </a:pPr>
            <a:r>
              <a:rPr sz="2925" b="1">
                <a:solidFill>
                  <a:srgbClr val="087E80"/>
                </a:solidFill>
                <a:latin typeface="Helvetica Neue"/>
                <a:ea typeface="Helvetica Neue"/>
                <a:cs typeface="Helvetica Neue"/>
              </a:rPr>
              <a:t>python -m streamlit run app.py</a:t>
            </a:r>
          </a:p>
        </p:txBody>
      </p:sp>
      <p:sp>
        <p:nvSpPr>
          <p:cNvPr id="4" name="">
            <a:extLst xmlns:a="http://schemas.openxmlformats.org/drawingml/2006/main">
              <a:ext uri="{FF2B5EF4-FFF2-40B4-BE49-F238E27FC236}">
                <a16:creationId xmlns:a16="http://schemas.microsoft.com/office/drawing/2014/main" id="{2CE25861-56ED-4AFD-BC02-85957EB82045}"/>
              </a:ext>
            </a:extLst>
          </p:cNvPr>
          <p:cNvSpPr>
            <a:spLocks xmlns:a="http://schemas.openxmlformats.org/drawingml/2006/main" noGrp="1"/>
          </p:cNvSpPr>
          <p:nvPr/>
        </p:nvSpPr>
        <p:spPr>
          <a:xfrm xmlns:a="http://schemas.openxmlformats.org/drawingml/2006/main">
            <a:off x="628650" y="2400300"/>
            <a:ext cx="109537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0">
                <a:solidFill>
                  <a:srgbClr val="17251F"/>
                </a:solidFill>
                <a:latin typeface="Helvetica Neue"/>
                <a:ea typeface="Helvetica Neue"/>
                <a:cs typeface="Helvetica Neue"/>
              </a:defRPr>
            </a:defPPr>
            <a:lvl1pPr>
              <a:defRPr sz="2175" b="0">
                <a:solidFill>
                  <a:srgbClr val="17251F"/>
                </a:solidFill>
                <a:latin typeface="Helvetica Neue"/>
                <a:ea typeface="Helvetica Neue"/>
                <a:cs typeface="Helvetica Neue"/>
              </a:defRPr>
            </a:lvl1pPr>
            <a:lvl2pPr>
              <a:defRPr sz="2175" b="0">
                <a:solidFill>
                  <a:srgbClr val="17251F"/>
                </a:solidFill>
                <a:latin typeface="Helvetica Neue"/>
                <a:ea typeface="Helvetica Neue"/>
                <a:cs typeface="Helvetica Neue"/>
              </a:defRPr>
            </a:lvl2pPr>
            <a:lvl3pPr>
              <a:defRPr sz="2175" b="0">
                <a:solidFill>
                  <a:srgbClr val="17251F"/>
                </a:solidFill>
                <a:latin typeface="Helvetica Neue"/>
                <a:ea typeface="Helvetica Neue"/>
                <a:cs typeface="Helvetica Neue"/>
              </a:defRPr>
            </a:lvl3pPr>
            <a:lvl4pPr>
              <a:defRPr sz="2175" b="0">
                <a:solidFill>
                  <a:srgbClr val="17251F"/>
                </a:solidFill>
                <a:latin typeface="Helvetica Neue"/>
                <a:ea typeface="Helvetica Neue"/>
                <a:cs typeface="Helvetica Neue"/>
              </a:defRPr>
            </a:lvl4pPr>
            <a:lvl5pPr>
              <a:defRPr sz="2175" b="0">
                <a:solidFill>
                  <a:srgbClr val="17251F"/>
                </a:solidFill>
                <a:latin typeface="Helvetica Neue"/>
                <a:ea typeface="Helvetica Neue"/>
                <a:cs typeface="Helvetica Neue"/>
              </a:defRPr>
            </a:lvl5pPr>
            <a:lvl6pPr>
              <a:defRPr sz="2175" b="0">
                <a:solidFill>
                  <a:srgbClr val="17251F"/>
                </a:solidFill>
                <a:latin typeface="Helvetica Neue"/>
                <a:ea typeface="Helvetica Neue"/>
                <a:cs typeface="Helvetica Neue"/>
              </a:defRPr>
            </a:lvl6pPr>
            <a:lvl7pPr>
              <a:defRPr sz="2175" b="0">
                <a:solidFill>
                  <a:srgbClr val="17251F"/>
                </a:solidFill>
                <a:latin typeface="Helvetica Neue"/>
                <a:ea typeface="Helvetica Neue"/>
                <a:cs typeface="Helvetica Neue"/>
              </a:defRPr>
            </a:lvl7pPr>
            <a:lvl8pPr>
              <a:defRPr sz="2175" b="0">
                <a:solidFill>
                  <a:srgbClr val="17251F"/>
                </a:solidFill>
                <a:latin typeface="Helvetica Neue"/>
                <a:ea typeface="Helvetica Neue"/>
                <a:cs typeface="Helvetica Neue"/>
              </a:defRPr>
            </a:lvl8pPr>
            <a:lvl9pPr>
              <a:defRPr sz="2175" b="0">
                <a:solidFill>
                  <a:srgbClr val="17251F"/>
                </a:solidFill>
                <a:latin typeface="Helvetica Neue"/>
                <a:ea typeface="Helvetica Neue"/>
                <a:cs typeface="Helvetica Neue"/>
              </a:defRPr>
            </a:lvl9pPr>
          </a:lstStyle>
          <a:p xmlns:a="http://schemas.openxmlformats.org/drawingml/2006/main">
            <a:pPr>
              <a:defRPr sz="2175" b="0">
                <a:solidFill>
                  <a:srgbClr val="17251F"/>
                </a:solidFill>
                <a:latin typeface="Helvetica Neue"/>
                <a:ea typeface="Helvetica Neue"/>
                <a:cs typeface="Helvetica Neue"/>
              </a:defRPr>
            </a:pPr>
            <a:r>
              <a:rPr sz="2175" b="0">
                <a:solidFill>
                  <a:srgbClr val="17251F"/>
                </a:solidFill>
                <a:latin typeface="Helvetica Neue"/>
                <a:ea typeface="Helvetica Neue"/>
                <a:cs typeface="Helvetica Neue"/>
              </a:rPr>
              <a:t>Recorded benchmark views open directly.</a:t>
            </a:r>
          </a:p>
          <a:p xmlns:a="http://schemas.openxmlformats.org/drawingml/2006/main">
            <a:pPr>
              <a:defRPr sz="2175" b="0">
                <a:solidFill>
                  <a:srgbClr val="17251F"/>
                </a:solidFill>
                <a:latin typeface="Helvetica Neue"/>
                <a:ea typeface="Helvetica Neue"/>
                <a:cs typeface="Helvetica Neue"/>
              </a:defRPr>
            </a:pPr>
            <a:r>
              <a:rPr sz="2175" b="0">
                <a:solidFill>
                  <a:srgbClr val="17251F"/>
                </a:solidFill>
                <a:latin typeface="Helvetica Neue"/>
                <a:ea typeface="Helvetica Neue"/>
                <a:cs typeface="Helvetica Neue"/>
              </a:rPr>
              <a:t>Live queries use prepared local Qwen and CLIP encoders.</a:t>
            </a:r>
          </a:p>
        </p:txBody>
      </p:sp>
      <p:sp>
        <p:nvSpPr>
          <p:cNvPr id="5" name="">
            <a:extLst xmlns:a="http://schemas.openxmlformats.org/drawingml/2006/main">
              <a:ext uri="{FF2B5EF4-FFF2-40B4-BE49-F238E27FC236}">
                <a16:creationId xmlns:a16="http://schemas.microsoft.com/office/drawing/2014/main" id="{F3BF2DE7-16F1-48FD-8F5A-C8F859A5088B}"/>
              </a:ext>
            </a:extLst>
          </p:cNvPr>
          <p:cNvSpPr>
            <a:spLocks xmlns:a="http://schemas.openxmlformats.org/drawingml/2006/main" noGrp="1"/>
          </p:cNvSpPr>
          <p:nvPr/>
        </p:nvSpPr>
        <p:spPr>
          <a:xfrm xmlns:a="http://schemas.openxmlformats.org/drawingml/2006/main">
            <a:off x="628650" y="3714750"/>
            <a:ext cx="10953750" cy="1371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025" b="0">
                <a:solidFill>
                  <a:srgbClr val="566760"/>
                </a:solidFill>
                <a:latin typeface="Helvetica Neue"/>
                <a:ea typeface="Helvetica Neue"/>
                <a:cs typeface="Helvetica Neue"/>
              </a:defRPr>
            </a:defPPr>
            <a:lvl1pPr>
              <a:defRPr sz="2025" b="0">
                <a:solidFill>
                  <a:srgbClr val="566760"/>
                </a:solidFill>
                <a:latin typeface="Helvetica Neue"/>
                <a:ea typeface="Helvetica Neue"/>
                <a:cs typeface="Helvetica Neue"/>
              </a:defRPr>
            </a:lvl1pPr>
            <a:lvl2pPr>
              <a:defRPr sz="2025" b="0">
                <a:solidFill>
                  <a:srgbClr val="566760"/>
                </a:solidFill>
                <a:latin typeface="Helvetica Neue"/>
                <a:ea typeface="Helvetica Neue"/>
                <a:cs typeface="Helvetica Neue"/>
              </a:defRPr>
            </a:lvl2pPr>
            <a:lvl3pPr>
              <a:defRPr sz="2025" b="0">
                <a:solidFill>
                  <a:srgbClr val="566760"/>
                </a:solidFill>
                <a:latin typeface="Helvetica Neue"/>
                <a:ea typeface="Helvetica Neue"/>
                <a:cs typeface="Helvetica Neue"/>
              </a:defRPr>
            </a:lvl3pPr>
            <a:lvl4pPr>
              <a:defRPr sz="2025" b="0">
                <a:solidFill>
                  <a:srgbClr val="566760"/>
                </a:solidFill>
                <a:latin typeface="Helvetica Neue"/>
                <a:ea typeface="Helvetica Neue"/>
                <a:cs typeface="Helvetica Neue"/>
              </a:defRPr>
            </a:lvl4pPr>
            <a:lvl5pPr>
              <a:defRPr sz="2025" b="0">
                <a:solidFill>
                  <a:srgbClr val="566760"/>
                </a:solidFill>
                <a:latin typeface="Helvetica Neue"/>
                <a:ea typeface="Helvetica Neue"/>
                <a:cs typeface="Helvetica Neue"/>
              </a:defRPr>
            </a:lvl5pPr>
            <a:lvl6pPr>
              <a:defRPr sz="2025" b="0">
                <a:solidFill>
                  <a:srgbClr val="566760"/>
                </a:solidFill>
                <a:latin typeface="Helvetica Neue"/>
                <a:ea typeface="Helvetica Neue"/>
                <a:cs typeface="Helvetica Neue"/>
              </a:defRPr>
            </a:lvl6pPr>
            <a:lvl7pPr>
              <a:defRPr sz="2025" b="0">
                <a:solidFill>
                  <a:srgbClr val="566760"/>
                </a:solidFill>
                <a:latin typeface="Helvetica Neue"/>
                <a:ea typeface="Helvetica Neue"/>
                <a:cs typeface="Helvetica Neue"/>
              </a:defRPr>
            </a:lvl7pPr>
            <a:lvl8pPr>
              <a:defRPr sz="2025" b="0">
                <a:solidFill>
                  <a:srgbClr val="566760"/>
                </a:solidFill>
                <a:latin typeface="Helvetica Neue"/>
                <a:ea typeface="Helvetica Neue"/>
                <a:cs typeface="Helvetica Neue"/>
              </a:defRPr>
            </a:lvl8pPr>
            <a:lvl9pPr>
              <a:defRPr sz="2025" b="0">
                <a:solidFill>
                  <a:srgbClr val="566760"/>
                </a:solidFill>
                <a:latin typeface="Helvetica Neue"/>
                <a:ea typeface="Helvetica Neue"/>
                <a:cs typeface="Helvetica Neue"/>
              </a:defRPr>
            </a:lvl9pPr>
          </a:lstStyle>
          <a:p xmlns:a="http://schemas.openxmlformats.org/drawingml/2006/main">
            <a:pPr>
              <a:defRPr sz="2025" b="0">
                <a:solidFill>
                  <a:srgbClr val="566760"/>
                </a:solidFill>
                <a:latin typeface="Helvetica Neue"/>
                <a:ea typeface="Helvetica Neue"/>
                <a:cs typeface="Helvetica Neue"/>
              </a:defRPr>
            </a:pPr>
            <a:r>
              <a:rPr sz="2025" b="0">
                <a:solidFill>
                  <a:srgbClr val="566760"/>
                </a:solidFill>
                <a:latin typeface="Helvetica Neue"/>
                <a:ea typeface="Helvetica Neue"/>
                <a:cs typeface="Helvetica Neue"/>
              </a:rPr>
              <a:t>results/    Query-level outputs and measured protocols</a:t>
            </a:r>
          </a:p>
          <a:p xmlns:a="http://schemas.openxmlformats.org/drawingml/2006/main">
            <a:pPr>
              <a:defRPr sz="2025" b="0">
                <a:solidFill>
                  <a:srgbClr val="566760"/>
                </a:solidFill>
                <a:latin typeface="Helvetica Neue"/>
                <a:ea typeface="Helvetica Neue"/>
                <a:cs typeface="Helvetica Neue"/>
              </a:defRPr>
            </a:pPr>
            <a:r>
              <a:rPr sz="2025" b="0">
                <a:solidFill>
                  <a:srgbClr val="566760"/>
                </a:solidFill>
                <a:latin typeface="Helvetica Neue"/>
                <a:ea typeface="Helvetica Neue"/>
                <a:cs typeface="Helvetica Neue"/>
              </a:rPr>
              <a:t>models/    Trained heads, LoRA adapters and fusion weights</a:t>
            </a:r>
          </a:p>
          <a:p xmlns:a="http://schemas.openxmlformats.org/drawingml/2006/main">
            <a:pPr>
              <a:defRPr sz="2025" b="0">
                <a:solidFill>
                  <a:srgbClr val="566760"/>
                </a:solidFill>
                <a:latin typeface="Helvetica Neue"/>
                <a:ea typeface="Helvetica Neue"/>
                <a:cs typeface="Helvetica Neue"/>
              </a:defRPr>
            </a:pPr>
            <a:r>
              <a:rPr sz="2025" b="0">
                <a:solidFill>
                  <a:srgbClr val="566760"/>
                </a:solidFill>
                <a:latin typeface="Helvetica Neue"/>
                <a:ea typeface="Helvetica Neue"/>
                <a:cs typeface="Helvetica Neue"/>
              </a:rPr>
              <a:t>reports/   Full experiment report</a:t>
            </a:r>
          </a:p>
        </p:txBody>
      </p:sp>
      <p:sp>
        <p:nvSpPr>
          <p:cNvPr id="6" name="">
            <a:extLst xmlns:a="http://schemas.openxmlformats.org/drawingml/2006/main">
              <a:ext uri="{FF2B5EF4-FFF2-40B4-BE49-F238E27FC236}">
                <a16:creationId xmlns:a16="http://schemas.microsoft.com/office/drawing/2014/main" id="{DFCFF408-4A3E-4BD7-AF4F-B795D35CD929}"/>
              </a:ext>
            </a:extLst>
          </p:cNvPr>
          <p:cNvSpPr>
            <a:spLocks xmlns:a="http://schemas.openxmlformats.org/drawingml/2006/main" noGrp="1"/>
          </p:cNvSpPr>
          <p:nvPr/>
        </p:nvSpPr>
        <p:spPr>
          <a:xfrm xmlns:a="http://schemas.openxmlformats.org/drawingml/2006/main">
            <a:off x="628650" y="5600700"/>
            <a:ext cx="109347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1">
                <a:solidFill>
                  <a:srgbClr val="087E80"/>
                </a:solidFill>
                <a:latin typeface="Helvetica Neue"/>
                <a:ea typeface="Helvetica Neue"/>
                <a:cs typeface="Helvetica Neue"/>
              </a:defRPr>
            </a:defPPr>
            <a:lvl1pPr>
              <a:defRPr sz="2175" b="1">
                <a:solidFill>
                  <a:srgbClr val="087E80"/>
                </a:solidFill>
                <a:latin typeface="Helvetica Neue"/>
                <a:ea typeface="Helvetica Neue"/>
                <a:cs typeface="Helvetica Neue"/>
              </a:defRPr>
            </a:lvl1pPr>
            <a:lvl2pPr>
              <a:defRPr sz="2175" b="1">
                <a:solidFill>
                  <a:srgbClr val="087E80"/>
                </a:solidFill>
                <a:latin typeface="Helvetica Neue"/>
                <a:ea typeface="Helvetica Neue"/>
                <a:cs typeface="Helvetica Neue"/>
              </a:defRPr>
            </a:lvl2pPr>
            <a:lvl3pPr>
              <a:defRPr sz="2175" b="1">
                <a:solidFill>
                  <a:srgbClr val="087E80"/>
                </a:solidFill>
                <a:latin typeface="Helvetica Neue"/>
                <a:ea typeface="Helvetica Neue"/>
                <a:cs typeface="Helvetica Neue"/>
              </a:defRPr>
            </a:lvl3pPr>
            <a:lvl4pPr>
              <a:defRPr sz="2175" b="1">
                <a:solidFill>
                  <a:srgbClr val="087E80"/>
                </a:solidFill>
                <a:latin typeface="Helvetica Neue"/>
                <a:ea typeface="Helvetica Neue"/>
                <a:cs typeface="Helvetica Neue"/>
              </a:defRPr>
            </a:lvl4pPr>
            <a:lvl5pPr>
              <a:defRPr sz="2175" b="1">
                <a:solidFill>
                  <a:srgbClr val="087E80"/>
                </a:solidFill>
                <a:latin typeface="Helvetica Neue"/>
                <a:ea typeface="Helvetica Neue"/>
                <a:cs typeface="Helvetica Neue"/>
              </a:defRPr>
            </a:lvl5pPr>
            <a:lvl6pPr>
              <a:defRPr sz="2175" b="1">
                <a:solidFill>
                  <a:srgbClr val="087E80"/>
                </a:solidFill>
                <a:latin typeface="Helvetica Neue"/>
                <a:ea typeface="Helvetica Neue"/>
                <a:cs typeface="Helvetica Neue"/>
              </a:defRPr>
            </a:lvl6pPr>
            <a:lvl7pPr>
              <a:defRPr sz="2175" b="1">
                <a:solidFill>
                  <a:srgbClr val="087E80"/>
                </a:solidFill>
                <a:latin typeface="Helvetica Neue"/>
                <a:ea typeface="Helvetica Neue"/>
                <a:cs typeface="Helvetica Neue"/>
              </a:defRPr>
            </a:lvl7pPr>
            <a:lvl8pPr>
              <a:defRPr sz="2175" b="1">
                <a:solidFill>
                  <a:srgbClr val="087E80"/>
                </a:solidFill>
                <a:latin typeface="Helvetica Neue"/>
                <a:ea typeface="Helvetica Neue"/>
                <a:cs typeface="Helvetica Neue"/>
              </a:defRPr>
            </a:lvl8pPr>
            <a:lvl9pPr>
              <a:defRPr sz="2175" b="1">
                <a:solidFill>
                  <a:srgbClr val="087E80"/>
                </a:solidFill>
                <a:latin typeface="Helvetica Neue"/>
                <a:ea typeface="Helvetica Neue"/>
                <a:cs typeface="Helvetica Neue"/>
              </a:defRPr>
            </a:lvl9pPr>
          </a:lstStyle>
          <a:p xmlns:a="http://schemas.openxmlformats.org/drawingml/2006/main">
            <a:pPr>
              <a:defRPr sz="2175" b="1">
                <a:solidFill>
                  <a:srgbClr val="087E80"/>
                </a:solidFill>
                <a:latin typeface="Helvetica Neue"/>
                <a:ea typeface="Helvetica Neue"/>
                <a:cs typeface="Helvetica Neue"/>
              </a:defRPr>
            </a:pPr>
            <a:r>
              <a:rPr sz="2175" b="1">
                <a:solidFill>
                  <a:srgbClr val="087E80"/>
                </a:solidFill>
                <a:latin typeface="Helvetica Neue"/>
                <a:ea typeface="Helvetica Neue"/>
                <a:cs typeface="Helvetica Neue"/>
              </a:rPr>
              <a:t>github.com/cjk041212/ShopLens</a:t>
            </a:r>
          </a:p>
        </p:txBody>
      </p:sp>
      <p:sp>
        <p:nvSpPr>
          <p:cNvPr id="7" name="">
            <a:extLst xmlns:a="http://schemas.openxmlformats.org/drawingml/2006/main">
              <a:ext uri="{FF2B5EF4-FFF2-40B4-BE49-F238E27FC236}">
                <a16:creationId xmlns:a16="http://schemas.microsoft.com/office/drawing/2014/main" id="{DA2798AD-A009-461E-9AB3-DB2CC41709D9}"/>
              </a:ext>
            </a:extLst>
          </p:cNvPr>
          <p:cNvSpPr>
            <a:spLocks xmlns:a="http://schemas.openxmlformats.org/drawingml/2006/main" noGrp="1"/>
          </p:cNvSpPr>
          <p:nvPr/>
        </p:nvSpPr>
        <p:spPr>
          <a:xfrm xmlns:a="http://schemas.openxmlformats.org/drawingml/2006/main">
            <a:off x="628650" y="6181725"/>
            <a:ext cx="10572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566760"/>
                </a:solidFill>
                <a:latin typeface="Helvetica Neue"/>
                <a:ea typeface="Helvetica Neue"/>
                <a:cs typeface="Helvetica Neue"/>
              </a:defRPr>
            </a:defPPr>
            <a:lvl1pPr>
              <a:defRPr sz="1500" b="0">
                <a:solidFill>
                  <a:srgbClr val="566760"/>
                </a:solidFill>
                <a:latin typeface="Helvetica Neue"/>
                <a:ea typeface="Helvetica Neue"/>
                <a:cs typeface="Helvetica Neue"/>
              </a:defRPr>
            </a:lvl1pPr>
            <a:lvl2pPr>
              <a:defRPr sz="1500" b="0">
                <a:solidFill>
                  <a:srgbClr val="566760"/>
                </a:solidFill>
                <a:latin typeface="Helvetica Neue"/>
                <a:ea typeface="Helvetica Neue"/>
                <a:cs typeface="Helvetica Neue"/>
              </a:defRPr>
            </a:lvl2pPr>
            <a:lvl3pPr>
              <a:defRPr sz="1500" b="0">
                <a:solidFill>
                  <a:srgbClr val="566760"/>
                </a:solidFill>
                <a:latin typeface="Helvetica Neue"/>
                <a:ea typeface="Helvetica Neue"/>
                <a:cs typeface="Helvetica Neue"/>
              </a:defRPr>
            </a:lvl3pPr>
            <a:lvl4pPr>
              <a:defRPr sz="1500" b="0">
                <a:solidFill>
                  <a:srgbClr val="566760"/>
                </a:solidFill>
                <a:latin typeface="Helvetica Neue"/>
                <a:ea typeface="Helvetica Neue"/>
                <a:cs typeface="Helvetica Neue"/>
              </a:defRPr>
            </a:lvl4pPr>
            <a:lvl5pPr>
              <a:defRPr sz="1500" b="0">
                <a:solidFill>
                  <a:srgbClr val="566760"/>
                </a:solidFill>
                <a:latin typeface="Helvetica Neue"/>
                <a:ea typeface="Helvetica Neue"/>
                <a:cs typeface="Helvetica Neue"/>
              </a:defRPr>
            </a:lvl5pPr>
            <a:lvl6pPr>
              <a:defRPr sz="1500" b="0">
                <a:solidFill>
                  <a:srgbClr val="566760"/>
                </a:solidFill>
                <a:latin typeface="Helvetica Neue"/>
                <a:ea typeface="Helvetica Neue"/>
                <a:cs typeface="Helvetica Neue"/>
              </a:defRPr>
            </a:lvl6pPr>
            <a:lvl7pPr>
              <a:defRPr sz="1500" b="0">
                <a:solidFill>
                  <a:srgbClr val="566760"/>
                </a:solidFill>
                <a:latin typeface="Helvetica Neue"/>
                <a:ea typeface="Helvetica Neue"/>
                <a:cs typeface="Helvetica Neue"/>
              </a:defRPr>
            </a:lvl7pPr>
            <a:lvl8pPr>
              <a:defRPr sz="1500" b="0">
                <a:solidFill>
                  <a:srgbClr val="566760"/>
                </a:solidFill>
                <a:latin typeface="Helvetica Neue"/>
                <a:ea typeface="Helvetica Neue"/>
                <a:cs typeface="Helvetica Neue"/>
              </a:defRPr>
            </a:lvl8pPr>
            <a:lvl9pPr>
              <a:defRPr sz="1500" b="0">
                <a:solidFill>
                  <a:srgbClr val="566760"/>
                </a:solidFill>
                <a:latin typeface="Helvetica Neue"/>
                <a:ea typeface="Helvetica Neue"/>
                <a:cs typeface="Helvetica Neue"/>
              </a:defRPr>
            </a:lvl9pPr>
          </a:lstStyle>
          <a:p xmlns:a="http://schemas.openxmlformats.org/drawingml/2006/main">
            <a:pPr>
              <a:defRPr sz="1500" b="0">
                <a:solidFill>
                  <a:srgbClr val="566760"/>
                </a:solidFill>
                <a:latin typeface="Helvetica Neue"/>
                <a:ea typeface="Helvetica Neue"/>
                <a:cs typeface="Helvetica Neue"/>
              </a:defRPr>
            </a:pPr>
            <a:r>
              <a:rPr sz="1500" b="0">
                <a:solidFill>
                  <a:srgbClr val="566760"/>
                </a:solidFill>
                <a:latin typeface="Helvetica Neue"/>
                <a:ea typeface="Helvetica Neue"/>
                <a:cs typeface="Helvetica Neue"/>
              </a:rPr>
              <a:t>Sources: Amazon Reviews 2014, Amazon ESCI and FashionIQ. Full credits and terms: ATTRIBUTION.md.</a:t>
            </a:r>
          </a:p>
        </p:txBody>
      </p:sp>
    </p:spTree>
    <p:extLst>
      <p:ext uri="{BB962C8B-B14F-4D97-AF65-F5344CB8AC3E}">
        <p14:creationId xmlns:p14="http://schemas.microsoft.com/office/powerpoint/2010/main" val="164738203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2026-10-24T20:29:39.0410000Z</dcterms:created>
  <dcterms:modified xsi:type="dcterms:W3CDTF">2026-10-24T20:29:39.0410000Z</dcterms:modified>
</coreProperties>
</file>