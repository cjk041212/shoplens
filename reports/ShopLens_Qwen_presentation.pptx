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Override PartName="/ppt/slides/slide27.xml" ContentType="application/vnd.openxmlformats-officedocument.presentationml.slide+xml"/>
  <Override PartName="/ppt/notesSlides/benchmarks-notesSlide1.xml" ContentType="application/vnd.openxmlformats-officedocument.presentationml.notesSlide+xml"/>
  <Override PartName="/ppt/slides/slide28.xml" ContentType="application/vnd.openxmlformats-officedocument.presentationml.slide+xml"/>
  <Override PartName="/ppt/slides/charts/benchmarks-chart1.xml" ContentType="application/vnd.openxmlformats-officedocument.drawingml.chart+xml"/>
  <Override PartName="/ppt/notesSlides/benchmarks-notesSlide2.xml" ContentType="application/vnd.openxmlformats-officedocument.presentationml.notesSlide+xml"/>
  <Override PartName="/ppt/slides/slide29.xml" ContentType="application/vnd.openxmlformats-officedocument.presentationml.slide+xml"/>
  <Override PartName="/ppt/notesSlides/benchmarks-notesSlide3.xml" ContentType="application/vnd.openxmlformats-officedocument.presentationml.notesSlide+xml"/>
  <Override PartName="/ppt/slides/slide30.xml" ContentType="application/vnd.openxmlformats-officedocument.presentationml.slide+xml"/>
  <Override PartName="/ppt/slides/charts/benchmarks-chart2.xml" ContentType="application/vnd.openxmlformats-officedocument.drawingml.chart+xml"/>
  <Override PartName="/ppt/notesSlides/benchmarks-notesSlide4.xml" ContentType="application/vnd.openxmlformats-officedocument.presentationml.notesSlide+xml"/>
  <Override PartName="/ppt/slides/slide31.xml" ContentType="application/vnd.openxmlformats-officedocument.presentationml.slide+xml"/>
  <Override PartName="/ppt/notesSlides/benchmarks-notesSlide5.xml" ContentType="application/vnd.openxmlformats-officedocument.presentationml.notesSlide+xml"/>
  <Override PartName="/ppt/slides/slide32.xml" ContentType="application/vnd.openxmlformats-officedocument.presentationml.slide+xml"/>
  <Override PartName="/ppt/slides/charts/benchmarks-chart3.xml" ContentType="application/vnd.openxmlformats-officedocument.drawingml.chart+xml"/>
  <Override PartName="/ppt/slides/charts/benchmarks-chart4.xml" ContentType="application/vnd.openxmlformats-officedocument.drawingml.chart+xml"/>
  <Override PartName="/ppt/notesSlides/benchmarks-notesSlide6.xml" ContentType="application/vnd.openxmlformats-officedocument.presentationml.notesSlide+xml"/>
  <Override PartName="/ppt/slides/slide33.xml" ContentType="application/vnd.openxmlformats-officedocument.presentationml.slide+xml"/>
  <Override PartName="/ppt/slides/charts/benchmarks-chart5.xml" ContentType="application/vnd.openxmlformats-officedocument.drawingml.chart+xml"/>
  <Override PartName="/ppt/notesSlides/benchmarks-notesSlide7.xml" ContentType="application/vnd.openxmlformats-officedocument.presentationml.notesSlide+xml"/>
  <Override PartName="/ppt/slides/slide34.xml" ContentType="application/vnd.openxmlformats-officedocument.presentationml.slide+xml"/>
  <Override PartName="/ppt/notesSlides/benchmark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c5e2d8b01f49b4" /><Relationship Type="http://schemas.openxmlformats.org/officeDocument/2006/relationships/extended-properties" Target="/docProps/app.xml" Id="R75d9fa345c0c4461" /><Relationship Type="http://schemas.openxmlformats.org/officeDocument/2006/relationships/officeDocument" Target="/ppt/presentation.xml" Id="R15c85aa10fb74604" /></Relationships>
</file>

<file path=ppt/presentation.xml><?xml version="1.0" encoding="utf-8"?>
<p:presentation xmlns:p="http://schemas.openxmlformats.org/presentationml/2006/main" xmlns:r="http://schemas.openxmlformats.org/officeDocument/2006/relationships">
  <p:sldMasterIdLst>
    <p:sldMasterId id="2147483648" r:id="R0f58c72287bf4ba5"/>
  </p:sldMasterIdLst>
  <p:notesMasterIdLst>
    <p:notesMasterId r:id="Rfd68b68b9fef45b0"/>
  </p:notesMasterIdLst>
  <p:sldIdLst>
    <p:sldId id="256" r:id="R32160e0742d24562"/>
    <p:sldId id="257" r:id="R119373decd2146a6"/>
    <p:sldId id="258" r:id="Rc8dfd29d54054981"/>
    <p:sldId id="259" r:id="Re1c6f0a3e3aa4d01"/>
    <p:sldId id="260" r:id="R6010dcda0402442f"/>
    <p:sldId id="261" r:id="Rb8457e4a3b224e89"/>
    <p:sldId id="262" r:id="R1f9ce5aa69924706"/>
    <p:sldId id="263" r:id="R39a92d407d574ba3"/>
    <p:sldId id="264" r:id="Rc759b998fefc4ae9"/>
    <p:sldId id="265" r:id="R6c41bfc435ae4d1d"/>
    <p:sldId id="266" r:id="R952c9c490cf74dbc"/>
    <p:sldId id="267" r:id="R13d0d8094a024fea"/>
    <p:sldId id="268" r:id="R2331d128e6f74171"/>
    <p:sldId id="269" r:id="R8e5bca91da9744f6"/>
    <p:sldId id="270" r:id="Rf5beab77da544e31"/>
    <p:sldId id="271" r:id="R452f75a006ac444c"/>
    <p:sldId id="272" r:id="R9b4b274e10b845c8"/>
    <p:sldId id="273" r:id="R81b729b0eac54afc"/>
    <p:sldId id="274" r:id="R25fcec436443470c"/>
    <p:sldId id="275" r:id="R40101d1d1a7f42cf"/>
    <p:sldId id="276" r:id="Rb3c859ba85dc46ec"/>
    <p:sldId id="277" r:id="R04d0683d045a4191"/>
    <p:sldId id="278" r:id="R3c4d42f353844ffe"/>
    <p:sldId id="279" r:id="R0a39bb7bfb974329"/>
    <p:sldId id="280" r:id="R96b0e305ca22460c"/>
    <p:sldId id="281" r:id="R0c80dbd947e24a49"/>
    <p:sldId id="282" r:id="benchmarksSlide27"/>
    <p:sldId id="283" r:id="benchmarksSlide28"/>
    <p:sldId id="284" r:id="benchmarksSlide29"/>
    <p:sldId id="285" r:id="benchmarksSlide30"/>
    <p:sldId id="286" r:id="benchmarksSlide31"/>
    <p:sldId id="287" r:id="benchmarksSlide32"/>
    <p:sldId id="288" r:id="benchmarksSlide33"/>
    <p:sldId id="289" r:id="benchmarksSlide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962970ef1f604fd3" /><ns0:Relationship Type="http://schemas.openxmlformats.org/officeDocument/2006/relationships/slideMaster" Target="/ppt/slideMasters/slideMaster1.xml" Id="R0f58c72287bf4ba5" /><ns0:Relationship Type="http://schemas.openxmlformats.org/officeDocument/2006/relationships/notesMaster" Target="/ppt/notesMasters/notesMaster1.xml" Id="Rfd68b68b9fef45b0" /><ns0:Relationship Type="http://schemas.openxmlformats.org/officeDocument/2006/relationships/presProps" Target="/ppt/presProps.xml" Id="Rfece762dfe394aeb" /><ns0:Relationship Type="http://schemas.openxmlformats.org/officeDocument/2006/relationships/tableStyles" Target="/ppt/tableStyles.xml" Id="R83eb48e0d7e944d3" /><ns0:Relationship Type="http://schemas.openxmlformats.org/officeDocument/2006/relationships/slide" Target="/ppt/slides/slide1.xml" Id="R32160e0742d24562" /><ns0:Relationship Type="http://schemas.openxmlformats.org/officeDocument/2006/relationships/slide" Target="/ppt/slides/slide2.xml" Id="R119373decd2146a6" /><ns0:Relationship Type="http://schemas.openxmlformats.org/officeDocument/2006/relationships/slide" Target="/ppt/slides/slide3.xml" Id="Rc8dfd29d54054981" /><ns0:Relationship Type="http://schemas.openxmlformats.org/officeDocument/2006/relationships/slide" Target="/ppt/slides/slide4.xml" Id="Re1c6f0a3e3aa4d01" /><ns0:Relationship Type="http://schemas.openxmlformats.org/officeDocument/2006/relationships/slide" Target="/ppt/slides/slide5.xml" Id="R6010dcda0402442f" /><ns0:Relationship Type="http://schemas.openxmlformats.org/officeDocument/2006/relationships/slide" Target="/ppt/slides/slide6.xml" Id="Rb8457e4a3b224e89" /><ns0:Relationship Type="http://schemas.openxmlformats.org/officeDocument/2006/relationships/slide" Target="/ppt/slides/slide7.xml" Id="R1f9ce5aa69924706" /><ns0:Relationship Type="http://schemas.openxmlformats.org/officeDocument/2006/relationships/slide" Target="/ppt/slides/slide8.xml" Id="R39a92d407d574ba3" /><ns0:Relationship Type="http://schemas.openxmlformats.org/officeDocument/2006/relationships/slide" Target="/ppt/slides/slide9.xml" Id="Rc759b998fefc4ae9" /><ns0:Relationship Type="http://schemas.openxmlformats.org/officeDocument/2006/relationships/slide" Target="/ppt/slides/slide10.xml" Id="R6c41bfc435ae4d1d" /><ns0:Relationship Type="http://schemas.openxmlformats.org/officeDocument/2006/relationships/slide" Target="/ppt/slides/slide11.xml" Id="R952c9c490cf74dbc" /><ns0:Relationship Type="http://schemas.openxmlformats.org/officeDocument/2006/relationships/slide" Target="/ppt/slides/slide12.xml" Id="R13d0d8094a024fea" /><ns0:Relationship Type="http://schemas.openxmlformats.org/officeDocument/2006/relationships/slide" Target="/ppt/slides/slide13.xml" Id="R2331d128e6f74171" /><ns0:Relationship Type="http://schemas.openxmlformats.org/officeDocument/2006/relationships/slide" Target="/ppt/slides/slide14.xml" Id="R8e5bca91da9744f6" /><ns0:Relationship Type="http://schemas.openxmlformats.org/officeDocument/2006/relationships/slide" Target="/ppt/slides/slide15.xml" Id="Rf5beab77da544e31" /><ns0:Relationship Type="http://schemas.openxmlformats.org/officeDocument/2006/relationships/slide" Target="/ppt/slides/slide16.xml" Id="R452f75a006ac444c" /><ns0:Relationship Type="http://schemas.openxmlformats.org/officeDocument/2006/relationships/slide" Target="/ppt/slides/slide17.xml" Id="R9b4b274e10b845c8" /><ns0:Relationship Type="http://schemas.openxmlformats.org/officeDocument/2006/relationships/slide" Target="/ppt/slides/slide18.xml" Id="R81b729b0eac54afc" /><ns0:Relationship Type="http://schemas.openxmlformats.org/officeDocument/2006/relationships/slide" Target="/ppt/slides/slide19.xml" Id="R25fcec436443470c" /><ns0:Relationship Type="http://schemas.openxmlformats.org/officeDocument/2006/relationships/slide" Target="/ppt/slides/slide20.xml" Id="R40101d1d1a7f42cf" /><ns0:Relationship Type="http://schemas.openxmlformats.org/officeDocument/2006/relationships/slide" Target="/ppt/slides/slide21.xml" Id="Rb3c859ba85dc46ec" /><ns0:Relationship Type="http://schemas.openxmlformats.org/officeDocument/2006/relationships/slide" Target="/ppt/slides/slide22.xml" Id="R04d0683d045a4191" /><ns0:Relationship Type="http://schemas.openxmlformats.org/officeDocument/2006/relationships/slide" Target="/ppt/slides/slide23.xml" Id="R3c4d42f353844ffe" /><ns0:Relationship Type="http://schemas.openxmlformats.org/officeDocument/2006/relationships/slide" Target="/ppt/slides/slide24.xml" Id="R0a39bb7bfb974329" /><ns0:Relationship Type="http://schemas.openxmlformats.org/officeDocument/2006/relationships/slide" Target="/ppt/slides/slide25.xml" Id="R96b0e305ca22460c" /><ns0:Relationship Type="http://schemas.openxmlformats.org/officeDocument/2006/relationships/slide" Target="/ppt/slides/slide26.xml" Id="R0c80dbd947e24a49" /><ns0:Relationship Id="benchmarksSlide27" Type="http://schemas.openxmlformats.org/officeDocument/2006/relationships/slide" Target="slides/slide27.xml" /><ns0:Relationship Id="benchmarksSlide28" Type="http://schemas.openxmlformats.org/officeDocument/2006/relationships/slide" Target="slides/slide28.xml" /><ns0:Relationship Id="benchmarksSlide29" Type="http://schemas.openxmlformats.org/officeDocument/2006/relationships/slide" Target="slides/slide29.xml" /><ns0:Relationship Id="benchmarksSlide30" Type="http://schemas.openxmlformats.org/officeDocument/2006/relationships/slide" Target="slides/slide30.xml" /><ns0:Relationship Id="benchmarksSlide31" Type="http://schemas.openxmlformats.org/officeDocument/2006/relationships/slide" Target="slides/slide31.xml" /><ns0:Relationship Id="benchmarksSlide32" Type="http://schemas.openxmlformats.org/officeDocument/2006/relationships/slide" Target="slides/slide32.xml" /><ns0:Relationship Id="benchmarksSlide33" Type="http://schemas.openxmlformats.org/officeDocument/2006/relationships/slide" Target="slides/slide33.xml" /><ns0:Relationship Id="benchmarksSlide34" Type="http://schemas.openxmlformats.org/officeDocument/2006/relationships/slide" Target="slides/slide34.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219b8e60db4f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benchmarks-notesSlide1.xml.rels><?xml version='1.0' encoding='utf-8'?>
<ns0:Relationships xmlns:ns0="http://schemas.openxmlformats.org/package/2006/relationships"><ns0:Relationship Type="http://schemas.openxmlformats.org/officeDocument/2006/relationships/slide" Target="../slides/slide27.xml" Id="R050424ed94f84ac2" /><ns0:Relationship Type="http://schemas.openxmlformats.org/officeDocument/2006/relationships/notesMaster" Target="../notesMasters/notesMaster1.xml" Id="Re83bad444e564e71" /></ns0:Relationships>
</file>

<file path=ppt/notesSlides/_rels/benchmarks-notesSlide2.xml.rels><?xml version='1.0' encoding='utf-8'?>
<ns0:Relationships xmlns:ns0="http://schemas.openxmlformats.org/package/2006/relationships"><ns0:Relationship Type="http://schemas.openxmlformats.org/officeDocument/2006/relationships/slide" Target="../slides/slide28.xml" Id="R9bab87d12fe04225" /><ns0:Relationship Type="http://schemas.openxmlformats.org/officeDocument/2006/relationships/notesMaster" Target="../notesMasters/notesMaster1.xml" Id="R8ccd5400951d4285" /></ns0:Relationships>
</file>

<file path=ppt/notesSlides/_rels/benchmarks-notesSlide3.xml.rels><?xml version='1.0' encoding='utf-8'?>
<ns0:Relationships xmlns:ns0="http://schemas.openxmlformats.org/package/2006/relationships"><ns0:Relationship Type="http://schemas.openxmlformats.org/officeDocument/2006/relationships/slide" Target="../slides/slide29.xml" Id="Rbfcd1359c795462c" /><ns0:Relationship Type="http://schemas.openxmlformats.org/officeDocument/2006/relationships/notesMaster" Target="../notesMasters/notesMaster1.xml" Id="R8d7ac6525ce84893" /></ns0:Relationships>
</file>

<file path=ppt/notesSlides/_rels/benchmarks-notesSlide4.xml.rels><?xml version='1.0' encoding='utf-8'?>
<ns0:Relationships xmlns:ns0="http://schemas.openxmlformats.org/package/2006/relationships"><ns0:Relationship Type="http://schemas.openxmlformats.org/officeDocument/2006/relationships/slide" Target="../slides/slide30.xml" Id="R95c8a24c0c294814" /><ns0:Relationship Type="http://schemas.openxmlformats.org/officeDocument/2006/relationships/notesMaster" Target="../notesMasters/notesMaster1.xml" Id="R5c2a0fe46b164015" /></ns0:Relationships>
</file>

<file path=ppt/notesSlides/_rels/benchmarks-notesSlide5.xml.rels><?xml version='1.0' encoding='utf-8'?>
<ns0:Relationships xmlns:ns0="http://schemas.openxmlformats.org/package/2006/relationships"><ns0:Relationship Type="http://schemas.openxmlformats.org/officeDocument/2006/relationships/slide" Target="../slides/slide31.xml" Id="Rea89745ec4dd4c99" /><ns0:Relationship Type="http://schemas.openxmlformats.org/officeDocument/2006/relationships/notesMaster" Target="../notesMasters/notesMaster1.xml" Id="R9bdb2f671d4b4180" /></ns0:Relationships>
</file>

<file path=ppt/notesSlides/_rels/benchmarks-notesSlide6.xml.rels><?xml version='1.0' encoding='utf-8'?>
<ns0:Relationships xmlns:ns0="http://schemas.openxmlformats.org/package/2006/relationships"><ns0:Relationship Type="http://schemas.openxmlformats.org/officeDocument/2006/relationships/slide" Target="../slides/slide32.xml" Id="R1e286eacc01e48ff" /><ns0:Relationship Type="http://schemas.openxmlformats.org/officeDocument/2006/relationships/notesMaster" Target="../notesMasters/notesMaster1.xml" Id="Rd1670bceb8ff4472" /></ns0:Relationships>
</file>

<file path=ppt/notesSlides/_rels/benchmarks-notesSlide7.xml.rels><?xml version='1.0' encoding='utf-8'?>
<ns0:Relationships xmlns:ns0="http://schemas.openxmlformats.org/package/2006/relationships"><ns0:Relationship Type="http://schemas.openxmlformats.org/officeDocument/2006/relationships/slide" Target="../slides/slide33.xml" Id="R9a6c39a1bcf94311" /><ns0:Relationship Type="http://schemas.openxmlformats.org/officeDocument/2006/relationships/notesMaster" Target="../notesMasters/notesMaster1.xml" Id="R51f9db5a2ce546bf" /></ns0:Relationships>
</file>

<file path=ppt/notesSlides/_rels/benchmarks-notesSlide8.xml.rels><?xml version='1.0' encoding='utf-8'?>
<ns0:Relationships xmlns:ns0="http://schemas.openxmlformats.org/package/2006/relationships"><ns0:Relationship Type="http://schemas.openxmlformats.org/officeDocument/2006/relationships/slide" Target="../slides/slide34.xml" Id="R97976423b223460d" /><ns0:Relationship Type="http://schemas.openxmlformats.org/officeDocument/2006/relationships/notesMaster" Target="../notesMasters/notesMaster1.xml" Id="Rb923f4c6390c4b8d" /></ns0:Relationships>
</file>

<file path=ppt/notesSlides/_rels/notesSlide1.xml.rels>&#65279;<?xml version="1.0" encoding="utf-8"?><Relationships xmlns="http://schemas.openxmlformats.org/package/2006/relationships"><Relationship Type="http://schemas.openxmlformats.org/officeDocument/2006/relationships/slide" Target="/ppt/slides/slide1.xml" Id="R51baca69745b4deb" /><Relationship Type="http://schemas.openxmlformats.org/officeDocument/2006/relationships/notesMaster" Target="/ppt/notesMasters/notesMaster1.xml" Id="Rccd01253cd0847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5949d0c7444a38" /><Relationship Type="http://schemas.openxmlformats.org/officeDocument/2006/relationships/notesMaster" Target="/ppt/notesMasters/notesMaster1.xml" Id="R145f8702db9f4b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ca7461adb84195" /><Relationship Type="http://schemas.openxmlformats.org/officeDocument/2006/relationships/notesMaster" Target="/ppt/notesMasters/notesMaster1.xml" Id="R376e0eb956854c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1826acf334568" /><Relationship Type="http://schemas.openxmlformats.org/officeDocument/2006/relationships/notesMaster" Target="/ppt/notesMasters/notesMaster1.xml" Id="R441098fb94f14f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6a8ce539f5489c" /><Relationship Type="http://schemas.openxmlformats.org/officeDocument/2006/relationships/notesMaster" Target="/ppt/notesMasters/notesMaster1.xml" Id="R51f52d14f5bb46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01ec0616274728" /><Relationship Type="http://schemas.openxmlformats.org/officeDocument/2006/relationships/notesMaster" Target="/ppt/notesMasters/notesMaster1.xml" Id="R048c12db94c64d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b1275da7a84d7b" /><Relationship Type="http://schemas.openxmlformats.org/officeDocument/2006/relationships/notesMaster" Target="/ppt/notesMasters/notesMaster1.xml" Id="Rbb8bbf687b234b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fd66922bb348dd" /><Relationship Type="http://schemas.openxmlformats.org/officeDocument/2006/relationships/notesMaster" Target="/ppt/notesMasters/notesMaster1.xml" Id="Rd4f6a36a41f44a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0966e159234902" /><Relationship Type="http://schemas.openxmlformats.org/officeDocument/2006/relationships/notesMaster" Target="/ppt/notesMasters/notesMaster1.xml" Id="R4c48f0daccb846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9bbeb1f9044ee3" /><Relationship Type="http://schemas.openxmlformats.org/officeDocument/2006/relationships/notesMaster" Target="/ppt/notesMasters/notesMaster1.xml" Id="Rde8dcc40e43047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f243e7dc464b95" /><Relationship Type="http://schemas.openxmlformats.org/officeDocument/2006/relationships/notesMaster" Target="/ppt/notesMasters/notesMaster1.xml" Id="R7eacd26277654d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64d7a6b99b47a7" /><Relationship Type="http://schemas.openxmlformats.org/officeDocument/2006/relationships/notesMaster" Target="/ppt/notesMasters/notesMaster1.xml" Id="R45e68d707c744d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1ef6371cb44e68" /><Relationship Type="http://schemas.openxmlformats.org/officeDocument/2006/relationships/notesMaster" Target="/ppt/notesMasters/notesMaster1.xml" Id="R0950f88a841e4b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99d233757646ff" /><Relationship Type="http://schemas.openxmlformats.org/officeDocument/2006/relationships/notesMaster" Target="/ppt/notesMasters/notesMaster1.xml" Id="R6a5abc956d364a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9b89bda7065484f" /><Relationship Type="http://schemas.openxmlformats.org/officeDocument/2006/relationships/notesMaster" Target="/ppt/notesMasters/notesMaster1.xml" Id="R6455ebdbb161483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2f819cdd9b46ec" /><Relationship Type="http://schemas.openxmlformats.org/officeDocument/2006/relationships/notesMaster" Target="/ppt/notesMasters/notesMaster1.xml" Id="R2d54aa9339be45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3644621fd44a16" /><Relationship Type="http://schemas.openxmlformats.org/officeDocument/2006/relationships/notesMaster" Target="/ppt/notesMasters/notesMaster1.xml" Id="R888b7bdbf5724b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0f39afadae451f" /><Relationship Type="http://schemas.openxmlformats.org/officeDocument/2006/relationships/notesMaster" Target="/ppt/notesMasters/notesMaster1.xml" Id="R90f6ffda8c584c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8d51fac99b443bc" /><Relationship Type="http://schemas.openxmlformats.org/officeDocument/2006/relationships/notesMaster" Target="/ppt/notesMasters/notesMaster1.xml" Id="Rdf5d4d66215b4d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79919fed984f22" /><Relationship Type="http://schemas.openxmlformats.org/officeDocument/2006/relationships/notesMaster" Target="/ppt/notesMasters/notesMaster1.xml" Id="R55caee9d95564e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2e677280bf4b1f" /><Relationship Type="http://schemas.openxmlformats.org/officeDocument/2006/relationships/notesMaster" Target="/ppt/notesMasters/notesMaster1.xml" Id="R1fccb4cac2ae40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41fb04c684c4f12" /><Relationship Type="http://schemas.openxmlformats.org/officeDocument/2006/relationships/notesMaster" Target="/ppt/notesMasters/notesMaster1.xml" Id="R3228051ef3a648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b5f32bb5cb44b8" /><Relationship Type="http://schemas.openxmlformats.org/officeDocument/2006/relationships/notesMaster" Target="/ppt/notesMasters/notesMaster1.xml" Id="Rd5d381bef81d48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1d5de407f444a6" /><Relationship Type="http://schemas.openxmlformats.org/officeDocument/2006/relationships/notesMaster" Target="/ppt/notesMasters/notesMaster1.xml" Id="R1df11c7ce8594d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808f8c80c224a21" /><Relationship Type="http://schemas.openxmlformats.org/officeDocument/2006/relationships/notesMaster" Target="/ppt/notesMasters/notesMaster1.xml" Id="R3b83d69b038c4db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edabd453c843df" /><Relationship Type="http://schemas.openxmlformats.org/officeDocument/2006/relationships/notesMaster" Target="/ppt/notesMasters/notesMaster1.xml" Id="R9ae7b08b0ffd4323" /></Relationships>
</file>

<file path=ppt/notesSlides/benchmark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additional experiments answer distinct questions. ESCI measures title-only relevance in an official judged candidate list. FashionIQ measures retrieval from a reference photograph and relative language. Recommendation diagnostics reuse fixed historical checkpoints. Local profiling measures engine execution. Their numerical scores are not averaged across tasks. The original 27-run recommendation study stays intact.</a:t>
            </a:r>
          </a:p>
          <a:p xmlns:a="http://schemas.openxmlformats.org/drawingml/2006/main">
            <a:r>
              <a:t/>
            </a:r>
          </a:p>
          <a:p xmlns:a="http://schemas.openxmlformats.org/drawingml/2006/main">
            <a:r>
              <a:t>Sources</a:t>
            </a:r>
          </a:p>
          <a:p xmlns:a="http://schemas.openxmlformats.org/drawingml/2006/main">
            <a:r>
              <a:t>results/esci/summary.json</a:t>
            </a:r>
          </a:p>
          <a:p xmlns:a="http://schemas.openxmlformats.org/drawingml/2006/main">
            <a:r>
              <a:t>results/fashion/summary.json</a:t>
            </a:r>
          </a:p>
          <a:p xmlns:a="http://schemas.openxmlformats.org/drawingml/2006/main">
            <a:r>
              <a:t>results/diagnostics/recommendation_diagnostics.json</a:t>
            </a:r>
          </a:p>
          <a:p xmlns:a="http://schemas.openxmlformats.org/drawingml/2006/main">
            <a:r>
              <a:t>results/performance/studio.json</a:t>
            </a:r>
          </a:p>
          <a:p xmlns:a="http://schemas.openxmlformats.org/drawingml/2006/main">
            <a:r>
              <a:t>https://github.com/amazon-science/esci-data/tree/7916cdf6ab75a462e77f20ab40428a10923998d5</a:t>
            </a:r>
          </a:p>
          <a:p xmlns:a="http://schemas.openxmlformats.org/drawingml/2006/main">
            <a:r>
              <a:t>https://github.com/XiaoxiaoGuo/fashion-iq/tree/f71b16c3b09ef03b02c0fed160fa072fb3b8aa16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benchmark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declared hash-based procedure selects 500 queries from eligible official US Task1 test queries using IDs and candidate counts, before reading relevance labels. Every model ranks the same complete list. Dense scoring uses matching Frozen or Clothing seed42 LoRA encoders for the query and title. TF-IDF fits only selected official training titles. Primary NDCG uses linear E=1, S=0.1, C=0.01, I=0 gains. The official qrel script reverses S/C, which the result JSON reports separately as a sensitivity. No model selection uses these test outcomes.</a:t>
            </a:r>
          </a:p>
          <a:p xmlns:a="http://schemas.openxmlformats.org/drawingml/2006/main">
            <a:r>
              <a:t/>
            </a:r>
          </a:p>
          <a:p xmlns:a="http://schemas.openxmlformats.org/drawingml/2006/main">
            <a:r>
              <a:t>Exact measured primary means</a:t>
            </a:r>
          </a:p>
          <a:p xmlns:a="http://schemas.openxmlformats.org/drawingml/2006/main">
            <a:r>
              <a:t>[{"model":"tfidf","ndcg10":0.6915837904181256,"ndcg_all":0.8215935010640373},{"model":"qwen_frozen","ndcg10":0.7244598968871097,"ndcg_all":0.840688004205202},{"model":"qwen_semantic","ndcg10":0.7241732679546133,"ndcg_all":0.8390807582484276},{"model":"qwen_preference","ndcg10":0.7304411548007471,"ndcg_all":0.8419096138927247}]</a:t>
            </a:r>
          </a:p>
          <a:p xmlns:a="http://schemas.openxmlformats.org/drawingml/2006/main">
            <a:r>
              <a:t/>
            </a:r>
          </a:p>
          <a:p xmlns:a="http://schemas.openxmlformats.org/drawingml/2006/main">
            <a:r>
              <a:t>Sources</a:t>
            </a:r>
          </a:p>
          <a:p xmlns:a="http://schemas.openxmlformats.org/drawingml/2006/main">
            <a:r>
              <a:t>results/esci/summary.json</a:t>
            </a:r>
          </a:p>
          <a:p xmlns:a="http://schemas.openxmlformats.org/drawingml/2006/main">
            <a:r>
              <a:t>results/esci/protocol.json</a:t>
            </a:r>
          </a:p>
          <a:p xmlns:a="http://schemas.openxmlformats.org/drawingml/2006/main">
            <a:r>
              <a:t>results/esci/queries.jsonl</a:t>
            </a:r>
          </a:p>
          <a:p xmlns:a="http://schemas.openxmlformats.org/drawingml/2006/main">
            <a:r>
              <a:t>scripts/run_esci_benchmark.py</a:t>
            </a:r>
          </a:p>
          <a:p xmlns:a="http://schemas.openxmlformats.org/drawingml/2006/main">
            <a:r>
              <a:t>src/shoplens/search_benchmark.py</a:t>
            </a:r>
          </a:p>
          <a:p xmlns:a="http://schemas.openxmlformats.org/drawingml/2006/main">
            <a:r>
              <a:t>https://github.com/amazon-science/esci-data/blob/7916cdf6ab75a462e77f20ab40428a10923998d5/ranking/train.py#L45-L50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benchmark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uses query5722, first in the predeclared deterministic hash sample. It does not choose a query based on model success. The four rows display actual top-three candidates and official labels. Display titles shorten with an ellipsis where needed. The source JSON retains every complete title, score, rank and label. All39 candidates remain in the evaluation. Original query spelling is retained.</a:t>
            </a:r>
          </a:p>
          <a:p xmlns:a="http://schemas.openxmlformats.org/drawingml/2006/main">
            <a:r>
              <a:t/>
            </a:r>
          </a:p>
          <a:p xmlns:a="http://schemas.openxmlformats.org/drawingml/2006/main">
            <a:r>
              <a:t>Complete example</a:t>
            </a:r>
          </a:p>
          <a:p xmlns:a="http://schemas.openxmlformats.org/drawingml/2006/main">
            <a:r>
              <a:t>{"query_id":"5722","query":"I would want a light weight protable laptop with a graphics card and alot of memory","locale":"us","candidates":[{"product_id":"B00014FGTK","product_title":"Hyland's Nerve Tonic Stress Relief Tablets, Natural Relief of Restlessness, Nervousness and Irritability Symptoms, Non-Habit Forming, 500 Count","esci_label":"I","gain":0,"scores":{"tfidf":0.02678055279948125,"qwen_frozen":0.21921178698539734,"qwen_semantic":0.15597638487815857,"qwen_preference":0.19960369169712067},"ranks":{"tfidf":30,"qwen_frozen":35,"qwen_semantic":35,"qwen_preference":36}},{"product_id":"B00V5HLMJA","product_title":"HP 8GB (1 x 8GB) PC3L-12800 DDR3L-1600 SODIMM for notebook [PN: 693374-001 / 693374-005]","esci_label":"C","gain":0.01,"scores":{"tfidf":0,"qwen_frozen":0.49500295519828796,"qwen_semantic":0.5640051364898682,"qwen_preference":0.4626540541648865},"ranks":{"tfidf":33,"qwen_frozen":15,"qwen_semantic":20,"qwen_preference":14}},{"product_id":"B00XD023L8","product_title":"I Don't Like Morning People Graphic Novelty Sarcastic Funny T Shirt L Black","esci_label":"I","gain":0,"scores":{"tfidf":0,"qwen_frozen":0.20868155360221863,"qwen_semantic":0.09004858136177063,"qwen_preference":0.19175377488136292},"ranks":{"tfidf":34,"qwen_frozen":36,"qwen_semantic":37,"qwen_preference":37}},{"product_id":"B0145V6NKU","product_title":"Timetec 8GB KIT(2x4GB) DDR3L / DDR3 1600MHz PC3L-12800 / PC3-12800 Non-ECC Unbuffered 1.35V / 1.5V CL11 2Rx8 Dual Rank 204 Pin SODIMM Laptop Notebook PC Computer Memory RAM Module Upgrade","esci_label":"C","gain":0.01,"scores":{"tfidf":0.09301981666547098,"qwen_frozen":0.4565044045448303,"qwen_semantic":0.48889225721359253,"qwen_preference":0.420512855052948},"ranks":{"tfidf":9,"qwen_frozen":22,"qwen_semantic":26,"qwen_preference":22}},{"product_id":"B01G0BYATO","product_title":"Cushy Form Bolster Pillow for Lumbar and Leg Support - 20.5 x 8 x 4.5 Inches Half Moon Memory Foam Cushion for Stomach, Back &amp; Side Sleepers - Roll Pillows for Back and Neck w/ Washable Cover","esci_label":"I","gain":0,"scores":{"tfidf":0.046271617342553015,"qwen_frozen":0.33212459087371826,"qwen_semantic":0.22113734483718872,"qwen_preference":0.3031119108200073},"ranks":{"tfidf":22,"qwen_frozen":32,"qwen_semantic":33,"qwen_preference":32}},{"product_id":"B074RNRM2B","product_title":"SanDisk 400GB Ultra microSDXC UHS-I Memory Card with Adapter - 100MB/s, C10, U1, Full HD, A1, Micro SD Card - SDSQUAR-400G-GN6MA","esci_label":"I","gain":0,"scores":{"tfidf":0.09013631030398163,"qwen_frozen":0.3798115849494934,"qwen_semantic":0.3460956811904907,"qwen_preference":0.35565000772476196},"ranks":{"tfidf":11,"qwen_frozen":31,"qwen_semantic":29,"qwen_preference":31}},{"product_id":"B07932SPXV","product_title":"Amplim 32GB Micro SD Card, 2 Pack MicroSD Memory Plus Adapter, MicroSDHC Class 10 UHS-I U1 V10 TF Extreme High Speed Nintendo-Switch, GoPro Hero, Raspberry Pi, Phone Galaxy, Camera Cam, Tablet, PC","esci_label":"C","gain":0.01,"scores":{"tfidf":0.054238143730797043,"qwen_frozen":0.39868032932281494,"qwen_semantic":0.3018004298210144,"qwen_preference":0.3729461133480072},"ranks":{"tfidf":21,"qwen_frozen":29,"qwen_semantic":31,"qwen_preference":28}},{"product_id":"B07GLV1VC7","product_title":"Lenovo Chromebook S330 Laptop, 14-Inch FHD (1920 x 1080) Display, MediaTek MT8173C Processor, 4GB LPDDR3, 64GB eMMC, Chrome OS, 81JW0000US, Business Black","esci_label":"E","gain":1,"scores":{"tfidf":0.03907489211990967,"qwen_frozen":0.4895872473716736,"qwen_semantic":0.7156237363815308,"qwen_preference":0.450412392616272},"ranks":{"tfidf":25,"qwen_frozen":17,"qwen_semantic":13,"qwen_preference":17}},{"product_id":"B07GM2J11Q","product_title":"Lenovo Chromebook C330 2-in-1 Convertible Laptop, 11.6-Inch HD (1366 x 768) IPS Display, MediaTek MT8173C Processor, 4GB LPDDR3, 64 GB eMMC, Chrome OS, 81HY0000US, Blizzard White","esci_label":"S","gain":0.1,"scores":{"tfidf":0.03878395064862853,"qwen_frozen":0.48011600971221924,"qwen_semantic":0.7132580280303955,"qwen_preference":0.43642550706863403},"ranks":{"tfidf":26,"qwen_frozen":18,"qwen_semantic":14,"qwen_preference":21}},{"product_id":"B07HRZM2V4","product_title":"ASUS Chromebook C423 14.0\" 180 Degree HD NanoEdge Display, Intel Dual Core Celeron Processor, 4GB LPDDR4 RAM, 32GB Storage, Silver Color, C423NA-DH02","esci_label":"E","gain":1,"scores":{"tfidf":0,"qwen_frozen":0.5159722566604614,"qwen_semantic":0.6891939640045166,"qwen_preference":0.4748796224594116},"ranks":{"tfidf":35,"qwen_frozen":10,"qwen_semantic":15,"qwen_preference":11}},{"product_id":"B07P6NRTNW","product_title":"Windows 10 Laptop 13.3\" Full HD 1920 x 1080, Light Laptop Computer 4GB RAM, Dual Band 5GHz WiFi (2X WiFi Speeds), Intel Celeron Processor, USB 3.0, Bluetooth, Laptop (64GB,Free Office 1 Year)","esci_label":"E","gain":1,"scores":{"tfidf":0.08440624843022289,"qwen_frozen":0.5780681371688843,"qwen_semantic":0.718634843826294,"qwen_preference":0.5489944815635681},"ranks":{"tfidf":14,"qwen_frozen":1,"qwen_semantic":11,"qwen_preference":1}},{"product_id":"B07PZF5C2J","product_title":"New Phone, Who Dis? - The 100% Offline Text Messaging Party Game - by What Do You Meme?","esci_label":"I","gain":0,"scores":{"tfidf":0,"qwen_frozen":0.2612046003341675,"qwen_semantic":0.2279626727104187,"qwen_preference":0.24320559203624725},"ranks":{"tfidf":36,"qwen_frozen":33,"qwen_semantic":32,"qwen_preference":33}},{"product_id":"B07Q8YBYZP","product_title":"I'm Sorry I Hurt your Feelings When I Called You Stupid T-Shirt","esci_label":"I","gain":0,"scores":{"tfidf":0,"qwen_frozen":0.12739329040050507,"qwen_semantic":0.06628315150737762,"qwen_preference":0.11359299719333649},"ranks":{"tfidf":37,"qwen_frozen":39,"qwen_semantic":39,"qwen_preference":39}},{"product_id":"B07RF1XD36","product_title":"Acer Aspire 5 Slim Laptop, 15.6 inches Full HD IPS Display, AMD Ryzen 3 3200U, Vega 3 Graphics, 4GB DDR4, 128GB SSD, Backlit Keyboard, Windows 10 in S Mode, A515-43-R19L, Silver","esci_label":"S","gain":0.1,"scores":{"tfidf":0.08641721377050954,"qwen_frozen":0.5323029160499573,"qwen_semantic":0.7643455266952515,"qwen_preference":0.49188950657844543},"ranks":{"tfidf":13,"qwen_frozen":7,"qwen_semantic":1,"qwen_preference":7}},{"product_id":"B07RJZMC49","product_title":"Lenovo 11.6\" 300e Chromebook Touchscreen LCD 2 in 1 Chromebook - MediaTek M8173C Quad-core 2.1GHz 4GB LPDDR3 32GB Flash Memory Chrome OS Model 81H00000US (Renewed)","esci_label":"S","gain":0.1,"scores":{"tfidf":0.044631886752219484,"qwen_frozen":0.4759824275970459,"qwen_semantic":0.658586859703064,"qwen_preference":0.4370397925376892},"ranks":{"tfidf":23,"qwen_frozen":20,"qwen_semantic":16,"qwen_preference":20}},{"product_id":"B07SXMZLPK","product_title":"AMD Ryzen 7 3700X 8-Core, 16-Thread Unlocked Desktop Processor with Wraith Prism LED Cooler","esci_label":"I","gain":0,"scores":{"tfidf":0.00871027831843621,"qwen_frozen":0.4761200547218323,"qwen_semantic":0.5114675760269165,"qwen_preference":0.4387146234512329},"ranks":{"tfidf":32,"qwen_frozen":19,"qwen_semantic":22,"qwen_preference":19}},{"product_id":"B07TWHYTSQ","product_title":"Lenovo Flex 14 2-in-1 Convertible Laptop, 14 Inch FHD Touchscreen Display, AMD Ryzen 5 3500U Processor, 12GB DDR4 RAM, 256GB NVMe SSD, Windows 10, 81SS000DUS, Black, Pen Included","esci_label":"E","gain":1,"scores":{"tfidf":0.03113240290382686,"qwen_frozen":0.5150547027587891,"qwen_semantic":0.7462353706359863,"qwen_preference":0.4749408960342407},"ranks":{"tfidf":29,"qwen_frozen":11,"qwen_semantic":4,"qwen_preference":10}},{"product_id":"B07W5L1T9S","product_title":"Antiquity Quest | A Look | A Set Collection Game from The Creators of Cover Your Assets &amp; Skull King, Grandpa Beck's Games | 2-8 Players 10+","esci_label":"I","gain":0,"scores":{"tfidf":0.012412356716444809,"qwen_frozen":0.2065417766571045,"qwen_semantic":0.1103554368019104,"qwen_preference":0.17934691905975342},"ranks":{"tfidf":31,"qwen_frozen":37,"qwen_semantic":36,"qwen_preference":38}},{"product_id":"B07XW266D9","product_title":"SAMSUNG XE350XBA-K01US Chromebook 4 + Chrome OS 15.6\" Full HD Intel Celeron Processor N4000 4GB RAM 32Gb Emmc Gigabit Wi-Fi, Silver","esci_label":"E","gain":1,"scores":{"tfidf":0,"qwen_frozen":0.4915120601654053,"qwen_semantic":0.6424169540405273,"qwen_preference":0.4528116285800934},"ranks":{"tfidf":38,"qwen_frozen":16,"qwen_semantic":17,"qwen_preference":16}},{"product_id":"B07ZV7937T","product_title":"I Went Outside Once, The Graphics Weren't That Great Funny T-Shirt","esci_label":"I","gain":0,"scores":{"tfidf":0.11717954595110697,"qwen_frozen":0.20634524524211884,"qwen_semantic":0.08568193018436432,"qwen_preference":0.20091602206230164},"ranks":{"tfidf":4,"qwen_frozen":38,"qwen_semantic":38,"qwen_preference":35}},{"product_id":"B07ZWDTMKC","product_title":"HP 15-dy1751ms Intel i5-1035G1 8GB DDR4 Memory 512GB SSD 15.6 Touch Screen","esci_label":"E","gain":1,"scores":{"tfidf":0.05688565588772284,"qwen_frozen":0.4537894129753113,"qwen_semantic":0.5780513286590576,"qwen_preference":0.4122944176197052},"ranks":{"tfidf":19,"qwen_frozen":23,"qwen_semantic":19,"qwen_preference":23}},{"product_id":"B081D9HJ4P","product_title":"HP 14\" Touchscreen Home and Business Laptop Ryzen 3-3200U, 8GB RAM, 128GB M.2 SSD, Dual-Core up to 3.50 GHz, Vega 3 Graphics, RJ-45, USB-C, 4K Output HDMI, Bluetooth, Webcam, 1366x768, Win 10","esci_label":"E","gain":1,"scores":{"tfidf":0.10137131060605073,"qwen_frozen":0.5262613296508789,"qwen_semantic":0.7362712621688843,"qwen_preference":0.4875645041465759},"ranks":{"tfidf":6,"qwen_frozen":9,"qwen_semantic":9,"qwen_preference":9}},{"product_id":"B081FZV45H","product_title":"2019 Apple MacBook Pro (16-inch, 16GB RAM, 512GB Storage, 2.6GHz Intel Core i7) - Space Gray","esci_label":"E","gain":1,"scores":{"tfidf":0,"qwen_frozen":0.5007044672966003,"qwen_semantic":0.6260837912559509,"qwen_preference":0.46765944361686707},"ranks":{"tfidf":39,"qwen_frozen":14,"qwen_semantic":18,"qwen_preference":12}},{"product_id":"B082358X13","product_title":"New HP 15.6\" HD Touchscreen Laptop Intel Core i3-1005G1 8GB DDR4 RAM 128GB SSD HDMI Bluetooth 802.11/b/g/n/ac Windows 10 15-dy1731ms Silver","esci_label":"E","gain":1,"scores":{"tfidf":0.03730220301485526,"qwen_frozen":0.5053638815879822,"qwen_semantic":0.7371221780776978,"qwen_preference":0.46689900755882263},"ranks":{"tfidf":27,"qwen_frozen":13,"qwen_semantic":7,"qwen_preference":13}},{"product_id":"B084QDTJVJ","product_title":"Qwixx Card Game - A Fast Family Card Game","esci_label":"I","gain":0,"scores":{"tfidf":0.07575495353166999,"qwen_frozen":0.2552863359451294,"qwen_semantic":0.15994305908679962,"qwen_preference":0.2366057187318802},"ranks":{"tfidf":15,"qwen_frozen":34,"qwen_semantic":34,"qwen_preference":34}},{"product_id":"B086383HC7","product_title":"Lenovo Chromebook Flex 5 13\" Laptop, FHD (1920 x 1080) Touch Display, Intel Core i3-10110U Processor, 4GB DDR4 Onboard RAM, 64GB eMMC, Intel Integrated Graphics, Chrome OS, 82B80006UX, Graphite Grey","esci_label":"E","gain":1,"scores":{"tfidf":0.08744852155685742,"qwen_frozen":0.5662075281143188,"qwen_semantic":0.7428934574127197,"qwen_preference":0.5316685438156128},"ranks":{"tfidf":12,"qwen_frozen":2,"qwen_semantic":6,"qwen_preference":2}},{"product_id":"B08B3X4L95","product_title":"2020 HP Pavilion x360 14\" FHD WLED Touchscreen 2-in-1 Convertible Laptop, Intel Core i5-1035G1 up to 3.6GHz, 8GB DDR4, 256GB SSD, 802.11ac, Bluetooth, Webcam, HDMI, Fingerprint Reader, Windows 10","esci_label":"E","gain":1,"scores":{"tfidf":0.03300597471063695,"qwen_frozen":0.5055114030838013,"qwen_semantic":0.7268966436386108,"qwen_preference":0.4544459879398346},"ranks":{"tfidf":28,"qwen_frozen":12,"qwen_semantic":10,"qwen_preference":15}},{"product_id":"B08C2G1J9M","product_title":"Micro Center 32GB Class 10 Micro SDHC Flash Memory Card with Adapter for Mobile Device Storage Phone, Tablet, Drone &amp; Full HD Video Recording - 80MB/s UHS-I, C10, U1 (5 Pack)","esci_label":"C","gain":0.01,"scores":{"tfidf":0.061442774815512385,"qwen_frozen":0.4087170660495758,"qwen_semantic":0.39733433723449707,"qwen_preference":0.380153089761734},"ranks":{"tfidf":17,"qwen_frozen":26,"qwen_semantic":28,"qwen_preference":26}},{"product_id":"B08C7FBYCC","product_title":"2021 Flagship Lenovo IdeaPad 3 Laptop 15.6\" HD Touchscreen 10th Gen Intel Core i3-10110U (Beats i5-8200Y) 12GB RAM 512GB SSD Webcam, HDMI, Win 10, Blue with 32GB E.S USB Card","esci_label":"E","gain":1,"scores":{"tfidf":0.0697500482032873,"qwen_frozen":0.5418035387992859,"qwen_semantic":0.7453022003173828,"qwen_preference":0.5006104111671448},"ranks":{"tfidf":16,"qwen_frozen":5,"qwen_semantic":5,"qwen_preference":5}},{"product_id":"B08C818XGW","product_title":"HP Stream Laptop PC 11.6\" Intel N4000 Quad Core 4GB DDR4 SDRAM 32GB eMMC Includes Office 365 Personal for One Year","esci_label":"E","gain":1,"scores":{"tfidf":0.042268253704273846,"qwen_frozen":0.53022301197052,"qwen_semantic":0.7161848545074463,"qwen_preference":0.49056750535964966},"ranks":{"tfidf":24,"qwen_frozen":8,"qwen_semantic":12,"qwen_preference":8}},{"product_id":"B08HCPTMJG","product_title":"SanDisk 1TB Ultra MicroSDXC UHS-I Memory Card with Adapter - 120MB/s, C10, U1, Full HD, A1, Micro SD Card - SDSQUA4-1T00-GN6MA","esci_label":"C","gain":0.01,"scores":{"tfidf":0.09030279564742373,"qwen_frozen":0.38136690855026245,"qwen_semantic":0.34528589248657227,"qwen_preference":0.35638147592544556},"ranks":{"tfidf":10,"qwen_frozen":30,"qwen_semantic":30,"qwen_preference":30}},{"product_id":"B08KSV5KBM","product_title":"Patriot LX Series Micro SD Flash Memory Card 32GB - 5 Pack","esci_label":"I","gain":0,"scores":{"tfidf":0.09513850409438689,"qwen_frozen":0.39936167001724243,"qwen_semantic":0.3984692096710205,"qwen_preference":0.3727000951766968},"ranks":{"tfidf":8,"qwen_frozen":28,"qwen_semantic":27,"qwen_preference":29}},{"product_id":"B08LVJJ8LL","product_title":"2021 HP Stream 14\" HD Laptop Light-Weight, Intel N4020 (Up tp 2.8GHz), 4GB RAM, 64GB eMMC, Webcam, HDMI, WiFi, 1 Year Office 365, Google Classroom or Zoom Compatible, w/Ghost Manta 128GB SD Card","esci_label":"E","gain":1,"scores":{"tfidf":0.20199934582997364,"qwen_frozen":0.5438319444656372,"qwen_semantic":0.7553839087486267,"qwen_preference":0.5085145235061646},"ranks":{"tfidf":1,"qwen_frozen":4,"qwen_semantic":2,"qwen_preference":4}},{"product_id":"B08Q7YS4FN","product_title":"2021 Newest Lenovo IdeaPad 3 15.6\" HD Touch Screen Laptop, Intel Quad-Core i5-1035G1 Up to 3.6GHz (Beats i7-8550U), 12GB DDR4 RAM, 256GB PCIe SSD, Webcam, WiFi 5, HDMI, Windows 10 S + TiTac Card","esci_label":"E","gain":1,"scores":{"tfidf":0.05821869242889165,"qwen_frozen":0.5383970141410828,"qwen_semantic":0.7370926141738892,"qwen_preference":0.4931934177875519},"ranks":{"tfidf":18,"qwen_frozen":6,"qwen_semantic":8,"qwen_preference":6}},{"product_id":"B08YN79ZW2","product_title":"Sapphire Technology Nitro+ AMD Radeon RX 6700 XT Gaming Graphics Card with 12GB GDDR6, AMD RDNA 2 (11306-01-20G)","esci_label":"C","gain":0.01,"scores":{"tfidf":0.1690991896494949,"qwen_frozen":0.4060481786727905,"qwen_semantic":0.5008367300033569,"qwen_preference":0.3744790852069855},"ranks":{"tfidf":2,"qwen_frozen":27,"qwen_semantic":24,"qwen_preference":27}},{"product_id":"B08YNQ4ZM1","product_title":"Sapphire Technology Pulse AMD Radeon RX 6700 XT Gaming Graphics Card with 12GB GDDR6, AMD RDNA 2 (11306-02-20G)","esci_label":"C","gain":0.01,"scores":{"tfidf":0.16183554723917304,"qwen_frozen":0.41455987095832825,"qwen_semantic":0.4917290210723877,"qwen_preference":0.3812839388847351},"ranks":{"tfidf":3,"qwen_frozen":25,"qwen_semantic":25,"qwen_preference":25}},{"product_id":"B091PKXT6Z","product_title":"2021 Lenovo Ideapad 3 15.6\" Touchscreen Laptop Computer Intel Quad-Core i5-10210U (Beats i7-8665U), 12GB DDR4 RAM, 1TB HDD, WiFi , Bluetooth, Webcam, Almond, Windows 10 Home, GOLDOXIS 32GB SD Card","esci_label":"E","gain":1,"scores":{"tfidf":0.054705260026514324,"qwen_frozen":0.5489039421081543,"qwen_semantic":0.7499745488166809,"qwen_preference":0.508720874786377},"ranks":{"tfidf":20,"qwen_frozen":3,"qwen_semantic":3,"qwen_preference":3}},{"product_id":"B092L9GF5N","product_title":"AMD Ryzen 5 5600G 6-Core 12-Thread Desktop Processor with Radeon Graphics","esci_label":"I","gain":0,"scores":{"tfidf":0.09816389797988367,"qwen_frozen":0.47400322556495667,"qwen_semantic":0.516968309879303,"qwen_preference":0.44318488240242004},"ranks":{"tfidf":7,"qwen_frozen":21,"qwen_semantic":21,"qwen_preference":18}},{"product_id":"B096HQC9Y5","product_title":"MSI Gaming GeForce RTX 3070 Ti 8GB GDRR6X 256-Bit HDMI/DP Nvlink Tri-Frozr 2 Ampere Architecture OC Graphics Card (RTX 3070 Ti Ventus 3X 8G OC)","esci_label":"I","gain":0,"scores":{"tfidf":0.10966068186321438,"qwen_frozen":0.4367237985134125,"qwen_semantic":0.5027077794075012,"qwen_preference":0.40154778957366943},"ranks":{"tfidf":5,"qwen_frozen":24,"qwen_semantic":23,"qwen_preference":24}}],"official_candidate_count":39,"split":"test","metrics":{"tfidf":{"ndcg@10":0.30227786866351486,"ndcg@all":0.7317082802704848,"mrr_exact@10":1,"recall_exact@10":0.125,"ndcg@10_qrels_script_variant":0.33636836914434903,"ndcg@all_qrels_script_variant":0.7466108125066789},"qwen_frozen":{"ndcg@10":0.9339724701105758,"ndcg@all":0.9811606679614249,"mrr_exact@10":1,"recall_exact@10":0.5625,"ndcg@10_qrels_script_variant":0.9273697171216335,"ndcg@all_qrels_script_variant":0.9788227797578992},"qwen_semantic":{"ndcg@10":0.8019174103317278,"ndcg@all":0.884500865203945,"mrr_exact@10":0.5,"recall_exact@10":0.5625,"ndcg@10_qrels_script_variant":0.7821091513649006,"ndcg@all_qrels_script_variant":0.8728061411120422},"qwen_preference":{"ndcg@10":0.9339724701105758,"ndcg@all":0.9800310671206776,"mrr_exact@10":1,"recall_exact@10":0.5625,"ndcg@10_qrels_script_variant":0.9273697171216335,"ndcg@all_qrels_script_variant":0.9779827657193062}}}</a:t>
            </a:r>
          </a:p>
          <a:p xmlns:a="http://schemas.openxmlformats.org/drawingml/2006/main">
            <a:r>
              <a:t/>
            </a:r>
          </a:p>
          <a:p xmlns:a="http://schemas.openxmlformats.org/drawingml/2006/main">
            <a:r>
              <a:t>Sources</a:t>
            </a:r>
          </a:p>
          <a:p xmlns:a="http://schemas.openxmlformats.org/drawingml/2006/main">
            <a:r>
              <a:t>results/esci/queries.jsonl</a:t>
            </a:r>
          </a:p>
          <a:p xmlns:a="http://schemas.openxmlformats.org/drawingml/2006/main">
            <a:r>
              <a:t>results/esci/selected_query_ids.json</a:t>
            </a:r>
          </a:p>
          <a:p xmlns:a="http://schemas.openxmlformats.org/drawingml/2006/main">
            <a:r>
              <a:t>results/esci/summary.json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benchmark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FashionIQ provides existing reference-image, relative-caption and target triples. The protocol selects 300 train, 30 development and 100 validation pairs per category before downloads. Unavailable images cause omissions without replacement. Actual counts appear on the slide. The final training, development and evaluation candidate pools have neither shared image IDs nor shared image SHA256s. An outcome-independent integrity repair after preliminary result inspection removed three training image IDs and their three pairs, and one development distractor. It protected every preselected validation query and the entire evaluation gallery. The final run keeps the original seed, hyperparameters, methods and internal-development checkpoint rule. Preliminary results remain private for audit. A 262,784-parameter residual projection trains over frozen 512-dimensional CLIP image and text features for 40 epochs. Internal development macro Recall@10 chooses epoch 12. Official validation never selects a checkpoint. Candidate pools contain 281 dress, 292 shirt and 293 toptee images before excluding each reference. Macro metrics average categories. Text-only outperforms learned fusion at Recall@10. Learned fusion outperforms text-only at Recall@50. One seed and the reduced galleries limit generalization.</a:t>
            </a:r>
          </a:p>
          <a:p xmlns:a="http://schemas.openxmlformats.org/drawingml/2006/main">
            <a:r>
              <a:t/>
            </a:r>
          </a:p>
          <a:p xmlns:a="http://schemas.openxmlformats.org/drawingml/2006/main">
            <a:r>
              <a:t>Exact measured metrics</a:t>
            </a:r>
          </a:p>
          <a:p xmlns:a="http://schemas.openxmlformats.org/drawingml/2006/main">
            <a:r>
              <a:t>[{"method":"image_only","queries":287,"recall@1":0.07299739830859593,"recall@5":0.1706720223733275,"recall@10":0.21252909385586508,"recall@50":0.4178966817771929,"mrr":0.12588106601590407},{"method":"text_only","queries":287,"recall@1":0.2160058857936682,"recall@5":0.4250315310375082,"recall@10":0.5605449233506373,"recall@50":0.7800900538617143,"mrr":0.3161962395920573},{"method":"fixed_fusion","queries":287,"recall@1":0.15291029952962396,"recall@5":0.3102082876361775,"recall@10":0.4010123443250226,"recall@50":0.641290274426653,"mrr":0.2399637558859554},{"method":"trained_fusion","queries":287,"recall@1":0.20902336038604954,"recall@5":0.41482964100314396,"recall@10":0.5227061551022397,"recall@50":0.8013308535010114,"mrr":0.31089428670041325}]</a:t>
            </a:r>
          </a:p>
          <a:p xmlns:a="http://schemas.openxmlformats.org/drawingml/2006/main">
            <a:r>
              <a:t/>
            </a:r>
          </a:p>
          <a:p xmlns:a="http://schemas.openxmlformats.org/drawingml/2006/main">
            <a:r>
              <a:t>Sources</a:t>
            </a:r>
          </a:p>
          <a:p xmlns:a="http://schemas.openxmlformats.org/drawingml/2006/main">
            <a:r>
              <a:t>results/fashion/summary.json</a:t>
            </a:r>
          </a:p>
          <a:p xmlns:a="http://schemas.openxmlformats.org/drawingml/2006/main">
            <a:r>
              <a:t>results/fashion/queries.json</a:t>
            </a:r>
          </a:p>
          <a:p xmlns:a="http://schemas.openxmlformats.org/drawingml/2006/main">
            <a:r>
              <a:t>assets/benchmarks/fashion/manifest.json</a:t>
            </a:r>
          </a:p>
          <a:p xmlns:a="http://schemas.openxmlformats.org/drawingml/2006/main">
            <a:r>
              <a:t>models/fashion/fusion.pt</a:t>
            </a:r>
          </a:p>
          <a:p xmlns:a="http://schemas.openxmlformats.org/drawingml/2006/main">
            <a:r>
              <a:t>scripts/run_fashion_experiment.py</a:t>
            </a:r>
          </a:p>
          <a:p xmlns:a="http://schemas.openxmlformats.org/drawingml/2006/main">
            <a:r>
              <a:t>https://github.com/XiaoxiaoGuo/fashion-iq/tree/f71b16c3b09ef03b02c0fed160fa072fb3b8aa16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benchmark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layout of actual FashionIQ photographs and measured retrieval outputs, not a fabricated interface screenshot. The illustration chooses the query with the greatest disagreement among the four top-one IDs, breaking ties by query ID. This selection illustrates disagreement and does not change the benchmark. Each shown target rank comes from the fixed held-out evaluation. Repeated image content is intentional when two methods retrieve the same garment or retrieve the known target. The application also supports a custom text edit through actual local CLIP inference. A custom edit has no new relevance label, so that route hides paired-target ranks and accuracy.</a:t>
            </a:r>
          </a:p>
          <a:p xmlns:a="http://schemas.openxmlformats.org/drawingml/2006/main">
            <a:r>
              <a:t/>
            </a:r>
          </a:p>
          <a:p xmlns:a="http://schemas.openxmlformats.org/drawingml/2006/main">
            <a:r>
              <a:t>Measured example</a:t>
            </a:r>
          </a:p>
          <a:p xmlns:a="http://schemas.openxmlformats.org/drawingml/2006/main">
            <a:r>
              <a:t>{"category":"dress","reference":"B00801W1H6","target":"B00CFL3FDQ","captions":["is red with black buttons","has longer sleeves"],"text":"is red with black buttons and has longer sleeves","query_id":"evaluation-dress-0000","methods":{"image_only":{"target_rank":177,"top_ids":["B00BLNL7G6","B00H2FUGOQ","B0091SFTVC","B00BVGHQKO","B0032FOQUU","B00ATPE8CW","B009FX8ODI","B008UC9MGS","B00B29NXUC","B00DZ02CJY","B00AE4C2LC","B0097J0RVC"]},"text_only":{"target_rank":2,"top_ids":["B006X6XGT2","B00CFL3FDQ","B00A8VHMRK","B00ANSYKPA","B00B903O7G","B00BGIFKM8","B009NW4TW6","B0016CHUWW","B00ATPE8CW","B004XJI4I4","B008X711D2","B005278U3U"]},"fixed_fusion":{"target_rank":24,"top_ids":["B00ATPE8CW","B0091SFTVC","B00B29NXUC","B00BLNL7G6","B00H2FUGOQ","B00BVGHQKO","B008VIXCL2","B002G5GHCM","B00B903O7G","B009NW4TW6","B007TWJCBA","B007P048TC"]},"trained_fusion":{"target_rank":1,"top_ids":["B00CFL3FDQ","B00ATPE8CW","B009NW4TW6","B007FG0Y8U","B00997L4QE","B00H2FUGOQ","B00ANSYKPA","B005KMQQFQ","B00BLNL7G6","B00BVGHQKO","B007EGKM5G","B00139HWLC"]}}}</a:t>
            </a:r>
          </a:p>
          <a:p xmlns:a="http://schemas.openxmlformats.org/drawingml/2006/main">
            <a:r>
              <a:t/>
            </a:r>
          </a:p>
          <a:p xmlns:a="http://schemas.openxmlformats.org/drawingml/2006/main">
            <a:r>
              <a:t>Sources</a:t>
            </a:r>
          </a:p>
          <a:p xmlns:a="http://schemas.openxmlformats.org/drawingml/2006/main">
            <a:r>
              <a:t>results/fashion/queries.json</a:t>
            </a:r>
          </a:p>
          <a:p xmlns:a="http://schemas.openxmlformats.org/drawingml/2006/main">
            <a:r>
              <a:t>assets/benchmarks/fashion/manifest.json</a:t>
            </a:r>
          </a:p>
          <a:p xmlns:a="http://schemas.openxmlformats.org/drawingml/2006/main">
            <a:r>
              <a:t>assets/benchmarks/fashion/images/B00801W1H6.jpg</a:t>
            </a:r>
          </a:p>
          <a:p xmlns:a="http://schemas.openxmlformats.org/drawingml/2006/main">
            <a:r>
              <a:t>assets/benchmarks/fashion/images/B00CFL3FDQ.jpg</a:t>
            </a:r>
          </a:p>
          <a:p xmlns:a="http://schemas.openxmlformats.org/drawingml/2006/main">
            <a:r>
              <a:t>assets/benchmarks/fashion/images/B00BLNL7G6.jpg</a:t>
            </a:r>
          </a:p>
          <a:p xmlns:a="http://schemas.openxmlformats.org/drawingml/2006/main">
            <a:r>
              <a:t>assets/benchmarks/fashion/images/B006X6XGT2.jpg</a:t>
            </a:r>
          </a:p>
          <a:p xmlns:a="http://schemas.openxmlformats.org/drawingml/2006/main">
            <a:r>
              <a:t>assets/benchmarks/fashion/images/B00ATPE8CW.jpg</a:t>
            </a:r>
          </a:p>
          <a:p xmlns:a="http://schemas.openxmlformats.org/drawingml/2006/main">
            <a:r>
              <a:t>assets/benchmarks/fashion/images/B00CFL3FDQ.jpg</a:t>
            </a:r>
          </a:p>
          <a:p xmlns:a="http://schemas.openxmlformats.org/drawingml/2006/main">
            <a:r>
              <a:t>src/shoplens/fashion_retrieval.py</a:t>
            </a:r>
          </a:p>
          <a:p xmlns:a="http://schemas.openxmlformats.org/drawingml/2006/main">
            <a:r>
              <a:t>src/shoplens/benchmark_ui.py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benchmark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diagnostic uses the same selected 1,000 Clothing users and all 1,865 eligible targets across caps 1, 3, 5, 10 and 20. Only the visible model history changes. Complete earlier positives remain excluded from candidates. Fixed seed42 checkpoints are reused without retraining. Left: actual user-macro NDCG@10. Right: distinct products occupying any Top 10 recommendation slot divided by the full 22,491-item Clothing catalogue, measured at cap 20. The full evidence includes all three domains, popularity cohorts, exposure concentration and paired user-bootstrap differences conditional on the selected checkpoint/cohort. Neither chart estimates uncertainty over training seeds.</a:t>
            </a:r>
          </a:p>
          <a:p xmlns:a="http://schemas.openxmlformats.org/drawingml/2006/main">
            <a:r>
              <a:t/>
            </a:r>
          </a:p>
          <a:p xmlns:a="http://schemas.openxmlformats.org/drawingml/2006/main">
            <a:r>
              <a:t>Exposure records</a:t>
            </a:r>
          </a:p>
          <a:p xmlns:a="http://schemas.openxmlformats.org/drawingml/2006/main">
            <a:r>
              <a:t>[{"domain":"clothing","model":"qwen_frozen","seed":42,"recommendation_slots":18650,"covered_items":502,"catalog_items":22491,"coverage@10":0.022320039126761816,"gini":0.9945563211879926,"hhi":0.010419757203746164,"mean_training_positive_users":69.11597855227882,"top_1pct_exposure_share":0.9461662198391421,"popularity_exposure":[{"bucket":"0","catalog_items":480,"catalog_share":0.021341870081365878,"recommendation_slots":198,"exposure_share":0.010616621983914208},{"bucket":"1-5","catalog_items":11850,"catalog_share":0.5268774176337202,"recommendation_slots":1027,"exposure_share":0.055067024128686325},{"bucket":"6-20","catalog_items":8948,"catalog_share":0.3978480281001289,"recommendation_slots":3392,"exposure_share":0.18187667560321716},{"bucket":"21+","catalog_items":1213,"catalog_share":0.05393268418478502,"recommendation_slots":14033,"exposure_share":0.7524396782841823}],"most_exposed_products":[{"item_id":"B003DNR4XC","title":"BEARPAW Women's Emma Tall 612-W Boot","recommendation_slots":562,"training_positive_users":79},{"item_id":"B005LERHD8","title":"Vintage, Retro Colorful Crystal Owl Pendant and Long Chain Necklace with Antiqued Bronze/Brass Finish","recommendation_slots":513,"training_positive_users":308},{"item_id":"B0013KDS96","title":"eBags Packing Cubes - 3pc Set","recommendation_slots":455,"training_positive_users":99},{"item_id":"B0007YR8WW","title":"Playtex Women's 18-Hour Original Comfort-Strap Bra #4693","recommendation_slots":417,"training_positive_users":110},{"item_id":"B003DNR2HK","title":"BEARPAW Women's Emma Short Boot","recommendation_slots":410,"training_positive_users":113}]},{"domain":"clothing","model":"qwen_semantic","seed":42,"recommendation_slots":18650,"covered_items":598,"catalog_items":22491,"coverage@10":0.026588413143034992,"gini":0.9935622506375206,"hhi":0.01043547786586549,"mean_training_positive_users":52.057211796246655,"top_1pct_exposure_share":0.9203217158176945,"popularity_exposure":[{"bucket":"0","catalog_items":480,"catalog_share":0.021341870081365878,"recommendation_slots":65,"exposure_share":0.003485254691689008},{"bucket":"1-5","catalog_items":11850,"catalog_share":0.5268774176337202,"recommendation_slots":2997,"exposure_share":0.1606970509383378},{"bucket":"6-20","catalog_items":8948,"catalog_share":0.3978480281001289,"recommendation_slots":5175,"exposure_share":0.2774798927613941},{"bucket":"21+","catalog_items":1213,"catalog_share":0.05393268418478502,"recommendation_slots":10413,"exposure_share":0.558337801608579}],"most_exposed_products":[{"item_id":"B007OUFMAW","title":"Lee Women's Classic Fit Straight Leg Jackie O Pant","recommendation_slots":749,"training_positive_users":14},{"item_id":"B003DNR4XC","title":"BEARPAW Women's Emma Tall 612-W Boot","recommendation_slots":576,"training_positive_users":79},{"item_id":"B005GYGD7O","title":"Spalding Women's Capri Legging","recommendation_slots":471,"training_positive_users":151},{"item_id":"B007WNWEFC","title":"Vintage Steampunk Nautical Style Antiqued Bronze Octopus Necklace 28 inch Long Chain","recommendation_slots":434,"training_positive_users":140},{"item_id":"B0013KDS96","title":"eBags Packing Cubes - 3pc Set","recommendation_slots":415,"training_positive_users":99}]},{"domain":"clothing","model":"qwen_preference","seed":42,"recommendation_slots":18650,"covered_items":495,"catalog_items":22491,"coverage@10":0.022008803521408563,"gini":0.9945579900116139,"hhi":0.010536218904757456,"mean_training_positive_users":71.07528150134047,"top_1pct_exposure_share":0.9468096514745308,"popularity_exposure":[{"bucket":"0","catalog_items":480,"catalog_share":0.021341870081365878,"recommendation_slots":220,"exposure_share":0.011796246648793566},{"bucket":"1-5","catalog_items":11850,"catalog_share":0.5268774176337202,"recommendation_slots":979,"exposure_share":0.052493297587131366},{"bucket":"6-20","catalog_items":8948,"catalog_share":0.3978480281001289,"recommendation_slots":2899,"exposure_share":0.15544235924932975},{"bucket":"21+","catalog_items":1213,"catalog_share":0.05393268418478502,"recommendation_slots":14552,"exposure_share":0.7802680965147453}],"most_exposed_products":[{"item_id":"B003DNR4XC","title":"BEARPAW Women's Emma Tall 612-W Boot","recommendation_slots":588,"training_positive_users":79},{"item_id":"B005LERHD8","title":"Vintage, Retro Colorful Crystal Owl Pendant and Long Chain Necklace with Antiqued Bronze/Brass Finish","recommendation_slots":515,"training_positive_users":308},{"item_id":"B0013KDS96","title":"eBags Packing Cubes - 3pc Set","recommendation_slots":455,"training_positive_users":99},{"item_id":"B007WA3K4Y","title":"Allegra K Women's Self Tie Knot Stand Collar Striped Autumn Shirt","recommendation_slots":409,"training_positive_users":113},{"item_id":"B0007YR8WW","title":"Playtex Women's 18-Hour Original Comfort-Strap Bra #4693","recommendation_slots":396,"training_positive_users":110}]}]</a:t>
            </a:r>
          </a:p>
          <a:p xmlns:a="http://schemas.openxmlformats.org/drawingml/2006/main">
            <a:r>
              <a:t/>
            </a:r>
          </a:p>
          <a:p xmlns:a="http://schemas.openxmlformats.org/drawingml/2006/main">
            <a:r>
              <a:t>Sources</a:t>
            </a:r>
          </a:p>
          <a:p xmlns:a="http://schemas.openxmlformats.org/drawingml/2006/main">
            <a:r>
              <a:t>results/diagnostics/recommendation_diagnostics.json</a:t>
            </a:r>
          </a:p>
          <a:p xmlns:a="http://schemas.openxmlformats.org/drawingml/2006/main">
            <a:r>
              <a:t>src/shoplens/recommendation_diagnostics.py</a:t>
            </a:r>
          </a:p>
          <a:p xmlns:a="http://schemas.openxmlformats.org/drawingml/2006/main">
            <a:r>
              <a:t>scripts/run_recommendation_diagnostics.py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benchmark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chart compares only the pure three-model ranking stage, alternating execution order on identical prepared inputs. It does not claim an end-to-end baseline speedup. The baseline source reference and hashes, all samples and complete-row parity live in the JSON. Cold encoder timings are single observations. New-text timings execute three actual encoders. Exact-repeat timing exercises a cache and does not represent a new request. End-to-end engine timings exclude browser/Streamlit rendering, network and downloads. Results are descriptive on the measured local CPU with a small repeat count.</a:t>
            </a:r>
          </a:p>
          <a:p xmlns:a="http://schemas.openxmlformats.org/drawingml/2006/main">
            <a:r>
              <a:t/>
            </a:r>
          </a:p>
          <a:p xmlns:a="http://schemas.openxmlformats.org/drawingml/2006/main">
            <a:r>
              <a:t>Measured environment</a:t>
            </a:r>
          </a:p>
          <a:p xmlns:a="http://schemas.openxmlformats.org/drawingml/2006/main">
            <a:r>
              <a:t>{"platform":"macOS-27.0.1-arm64-arm-64bit","machine":"arm64","processor":"arm","logical_cpus":10,"hardware":{},"torch":"2.14.1","numpy":"2.5.4","torch_threads":4,"thread_environment":{"OMP_NUM_THREADS":"4","OPENBLAS_NUM_THREADS":"4","MKL_NUM_THREADS":"4","VECLIB_MAXIMUM_THREADS":"4","NUMEXPR_NUM_THREADS":"4"},"device":"cpu","mps_available":false,"process_peak_rss_mib":3232.4375,"host_hardware_verified_separately":{"cpu":"Apple M4","memory_bytes":17179869184,"verification":"Read-only host sysctl outside the measured process; measured timings and process observations unchanged."}}</a:t>
            </a:r>
          </a:p>
          <a:p xmlns:a="http://schemas.openxmlformats.org/drawingml/2006/main">
            <a:r>
              <a:t/>
            </a:r>
          </a:p>
          <a:p xmlns:a="http://schemas.openxmlformats.org/drawingml/2006/main">
            <a:r>
              <a:t>Measured chart samples</a:t>
            </a:r>
          </a:p>
          <a:p xmlns:a="http://schemas.openxmlformats.org/drawingml/2006/main">
            <a:r>
              <a:t>[{"stage":"three_rankers_text_before","n":12,"p50_ms":393.40497949160635,"p95_ms":472.0919395564124,"samples_ms":[472.08970808424056,317.42649991065264,472.0946669112891,321.45120901986957,467.2551671974361,317.1544591896236,467.48783299699426,313.31983394920826,465.42862500064075,316.9929999858141,465.35874996334314,316.0869169514626]},{"stage":"three_rankers_text_after","n":12,"p50_ms":103.61739608924836,"p95_ms":104.66685430146754,"samples_ms":[103.68166700936854,104.53095799311996,104.74774986505508,104.60066702216864,103.55312516912818,103.13416598364711,103.54645806364715,102.90175001136959,104.03158399276435,102.76008304208517,103.88137493282557,102.72837500087917]},{"stage":"three_rankers_multimodal_feedback_before","n":12,"p50_ms":418.25783310923725,"p95_ms":492.98373992787674,"samples_ms":[346.8897910788655,492.8780838381499,342.85929217003286,491.46129097789526,340.2614579536021,492.8190840873867,340.9061669372022,489.625875139609,341.156667098403,491.7901670560241,340.7734588254243,493.112875148654]},{"stage":"three_rankers_multimodal_feedback_after","n":12,"p50_ms":127.77345802169293,"p95_ms":130.52390234079212,"samples_ms":[132.7692079357803,128.6868341267109,127.94112507253885,128.00466688349843,127.30612512677908,126.95854203775525,128.10304202139378,127.60579097084701,127.33812490478158,126.46925006993115,126.92124978639185,128.33400000818074]},{"stage":"three_rankers_avoid_budget_before","n":12,"p50_ms":864.7267705528066,"p95_ms":939.7900538169779,"samples_ms":[938.0874170456082,792.3940001055598,939.9086248595268,793.5425830073655,939.198249951005,788.068792084232,935.9109580982476,788.0594169255346,939.0605830121785,789.5238341297954,939.6930411458015,789.7193341050297]},{"stage":"three_rankers_avoid_budget_after","n":12,"p50_ms":109.40710408613086,"p95_ms":109.95875383960083,"samples_ms":[109.85116614028811,109.225207939744,109.76033308543265,109.5090419985354,109.30516617372632,108.8138751219958,109.2799580655992,109.66308391653001,110.0902499165386,108.98070805706084,109.51941693201661,108.68329205550253]}]</a:t>
            </a:r>
          </a:p>
          <a:p xmlns:a="http://schemas.openxmlformats.org/drawingml/2006/main">
            <a:r>
              <a:t/>
            </a:r>
          </a:p>
          <a:p xmlns:a="http://schemas.openxmlformats.org/drawingml/2006/main">
            <a:r>
              <a:t>Sources</a:t>
            </a:r>
          </a:p>
          <a:p xmlns:a="http://schemas.openxmlformats.org/drawingml/2006/main">
            <a:r>
              <a:t>results/performance/studio.json</a:t>
            </a:r>
          </a:p>
          <a:p xmlns:a="http://schemas.openxmlformats.org/drawingml/2006/main">
            <a:r>
              <a:t>scripts/benchmark_studio.py</a:t>
            </a:r>
          </a:p>
          <a:p xmlns:a="http://schemas.openxmlformats.org/drawingml/2006/main">
            <a:r>
              <a:t>src/shoplens/studio.py</a:t>
            </a:r>
          </a:p>
          <a:p xmlns:a="http://schemas.openxmlformats.org/drawingml/2006/main">
            <a:r>
              <a:t>https://github.com/cjk041212/ShopLens/blob/eb53149346207b2500d8e160682e3894fb30125d/src/shoplens/studio.py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benchmark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lab adds four application routes beside the existing Shopping Studio, Research lab and Experiment gallery. Search relevance inspects official judged candidate lists. Image+language offers both recorded labeled examples and real local CLIP text modifications. Custom requests have no ground-truth metrics. Diagnostics expose fixed-cohort recommendation measurements. Performance distinguishes genuine new input from exact-repeat caching. Each result file records its protocol and limitations. The repository versions the selected runtime payload and trained recommendation/fusion heads. The installation helper reconstructs the runtime locally without a Release package. Foundation Qwen/CLIP models remain separate official local preparations. These additions do not alter the original 27-run study.</a:t>
            </a:r>
          </a:p>
          <a:p xmlns:a="http://schemas.openxmlformats.org/drawingml/2006/main">
            <a:r>
              <a:t/>
            </a:r>
          </a:p>
          <a:p xmlns:a="http://schemas.openxmlformats.org/drawingml/2006/main">
            <a:r>
              <a:t>Repository commands and full model/data terms are in the root README and ATTRIBUTION.</a:t>
            </a:r>
          </a:p>
          <a:p xmlns:a="http://schemas.openxmlformats.org/drawingml/2006/main">
            <a:r>
              <a:t/>
            </a:r>
          </a:p>
          <a:p xmlns:a="http://schemas.openxmlformats.org/drawingml/2006/main">
            <a:r>
              <a:t>Sources</a:t>
            </a:r>
          </a:p>
          <a:p xmlns:a="http://schemas.openxmlformats.org/drawingml/2006/main">
            <a:r>
              <a:t>src/shoplens/benchmark_ui.py</a:t>
            </a:r>
          </a:p>
          <a:p xmlns:a="http://schemas.openxmlformats.org/drawingml/2006/main">
            <a:r>
              <a:t>README.md</a:t>
            </a:r>
          </a:p>
          <a:p xmlns:a="http://schemas.openxmlformats.org/drawingml/2006/main">
            <a:r>
              <a:t>ATTRIBUTION.md</a:t>
            </a:r>
          </a:p>
          <a:p xmlns:a="http://schemas.openxmlformats.org/drawingml/2006/main">
            <a:r>
              <a:t>scripts/install_assets.py</a:t>
            </a:r>
          </a:p>
          <a:p xmlns:a="http://schemas.openxmlformats.org/drawingml/2006/main">
            <a:r>
              <a:t>scripts/prepare_studio_models.py</a:t>
            </a:r>
          </a:p>
          <a:p xmlns:a="http://schemas.openxmlformats.org/drawingml/2006/main">
            <a:r>
              <a:t>scripts/run_esci_benchmark.py</a:t>
            </a:r>
          </a:p>
          <a:p xmlns:a="http://schemas.openxmlformats.org/drawingml/2006/main">
            <a:r>
              <a:t>scripts/run_fashion_experiment.py</a:t>
            </a:r>
          </a:p>
          <a:p xmlns:a="http://schemas.openxmlformats.org/drawingml/2006/main">
            <a:r>
              <a:t>scripts/run_recommendation_diagnostics.py</a:t>
            </a:r>
          </a:p>
          <a:p xmlns:a="http://schemas.openxmlformats.org/drawingml/2006/main">
            <a:r>
              <a:t>scripts/benchmark_studio.py</a:t>
            </a:r>
          </a:p>
          <a:p xmlns:a="http://schemas.openxmlformats.org/drawingml/2006/main">
            <a:r>
              <a:t>reports/ShopLens_Qwen_report_en.md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ShopLens combines a controlled recommendation study with an interactive shopping interface. We compare frozen Qwen with semantic alignment and user preference LoRA. I will show the actual offline results, then a complete local workflow from a written request to a saved decision.</a:t>
            </a:r>
          </a:p>
          <a:p xmlns:a="http://schemas.openxmlformats.org/drawingml/2006/main">
            <a:r>
              <a:t/>
            </a:r>
          </a:p>
          <a:p xmlns:a="http://schemas.openxmlformats.org/drawingml/2006/main">
            <a:r>
              <a:t>Sources</a:t>
            </a:r>
          </a:p>
          <a:p xmlns:a="http://schemas.openxmlformats.org/drawingml/2006/main">
            <a:r>
              <a:t>Source path convention: Resolve src/..., reports/..., results/..., data/..., and artifacts/... from the repository root. Resolve assets/... relative to reports/. Runtime data and artifacts require a separate runtime asset installation.</a:t>
            </a:r>
          </a:p>
          <a:p xmlns:a="http://schemas.openxmlformats.org/drawingml/2006/main">
            <a:r>
              <a:t>https://huggingface.co/Qwen/Qwen3-Embedding-0.6B/tree/97b0c614be4d77ee51c0cef4e5f07c00f9eb65b3</a:t>
            </a:r>
          </a:p>
          <a:p xmlns:a="http://schemas.openxmlformats.org/drawingml/2006/main">
            <a:r>
              <a:t>https://arxiv.org/abs/2106.09685</a:t>
            </a:r>
          </a:p>
          <a:p xmlns:a="http://schemas.openxmlformats.org/drawingml/2006/main">
            <a:r>
              <a:t>https://proceedings.mlr.press/v139/radford21a.html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question separates semantic matching from preference learning. Semantic LoRA matches training reviews with product descriptions. Preference LoRA learns directly from ranking loss. Every arm trains its recommendation head, including Frozen. The image encoder stays fixed, so the controlled comparison concerns the language objective.</a:t>
            </a:r>
          </a:p>
          <a:p xmlns:a="http://schemas.openxmlformats.org/drawingml/2006/main">
            <a:r>
              <a:t/>
            </a:r>
          </a:p>
          <a:p xmlns:a="http://schemas.openxmlformats.org/drawingml/2006/main">
            <a:r>
              <a:t>Discussion notes</a:t>
            </a:r>
          </a:p>
          <a:p xmlns:a="http://schemas.openxmlformats.org/drawingml/2006/main">
            <a:r>
              <a:t>Semantic InfoNCE uses frozen base-Qwen training-review anchors and live candidate descriptions, with multiple positives for the same item. Its BPR text input is detached. Preference training never uses the target review as its recommendation query.</a:t>
            </a:r>
          </a:p>
          <a:p xmlns:a="http://schemas.openxmlformats.org/drawingml/2006/main">
            <a:r>
              <a:t/>
            </a:r>
          </a:p>
          <a:p xmlns:a="http://schemas.openxmlformats.org/drawingml/2006/main">
            <a:r>
              <a:t>Sources</a:t>
            </a:r>
          </a:p>
          <a:p xmlns:a="http://schemas.openxmlformats.org/drawingml/2006/main">
            <a:r>
              <a:t>src/shoplens/qwen_pipeline.py</a:t>
            </a:r>
          </a:p>
          <a:p xmlns:a="http://schemas.openxmlformats.org/drawingml/2006/main">
            <a:r>
              <a:t>src/shoplens/qwen_models.py</a:t>
            </a:r>
          </a:p>
          <a:p xmlns:a="http://schemas.openxmlformats.org/drawingml/2006/main">
            <a:r>
              <a:t>https://arxiv.org/abs/1205.2618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contains real product text, reviews and photographs across Baby, Sports and Clothing. We split chronologically and use only strictly earlier positive history. Ranking covers the full prepared catalogue, excluding previous positives. Metrics first average targets within users. These are three domains from one Amazon source, which limits evidence about cross-source generalization.</a:t>
            </a:r>
          </a:p>
          <a:p xmlns:a="http://schemas.openxmlformats.org/drawingml/2006/main">
            <a:r>
              <a:t/>
            </a:r>
          </a:p>
          <a:p xmlns:a="http://schemas.openxmlformats.org/drawingml/2006/main">
            <a:r>
              <a:t>Discussion notes</a:t>
            </a:r>
          </a:p>
          <a:p xmlns:a="http://schemas.openxmlformats.org/drawingml/2006/main">
            <a:r>
              <a:t>Global timestamp quantiles retain ties in the earlier split. Evaluation is prequential: earlier held-out observations may enter later histories while weights remain fixed. Repeated targets already in history do not enter evaluation. A stable item-ID rule breaks score ties. Positive interactions have ratings of four or five stars.</a:t>
            </a:r>
          </a:p>
          <a:p xmlns:a="http://schemas.openxmlformats.org/drawingml/2006/main">
            <a:r>
              <a:t/>
            </a:r>
          </a:p>
          <a:p xmlns:a="http://schemas.openxmlformats.org/drawingml/2006/main">
            <a:r>
              <a:t>Sources</a:t>
            </a:r>
          </a:p>
          <a:p xmlns:a="http://schemas.openxmlformats.org/drawingml/2006/main">
            <a:r>
              <a:t>https://mcauleylab.ucsd.edu/public_datasets/data/amazon/datasets.html</a:t>
            </a:r>
          </a:p>
          <a:p xmlns:a="http://schemas.openxmlformats.org/drawingml/2006/main">
            <a:r>
              <a:t>src/shoplens/qwen_evaluate.py</a:t>
            </a:r>
          </a:p>
          <a:p xmlns:a="http://schemas.openxmlformats.org/drawingml/2006/main">
            <a:r>
              <a:t>data/processed/baby/audit.json</a:t>
            </a:r>
          </a:p>
          <a:p xmlns:a="http://schemas.openxmlformats.org/drawingml/2006/main">
            <a:r>
              <a:t>data/processed/sports/audit.json</a:t>
            </a:r>
          </a:p>
          <a:p xmlns:a="http://schemas.openxmlformats.org/drawingml/2006/main">
            <a:r>
              <a:t>data/processed/clothing/audit.json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formal model uses an asymmetric architecture. Histories always enter through frozen base text and fixed images. Candidate text changes across objectives. Separate towers produce compact vectors. A user network pools history and scores candidates by a dot product. Adapted candidate vectors must never replace the frozen history inputs.</a:t>
            </a:r>
          </a:p>
          <a:p xmlns:a="http://schemas.openxmlformats.org/drawingml/2006/main">
            <a:r>
              <a:t/>
            </a:r>
          </a:p>
          <a:p xmlns:a="http://schemas.openxmlformats.org/drawingml/2006/main">
            <a:r>
              <a:t>Sources</a:t>
            </a:r>
          </a:p>
          <a:p xmlns:a="http://schemas.openxmlformats.org/drawingml/2006/main">
            <a:r>
              <a:t>src/shoplens/qwen_models.py</a:t>
            </a:r>
          </a:p>
          <a:p xmlns:a="http://schemas.openxmlformats.org/drawingml/2006/main">
            <a:r>
              <a:t>src/shoplens/qwen_inference.py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domain and seed first selects a common warmup head. The three arms then share thirty thousand matched training cases, their order and sampled negatives for two adaptation epochs. Validation selects epoch one or two. Three complete pipeline seeds give twenty-seven formal test records. Test scores never choose the checkpoint.</a:t>
            </a:r>
          </a:p>
          <a:p xmlns:a="http://schemas.openxmlformats.org/drawingml/2006/main">
            <a:r>
              <a:t/>
            </a:r>
          </a:p>
          <a:p xmlns:a="http://schemas.openxmlformats.org/drawingml/2006/main">
            <a:r>
              <a:t>Discussion notes</a:t>
            </a:r>
          </a:p>
          <a:p xmlns:a="http://schemas.openxmlformats.org/drawingml/2006/main">
            <a:r>
              <a:t>Warmup uses all eligible cases, at most 20 epochs and validation early stopping. Adaptation batch size is 32. Head learning rate is 1e-4 and LoRA learning rate is 2e-5. LoRA rank 8, alpha 16, dropout 0.05, q_proj/v_proj. Epoch 0 cannot replace a poor adaptation checkpoint.</a:t>
            </a:r>
          </a:p>
          <a:p xmlns:a="http://schemas.openxmlformats.org/drawingml/2006/main">
            <a:r>
              <a:t/>
            </a:r>
          </a:p>
          <a:p xmlns:a="http://schemas.openxmlformats.org/drawingml/2006/main">
            <a:r>
              <a:t>Sources</a:t>
            </a:r>
          </a:p>
          <a:p xmlns:a="http://schemas.openxmlformats.org/drawingml/2006/main">
            <a:r>
              <a:t>src/shoplens/qwen_data.py</a:t>
            </a:r>
          </a:p>
          <a:p xmlns:a="http://schemas.openxmlformats.org/drawingml/2006/main">
            <a:r>
              <a:t>src/shoplens/qwen_pipeline.py</a:t>
            </a:r>
          </a:p>
          <a:p xmlns:a="http://schemas.openxmlformats.org/drawingml/2006/main">
            <a:r>
              <a:t>results/qwen/results_qwen_summary.json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bars come from all twenty-seven audited test records after validation-only selection. Frozen has the highest observed mean in each domain. Semantic alignment loses to Frozen in seven of nine matched comparisons. Preference LoRA loses in six of nine. The experiment does not support a general improvement from adaptation under this budget.</a:t>
            </a:r>
          </a:p>
          <a:p xmlns:a="http://schemas.openxmlformats.org/drawingml/2006/main">
            <a:r>
              <a:t/>
            </a:r>
          </a:p>
          <a:p xmlns:a="http://schemas.openxmlformats.org/drawingml/2006/main">
            <a:r>
              <a:t>Discussion notes</a:t>
            </a:r>
          </a:p>
          <a:p xmlns:a="http://schemas.openxmlformats.org/drawingml/2006/main">
            <a:r>
              <a:t>Means and sample standard deviations appear in Appendix 1. A matched win is a positive difference for the same domain and seed. These measurements describe the declared offline protocol, not purchasing conversion.</a:t>
            </a:r>
          </a:p>
          <a:p xmlns:a="http://schemas.openxmlformats.org/drawingml/2006/main">
            <a:r>
              <a:t/>
            </a:r>
          </a:p>
          <a:p xmlns:a="http://schemas.openxmlformats.org/drawingml/2006/main">
            <a:r>
              <a:t>Sources</a:t>
            </a:r>
          </a:p>
          <a:p xmlns:a="http://schemas.openxmlformats.org/drawingml/2006/main">
            <a:r>
              <a:t>results/qwen/results_qwen_summary.json</a:t>
            </a:r>
          </a:p>
          <a:p xmlns:a="http://schemas.openxmlformats.org/drawingml/2006/main">
            <a:r>
              <a:t>artifacts/qwen/baby/results.json</a:t>
            </a:r>
          </a:p>
          <a:p xmlns:a="http://schemas.openxmlformats.org/drawingml/2006/main">
            <a:r>
              <a:t>artifacts/qwen/sports/results.json</a:t>
            </a:r>
          </a:p>
          <a:p xmlns:a="http://schemas.openxmlformats.org/drawingml/2006/main">
            <a:r>
              <a:t>artifacts/qwen/clothing/results.json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gallery exposes the original twenty-seven evaluations through metric, paired-seed and training views. This matrix contains eighteen same-seed differences against Frozen, including losses. The three columns show all recorded seeds. The gallery adds inspection and export, while the evidence remains the same controlled study.</a:t>
            </a:r>
          </a:p>
          <a:p xmlns:a="http://schemas.openxmlformats.org/drawingml/2006/main">
            <a:r>
              <a:t/>
            </a:r>
          </a:p>
          <a:p xmlns:a="http://schemas.openxmlformats.org/drawingml/2006/main">
            <a:r>
              <a:t>Discussion notes</a:t>
            </a:r>
          </a:p>
          <a:p xmlns:a="http://schemas.openxmlformats.org/drawingml/2006/main">
            <a:r>
              <a:t>Each cell subtracts the Frozen test NDCG@10 for the same domain and seed. Semantic alignment wins 2 of 9 pairs and user preference wins 3 of 9. Three seeds, sample standard deviation and observed signs do not establish statistical significance. This feature displays existing runs and does not add a new experiment.</a:t>
            </a:r>
          </a:p>
          <a:p xmlns:a="http://schemas.openxmlformats.org/drawingml/2006/main">
            <a:r>
              <a:t/>
            </a:r>
          </a:p>
          <a:p xmlns:a="http://schemas.openxmlformats.org/drawingml/2006/main">
            <a:r>
              <a:t>Sources</a:t>
            </a:r>
          </a:p>
          <a:p xmlns:a="http://schemas.openxmlformats.org/drawingml/2006/main">
            <a:r>
              <a:t>assets/experiment_paired_matrix.png</a:t>
            </a:r>
          </a:p>
          <a:p xmlns:a="http://schemas.openxmlformats.org/drawingml/2006/main">
            <a:r>
              <a:t>src/shoplens/experiment_ui.py</a:t>
            </a:r>
          </a:p>
          <a:p xmlns:a="http://schemas.openxmlformats.org/drawingml/2006/main">
            <a:r>
              <a:t>src/shoplens/experiment_data.py</a:t>
            </a:r>
          </a:p>
          <a:p xmlns:a="http://schemas.openxmlformats.org/drawingml/2006/main">
            <a:r>
              <a:t>src/shoplens/experiment_charts.py</a:t>
            </a:r>
          </a:p>
          <a:p xmlns:a="http://schemas.openxmlformats.org/drawingml/2006/main">
            <a:r>
              <a:t>results/qwen/results_qwen_summary.json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 starts with a written request, here a compact stroller for everyday outings. Interpretation uses transparent rules and leaves editable fields. The user reviews omitted nuance before searching. Qwen retrieves products after Find products. Positive feedback is optional.</a:t>
            </a:r>
          </a:p>
          <a:p xmlns:a="http://schemas.openxmlformats.org/drawingml/2006/main">
            <a:r>
              <a:t/>
            </a:r>
          </a:p>
          <a:p xmlns:a="http://schemas.openxmlformats.org/drawingml/2006/main">
            <a:r>
              <a:t>Sources</a:t>
            </a:r>
          </a:p>
          <a:p xmlns:a="http://schemas.openxmlformats.org/drawingml/2006/main">
            <a:r>
              <a:t>assets/studio_brief.png</a:t>
            </a:r>
          </a:p>
          <a:p xmlns:a="http://schemas.openxmlformats.org/drawingml/2006/main">
            <a:r>
              <a:t>src/shoplens/studio_ui.py</a:t>
            </a:r>
          </a:p>
          <a:p xmlns:a="http://schemas.openxmlformats.org/drawingml/2006/main">
            <a:r>
              <a:t>src/shoplens/studio.py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arena follows one actual stroller across the three request lists. Frozen places it fifth, Semantic first and Preference sixth. Each query matches its candidate space, without positive feedback. The three Top-twelve lists contain twenty-four unique products. These differences reveal disagreement, with no relevance labels to establish which model is better.</a:t>
            </a:r>
          </a:p>
          <a:p xmlns:a="http://schemas.openxmlformats.org/drawingml/2006/main">
            <a:r>
              <a:t/>
            </a:r>
          </a:p>
          <a:p xmlns:a="http://schemas.openxmlformats.org/drawingml/2006/main">
            <a:r>
              <a:t>Discussion notes</a:t>
            </a:r>
          </a:p>
          <a:p xmlns:a="http://schemas.openxmlformats.org/drawingml/2006/main">
            <a:r>
              <a:t>The actual query is Find a stroller for everyday outings. Dream On Me / Mia Moda Veloce Stroller, Mint Java is ASIN B002UHJ0HK. The observed union contains 24 unique items, with 2 in all three lists, 8 in exactly two and 14 in exactly one. Each model retrieves its own top 200 text-similar candidates, including boundary ties. This application example is exploratory request retrieval, separate from the formal history-to-item test. A missing Top-K position remains unknown. Raw scores are not compared across models.</a:t>
            </a:r>
          </a:p>
          <a:p xmlns:a="http://schemas.openxmlformats.org/drawingml/2006/main">
            <a:r>
              <a:t/>
            </a:r>
          </a:p>
          <a:p xmlns:a="http://schemas.openxmlformats.org/drawingml/2006/main">
            <a:r>
              <a:t>Sources</a:t>
            </a:r>
          </a:p>
          <a:p xmlns:a="http://schemas.openxmlformats.org/drawingml/2006/main">
            <a:r>
              <a:t>assets/studio_model_arena.png</a:t>
            </a:r>
          </a:p>
          <a:p xmlns:a="http://schemas.openxmlformats.org/drawingml/2006/main">
            <a:r>
              <a:t>src/shoplens/studio_encoders.py</a:t>
            </a:r>
          </a:p>
          <a:p xmlns:a="http://schemas.openxmlformats.org/drawingml/2006/main">
            <a:r>
              <a:t>src/shoplens/studio_models.py</a:t>
            </a:r>
          </a:p>
          <a:p xmlns:a="http://schemas.openxmlformats.org/drawingml/2006/main">
            <a:r>
              <a:t>src/shoplens/studio_ui.py</a:t>
            </a:r>
          </a:p>
          <a:p xmlns:a="http://schemas.openxmlformats.org/drawingml/2006/main">
            <a:r>
              <a:t>src/shoplens/studio_charts.py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later state adds a catalogue photo, soft avoidance of bulky products and a historical price ceiling of one hundred and fifty dollars. Frozen CLIP supplies the image signal. Uploads stay in local memory. Filters can leave fewer results without expanding the retrieved pool.</a:t>
            </a:r>
          </a:p>
          <a:p xmlns:a="http://schemas.openxmlformats.org/drawingml/2006/main">
            <a:r>
              <a:t/>
            </a:r>
          </a:p>
          <a:p xmlns:a="http://schemas.openxmlformats.org/drawingml/2006/main">
            <a:r>
              <a:t>Discussion notes</a:t>
            </a:r>
          </a:p>
          <a:p xmlns:a="http://schemas.openxmlformats.org/drawingml/2006/main">
            <a:r>
              <a:t>This screenshot shows a separate, later refined Baby state from the Model arena capture. Actual selected reference is Capri Stroller - Red Tech and text weight is 0.65. The image source is Use catalog example, not an uploaded file. Current UI limits uploads to single JPG/PNG/WebP, 8 MB and 16 megapixels. Budget filtering excludes unknown prices. Source metadata categories are not verified product types. An avoid penalty does not guarantee perfect semantic exclusion.</a:t>
            </a:r>
          </a:p>
          <a:p xmlns:a="http://schemas.openxmlformats.org/drawingml/2006/main">
            <a:r>
              <a:t/>
            </a:r>
          </a:p>
          <a:p xmlns:a="http://schemas.openxmlformats.org/drawingml/2006/main">
            <a:r>
              <a:t>Sources</a:t>
            </a:r>
          </a:p>
          <a:p xmlns:a="http://schemas.openxmlformats.org/drawingml/2006/main">
            <a:r>
              <a:t>assets/studio_visual_filters.png</a:t>
            </a:r>
          </a:p>
          <a:p xmlns:a="http://schemas.openxmlformats.org/drawingml/2006/main">
            <a:r>
              <a:t>src/shoplens/studio_encoders.py</a:t>
            </a:r>
          </a:p>
          <a:p xmlns:a="http://schemas.openxmlformats.org/drawingml/2006/main">
            <a:r>
              <a:t>src/shoplens/studio.py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More like this adds positive evidence and activates the selected model’s trained history recommender. Less like this penalizes similar products. Hide removes an exact product. All reference products leave subsequent suggestions. The feedback manager exposes the current state and Undo. These actions rerank products using cached request vectors rather than retraining a model.</a:t>
            </a:r>
          </a:p>
          <a:p xmlns:a="http://schemas.openxmlformats.org/drawingml/2006/main">
            <a:r>
              <a:t/>
            </a:r>
          </a:p>
          <a:p xmlns:a="http://schemas.openxmlformats.org/drawingml/2006/main">
            <a:r>
              <a:t>Discussion notes</a:t>
            </a:r>
          </a:p>
          <a:p xmlns:a="http://schemas.openxmlformats.org/drawingml/2006/main">
            <a:r>
              <a:t>At most the latest 20 distinct positive products enter the history network. Shortlisting alone gives no training feedback. Feedback and query percentiles follow a disclosed application policy rather than the formal evaluation score.</a:t>
            </a:r>
          </a:p>
          <a:p xmlns:a="http://schemas.openxmlformats.org/drawingml/2006/main">
            <a:r>
              <a:t/>
            </a:r>
          </a:p>
          <a:p xmlns:a="http://schemas.openxmlformats.org/drawingml/2006/main">
            <a:r>
              <a:t>Sources</a:t>
            </a:r>
          </a:p>
          <a:p xmlns:a="http://schemas.openxmlformats.org/drawingml/2006/main">
            <a:r>
              <a:t>assets/studio_feedback.png</a:t>
            </a:r>
          </a:p>
          <a:p xmlns:a="http://schemas.openxmlformats.org/drawingml/2006/main">
            <a:r>
              <a:t>src/shoplens/studio_ui.py</a:t>
            </a:r>
          </a:p>
          <a:p xmlns:a="http://schemas.openxmlformats.org/drawingml/2006/main">
            <a:r>
              <a:t>src/shoplens/studio.py</a:t>
            </a:r>
          </a:p>
          <a:p xmlns:a="http://schemas.openxmlformats.org/drawingml/2006/main">
            <a:r>
              <a:t>src/shoplens/studio_models.py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shortlist compares a few real candidates through photographs, historical prices, categories and original descriptions. Source details can reveal information that embeddings miss. The user makes the final choice. Saving a shortlist item supplies no preference feedback.</a:t>
            </a:r>
          </a:p>
          <a:p xmlns:a="http://schemas.openxmlformats.org/drawingml/2006/main">
            <a:r>
              <a:t/>
            </a:r>
          </a:p>
          <a:p xmlns:a="http://schemas.openxmlformats.org/drawingml/2006/main">
            <a:r>
              <a:t>Sources</a:t>
            </a:r>
          </a:p>
          <a:p xmlns:a="http://schemas.openxmlformats.org/drawingml/2006/main">
            <a:r>
              <a:t>assets/studio_shortlist.png</a:t>
            </a:r>
          </a:p>
          <a:p xmlns:a="http://schemas.openxmlformats.org/drawingml/2006/main">
            <a:r>
              <a:t>src/shoplens/studio_ui.py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confirming a final choice, the user downloads the decision. JSON retains context and model provenance. CSV provides a simple shortlist. HTML includes catalogue photos in a standalone card. Exporting preserves the record after the session ends. The app places no order.</a:t>
            </a:r>
          </a:p>
          <a:p xmlns:a="http://schemas.openxmlformats.org/drawingml/2006/main">
            <a:r>
              <a:t/>
            </a:r>
          </a:p>
          <a:p xmlns:a="http://schemas.openxmlformats.org/drawingml/2006/main">
            <a:r>
              <a:t>Sources</a:t>
            </a:r>
          </a:p>
          <a:p xmlns:a="http://schemas.openxmlformats.org/drawingml/2006/main">
            <a:r>
              <a:t>assets/studio_export.png</a:t>
            </a:r>
          </a:p>
          <a:p xmlns:a="http://schemas.openxmlformats.org/drawingml/2006/main">
            <a:r>
              <a:t>src/shoplens/studio.py</a:t>
            </a:r>
          </a:p>
          <a:p xmlns:a="http://schemas.openxmlformats.org/drawingml/2006/main">
            <a:r>
              <a:t>src/shoplens/studio_ui.py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atlas places catalogue products, selected preferences and recommendations on one fixed PCA map. Clicking a point opens its photo, title and product ID and can add a preference. Switching models changes highlights while keeping coordinates fixed. The two-dimensional view loses information.</a:t>
            </a:r>
          </a:p>
          <a:p xmlns:a="http://schemas.openxmlformats.org/drawingml/2006/main">
            <a:r>
              <a:t/>
            </a:r>
          </a:p>
          <a:p xmlns:a="http://schemas.openxmlformats.org/drawingml/2006/main">
            <a:r>
              <a:t>Discussion notes</a:t>
            </a:r>
          </a:p>
          <a:p xmlns:a="http://schemas.openxmlformats.org/drawingml/2006/main">
            <a:r>
              <a:t>This earlier actual Baby capture shows the complete map and inspector together. The displayed capture does not identify all history items, so it is not treated as the same session as the fresh Research figures. The fixed PCA uses the Frozen candidate tower. The plotted sample is not the ranking candidate set. Ranking still uses the full eligible catalogue. The 2D variance fraction is shown, and proximity is a lossy projection rather than a causal explanation.</a:t>
            </a:r>
          </a:p>
          <a:p xmlns:a="http://schemas.openxmlformats.org/drawingml/2006/main">
            <a:r>
              <a:t/>
            </a:r>
          </a:p>
          <a:p xmlns:a="http://schemas.openxmlformats.org/drawingml/2006/main">
            <a:r>
              <a:t>Sources</a:t>
            </a:r>
          </a:p>
          <a:p xmlns:a="http://schemas.openxmlformats.org/drawingml/2006/main">
            <a:r>
              <a:t>assets/research_atlas_complete.jpg</a:t>
            </a:r>
          </a:p>
          <a:p xmlns:a="http://schemas.openxmlformats.org/drawingml/2006/main">
            <a:r>
              <a:t>src/shoplens/visual_data.py</a:t>
            </a:r>
          </a:p>
          <a:p xmlns:a="http://schemas.openxmlformats.org/drawingml/2006/main">
            <a:r>
              <a:t>src/shoplens/visual_ui.py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Preference lab shows how selected history products relate to recommended candidates in the actual one-hundred-and-twenty-eight-dimensional towers. The network retains positive and negative cosine links. A heatmap provides the same numerical relationship in a different form. These links are neither attention weights nor causal contributions to the final ranking.</a:t>
            </a:r>
          </a:p>
          <a:p xmlns:a="http://schemas.openxmlformats.org/drawingml/2006/main">
            <a:r>
              <a:t/>
            </a:r>
          </a:p>
          <a:p xmlns:a="http://schemas.openxmlformats.org/drawingml/2006/main">
            <a:r>
              <a:t>Sources</a:t>
            </a:r>
          </a:p>
          <a:p xmlns:a="http://schemas.openxmlformats.org/drawingml/2006/main">
            <a:r>
              <a:t>assets/research_network.png</a:t>
            </a:r>
          </a:p>
          <a:p xmlns:a="http://schemas.openxmlformats.org/drawingml/2006/main">
            <a:r>
              <a:t>src/shoplens/visual_ui.py</a:t>
            </a:r>
          </a:p>
          <a:p xmlns:a="http://schemas.openxmlformats.org/drawingml/2006/main">
            <a:r>
              <a:t>src/shoplens/visual_charts.py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Rank flow follows products across the three model lists for a fixed history. The adjacent view reports Top-K Jaccard overlap. Lines break when products leave the displayed list. We never invent their missing ranks. These views describe disagreement, rather than which list is correct.</a:t>
            </a:r>
          </a:p>
          <a:p xmlns:a="http://schemas.openxmlformats.org/drawingml/2006/main">
            <a:r>
              <a:t/>
            </a:r>
          </a:p>
          <a:p xmlns:a="http://schemas.openxmlformats.org/drawingml/2006/main">
            <a:r>
              <a:t>Sources</a:t>
            </a:r>
          </a:p>
          <a:p xmlns:a="http://schemas.openxmlformats.org/drawingml/2006/main">
            <a:r>
              <a:t>assets/research_rankflow.png</a:t>
            </a:r>
          </a:p>
          <a:p xmlns:a="http://schemas.openxmlformats.org/drawingml/2006/main">
            <a:r>
              <a:t>src/shoplens/visual_charts.py</a:t>
            </a:r>
          </a:p>
          <a:p xmlns:a="http://schemas.openxmlformats.org/drawingml/2006/main">
            <a:r>
              <a:t>src/shoplens/ui.py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removal experiment drops one active history item at a time and reruns the recommender. It measures score changes and retention of the original Top-K. It never backfills older history. Original selected products stay excluded. This is session sensitivity, rather than causal attribution.</a:t>
            </a:r>
          </a:p>
          <a:p xmlns:a="http://schemas.openxmlformats.org/drawingml/2006/main">
            <a:r>
              <a:t/>
            </a:r>
          </a:p>
          <a:p xmlns:a="http://schemas.openxmlformats.org/drawingml/2006/main">
            <a:r>
              <a:t>Discussion notes</a:t>
            </a:r>
          </a:p>
          <a:p xmlns:a="http://schemas.openxmlformats.org/drawingml/2006/main">
            <a:r>
              <a:t>This earlier actual Baby capture names Peg Perego Aria Twin, Capri Stroller Red Tech and Prince Lionheart Stroller Connectors. The model selector lies outside the capture. No numeric comparison with another capture or model is inferred. The result is conditional on its current history and selected seed42 model. It is neither a formal held-out metric nor a causal attribution. Empty and single-item histories do not invent a removal experiment.</a:t>
            </a:r>
          </a:p>
          <a:p xmlns:a="http://schemas.openxmlformats.org/drawingml/2006/main">
            <a:r>
              <a:t/>
            </a:r>
          </a:p>
          <a:p xmlns:a="http://schemas.openxmlformats.org/drawingml/2006/main">
            <a:r>
              <a:t>Sources</a:t>
            </a:r>
          </a:p>
          <a:p xmlns:a="http://schemas.openxmlformats.org/drawingml/2006/main">
            <a:r>
              <a:t>assets/research_removal_complete.jpg</a:t>
            </a:r>
          </a:p>
          <a:p xmlns:a="http://schemas.openxmlformats.org/drawingml/2006/main">
            <a:r>
              <a:t>src/shoplens/visual_data.py</a:t>
            </a:r>
          </a:p>
          <a:p xmlns:a="http://schemas.openxmlformats.org/drawingml/2006/main">
            <a:r>
              <a:t>src/shoplens/visual_ui.py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main finding is negative: neither adaptation objective improves average NDCG at ten in any domain under this budget. The interface makes the trained models inspectable and supports a complete decision workflow, but attractive examples cannot replace relevance evaluation. Three seeds, one Amazon source and static metadata limit the evidence. The references are the original Amazon archive, official Qwen documentation, LoRA, CLIP and BPR.</a:t>
            </a:r>
          </a:p>
          <a:p xmlns:a="http://schemas.openxmlformats.org/drawingml/2006/main">
            <a:r>
              <a:t/>
            </a:r>
          </a:p>
          <a:p xmlns:a="http://schemas.openxmlformats.org/drawingml/2006/main">
            <a:r>
              <a:t>Discussion notes</a:t>
            </a:r>
          </a:p>
          <a:p xmlns:a="http://schemas.openxmlformats.org/drawingml/2006/main">
            <a:r>
              <a:t>Earlier MiniLM baselines remain separate because their architecture and training budget differ. Clothing live CUDA LoRA training used MATH SDPA after a reproduced gradient failure, while earlier completed runs retained automatic dispatch. No specific fused-kernel cause or bitwise trajectory identity is established.</a:t>
            </a:r>
          </a:p>
          <a:p xmlns:a="http://schemas.openxmlformats.org/drawingml/2006/main">
            <a:r>
              <a:t/>
            </a:r>
          </a:p>
          <a:p xmlns:a="http://schemas.openxmlformats.org/drawingml/2006/main">
            <a:r>
              <a:t>Sources</a:t>
            </a:r>
          </a:p>
          <a:p xmlns:a="http://schemas.openxmlformats.org/drawingml/2006/main">
            <a:r>
              <a:t>results/qwen/results_qwen_summary.json</a:t>
            </a:r>
          </a:p>
          <a:p xmlns:a="http://schemas.openxmlformats.org/drawingml/2006/main">
            <a:r>
              <a:t>https://mcauleylab.ucsd.edu/public_datasets/data/amazon/datasets.html</a:t>
            </a:r>
          </a:p>
          <a:p xmlns:a="http://schemas.openxmlformats.org/drawingml/2006/main">
            <a:r>
              <a:t>https://huggingface.co/Qwen/Qwen3-Embedding-0.6B/tree/97b0c614be4d77ee51c0cef4e5f07c00f9eb65b3</a:t>
            </a:r>
          </a:p>
          <a:p xmlns:a="http://schemas.openxmlformats.org/drawingml/2006/main">
            <a:r>
              <a:t>https://arxiv.org/abs/2106.09685</a:t>
            </a:r>
          </a:p>
          <a:p xmlns:a="http://schemas.openxmlformats.org/drawingml/2006/main">
            <a:r>
              <a:t>https://proceedings.mlr.press/v139/radford21a.html</a:t>
            </a:r>
          </a:p>
          <a:p xmlns:a="http://schemas.openxmlformats.org/drawingml/2006/main">
            <a:r>
              <a:t>https://arxiv.org/abs/1205.2618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every cell uses the three actual complete pipeline seeds. Variation is a sample standard deviation, not a population confidence interval. Matched win counts pair the same domain and seed.</a:t>
            </a:r>
          </a:p>
          <a:p xmlns:a="http://schemas.openxmlformats.org/drawingml/2006/main">
            <a:r>
              <a:t/>
            </a:r>
          </a:p>
          <a:p xmlns:a="http://schemas.openxmlformats.org/drawingml/2006/main">
            <a:r>
              <a:t>Discussion notes</a:t>
            </a:r>
          </a:p>
          <a:p xmlns:a="http://schemas.openxmlformats.org/drawingml/2006/main">
            <a:r>
              <a:t>All 27 raw records passed the declared artifact and protocol audit. No diagnostic or synthetic run supplies these values.</a:t>
            </a:r>
          </a:p>
          <a:p xmlns:a="http://schemas.openxmlformats.org/drawingml/2006/main">
            <a:r>
              <a:t/>
            </a:r>
          </a:p>
          <a:p xmlns:a="http://schemas.openxmlformats.org/drawingml/2006/main">
            <a:r>
              <a:t>Sources</a:t>
            </a:r>
          </a:p>
          <a:p xmlns:a="http://schemas.openxmlformats.org/drawingml/2006/main">
            <a:r>
              <a:t>results/qwen/results_qwen_summary.json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sparse-item results remain close to zero, including zero in Baby. The cohort combines unseen items with low-interaction items, so it does not establish strict cold start. Clothing LoRA training used the MATH attention backend after same-state nonfinite-gradient diagnostics. That recovery does not identify a particular fused-kernel cause or establish bitwise-equivalent training.</a:t>
            </a:r>
          </a:p>
          <a:p xmlns:a="http://schemas.openxmlformats.org/drawingml/2006/main">
            <a:r>
              <a:t/>
            </a:r>
          </a:p>
          <a:p xmlns:a="http://schemas.openxmlformats.org/drawingml/2006/main">
            <a:r>
              <a:t>Discussion notes</a:t>
            </a:r>
          </a:p>
          <a:p xmlns:a="http://schemas.openxmlformats.org/drawingml/2006/main">
            <a:r>
              <a:t>Candidate cache numerical checks cover only the first min(4,N) live-Qwen candidates and one validation history. CPU serving replay checks a different layer of correctness.</a:t>
            </a:r>
          </a:p>
          <a:p xmlns:a="http://schemas.openxmlformats.org/drawingml/2006/main">
            <a:r>
              <a:t/>
            </a:r>
          </a:p>
          <a:p xmlns:a="http://schemas.openxmlformats.org/drawingml/2006/main">
            <a:r>
              <a:t>Sources</a:t>
            </a:r>
          </a:p>
          <a:p xmlns:a="http://schemas.openxmlformats.org/drawingml/2006/main">
            <a:r>
              <a:t>results/qwen/results_qwen_summary.json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the application and the formal experiment answer different questions. Studio uses a matching query encoder for each candidate space and retrieves a model-specific pool before applying constraints and feedback. The formal test instead begins with actual earlier history and ranks the complete eligible catalogue. Studio scores and examples cannot be substituted for those metrics.</a:t>
            </a:r>
          </a:p>
          <a:p xmlns:a="http://schemas.openxmlformats.org/drawingml/2006/main">
            <a:r>
              <a:t/>
            </a:r>
          </a:p>
          <a:p xmlns:a="http://schemas.openxmlformats.org/drawingml/2006/main">
            <a:r>
              <a:t>Discussion notes</a:t>
            </a:r>
          </a:p>
          <a:p xmlns:a="http://schemas.openxmlformats.org/drawingml/2006/main">
            <a:r>
              <a:t>All query arms share the shopping instruction, left padding, last-valid-token pooling, maximum 256 tokens and L2 normalization. Image-only requests can produce identical base retrieval lists. The trained head activates with positive history, which always uses frozen base history inputs.</a:t>
            </a:r>
          </a:p>
          <a:p xmlns:a="http://schemas.openxmlformats.org/drawingml/2006/main">
            <a:r>
              <a:t/>
            </a:r>
          </a:p>
          <a:p xmlns:a="http://schemas.openxmlformats.org/drawingml/2006/main">
            <a:r>
              <a:t>Sources</a:t>
            </a:r>
          </a:p>
          <a:p xmlns:a="http://schemas.openxmlformats.org/drawingml/2006/main">
            <a:r>
              <a:t>src/shoplens/studio_encoders.py</a:t>
            </a:r>
          </a:p>
          <a:p xmlns:a="http://schemas.openxmlformats.org/drawingml/2006/main">
            <a:r>
              <a:t>src/shoplens/studio_models.py</a:t>
            </a:r>
          </a:p>
          <a:p xmlns:a="http://schemas.openxmlformats.org/drawingml/2006/main">
            <a:r>
              <a:t>src/shoplens/studio.py</a:t>
            </a:r>
          </a:p>
          <a:p xmlns:a="http://schemas.openxmlformats.org/drawingml/2006/main">
            <a:r>
              <a:t>src/shoplens/qwen_evaluate.py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a result card exposes its original title, source category, historical price and computed text and image signals. The disclosed retrieval pool and penalty policy help the user inspect the current result. These signals do not establish suitability or explain the score causally.</a:t>
            </a:r>
          </a:p>
          <a:p xmlns:a="http://schemas.openxmlformats.org/drawingml/2006/main">
            <a:r>
              <a:t/>
            </a:r>
          </a:p>
          <a:p xmlns:a="http://schemas.openxmlformats.org/drawingml/2006/main">
            <a:r>
              <a:t>Discussion notes</a:t>
            </a:r>
          </a:p>
          <a:p xmlns:a="http://schemas.openxmlformats.org/drawingml/2006/main">
            <a:r>
              <a:t>This is the later Baby state with a reference photo, a 150 USD historical budget, soft avoid bulky and optional positive/negative/hidden feedback. The screenshot concerns Baby Trend Snap N Go Stroller, not the final chosen Aprica. Its observed text-query cosine is 0.7240 and image-query cosine is 0.9293 in this state.</a:t>
            </a:r>
          </a:p>
          <a:p xmlns:a="http://schemas.openxmlformats.org/drawingml/2006/main">
            <a:r>
              <a:t/>
            </a:r>
          </a:p>
          <a:p xmlns:a="http://schemas.openxmlformats.org/drawingml/2006/main">
            <a:r>
              <a:t>Sources</a:t>
            </a:r>
          </a:p>
          <a:p xmlns:a="http://schemas.openxmlformats.org/drawingml/2006/main">
            <a:r>
              <a:t>assets/studio_evidence.png</a:t>
            </a:r>
          </a:p>
          <a:p xmlns:a="http://schemas.openxmlformats.org/drawingml/2006/main">
            <a:r>
              <a:t>src/shoplens/studio_ui.py</a:t>
            </a:r>
          </a:p>
          <a:p xmlns:a="http://schemas.openxmlformats.org/drawingml/2006/main">
            <a:r>
              <a:t>src/shoplens/studio.py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Research recommendation evidence combines the product record with the selected history and model. It exposes cross-tower similarities and structured inference evidence. This page supports inspection of an individual recommendation, while the experiment dashboard provides the held-out quality measurements.</a:t>
            </a:r>
          </a:p>
          <a:p xmlns:a="http://schemas.openxmlformats.org/drawingml/2006/main">
            <a:r>
              <a:t/>
            </a:r>
          </a:p>
          <a:p xmlns:a="http://schemas.openxmlformats.org/drawingml/2006/main">
            <a:r>
              <a:t>Discussion notes</a:t>
            </a:r>
          </a:p>
          <a:p xmlns:a="http://schemas.openxmlformats.org/drawingml/2006/main">
            <a:r>
              <a:t>The actual Baby example selects Frozen and Fisher-Price Booster Seat, Blue/Green/Gray (B0000DEW8N), with the three displayed preset history items. This slide retains the original candidate description. The full inference evidence view exposes the actual scoring and provenance fields. Similarities remain diagnostics rather than causal score contributions.</a:t>
            </a:r>
          </a:p>
          <a:p xmlns:a="http://schemas.openxmlformats.org/drawingml/2006/main">
            <a:r>
              <a:t/>
            </a:r>
          </a:p>
          <a:p xmlns:a="http://schemas.openxmlformats.org/drawingml/2006/main">
            <a:r>
              <a:t>Sources</a:t>
            </a:r>
          </a:p>
          <a:p xmlns:a="http://schemas.openxmlformats.org/drawingml/2006/main">
            <a:r>
              <a:t>assets/research_evidence_product.png</a:t>
            </a:r>
          </a:p>
          <a:p xmlns:a="http://schemas.openxmlformats.org/drawingml/2006/main">
            <a:r>
              <a:t>src/shoplens/ui.py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the original three-column product view gives photographic evidence for each model’s first visible recommendation. The catalogue contains 7,037 Baby products. Top-twelve and Top-three views show subsets of results. Three refers to the model alternatives rather than the catalogue size.</a:t>
            </a:r>
          </a:p>
          <a:p xmlns:a="http://schemas.openxmlformats.org/drawingml/2006/main">
            <a:r>
              <a:t/>
            </a:r>
          </a:p>
          <a:p xmlns:a="http://schemas.openxmlformats.org/drawingml/2006/main">
            <a:r>
              <a:t>Discussion notes</a:t>
            </a:r>
          </a:p>
          <a:p xmlns:a="http://schemas.openxmlformats.org/drawingml/2006/main">
            <a:r>
              <a:t>This earlier actual Baby request screenshot is independent of the Model arena capture. It shows the first visible recommendation in each column, not every row of the Top 3. Each request uses the matching query and candidate encoder. The respective retrieved pools can differ. Product examples do not replace held-out relevance evaluation.</a:t>
            </a:r>
          </a:p>
          <a:p xmlns:a="http://schemas.openxmlformats.org/drawingml/2006/main">
            <a:r>
              <a:t/>
            </a:r>
          </a:p>
          <a:p xmlns:a="http://schemas.openxmlformats.org/drawingml/2006/main">
            <a:r>
              <a:t>Sources</a:t>
            </a:r>
          </a:p>
          <a:p xmlns:a="http://schemas.openxmlformats.org/drawingml/2006/main">
            <a:r>
              <a:t>assets/studio_models.jpg</a:t>
            </a:r>
          </a:p>
          <a:p xmlns:a="http://schemas.openxmlformats.org/drawingml/2006/main">
            <a:r>
              <a:t>src/shoplens/studio_ui.py</a:t>
            </a:r>
          </a:p>
          <a:p xmlns:a="http://schemas.openxmlformats.org/drawingml/2006/main">
            <a:r>
              <a:t>src/shoplens/studio_encoders.py</a:t>
            </a:r>
          </a:p>
          <a:p xmlns:a="http://schemas.openxmlformats.org/drawingml/2006/main">
            <a:r>
              <a:t>src/shoplens/studio_models.py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Experiment gallery displays the two recorded adaptation-epoch validation results for each arm. In Sports seed forty-four, all three models select epoch one. The rings mark those choices. Lines connect actual saved observations and do not show unrecorded optimization steps. Test results never choose the epoch.</a:t>
            </a:r>
          </a:p>
          <a:p xmlns:a="http://schemas.openxmlformats.org/drawingml/2006/main">
            <a:r>
              <a:t/>
            </a:r>
          </a:p>
          <a:p xmlns:a="http://schemas.openxmlformats.org/drawingml/2006/main">
            <a:r>
              <a:t>Discussion notes</a:t>
            </a:r>
          </a:p>
          <a:p xmlns:a="http://schemas.openxmlformats.org/drawingml/2006/main">
            <a:r>
              <a:t>Actual validation NDCG@10: Frozen epoch1 0.01039775584130691, epoch2 0.00887591995099229. Semantic epoch1 0.008968238048314637, epoch2 0.008466524502734576. Preference epoch1 0.010366837105701692, epoch2 0.008324549533718625. All select epoch1. Across the formal study, full-catalogue validation selects epoch1 or2. Frozen keeps its text encoder fixed while its recommendation head still trains. This Sports seed44 example differs from Studio’s selected seed42 serving models. dist/experiment-gallery is an optional separately generated or downloaded offline export folder, not a claim that generated files belong to the Git source tree.</a:t>
            </a:r>
          </a:p>
          <a:p xmlns:a="http://schemas.openxmlformats.org/drawingml/2006/main">
            <a:r>
              <a:t/>
            </a:r>
          </a:p>
          <a:p xmlns:a="http://schemas.openxmlformats.org/drawingml/2006/main">
            <a:r>
              <a:t>Sources</a:t>
            </a:r>
          </a:p>
          <a:p xmlns:a="http://schemas.openxmlformats.org/drawingml/2006/main">
            <a:r>
              <a:t>assets/experiment_training_sports_seed44.png</a:t>
            </a:r>
          </a:p>
          <a:p xmlns:a="http://schemas.openxmlformats.org/drawingml/2006/main">
            <a:r>
              <a:t>src/shoplens/experiment_charts.py</a:t>
            </a:r>
          </a:p>
          <a:p xmlns:a="http://schemas.openxmlformats.org/drawingml/2006/main">
            <a:r>
              <a:t>results/qwen/results_qwen_summary.json</a:t>
            </a:r>
          </a:p>
          <a:p xmlns:a="http://schemas.openxmlformats.org/drawingml/2006/main">
            <a:r>
              <a:t>scripts/export_experiment_gallery.py</a:t>
            </a:r>
          </a:p>
          <a:p xmlns:a="http://schemas.openxmlformats.org/drawingml/2006/main">
            <a:r>
              <a:t>dist/experiment-gallery/training_curves.csv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discussion: primary sources establish the data and model methods. The English experiment report and audited summary describe the formal study. Source code exposes the application and gallery calculations. The export script produces a standalone offline gallery with seven interactive figures, the plotted CSV values and structured evidence JSON.</a:t>
            </a:r>
          </a:p>
          <a:p xmlns:a="http://schemas.openxmlformats.org/drawingml/2006/main">
            <a:r>
              <a:t/>
            </a:r>
          </a:p>
          <a:p xmlns:a="http://schemas.openxmlformats.org/drawingml/2006/main">
            <a:r>
              <a:t>Discussion notes</a:t>
            </a:r>
          </a:p>
          <a:p xmlns:a="http://schemas.openxmlformats.org/drawingml/2006/main">
            <a:r>
              <a:t>Resolve src/..., scripts/..., reports/..., results/..., data/..., artifacts/... and dist/... from the repository root. Resolve assets/... relative to reports/. Runtime data and model artifacts require a separate runtime installation. The optional dist/experiment-gallery folder is generated by the export script or supplied as a separate offline export package. Its seven figures are four performance metrics, the paired seed matrix, paired effect summary and validation dynamics. The HTML embeds Plotly locally. This is presentation and export of the existing 27 evaluations, without retraining or new relevance measurements.</a:t>
            </a:r>
          </a:p>
          <a:p xmlns:a="http://schemas.openxmlformats.org/drawingml/2006/main">
            <a:r>
              <a:t/>
            </a:r>
          </a:p>
          <a:p xmlns:a="http://schemas.openxmlformats.org/drawingml/2006/main">
            <a:r>
              <a:t>Sources</a:t>
            </a:r>
          </a:p>
          <a:p xmlns:a="http://schemas.openxmlformats.org/drawingml/2006/main">
            <a:r>
              <a:t>https://mcauleylab.ucsd.edu/public_datasets/data/amazon/datasets.html</a:t>
            </a:r>
          </a:p>
          <a:p xmlns:a="http://schemas.openxmlformats.org/drawingml/2006/main">
            <a:r>
              <a:t>https://huggingface.co/Qwen/Qwen3-Embedding-0.6B/tree/97b0c614be4d77ee51c0cef4e5f07c00f9eb65b3</a:t>
            </a:r>
          </a:p>
          <a:p xmlns:a="http://schemas.openxmlformats.org/drawingml/2006/main">
            <a:r>
              <a:t>https://arxiv.org/abs/2106.09685</a:t>
            </a:r>
          </a:p>
          <a:p xmlns:a="http://schemas.openxmlformats.org/drawingml/2006/main">
            <a:r>
              <a:t>https://proceedings.mlr.press/v139/radford21a.html</a:t>
            </a:r>
          </a:p>
          <a:p xmlns:a="http://schemas.openxmlformats.org/drawingml/2006/main">
            <a:r>
              <a:t>https://arxiv.org/abs/1205.2618</a:t>
            </a:r>
          </a:p>
          <a:p xmlns:a="http://schemas.openxmlformats.org/drawingml/2006/main">
            <a:r>
              <a:t>reports/ShopLens_Qwen_report_en.md</a:t>
            </a:r>
          </a:p>
          <a:p xmlns:a="http://schemas.openxmlformats.org/drawingml/2006/main">
            <a:r>
              <a:t>results/qwen/results_qwen_summary.json</a:t>
            </a:r>
          </a:p>
          <a:p xmlns:a="http://schemas.openxmlformats.org/drawingml/2006/main">
            <a:r>
              <a:t>src/shoplens/experiment_data.py</a:t>
            </a:r>
          </a:p>
          <a:p xmlns:a="http://schemas.openxmlformats.org/drawingml/2006/main">
            <a:r>
              <a:t>src/shoplens/experiment_charts.py</a:t>
            </a:r>
          </a:p>
          <a:p xmlns:a="http://schemas.openxmlformats.org/drawingml/2006/main">
            <a:r>
              <a:t>scripts/export_experiment_gallery.py</a:t>
            </a:r>
          </a:p>
          <a:p xmlns:a="http://schemas.openxmlformats.org/drawingml/2006/main">
            <a:r>
              <a:t>dist/experiment-gallery/index.html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8a7f051ff949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c9434827f146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24917a630641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a9e07fe58741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14bcfc8bb84a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9b1f3b4da746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48ECD0-A4D7-4DD3-89BF-40071956BA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DE7CF3F-0AD1-43A6-8399-E6791FAA13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032540-E5AA-4EC1-A78E-4B768849DB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6B5DE1-C0D0-4B6D-9E8A-C365342706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F7E264-986A-4980-BEF2-7293FAFF94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E07E6F-00D9-40E6-9ECD-E1E3F4EFA9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93756C-244B-4F8A-91F1-5A7706FE2A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516230-6C9D-4E76-8276-A1EFDD81F2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FD5B6C-D9AB-4705-B4AB-57A498CB1E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88A69F-73A5-4A73-B17E-6D250B68F3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280b775c7e402e" /><Relationship Type="http://schemas.openxmlformats.org/officeDocument/2006/relationships/slideLayout" Target="/ppt/slideLayouts/slideLayout1.xml" Id="R026c77d6f67b4d33" /><Relationship Type="http://schemas.openxmlformats.org/officeDocument/2006/relationships/slideLayout" Target="/ppt/slideLayouts/slideLayout2.xml" Id="R6fffd011119d4441" /><Relationship Type="http://schemas.openxmlformats.org/officeDocument/2006/relationships/slideLayout" Target="/ppt/slideLayouts/slideLayout3.xml" Id="R5a2a484315354c7f" /><Relationship Type="http://schemas.openxmlformats.org/officeDocument/2006/relationships/slideLayout" Target="/ppt/slideLayouts/slideLayout4.xml" Id="R13646d388d524504" /><Relationship Type="http://schemas.openxmlformats.org/officeDocument/2006/relationships/slideLayout" Target="/ppt/slideLayouts/slideLayout5.xml" Id="R6733c2a6958f43e1" /><Relationship Type="http://schemas.openxmlformats.org/officeDocument/2006/relationships/slideLayout" Target="/ppt/slideLayouts/slideLayout6.xml" Id="R4d99b7ae89794c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6c77d6f67b4d33"/>
    <p:sldLayoutId xmlns:r="http://schemas.openxmlformats.org/officeDocument/2006/relationships" id="2147483650" r:id="R6fffd011119d4441"/>
    <p:sldLayoutId xmlns:r="http://schemas.openxmlformats.org/officeDocument/2006/relationships" id="2147483651" r:id="R5a2a484315354c7f"/>
    <p:sldLayoutId xmlns:r="http://schemas.openxmlformats.org/officeDocument/2006/relationships" id="2147483652" r:id="R13646d388d524504"/>
    <p:sldLayoutId xmlns:r="http://schemas.openxmlformats.org/officeDocument/2006/relationships" id="2147483653" r:id="R6733c2a6958f43e1"/>
    <p:sldLayoutId xmlns:r="http://schemas.openxmlformats.org/officeDocument/2006/relationships" id="2147483654" r:id="R4d99b7ae89794c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cb505ffa744189" /><Relationship Type="http://schemas.openxmlformats.org/officeDocument/2006/relationships/notesSlide" Target="/ppt/notesSlides/notesSlide1.xml" Id="R5e5adda574c746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547e5432834f5d" /><Relationship Type="http://schemas.openxmlformats.org/officeDocument/2006/relationships/notesSlide" Target="/ppt/notesSlides/notesSlide2.xml" Id="Rf3a3ce4aae514f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605418a2b9466d" /><Relationship Type="http://schemas.openxmlformats.org/officeDocument/2006/relationships/notesSlide" Target="/ppt/notesSlides/notesSlide3.xml" Id="Ra7ddd48e5e7a49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206048482f04f5a" /><Relationship Type="http://schemas.openxmlformats.org/officeDocument/2006/relationships/notesSlide" Target="/ppt/notesSlides/notesSlide4.xml" Id="Rbcf9243f4f954a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d6423fcb554756" /><Relationship Type="http://schemas.openxmlformats.org/officeDocument/2006/relationships/notesSlide" Target="/ppt/notesSlides/notesSlide5.xml" Id="R93eb73d9a5a6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62e8ce33424d0d" /><Relationship Type="http://schemas.openxmlformats.org/officeDocument/2006/relationships/chart" Target="/ppt/slides/charts/chart1.xml" Id="Refcced936e3d4ff3" /><Relationship Type="http://schemas.openxmlformats.org/officeDocument/2006/relationships/notesSlide" Target="/ppt/notesSlides/notesSlide6.xml" Id="Rb5533db75c434f19" /></Relationships>
</file>

<file path=ppt/slides/_rels/slide7.xml.rels><?xml version='1.0' encoding='utf-8'?>
<Relationships xmlns="http://schemas.openxmlformats.org/package/2006/relationships"><Relationship Type="http://schemas.openxmlformats.org/officeDocument/2006/relationships/slideLayout" Target="/ppt/slideLayouts/slideLayout6.xml" Id="R47b523dbfcc04f8e" /><Relationship Type="http://schemas.openxmlformats.org/officeDocument/2006/relationships/image" Target="../media/showcase-slide-07.jpeg" Id="Ra7b4c9cee9d64b37" /><Relationship Type="http://schemas.openxmlformats.org/officeDocument/2006/relationships/notesSlide" Target="/ppt/notesSlides/notesSlide7.xml" Id="Rc6babdab1bd148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26de2f97344c05" /><Relationship Type="http://schemas.openxmlformats.org/officeDocument/2006/relationships/image" Target="/ppt/media/image2.jpeg" Id="R55b8df90b9324f04" /><Relationship Type="http://schemas.openxmlformats.org/officeDocument/2006/relationships/notesSlide" Target="/ppt/notesSlides/notesSlide8.xml" Id="R084a0e7d78d147e1" /></Relationships>
</file>

<file path=ppt/slides/_rels/slide9.xml.rels><?xml version='1.0' encoding='utf-8'?>
<Relationships xmlns="http://schemas.openxmlformats.org/package/2006/relationships"><Relationship Type="http://schemas.openxmlformats.org/officeDocument/2006/relationships/slideLayout" Target="/ppt/slideLayouts/slideLayout6.xml" Id="Rc71d400197a644cb" /><Relationship Type="http://schemas.openxmlformats.org/officeDocument/2006/relationships/image" Target="../media/showcase-slide-09.jpeg" Id="Rf2070ad7ae6644be" /><Relationship Type="http://schemas.openxmlformats.org/officeDocument/2006/relationships/notesSlide" Target="/ppt/notesSlides/notesSlide9.xml" Id="R00dcf546dfba40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88ef0608444d6e" /><Relationship Type="http://schemas.openxmlformats.org/officeDocument/2006/relationships/image" Target="/ppt/media/image4.jpeg" Id="R0352df0bf5b443a0" /><Relationship Type="http://schemas.openxmlformats.org/officeDocument/2006/relationships/notesSlide" Target="/ppt/notesSlides/notesSlide10.xml" Id="Re1fca14940704e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c4a7fb619149a2" /><Relationship Type="http://schemas.openxmlformats.org/officeDocument/2006/relationships/image" Target="/ppt/media/image5.jpeg" Id="Rcacd0b6798a6423a" /><Relationship Type="http://schemas.openxmlformats.org/officeDocument/2006/relationships/notesSlide" Target="/ppt/notesSlides/notesSlide11.xml" Id="Rb29f62fc64fb45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a5366c427a467d" /><Relationship Type="http://schemas.openxmlformats.org/officeDocument/2006/relationships/image" Target="/ppt/media/image6.jpeg" Id="R5b4e0f588d4d407f" /><Relationship Type="http://schemas.openxmlformats.org/officeDocument/2006/relationships/notesSlide" Target="/ppt/notesSlides/notesSlide12.xml" Id="R4e3515c4db824e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efe8847f1346d2" /><Relationship Type="http://schemas.openxmlformats.org/officeDocument/2006/relationships/image" Target="/ppt/media/image7.jpeg" Id="R63e1c46883b949c3" /><Relationship Type="http://schemas.openxmlformats.org/officeDocument/2006/relationships/notesSlide" Target="/ppt/notesSlides/notesSlide13.xml" Id="R63079bddb68747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37b8d9f0a14ab3" /><Relationship Type="http://schemas.openxmlformats.org/officeDocument/2006/relationships/image" Target="/ppt/media/image8.jpeg" Id="R72e80405d7e6456b" /><Relationship Type="http://schemas.openxmlformats.org/officeDocument/2006/relationships/notesSlide" Target="/ppt/notesSlides/notesSlide14.xml" Id="Rc6978f3c246e4a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013ec551d440a3" /><Relationship Type="http://schemas.openxmlformats.org/officeDocument/2006/relationships/image" Target="/ppt/media/image9.jpeg" Id="R21b9058f6d794abf" /><Relationship Type="http://schemas.openxmlformats.org/officeDocument/2006/relationships/notesSlide" Target="/ppt/notesSlides/notesSlide15.xml" Id="Rc5a6a0ed65c948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0e48a798e84762" /><Relationship Type="http://schemas.openxmlformats.org/officeDocument/2006/relationships/image" Target="/ppt/media/image10.jpeg" Id="Rd08e2d9bfbc34019" /><Relationship Type="http://schemas.openxmlformats.org/officeDocument/2006/relationships/notesSlide" Target="/ppt/notesSlides/notesSlide16.xml" Id="Red2915a4431c49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4efc058c502424a" /><Relationship Type="http://schemas.openxmlformats.org/officeDocument/2006/relationships/image" Target="/ppt/media/image11.jpeg" Id="R58eff986c72f472c" /><Relationship Type="http://schemas.openxmlformats.org/officeDocument/2006/relationships/notesSlide" Target="/ppt/notesSlides/notesSlide17.xml" Id="R209c564ffab249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573dd22f07d424b" /><Relationship Type="http://schemas.openxmlformats.org/officeDocument/2006/relationships/notesSlide" Target="/ppt/notesSlides/notesSlide18.xml" Id="R9ad3e5c09a2946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69a3ff1274b42fb" /><Relationship Type="http://schemas.openxmlformats.org/officeDocument/2006/relationships/notesSlide" Target="/ppt/notesSlides/notesSlide19.xml" Id="R19ae69e313dc460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9a725e702cd41cc" /><Relationship Type="http://schemas.openxmlformats.org/officeDocument/2006/relationships/chart" Target="/ppt/slides/charts/chart2.xml" Id="Rd7b74bba829a4861" /><Relationship Type="http://schemas.openxmlformats.org/officeDocument/2006/relationships/notesSlide" Target="/ppt/notesSlides/notesSlide20.xml" Id="R71479a2005e047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909a7739b0e4434" /><Relationship Type="http://schemas.openxmlformats.org/officeDocument/2006/relationships/notesSlide" Target="/ppt/notesSlides/notesSlide21.xml" Id="R16f034a6d4b34f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04b2301d27c4b44" /><Relationship Type="http://schemas.openxmlformats.org/officeDocument/2006/relationships/image" Target="/ppt/media/image12.jpeg" Id="R76af7bc233434b67" /><Relationship Type="http://schemas.openxmlformats.org/officeDocument/2006/relationships/notesSlide" Target="/ppt/notesSlides/notesSlide22.xml" Id="R45656f0e22024cd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e97c1c5b7c74df8" /><Relationship Type="http://schemas.openxmlformats.org/officeDocument/2006/relationships/image" Target="/ppt/media/image13.jpeg" Id="R87fc7596b0224029" /><Relationship Type="http://schemas.openxmlformats.org/officeDocument/2006/relationships/notesSlide" Target="/ppt/notesSlides/notesSlide23.xml" Id="Rab57537587d241df" /></Relationships>
</file>

<file path=ppt/slides/_rels/slide24.xml.rels><?xml version='1.0' encoding='utf-8'?>
<Relationships xmlns="http://schemas.openxmlformats.org/package/2006/relationships"><Relationship Type="http://schemas.openxmlformats.org/officeDocument/2006/relationships/slideLayout" Target="/ppt/slideLayouts/slideLayout6.xml" Id="R1e8e69e6d5934825" /><Relationship Type="http://schemas.openxmlformats.org/officeDocument/2006/relationships/image" Target="../media/image3.jpeg" Id="Rab5ede6cc47f4092" /><Relationship Type="http://schemas.openxmlformats.org/officeDocument/2006/relationships/notesSlide" Target="/ppt/notesSlides/notesSlide24.xml" Id="Rb0dabe086dae4a2e" /></Relationships>
</file>

<file path=ppt/slides/_rels/slide25.xml.rels><?xml version='1.0' encoding='utf-8'?>
<Relationships xmlns="http://schemas.openxmlformats.org/package/2006/relationships"><Relationship Type="http://schemas.openxmlformats.org/officeDocument/2006/relationships/slideLayout" Target="/ppt/slideLayouts/slideLayout6.xml" Id="Rc2a092aa92004bbc" /><Relationship Type="http://schemas.openxmlformats.org/officeDocument/2006/relationships/image" Target="../media/showcase-slide-25.jpeg" Id="R70a7acd6c90b4041" /><Relationship Type="http://schemas.openxmlformats.org/officeDocument/2006/relationships/notesSlide" Target="/ppt/notesSlides/notesSlide25.xml" Id="Rce0c9be7cd824b7f" /></Relationships>
</file>

<file path=ppt/slides/_rels/slide26.xml.rels><?xml version='1.0' encoding='utf-8'?>
<Relationships xmlns="http://schemas.openxmlformats.org/package/2006/relationships"><Relationship Type="http://schemas.openxmlformats.org/officeDocument/2006/relationships/slideLayout" Target="/ppt/slideLayouts/slideLayout6.xml" Id="R75b567a23fe04d7a" /><Relationship Type="http://schemas.openxmlformats.org/officeDocument/2006/relationships/notesSlide" Target="/ppt/notesSlides/notesSlide26.xml" Id="R496c084c8f404e8c" /></Relationships>
</file>

<file path=ppt/slides/_rels/slide27.xml.rels><?xml version='1.0' encoding='utf-8'?>
<ns0:Relationships xmlns:ns0="http://schemas.openxmlformats.org/package/2006/relationships"><ns0:Relationship Type="http://schemas.openxmlformats.org/officeDocument/2006/relationships/slideLayout" Target="../slideLayouts/slideLayout6.xml" Id="R8fedfbb999eb47a4" /><ns0:Relationship Type="http://schemas.openxmlformats.org/officeDocument/2006/relationships/notesSlide" Target="../notesSlides/benchmarks-notesSlide1.xml" Id="R267cf397ca5a4afd" /></ns0:Relationships>
</file>

<file path=ppt/slides/_rels/slide28.xml.rels><?xml version='1.0' encoding='utf-8'?>
<ns0:Relationships xmlns:ns0="http://schemas.openxmlformats.org/package/2006/relationships"><ns0:Relationship Type="http://schemas.openxmlformats.org/officeDocument/2006/relationships/slideLayout" Target="../slideLayouts/slideLayout6.xml" Id="Ra68023068ab84bca" /><ns0:Relationship Type="http://schemas.openxmlformats.org/officeDocument/2006/relationships/chart" Target="charts/benchmarks-chart1.xml" Id="R39d728a4bd33432e" /><ns0:Relationship Type="http://schemas.openxmlformats.org/officeDocument/2006/relationships/notesSlide" Target="../notesSlides/benchmarks-notesSlide2.xml" Id="R0b4bab453e90427c" /></ns0:Relationships>
</file>

<file path=ppt/slides/_rels/slide29.xml.rels><?xml version='1.0' encoding='utf-8'?>
<ns0:Relationships xmlns:ns0="http://schemas.openxmlformats.org/package/2006/relationships"><ns0:Relationship Type="http://schemas.openxmlformats.org/officeDocument/2006/relationships/slideLayout" Target="../slideLayouts/slideLayout6.xml" Id="Rc6c1e5daa86c4805" /><ns0:Relationship Type="http://schemas.openxmlformats.org/officeDocument/2006/relationships/notesSlide" Target="../notesSlides/benchmarks-notesSlide3.xml" Id="R6b653d8dd2a64533" /></ns0:Relationships>
</file>

<file path=ppt/slides/_rels/slide30.xml.rels><?xml version='1.0' encoding='utf-8'?>
<ns0:Relationships xmlns:ns0="http://schemas.openxmlformats.org/package/2006/relationships"><ns0:Relationship Type="http://schemas.openxmlformats.org/officeDocument/2006/relationships/slideLayout" Target="../slideLayouts/slideLayout6.xml" Id="Rc6c601bd0ac145a7" /><ns0:Relationship Type="http://schemas.openxmlformats.org/officeDocument/2006/relationships/chart" Target="charts/benchmarks-chart2.xml" Id="R1ecb0db8b675430a" /><ns0:Relationship Type="http://schemas.openxmlformats.org/officeDocument/2006/relationships/notesSlide" Target="../notesSlides/benchmarks-notesSlide4.xml" Id="R252b8464d4f34fae" /></ns0:Relationships>
</file>

<file path=ppt/slides/_rels/slide31.xml.rels><?xml version='1.0' encoding='utf-8'?>
<ns0:Relationships xmlns:ns0="http://schemas.openxmlformats.org/package/2006/relationships"><ns0:Relationship Type="http://schemas.openxmlformats.org/officeDocument/2006/relationships/slideLayout" Target="../slideLayouts/slideLayout6.xml" Id="R90fde001484242d2" /><ns0:Relationship Type="http://schemas.openxmlformats.org/officeDocument/2006/relationships/image" Target="../media/benchmarks-image.jpeg" Id="R53319a6d40fb466b" /><ns0:Relationship Type="http://schemas.openxmlformats.org/officeDocument/2006/relationships/image" Target="../media/benchmarks-image2.jpeg" Id="Ra51b731f19644493" /><ns0:Relationship Type="http://schemas.openxmlformats.org/officeDocument/2006/relationships/image" Target="../media/benchmarks-image3.jpeg" Id="R14cb92c3319a4086" /><ns0:Relationship Type="http://schemas.openxmlformats.org/officeDocument/2006/relationships/image" Target="../media/benchmarks-image4.jpeg" Id="R93f14e5661ea41c5" /><ns0:Relationship Type="http://schemas.openxmlformats.org/officeDocument/2006/relationships/image" Target="../media/benchmarks-image5.jpeg" Id="Rb16a4b99398e4bbc" /><ns0:Relationship Type="http://schemas.openxmlformats.org/officeDocument/2006/relationships/image" Target="../media/benchmarks-image6.jpeg" Id="R39ca2033ef194b3e" /><ns0:Relationship Type="http://schemas.openxmlformats.org/officeDocument/2006/relationships/notesSlide" Target="../notesSlides/benchmarks-notesSlide5.xml" Id="Rc1e21628568146be" /></ns0:Relationships>
</file>

<file path=ppt/slides/_rels/slide32.xml.rels><?xml version='1.0' encoding='utf-8'?>
<ns0:Relationships xmlns:ns0="http://schemas.openxmlformats.org/package/2006/relationships"><ns0:Relationship Type="http://schemas.openxmlformats.org/officeDocument/2006/relationships/slideLayout" Target="../slideLayouts/slideLayout6.xml" Id="R450b22b39a3748a4" /><ns0:Relationship Type="http://schemas.openxmlformats.org/officeDocument/2006/relationships/chart" Target="charts/benchmarks-chart3.xml" Id="R6d779330d8ab4956" /><ns0:Relationship Type="http://schemas.openxmlformats.org/officeDocument/2006/relationships/chart" Target="charts/benchmarks-chart4.xml" Id="R92b3d8d46c6b409e" /><ns0:Relationship Type="http://schemas.openxmlformats.org/officeDocument/2006/relationships/notesSlide" Target="../notesSlides/benchmarks-notesSlide6.xml" Id="R05800ddf4c3b4d97" /></ns0:Relationships>
</file>

<file path=ppt/slides/_rels/slide33.xml.rels><?xml version='1.0' encoding='utf-8'?>
<ns0:Relationships xmlns:ns0="http://schemas.openxmlformats.org/package/2006/relationships"><ns0:Relationship Type="http://schemas.openxmlformats.org/officeDocument/2006/relationships/slideLayout" Target="../slideLayouts/slideLayout6.xml" Id="Rce7c59e483304c2d" /><ns0:Relationship Type="http://schemas.openxmlformats.org/officeDocument/2006/relationships/chart" Target="charts/benchmarks-chart5.xml" Id="R9df7534252d64842" /><ns0:Relationship Type="http://schemas.openxmlformats.org/officeDocument/2006/relationships/notesSlide" Target="../notesSlides/benchmarks-notesSlide7.xml" Id="R7fa3abd66b724460" /></ns0:Relationships>
</file>

<file path=ppt/slides/_rels/slide34.xml.rels><?xml version='1.0' encoding='utf-8'?>
<ns0:Relationships xmlns:ns0="http://schemas.openxmlformats.org/package/2006/relationships"><ns0:Relationship Type="http://schemas.openxmlformats.org/officeDocument/2006/relationships/slideLayout" Target="../slideLayouts/slideLayout6.xml" Id="R33be17445a4e474e" /><ns0:Relationship Type="http://schemas.openxmlformats.org/officeDocument/2006/relationships/notesSlide" Target="../notesSlides/benchmarks-notesSlide8.xml" Id="R9724acdce12645ea" /></ns0:Relationships>
</file>

<file path=ppt/slides/charts/_rels/benchmarks-chart1.xml.rels><?xml version='1.0' encoding='utf-8'?>
<ns0:Relationships xmlns:ns0="http://schemas.openxmlformats.org/package/2006/relationships"><ns0:Relationship Id="rIdChartSnapshot1" Type="http://schemas.openxmlformats.org/officeDocument/2006/relationships/package" Target="../../embeddings/benchmarks-chart-data-snapshot-001.xlsx" /></ns0:Relationships>
</file>

<file path=ppt/slides/charts/_rels/benchmarks-chart2.xml.rels><?xml version='1.0' encoding='utf-8'?>
<ns0:Relationships xmlns:ns0="http://schemas.openxmlformats.org/package/2006/relationships"><ns0:Relationship Id="rIdChartSnapshot1" Type="http://schemas.openxmlformats.org/officeDocument/2006/relationships/package" Target="../../embeddings/benchmarks-chart-data-snapshot-002.xlsx" /></ns0:Relationships>
</file>

<file path=ppt/slides/charts/_rels/benchmarks-chart3.xml.rels><?xml version='1.0' encoding='utf-8'?>
<ns0:Relationships xmlns:ns0="http://schemas.openxmlformats.org/package/2006/relationships"><ns0:Relationship Id="rIdChartSnapshot1" Type="http://schemas.openxmlformats.org/officeDocument/2006/relationships/package" Target="../../embeddings/benchmarks-chart-data-snapshot-003.xlsx" /></ns0:Relationships>
</file>

<file path=ppt/slides/charts/_rels/benchmarks-chart4.xml.rels><?xml version='1.0' encoding='utf-8'?>
<ns0:Relationships xmlns:ns0="http://schemas.openxmlformats.org/package/2006/relationships"><ns0:Relationship Id="rIdChartSnapshot1" Type="http://schemas.openxmlformats.org/officeDocument/2006/relationships/package" Target="../../embeddings/benchmarks-chart-data-snapshot-004.xlsx" /></ns0:Relationships>
</file>

<file path=ppt/slides/charts/_rels/benchmarks-chart5.xml.rels><?xml version='1.0' encoding='utf-8'?>
<ns0:Relationships xmlns:ns0="http://schemas.openxmlformats.org/package/2006/relationships"><ns0:Relationship Id="rIdChartSnapshot1" Type="http://schemas.openxmlformats.org/officeDocument/2006/relationships/package" Target="../../embeddings/benchmarks-chart-data-snapshot-005.xlsx"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benchmark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43C"/>
                </a:solidFill>
                <a:latin typeface="Helvetica Neue"/>
                <a:ea typeface="Helvetica Neue"/>
                <a:cs typeface="Helvetica Neue"/>
              </a:rPr>
              <a:t>Official candidate lists, at most 40 products</a:t>
            </a:r>
          </a:p>
        </c:rich>
      </c:tx>
      <c:overlay val="0"/>
      <c:txPr>
        <a:bodyPr xmlns:a="http://schemas.openxmlformats.org/drawingml/2006/main" anchorCtr="1"/>
        <a:lstStyle xmlns:a="http://schemas.openxmlformats.org/drawingml/2006/main"/>
        <a:p xmlns:a="http://schemas.openxmlformats.org/drawingml/2006/main">
          <a:pPr>
            <a:defRPr sz="1800">
              <a:solidFill>
                <a:srgbClr val="17243C"/>
              </a:solidFill>
              <a:latin typeface="Helvetica Neue"/>
              <a:ea typeface="Helvetica Neue"/>
              <a:cs typeface="Helvetica Neue"/>
            </a:defRPr>
          </a:pPr>
        </a:p>
      </c:txPr>
    </c:title>
    <c:plotArea>
      <c:barChart>
        <c:barDir val="col"/>
        <c:grouping val="clustered"/>
        <c:varyColors val="0"/>
        <c:ser>
          <c:idx val="0"/>
          <c:order val="0"/>
          <c:tx>
            <c:v>Mean NDCG@10</c:v>
          </c:tx>
          <c:spPr>
            <a:solidFill xmlns:a="http://schemas.openxmlformats.org/drawingml/2006/main">
              <a:srgbClr val="546982"/>
            </a:solidFill>
          </c:spPr>
          <c:invertIfNegative val="0"/>
          <c:dPt>
            <c:idx val="0"/>
            <c:invertIfNegative val="0"/>
            <c:spPr>
              <a:solidFill xmlns:a="http://schemas.openxmlformats.org/drawingml/2006/main">
                <a:srgbClr val="C9933D"/>
              </a:solidFill>
            </c:spPr>
          </c:dPt>
          <c:dPt>
            <c:idx val="1"/>
            <c:invertIfNegative val="0"/>
            <c:spPr>
              <a:solidFill xmlns:a="http://schemas.openxmlformats.org/drawingml/2006/main">
                <a:srgbClr val="546982"/>
              </a:solidFill>
            </c:spPr>
          </c:dPt>
          <c:dPt>
            <c:idx val="2"/>
            <c:invertIfNegative val="0"/>
            <c:spPr>
              <a:solidFill xmlns:a="http://schemas.openxmlformats.org/drawingml/2006/main">
                <a:srgbClr val="347CDB"/>
              </a:solidFill>
            </c:spPr>
          </c:dPt>
          <c:dPt>
            <c:idx val="3"/>
            <c:invertIfNegative val="0"/>
            <c:spPr>
              <a:solidFill xmlns:a="http://schemas.openxmlformats.org/drawingml/2006/main">
                <a:srgbClr val="1A967B"/>
              </a:solidFill>
            </c:spPr>
          </c:dPt>
          <c:cat>
            <c:strRef>
              <c:f>'Chart Data'!$A$2:$A$5</c:f>
              <c:strCache>
                <c:ptCount val="4"/>
                <c:pt idx="0">
                  <c:v>TF-IDF</c:v>
                </c:pt>
                <c:pt idx="1">
                  <c:v>Frozen</c:v>
                </c:pt>
                <c:pt idx="2">
                  <c:v>Semantic</c:v>
                </c:pt>
                <c:pt idx="3">
                  <c:v>Preference</c:v>
                </c:pt>
              </c:strCache>
            </c:strRef>
          </c:cat>
          <c:val>
            <c:numRef>
              <c:f>'Chart Data'!$B$2:$B$5</c:f>
              <c:numCache>
                <c:formatCode>0.000</c:formatCode>
                <c:ptCount val="4"/>
                <c:pt idx="0">
                  <c:v>0.69158379041813</c:v>
                </c:pt>
                <c:pt idx="1">
                  <c:v>0.72445989688711</c:v>
                </c:pt>
                <c:pt idx="2">
                  <c:v>0.72417326795461</c:v>
                </c:pt>
                <c:pt idx="3">
                  <c:v>0.73044115480075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1724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575">
                <a:solidFill>
                  <a:srgbClr val="17243C"/>
                </a:solidFill>
                <a:latin typeface="Helvetica Neue"/>
                <a:ea typeface="Helvetica Neue"/>
                <a:cs typeface="Helvetica Neue"/>
              </a:defRPr>
            </a:pPr>
          </a:p>
        </c:txPr>
        <c:crossAx val="48672768"/>
      </c:catAx>
      <c:valAx>
        <c:axId val="48672768"/>
        <c:scaling>
          <c:orientation val="minMax"/>
          <c:max val="0.8"/>
          <c:min val="0"/>
        </c:scaling>
        <c:delete val="0"/>
        <c:axPos val="l"/>
        <c:majorGridlines>
          <c:spPr>
            <a:ln xmlns:a="http://schemas.openxmlformats.org/drawingml/2006/main" w="9525">
              <a:solidFill>
                <a:srgbClr val="DDE5EF"/>
              </a:solidFill>
            </a:ln>
          </c:spPr>
        </c:majorGridlines>
        <c:title>
          <c:tx>
            <c:rich>
              <a:bodyPr xmlns:a="http://schemas.openxmlformats.org/drawingml/2006/main"/>
              <a:lstStyle xmlns:a="http://schemas.openxmlformats.org/drawingml/2006/main"/>
              <a:p xmlns:a="http://schemas.openxmlformats.org/drawingml/2006/main">
                <a:r>
                  <a:rPr sz="1425">
                    <a:solidFill>
                      <a:srgbClr val="586C7C"/>
                    </a:solidFill>
                    <a:latin typeface="Helvetica Neue"/>
                    <a:ea typeface="Helvetica Neue"/>
                    <a:cs typeface="Helvetica Neue"/>
                  </a:rPr>
                  <a:t>Mean NDCG@10</a:t>
                </a:r>
              </a:p>
            </c:rich>
          </c:tx>
          <c:overlay val="0"/>
          <c:txPr>
            <a:bodyPr xmlns:a="http://schemas.openxmlformats.org/drawingml/2006/main" anchorCtr="1"/>
            <a:lstStyle xmlns:a="http://schemas.openxmlformats.org/drawingml/2006/main"/>
            <a:p xmlns:a="http://schemas.openxmlformats.org/drawingml/2006/main">
              <a:pPr>
                <a:defRPr sz="1425">
                  <a:solidFill>
                    <a:srgbClr val="586C7C"/>
                  </a:solidFill>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crossAx val="48650112"/>
        <c:crossBetween val="between"/>
      </c:valAx>
      <c:spPr>
        <a:solidFill xmlns:a="http://schemas.openxmlformats.org/drawingml/2006/main">
          <a:srgbClr val="F6F8FC"/>
        </a:solidFill>
        <a:ln xmlns:a="http://schemas.openxmlformats.org/drawingml/2006/main" w="0">
          <a:noFill/>
        </a:ln>
      </c:spPr>
    </c:plotArea>
    <c:plotVisOnly val="1"/>
  </c:chart>
  <c:spPr>
    <a:solidFill xmlns:a="http://schemas.openxmlformats.org/drawingml/2006/main">
      <a:srgbClr val="F6F8FC"/>
    </a:solidFill>
    <a:ln xmlns:a="http://schemas.openxmlformats.org/drawingml/2006/main" w="0">
      <a:noFill/>
    </a:ln>
  </c:spPr>
  <c:externalData r:id="rIdChartSnapshot1">
    <c:autoUpdate val="0"/>
  </c:externalData>
</c:chartSpace>
</file>

<file path=ppt/slides/charts/benchmark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43C"/>
                </a:solidFill>
                <a:latin typeface="Helvetica Neue"/>
                <a:ea typeface="Helvetica Neue"/>
                <a:cs typeface="Helvetica Neue"/>
              </a:rPr>
              <a:t>Category-macro target retrieval</a:t>
            </a:r>
          </a:p>
        </c:rich>
      </c:tx>
      <c:overlay val="0"/>
      <c:txPr>
        <a:bodyPr xmlns:a="http://schemas.openxmlformats.org/drawingml/2006/main" anchorCtr="1"/>
        <a:lstStyle xmlns:a="http://schemas.openxmlformats.org/drawingml/2006/main"/>
        <a:p xmlns:a="http://schemas.openxmlformats.org/drawingml/2006/main">
          <a:pPr>
            <a:defRPr sz="1800">
              <a:solidFill>
                <a:srgbClr val="17243C"/>
              </a:solidFill>
              <a:latin typeface="Helvetica Neue"/>
              <a:ea typeface="Helvetica Neue"/>
              <a:cs typeface="Helvetica Neue"/>
            </a:defRPr>
          </a:pPr>
        </a:p>
      </c:txPr>
    </c:title>
    <c:plotArea>
      <c:barChart>
        <c:barDir val="col"/>
        <c:grouping val="clustered"/>
        <c:varyColors val="0"/>
        <c:ser>
          <c:idx val="0"/>
          <c:order val="0"/>
          <c:tx>
            <c:v>Recall@10</c:v>
          </c:tx>
          <c:spPr>
            <a:solidFill xmlns:a="http://schemas.openxmlformats.org/drawingml/2006/main">
              <a:srgbClr val="347CDB"/>
            </a:solidFill>
          </c:spPr>
          <c:invertIfNegative val="0"/>
          <c:cat>
            <c:strRef>
              <c:f>'Chart Data'!$A$2:$A$5</c:f>
              <c:strCache>
                <c:ptCount val="4"/>
                <c:pt idx="0">
                  <c:v>Image only</c:v>
                </c:pt>
                <c:pt idx="1">
                  <c:v>Text only</c:v>
                </c:pt>
                <c:pt idx="2">
                  <c:v>Fixed fusion</c:v>
                </c:pt>
                <c:pt idx="3">
                  <c:v>Learned fusion</c:v>
                </c:pt>
              </c:strCache>
            </c:strRef>
          </c:cat>
          <c:val>
            <c:numRef>
              <c:f>'Chart Data'!$B$2:$B$5</c:f>
              <c:numCache>
                <c:formatCode>0.0%</c:formatCode>
                <c:ptCount val="4"/>
                <c:pt idx="0">
                  <c:v>0.21252909385587</c:v>
                </c:pt>
                <c:pt idx="1">
                  <c:v>0.56054492335064</c:v>
                </c:pt>
                <c:pt idx="2">
                  <c:v>0.40101234432502</c:v>
                </c:pt>
                <c:pt idx="3">
                  <c:v>0.52270615510224</c:v>
                </c:pt>
              </c:numCache>
            </c:numRef>
          </c:val>
        </c:ser>
        <c:ser>
          <c:idx val="1"/>
          <c:order val="1"/>
          <c:tx>
            <c:v>Recall@50</c:v>
          </c:tx>
          <c:spPr>
            <a:solidFill xmlns:a="http://schemas.openxmlformats.org/drawingml/2006/main">
              <a:srgbClr val="1A967B"/>
            </a:solidFill>
          </c:spPr>
          <c:invertIfNegative val="0"/>
          <c:cat>
            <c:strRef>
              <c:f>'Chart Data'!$C$2:$C$5</c:f>
              <c:strCache>
                <c:ptCount val="4"/>
                <c:pt idx="0">
                  <c:v>Image only</c:v>
                </c:pt>
                <c:pt idx="1">
                  <c:v>Text only</c:v>
                </c:pt>
                <c:pt idx="2">
                  <c:v>Fixed fusion</c:v>
                </c:pt>
                <c:pt idx="3">
                  <c:v>Learned fusion</c:v>
                </c:pt>
              </c:strCache>
            </c:strRef>
          </c:cat>
          <c:val>
            <c:numRef>
              <c:f>'Chart Data'!$D$2:$D$5</c:f>
              <c:numCache>
                <c:formatCode>0.0%</c:formatCode>
                <c:ptCount val="4"/>
                <c:pt idx="0">
                  <c:v>0.41789668177719</c:v>
                </c:pt>
                <c:pt idx="1">
                  <c:v>0.78009005386171</c:v>
                </c:pt>
                <c:pt idx="2">
                  <c:v>0.64129027442665</c:v>
                </c:pt>
                <c:pt idx="3">
                  <c:v>0.80133085350101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solidFill>
                    <a:srgbClr val="1724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575">
                <a:solidFill>
                  <a:srgbClr val="17243C"/>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DE5E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crossAx val="48650112"/>
        <c:crossBetween val="between"/>
      </c:valAx>
      <c:spPr>
        <a:solidFill xmlns:a="http://schemas.openxmlformats.org/drawingml/2006/main">
          <a:srgbClr val="F6F8FC"/>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legend>
    <c:plotVisOnly val="1"/>
  </c:chart>
  <c:spPr>
    <a:solidFill xmlns:a="http://schemas.openxmlformats.org/drawingml/2006/main">
      <a:srgbClr val="F6F8FC"/>
    </a:solidFill>
    <a:ln xmlns:a="http://schemas.openxmlformats.org/drawingml/2006/main" w="0">
      <a:noFill/>
    </a:ln>
  </c:spPr>
  <c:externalData r:id="rIdChartSnapshot1">
    <c:autoUpdate val="0"/>
  </c:externalData>
</c:chartSpace>
</file>

<file path=ppt/slides/charts/benchmark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43C"/>
                </a:solidFill>
                <a:latin typeface="Helvetica Neue"/>
                <a:ea typeface="Helvetica Neue"/>
                <a:cs typeface="Helvetica Neue"/>
              </a:rPr>
              <a:t>History cap and NDCG@10</a:t>
            </a:r>
          </a:p>
        </c:rich>
      </c:tx>
      <c:overlay val="0"/>
      <c:txPr>
        <a:bodyPr xmlns:a="http://schemas.openxmlformats.org/drawingml/2006/main" anchorCtr="1"/>
        <a:lstStyle xmlns:a="http://schemas.openxmlformats.org/drawingml/2006/main"/>
        <a:p xmlns:a="http://schemas.openxmlformats.org/drawingml/2006/main">
          <a:pPr>
            <a:defRPr sz="1800">
              <a:solidFill>
                <a:srgbClr val="17243C"/>
              </a:solidFill>
              <a:latin typeface="Helvetica Neue"/>
              <a:ea typeface="Helvetica Neue"/>
              <a:cs typeface="Helvetica Neue"/>
            </a:defRPr>
          </a:pPr>
        </a:p>
      </c:txPr>
    </c:title>
    <c:plotArea>
      <c:lineChart>
        <c:grouping val="standard"/>
        <c:varyColors val="0"/>
        <c:ser>
          <c:idx val="0"/>
          <c:order val="0"/>
          <c:tx>
            <c:v>Frozen</c:v>
          </c:tx>
          <c:spPr>
            <a:ln xmlns:a="http://schemas.openxmlformats.org/drawingml/2006/main" w="28575">
              <a:solidFill>
                <a:srgbClr val="546982"/>
              </a:solidFill>
            </a:ln>
          </c:spPr>
          <c:marker>
            <c:symbol val="circle"/>
            <c:size val="6"/>
            <c:spPr>
              <a:solidFill xmlns:a="http://schemas.openxmlformats.org/drawingml/2006/main">
                <a:srgbClr val="546982"/>
              </a:solidFill>
            </c:spPr>
          </c:marker>
          <c:cat>
            <c:numRef>
              <c:f>'Chart Data'!$A$2:$A$6</c:f>
              <c:numCache>
                <c:formatCode>General</c:formatCode>
                <c:ptCount val="5"/>
                <c:pt idx="0">
                  <c:v>1</c:v>
                </c:pt>
                <c:pt idx="1">
                  <c:v>3</c:v>
                </c:pt>
                <c:pt idx="2">
                  <c:v>5</c:v>
                </c:pt>
                <c:pt idx="3">
                  <c:v>10</c:v>
                </c:pt>
                <c:pt idx="4">
                  <c:v>20</c:v>
                </c:pt>
              </c:numCache>
            </c:numRef>
          </c:cat>
          <c:val>
            <c:numRef>
              <c:f>'Chart Data'!$B$2:$B$6</c:f>
              <c:numCache>
                <c:formatCode>0.0000</c:formatCode>
                <c:ptCount val="5"/>
                <c:pt idx="0">
                  <c:v>0.0055866345455935</c:v>
                </c:pt>
                <c:pt idx="1">
                  <c:v>0.0043569999654432</c:v>
                </c:pt>
                <c:pt idx="2">
                  <c:v>0.0058464679461839</c:v>
                </c:pt>
                <c:pt idx="3">
                  <c:v>0.0055471715637723</c:v>
                </c:pt>
                <c:pt idx="4">
                  <c:v>0.0055041672786774</c:v>
                </c:pt>
              </c:numCache>
            </c:numRef>
          </c:val>
          <c:smooth val="0"/>
        </c:ser>
        <c:ser>
          <c:idx val="1"/>
          <c:order val="1"/>
          <c:tx>
            <c:v>Semantic</c:v>
          </c:tx>
          <c:spPr>
            <a:ln xmlns:a="http://schemas.openxmlformats.org/drawingml/2006/main" w="28575">
              <a:solidFill>
                <a:srgbClr val="347CDB"/>
              </a:solidFill>
            </a:ln>
          </c:spPr>
          <c:marker>
            <c:symbol val="circle"/>
            <c:size val="6"/>
            <c:spPr>
              <a:solidFill xmlns:a="http://schemas.openxmlformats.org/drawingml/2006/main">
                <a:srgbClr val="347CDB"/>
              </a:solidFill>
            </c:spPr>
          </c:marker>
          <c:cat>
            <c:numRef>
              <c:f>'Chart Data'!$C$2:$C$6</c:f>
              <c:numCache>
                <c:formatCode>General</c:formatCode>
                <c:ptCount val="5"/>
                <c:pt idx="0">
                  <c:v>1</c:v>
                </c:pt>
                <c:pt idx="1">
                  <c:v>3</c:v>
                </c:pt>
                <c:pt idx="2">
                  <c:v>5</c:v>
                </c:pt>
                <c:pt idx="3">
                  <c:v>10</c:v>
                </c:pt>
                <c:pt idx="4">
                  <c:v>20</c:v>
                </c:pt>
              </c:numCache>
            </c:numRef>
          </c:cat>
          <c:val>
            <c:numRef>
              <c:f>'Chart Data'!$D$2:$D$6</c:f>
              <c:numCache>
                <c:formatCode>0.0000</c:formatCode>
                <c:ptCount val="5"/>
                <c:pt idx="0">
                  <c:v>0.0036914230247824</c:v>
                </c:pt>
                <c:pt idx="1">
                  <c:v>0.0030225654173837</c:v>
                </c:pt>
                <c:pt idx="2">
                  <c:v>0.0030897430709079</c:v>
                </c:pt>
                <c:pt idx="3">
                  <c:v>0.0030885911029551</c:v>
                </c:pt>
                <c:pt idx="4">
                  <c:v>0.0030380716281788</c:v>
                </c:pt>
              </c:numCache>
            </c:numRef>
          </c:val>
          <c:smooth val="0"/>
        </c:ser>
        <c:ser>
          <c:idx val="2"/>
          <c:order val="2"/>
          <c:tx>
            <c:v>Preference</c:v>
          </c:tx>
          <c:spPr>
            <a:ln xmlns:a="http://schemas.openxmlformats.org/drawingml/2006/main" w="28575">
              <a:solidFill>
                <a:srgbClr val="1A967B"/>
              </a:solidFill>
            </a:ln>
          </c:spPr>
          <c:marker>
            <c:symbol val="circle"/>
            <c:size val="6"/>
            <c:spPr>
              <a:solidFill xmlns:a="http://schemas.openxmlformats.org/drawingml/2006/main">
                <a:srgbClr val="1A967B"/>
              </a:solidFill>
            </c:spPr>
          </c:marker>
          <c:cat>
            <c:numRef>
              <c:f>'Chart Data'!$E$2:$E$6</c:f>
              <c:numCache>
                <c:formatCode>General</c:formatCode>
                <c:ptCount val="5"/>
                <c:pt idx="0">
                  <c:v>1</c:v>
                </c:pt>
                <c:pt idx="1">
                  <c:v>3</c:v>
                </c:pt>
                <c:pt idx="2">
                  <c:v>5</c:v>
                </c:pt>
                <c:pt idx="3">
                  <c:v>10</c:v>
                </c:pt>
                <c:pt idx="4">
                  <c:v>20</c:v>
                </c:pt>
              </c:numCache>
            </c:numRef>
          </c:cat>
          <c:val>
            <c:numRef>
              <c:f>'Chart Data'!$F$2:$F$6</c:f>
              <c:numCache>
                <c:formatCode>0.0000</c:formatCode>
                <c:ptCount val="5"/>
                <c:pt idx="0">
                  <c:v>0.0050396663436679</c:v>
                </c:pt>
                <c:pt idx="1">
                  <c:v>0.0047298590349916</c:v>
                </c:pt>
                <c:pt idx="2">
                  <c:v>0.0061138375330909</c:v>
                </c:pt>
                <c:pt idx="3">
                  <c:v>0.0054363667254039</c:v>
                </c:pt>
                <c:pt idx="4">
                  <c:v>0.0054002345427083</c:v>
                </c:pt>
              </c:numCache>
            </c:numRef>
          </c:val>
          <c:smooth val="0"/>
        </c:ser>
        <c:dLbls>
          <c:numFmt formatCode="0.0000" sourceLinked="0"/>
          <c:txPr>
            <a:bodyPr xmlns:a="http://schemas.openxmlformats.org/drawingml/2006/main" anchorCtr="1"/>
            <a:lstStyle xmlns:a="http://schemas.openxmlformats.org/drawingml/2006/main"/>
            <a:p xmlns:a="http://schemas.openxmlformats.org/drawingml/2006/main">
              <a:pPr>
                <a:defRPr sz="1500">
                  <a:solidFill>
                    <a:srgbClr val="17243C"/>
                  </a:solidFill>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575">
                <a:solidFill>
                  <a:srgbClr val="17243C"/>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DE5EF"/>
              </a:solidFill>
            </a:ln>
          </c:spPr>
        </c:majorGridlines>
        <c:title>
          <c:tx>
            <c:rich>
              <a:bodyPr xmlns:a="http://schemas.openxmlformats.org/drawingml/2006/main"/>
              <a:lstStyle xmlns:a="http://schemas.openxmlformats.org/drawingml/2006/main"/>
              <a:p xmlns:a="http://schemas.openxmlformats.org/drawingml/2006/main">
                <a:r>
                  <a:rPr sz="1425">
                    <a:solidFill>
                      <a:srgbClr val="586C7C"/>
                    </a:solidFill>
                    <a:latin typeface="Helvetica Neue"/>
                    <a:ea typeface="Helvetica Neue"/>
                    <a:cs typeface="Helvetica Neue"/>
                  </a:rPr>
                  <a:t>User-macro NDCG@10</a:t>
                </a:r>
              </a:p>
            </c:rich>
          </c:tx>
          <c:overlay val="0"/>
          <c:txPr>
            <a:bodyPr xmlns:a="http://schemas.openxmlformats.org/drawingml/2006/main" anchorCtr="1"/>
            <a:lstStyle xmlns:a="http://schemas.openxmlformats.org/drawingml/2006/main"/>
            <a:p xmlns:a="http://schemas.openxmlformats.org/drawingml/2006/main">
              <a:pPr>
                <a:defRPr sz="1425">
                  <a:solidFill>
                    <a:srgbClr val="586C7C"/>
                  </a:solidFill>
                  <a:latin typeface="Helvetica Neue"/>
                  <a:ea typeface="Helvetica Neue"/>
                  <a:cs typeface="Helvetica Neue"/>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crossAx val="48650112"/>
        <c:crossBetween val="between"/>
      </c:valAx>
      <c:spPr>
        <a:solidFill xmlns:a="http://schemas.openxmlformats.org/drawingml/2006/main">
          <a:srgbClr val="F6F8FC"/>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legend>
    <c:plotVisOnly val="1"/>
  </c:chart>
  <c:spPr>
    <a:solidFill xmlns:a="http://schemas.openxmlformats.org/drawingml/2006/main">
      <a:srgbClr val="F6F8FC"/>
    </a:solidFill>
    <a:ln xmlns:a="http://schemas.openxmlformats.org/drawingml/2006/main" w="0">
      <a:noFill/>
    </a:ln>
  </c:spPr>
  <c:externalData r:id="rIdChartSnapshot1">
    <c:autoUpdate val="0"/>
  </c:externalData>
</c:chartSpace>
</file>

<file path=ppt/slides/charts/benchmark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43C"/>
                </a:solidFill>
                <a:latin typeface="Helvetica Neue"/>
                <a:ea typeface="Helvetica Neue"/>
                <a:cs typeface="Helvetica Neue"/>
              </a:rPr>
              <a:t>Top 10 catalogue coverage</a:t>
            </a:r>
          </a:p>
        </c:rich>
      </c:tx>
      <c:overlay val="0"/>
      <c:txPr>
        <a:bodyPr xmlns:a="http://schemas.openxmlformats.org/drawingml/2006/main" anchorCtr="1"/>
        <a:lstStyle xmlns:a="http://schemas.openxmlformats.org/drawingml/2006/main"/>
        <a:p xmlns:a="http://schemas.openxmlformats.org/drawingml/2006/main">
          <a:pPr>
            <a:defRPr sz="1800">
              <a:solidFill>
                <a:srgbClr val="17243C"/>
              </a:solidFill>
              <a:latin typeface="Helvetica Neue"/>
              <a:ea typeface="Helvetica Neue"/>
              <a:cs typeface="Helvetica Neue"/>
            </a:defRPr>
          </a:pPr>
        </a:p>
      </c:txPr>
    </c:title>
    <c:plotArea>
      <c:barChart>
        <c:barDir val="col"/>
        <c:grouping val="clustered"/>
        <c:varyColors val="0"/>
        <c:ser>
          <c:idx val="0"/>
          <c:order val="0"/>
          <c:tx>
            <c:v>Top 10 catalogue coverage</c:v>
          </c:tx>
          <c:spPr>
            <a:solidFill xmlns:a="http://schemas.openxmlformats.org/drawingml/2006/main">
              <a:srgbClr val="546982"/>
            </a:solidFill>
          </c:spPr>
          <c:invertIfNegative val="0"/>
          <c:dPt>
            <c:idx val="0"/>
            <c:invertIfNegative val="0"/>
            <c:spPr>
              <a:solidFill xmlns:a="http://schemas.openxmlformats.org/drawingml/2006/main">
                <a:srgbClr val="546982"/>
              </a:solidFill>
            </c:spPr>
          </c:dPt>
          <c:dPt>
            <c:idx val="1"/>
            <c:invertIfNegative val="0"/>
            <c:spPr>
              <a:solidFill xmlns:a="http://schemas.openxmlformats.org/drawingml/2006/main">
                <a:srgbClr val="347CDB"/>
              </a:solidFill>
            </c:spPr>
          </c:dPt>
          <c:dPt>
            <c:idx val="2"/>
            <c:invertIfNegative val="0"/>
            <c:spPr>
              <a:solidFill xmlns:a="http://schemas.openxmlformats.org/drawingml/2006/main">
                <a:srgbClr val="1A967B"/>
              </a:solidFill>
            </c:spPr>
          </c:dPt>
          <c:cat>
            <c:strRef>
              <c:f>'Chart Data'!$A$2:$A$4</c:f>
              <c:strCache>
                <c:ptCount val="3"/>
                <c:pt idx="0">
                  <c:v>Frozen</c:v>
                </c:pt>
                <c:pt idx="1">
                  <c:v>Semantic</c:v>
                </c:pt>
                <c:pt idx="2">
                  <c:v>Preference</c:v>
                </c:pt>
              </c:strCache>
            </c:strRef>
          </c:cat>
          <c:val>
            <c:numRef>
              <c:f>'Chart Data'!$B$2:$B$4</c:f>
              <c:numCache>
                <c:formatCode>0.0%</c:formatCode>
                <c:ptCount val="3"/>
                <c:pt idx="0">
                  <c:v>0.022320039126762</c:v>
                </c:pt>
                <c:pt idx="1">
                  <c:v>0.026588413143035</c:v>
                </c:pt>
                <c:pt idx="2">
                  <c:v>0.022008803521409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solidFill>
                    <a:srgbClr val="1724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575">
                <a:solidFill>
                  <a:srgbClr val="17243C"/>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DE5E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crossAx val="48650112"/>
        <c:crossBetween val="between"/>
      </c:valAx>
      <c:spPr>
        <a:solidFill xmlns:a="http://schemas.openxmlformats.org/drawingml/2006/main">
          <a:srgbClr val="F6F8FC"/>
        </a:solidFill>
        <a:ln xmlns:a="http://schemas.openxmlformats.org/drawingml/2006/main" w="0">
          <a:noFill/>
        </a:ln>
      </c:spPr>
    </c:plotArea>
    <c:plotVisOnly val="1"/>
  </c:chart>
  <c:spPr>
    <a:solidFill xmlns:a="http://schemas.openxmlformats.org/drawingml/2006/main">
      <a:srgbClr val="F6F8FC"/>
    </a:solidFill>
    <a:ln xmlns:a="http://schemas.openxmlformats.org/drawingml/2006/main" w="0">
      <a:noFill/>
    </a:ln>
  </c:spPr>
  <c:externalData r:id="rIdChartSnapshot1">
    <c:autoUpdate val="0"/>
  </c:externalData>
</c:chartSpace>
</file>

<file path=ppt/slides/charts/benchmark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43C"/>
                </a:solidFill>
                <a:latin typeface="Helvetica Neue"/>
                <a:ea typeface="Helvetica Neue"/>
                <a:cs typeface="Helvetica Neue"/>
              </a:rPr>
              <a:t>Three-ranker stage, median milliseconds</a:t>
            </a:r>
          </a:p>
        </c:rich>
      </c:tx>
      <c:overlay val="0"/>
      <c:txPr>
        <a:bodyPr xmlns:a="http://schemas.openxmlformats.org/drawingml/2006/main" anchorCtr="1"/>
        <a:lstStyle xmlns:a="http://schemas.openxmlformats.org/drawingml/2006/main"/>
        <a:p xmlns:a="http://schemas.openxmlformats.org/drawingml/2006/main">
          <a:pPr>
            <a:defRPr sz="1800">
              <a:solidFill>
                <a:srgbClr val="17243C"/>
              </a:solidFill>
              <a:latin typeface="Helvetica Neue"/>
              <a:ea typeface="Helvetica Neue"/>
              <a:cs typeface="Helvetica Neue"/>
            </a:defRPr>
          </a:pPr>
        </a:p>
      </c:txPr>
    </c:title>
    <c:plotArea>
      <c:barChart>
        <c:barDir val="col"/>
        <c:grouping val="clustered"/>
        <c:varyColors val="0"/>
        <c:ser>
          <c:idx val="0"/>
          <c:order val="0"/>
          <c:tx>
            <c:v>Before</c:v>
          </c:tx>
          <c:spPr>
            <a:solidFill xmlns:a="http://schemas.openxmlformats.org/drawingml/2006/main">
              <a:srgbClr val="546982"/>
            </a:solidFill>
          </c:spPr>
          <c:invertIfNegative val="0"/>
          <c:cat>
            <c:strRef>
              <c:f>'Chart Data'!$A$2:$A$4</c:f>
              <c:strCache>
                <c:ptCount val="3"/>
                <c:pt idx="0">
                  <c:v>Text</c:v>
                </c:pt>
                <c:pt idx="1">
                  <c:v>Image + feedback</c:v>
                </c:pt>
                <c:pt idx="2">
                  <c:v>Avoid + budget</c:v>
                </c:pt>
              </c:strCache>
            </c:strRef>
          </c:cat>
          <c:val>
            <c:numRef>
              <c:f>'Chart Data'!$B$2:$B$4</c:f>
              <c:numCache>
                <c:formatCode>0.0</c:formatCode>
                <c:ptCount val="3"/>
                <c:pt idx="0">
                  <c:v>393.40497949161</c:v>
                </c:pt>
                <c:pt idx="1">
                  <c:v>418.25783310924</c:v>
                </c:pt>
                <c:pt idx="2">
                  <c:v>864.72677055281</c:v>
                </c:pt>
              </c:numCache>
            </c:numRef>
          </c:val>
        </c:ser>
        <c:ser>
          <c:idx val="1"/>
          <c:order val="1"/>
          <c:tx>
            <c:v>After</c:v>
          </c:tx>
          <c:spPr>
            <a:solidFill xmlns:a="http://schemas.openxmlformats.org/drawingml/2006/main">
              <a:srgbClr val="1A967B"/>
            </a:solidFill>
          </c:spPr>
          <c:invertIfNegative val="0"/>
          <c:cat>
            <c:strRef>
              <c:f>'Chart Data'!$C$2:$C$4</c:f>
              <c:strCache>
                <c:ptCount val="3"/>
                <c:pt idx="0">
                  <c:v>Text</c:v>
                </c:pt>
                <c:pt idx="1">
                  <c:v>Image + feedback</c:v>
                </c:pt>
                <c:pt idx="2">
                  <c:v>Avoid + budget</c:v>
                </c:pt>
              </c:strCache>
            </c:strRef>
          </c:cat>
          <c:val>
            <c:numRef>
              <c:f>'Chart Data'!$D$2:$D$4</c:f>
              <c:numCache>
                <c:formatCode>0.0</c:formatCode>
                <c:ptCount val="3"/>
                <c:pt idx="0">
                  <c:v>103.61739608925</c:v>
                </c:pt>
                <c:pt idx="1">
                  <c:v>127.77345802169</c:v>
                </c:pt>
                <c:pt idx="2">
                  <c:v>109.40710408613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solidFill>
                    <a:srgbClr val="1724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E9"/>
            </a:solidFill>
          </a:ln>
        </c:spPr>
        <c:txPr>
          <a:bodyPr xmlns:a="http://schemas.openxmlformats.org/drawingml/2006/main" anchorCtr="1"/>
          <a:lstStyle xmlns:a="http://schemas.openxmlformats.org/drawingml/2006/main"/>
          <a:p xmlns:a="http://schemas.openxmlformats.org/drawingml/2006/main">
            <a:pPr>
              <a:defRPr sz="1575">
                <a:solidFill>
                  <a:srgbClr val="17243C"/>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DE5EF"/>
              </a:solidFill>
            </a:ln>
          </c:spPr>
        </c:majorGridlines>
        <c:title>
          <c:tx>
            <c:rich>
              <a:bodyPr xmlns:a="http://schemas.openxmlformats.org/drawingml/2006/main"/>
              <a:lstStyle xmlns:a="http://schemas.openxmlformats.org/drawingml/2006/main"/>
              <a:p xmlns:a="http://schemas.openxmlformats.org/drawingml/2006/main">
                <a:r>
                  <a:rPr sz="1425">
                    <a:solidFill>
                      <a:srgbClr val="586C7C"/>
                    </a:solidFill>
                    <a:latin typeface="Helvetica Neue"/>
                    <a:ea typeface="Helvetica Neue"/>
                    <a:cs typeface="Helvetica Neue"/>
                  </a:rPr>
                  <a:t>Milliseconds</a:t>
                </a:r>
              </a:p>
            </c:rich>
          </c:tx>
          <c:overlay val="0"/>
          <c:txPr>
            <a:bodyPr xmlns:a="http://schemas.openxmlformats.org/drawingml/2006/main" anchorCtr="1"/>
            <a:lstStyle xmlns:a="http://schemas.openxmlformats.org/drawingml/2006/main"/>
            <a:p xmlns:a="http://schemas.openxmlformats.org/drawingml/2006/main">
              <a:pPr>
                <a:defRPr sz="1425">
                  <a:solidFill>
                    <a:srgbClr val="586C7C"/>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crossAx val="48650112"/>
        <c:crossBetween val="between"/>
      </c:valAx>
      <c:spPr>
        <a:solidFill xmlns:a="http://schemas.openxmlformats.org/drawingml/2006/main">
          <a:srgbClr val="F6F8FC"/>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86C7C"/>
              </a:solidFill>
              <a:latin typeface="Helvetica Neue"/>
              <a:ea typeface="Helvetica Neue"/>
              <a:cs typeface="Helvetica Neue"/>
            </a:defRPr>
          </a:pPr>
        </a:p>
      </c:txPr>
    </c:legend>
    <c:plotVisOnly val="1"/>
  </c:chart>
  <c:spPr>
    <a:solidFill xmlns:a="http://schemas.openxmlformats.org/drawingml/2006/main">
      <a:srgbClr val="F6F8FC"/>
    </a:solidFill>
    <a:ln xmlns:a="http://schemas.openxmlformats.org/drawingml/2006/main" w="0">
      <a:noFill/>
    </a:ln>
  </c:spPr>
  <c:externalData r:id="rIdChartSnapshot1">
    <c:autoUpdate val="0"/>
  </c:externalData>
</c:chartSpace>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Frozen</c:v>
          </c:tx>
          <c:spPr>
            <a:solidFill xmlns:a="http://schemas.openxmlformats.org/drawingml/2006/main">
              <a:srgbClr val="546982"/>
            </a:solidFill>
          </c:spPr>
          <c:invertIfNegative val="0"/>
          <c:cat>
            <c:strRef>
              <c:f>'Chart Data'!$A$2:$A$4</c:f>
              <c:strCache>
                <c:ptCount val="3"/>
                <c:pt idx="0">
                  <c:v>Baby</c:v>
                </c:pt>
                <c:pt idx="1">
                  <c:v>Sports</c:v>
                </c:pt>
                <c:pt idx="2">
                  <c:v>Clothing</c:v>
                </c:pt>
              </c:strCache>
            </c:strRef>
          </c:cat>
          <c:val>
            <c:numRef>
              <c:f>'Chart Data'!$B$2:$B$4</c:f>
              <c:numCache>
                <c:formatCode>0.000</c:formatCode>
                <c:ptCount val="3"/>
                <c:pt idx="0">
                  <c:v>0.0127964302</c:v>
                </c:pt>
                <c:pt idx="1">
                  <c:v>0.0071156648</c:v>
                </c:pt>
                <c:pt idx="2">
                  <c:v>0.0051863724</c:v>
                </c:pt>
              </c:numCache>
            </c:numRef>
          </c:val>
        </c:ser>
        <c:ser>
          <c:idx val="1"/>
          <c:order val="1"/>
          <c:tx>
            <c:v>Semantic alignment</c:v>
          </c:tx>
          <c:spPr>
            <a:solidFill xmlns:a="http://schemas.openxmlformats.org/drawingml/2006/main">
              <a:srgbClr val="347CDB"/>
            </a:solidFill>
          </c:spPr>
          <c:invertIfNegative val="0"/>
          <c:cat>
            <c:strRef>
              <c:f>'Chart Data'!$C$2:$C$4</c:f>
              <c:strCache>
                <c:ptCount val="3"/>
                <c:pt idx="0">
                  <c:v>Baby</c:v>
                </c:pt>
                <c:pt idx="1">
                  <c:v>Sports</c:v>
                </c:pt>
                <c:pt idx="2">
                  <c:v>Clothing</c:v>
                </c:pt>
              </c:strCache>
            </c:strRef>
          </c:cat>
          <c:val>
            <c:numRef>
              <c:f>'Chart Data'!$D$2:$D$4</c:f>
              <c:numCache>
                <c:formatCode>0.000</c:formatCode>
                <c:ptCount val="3"/>
                <c:pt idx="0">
                  <c:v>0.0099300728</c:v>
                </c:pt>
                <c:pt idx="1">
                  <c:v>0.0068715516</c:v>
                </c:pt>
                <c:pt idx="2">
                  <c:v>0.0044603394</c:v>
                </c:pt>
              </c:numCache>
            </c:numRef>
          </c:val>
        </c:ser>
        <c:ser>
          <c:idx val="2"/>
          <c:order val="2"/>
          <c:tx>
            <c:v>User preference</c:v>
          </c:tx>
          <c:spPr>
            <a:solidFill xmlns:a="http://schemas.openxmlformats.org/drawingml/2006/main">
              <a:srgbClr val="1A967B"/>
            </a:solidFill>
          </c:spPr>
          <c:invertIfNegative val="0"/>
          <c:cat>
            <c:strRef>
              <c:f>'Chart Data'!$E$2:$E$4</c:f>
              <c:strCache>
                <c:ptCount val="3"/>
                <c:pt idx="0">
                  <c:v>Baby</c:v>
                </c:pt>
                <c:pt idx="1">
                  <c:v>Sports</c:v>
                </c:pt>
                <c:pt idx="2">
                  <c:v>Clothing</c:v>
                </c:pt>
              </c:strCache>
            </c:strRef>
          </c:cat>
          <c:val>
            <c:numRef>
              <c:f>'Chart Data'!$F$2:$F$4</c:f>
              <c:numCache>
                <c:formatCode>0.000</c:formatCode>
                <c:ptCount val="3"/>
                <c:pt idx="0">
                  <c:v>0.0124748482</c:v>
                </c:pt>
                <c:pt idx="1">
                  <c:v>0.0070393446</c:v>
                </c:pt>
                <c:pt idx="2">
                  <c:v>0.0051244196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243C"/>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CE5E8"/>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C7C"/>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Frozen</c:v>
          </c:tx>
          <c:spPr>
            <a:solidFill xmlns:a="http://schemas.openxmlformats.org/drawingml/2006/main">
              <a:srgbClr val="546982"/>
            </a:solidFill>
          </c:spPr>
          <c:invertIfNegative val="0"/>
          <c:cat>
            <c:strRef>
              <c:f>'Chart Data'!$A$2:$A$4</c:f>
              <c:strCache>
                <c:ptCount val="3"/>
                <c:pt idx="0">
                  <c:v>Baby</c:v>
                </c:pt>
                <c:pt idx="1">
                  <c:v>Sports</c:v>
                </c:pt>
                <c:pt idx="2">
                  <c:v>Clothing</c:v>
                </c:pt>
              </c:strCache>
            </c:strRef>
          </c:cat>
          <c:val>
            <c:numRef>
              <c:f>'Chart Data'!$B$2:$B$4</c:f>
              <c:numCache>
                <c:formatCode>0.00000</c:formatCode>
                <c:ptCount val="3"/>
                <c:pt idx="0">
                  <c:v>0</c:v>
                </c:pt>
                <c:pt idx="1">
                  <c:v>0.0001612229</c:v>
                </c:pt>
                <c:pt idx="2">
                  <c:v>0.0002634379</c:v>
                </c:pt>
              </c:numCache>
            </c:numRef>
          </c:val>
        </c:ser>
        <c:ser>
          <c:idx val="1"/>
          <c:order val="1"/>
          <c:tx>
            <c:v>Semantic alignment</c:v>
          </c:tx>
          <c:spPr>
            <a:solidFill xmlns:a="http://schemas.openxmlformats.org/drawingml/2006/main">
              <a:srgbClr val="347CDB"/>
            </a:solidFill>
          </c:spPr>
          <c:invertIfNegative val="0"/>
          <c:cat>
            <c:strRef>
              <c:f>'Chart Data'!$C$2:$C$4</c:f>
              <c:strCache>
                <c:ptCount val="3"/>
                <c:pt idx="0">
                  <c:v>Baby</c:v>
                </c:pt>
                <c:pt idx="1">
                  <c:v>Sports</c:v>
                </c:pt>
                <c:pt idx="2">
                  <c:v>Clothing</c:v>
                </c:pt>
              </c:strCache>
            </c:strRef>
          </c:cat>
          <c:val>
            <c:numRef>
              <c:f>'Chart Data'!$D$2:$D$4</c:f>
              <c:numCache>
                <c:formatCode>0.00000</c:formatCode>
                <c:ptCount val="3"/>
                <c:pt idx="0">
                  <c:v>0</c:v>
                </c:pt>
                <c:pt idx="1">
                  <c:v>6.23348E-05</c:v>
                </c:pt>
                <c:pt idx="2">
                  <c:v>0.0002552829</c:v>
                </c:pt>
              </c:numCache>
            </c:numRef>
          </c:val>
        </c:ser>
        <c:ser>
          <c:idx val="2"/>
          <c:order val="2"/>
          <c:tx>
            <c:v>User preference</c:v>
          </c:tx>
          <c:spPr>
            <a:solidFill xmlns:a="http://schemas.openxmlformats.org/drawingml/2006/main">
              <a:srgbClr val="1A967B"/>
            </a:solidFill>
          </c:spPr>
          <c:invertIfNegative val="0"/>
          <c:cat>
            <c:strRef>
              <c:f>'Chart Data'!$E$2:$E$4</c:f>
              <c:strCache>
                <c:ptCount val="3"/>
                <c:pt idx="0">
                  <c:v>Baby</c:v>
                </c:pt>
                <c:pt idx="1">
                  <c:v>Sports</c:v>
                </c:pt>
                <c:pt idx="2">
                  <c:v>Clothing</c:v>
                </c:pt>
              </c:strCache>
            </c:strRef>
          </c:cat>
          <c:val>
            <c:numRef>
              <c:f>'Chart Data'!$F$2:$F$4</c:f>
              <c:numCache>
                <c:formatCode>0.00000</c:formatCode>
                <c:ptCount val="3"/>
                <c:pt idx="0">
                  <c:v>0</c:v>
                </c:pt>
                <c:pt idx="1">
                  <c:v>0.0001534777</c:v>
                </c:pt>
                <c:pt idx="2">
                  <c:v>0.0002257925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7243C"/>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CE5E8"/>
              </a:solidFill>
            </a:ln>
          </c:spPr>
        </c:majorGridlines>
        <c:numFmt formatCode="0.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C7C"/>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43C"/>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0CB9E2A7-4DF9-48D4-9213-57ECE68C96E6}"/>
              </a:ext>
            </a:extLst>
          </p:cNvPr>
          <p:cNvSpPr>
            <a:spLocks xmlns:a="http://schemas.openxmlformats.org/drawingml/2006/main" noGrp="1"/>
          </p:cNvSpPr>
          <p:nvPr/>
        </p:nvSpPr>
        <p:spPr>
          <a:xfrm xmlns:a="http://schemas.openxmlformats.org/drawingml/2006/main">
            <a:off x="685800" y="8953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150" b="1">
                <a:solidFill>
                  <a:srgbClr val="FFFFFF"/>
                </a:solidFill>
                <a:latin typeface="Helvetica Neue"/>
                <a:ea typeface="Helvetica Neue"/>
                <a:cs typeface="Helvetica Neue"/>
              </a:defRPr>
            </a:defPPr>
            <a:lvl1pPr>
              <a:defRPr sz="6150" b="1">
                <a:solidFill>
                  <a:srgbClr val="FFFFFF"/>
                </a:solidFill>
                <a:latin typeface="Helvetica Neue"/>
                <a:ea typeface="Helvetica Neue"/>
                <a:cs typeface="Helvetica Neue"/>
              </a:defRPr>
            </a:lvl1pPr>
            <a:lvl2pPr>
              <a:defRPr sz="6150" b="1">
                <a:solidFill>
                  <a:srgbClr val="FFFFFF"/>
                </a:solidFill>
                <a:latin typeface="Helvetica Neue"/>
                <a:ea typeface="Helvetica Neue"/>
                <a:cs typeface="Helvetica Neue"/>
              </a:defRPr>
            </a:lvl2pPr>
            <a:lvl3pPr>
              <a:defRPr sz="6150" b="1">
                <a:solidFill>
                  <a:srgbClr val="FFFFFF"/>
                </a:solidFill>
                <a:latin typeface="Helvetica Neue"/>
                <a:ea typeface="Helvetica Neue"/>
                <a:cs typeface="Helvetica Neue"/>
              </a:defRPr>
            </a:lvl3pPr>
            <a:lvl4pPr>
              <a:defRPr sz="6150" b="1">
                <a:solidFill>
                  <a:srgbClr val="FFFFFF"/>
                </a:solidFill>
                <a:latin typeface="Helvetica Neue"/>
                <a:ea typeface="Helvetica Neue"/>
                <a:cs typeface="Helvetica Neue"/>
              </a:defRPr>
            </a:lvl4pPr>
            <a:lvl5pPr>
              <a:defRPr sz="6150" b="1">
                <a:solidFill>
                  <a:srgbClr val="FFFFFF"/>
                </a:solidFill>
                <a:latin typeface="Helvetica Neue"/>
                <a:ea typeface="Helvetica Neue"/>
                <a:cs typeface="Helvetica Neue"/>
              </a:defRPr>
            </a:lvl5pPr>
            <a:lvl6pPr>
              <a:defRPr sz="6150" b="1">
                <a:solidFill>
                  <a:srgbClr val="FFFFFF"/>
                </a:solidFill>
                <a:latin typeface="Helvetica Neue"/>
                <a:ea typeface="Helvetica Neue"/>
                <a:cs typeface="Helvetica Neue"/>
              </a:defRPr>
            </a:lvl6pPr>
            <a:lvl7pPr>
              <a:defRPr sz="6150" b="1">
                <a:solidFill>
                  <a:srgbClr val="FFFFFF"/>
                </a:solidFill>
                <a:latin typeface="Helvetica Neue"/>
                <a:ea typeface="Helvetica Neue"/>
                <a:cs typeface="Helvetica Neue"/>
              </a:defRPr>
            </a:lvl7pPr>
            <a:lvl8pPr>
              <a:defRPr sz="6150" b="1">
                <a:solidFill>
                  <a:srgbClr val="FFFFFF"/>
                </a:solidFill>
                <a:latin typeface="Helvetica Neue"/>
                <a:ea typeface="Helvetica Neue"/>
                <a:cs typeface="Helvetica Neue"/>
              </a:defRPr>
            </a:lvl8pPr>
            <a:lvl9pPr>
              <a:defRPr sz="6150" b="1">
                <a:solidFill>
                  <a:srgbClr val="FFFFFF"/>
                </a:solidFill>
                <a:latin typeface="Helvetica Neue"/>
                <a:ea typeface="Helvetica Neue"/>
                <a:cs typeface="Helvetica Neue"/>
              </a:defRPr>
            </a:lvl9pPr>
          </a:lstStyle>
          <a:p xmlns:a="http://schemas.openxmlformats.org/drawingml/2006/main">
            <a:pPr>
              <a:defRPr sz="6150" b="1">
                <a:solidFill>
                  <a:srgbClr val="FFFFFF"/>
                </a:solidFill>
                <a:latin typeface="Helvetica Neue"/>
                <a:ea typeface="Helvetica Neue"/>
                <a:cs typeface="Helvetica Neue"/>
              </a:defRPr>
            </a:pPr>
            <a:r>
              <a:rPr sz="6150" b="1">
                <a:solidFill>
                  <a:srgbClr val="FFFFFF"/>
                </a:solidFill>
                <a:latin typeface="Helvetica Neue"/>
                <a:ea typeface="Helvetica Neue"/>
                <a:cs typeface="Helvetica Neue"/>
              </a:rPr>
              <a:t>ShopLens</a:t>
            </a:r>
          </a:p>
        </p:txBody>
      </p:sp>
      <p:sp>
        <p:nvSpPr>
          <p:cNvPr id="2" name="text-2">
            <a:extLst xmlns:a="http://schemas.openxmlformats.org/drawingml/2006/main">
              <a:ext uri="{FF2B5EF4-FFF2-40B4-BE49-F238E27FC236}">
                <a16:creationId xmlns:a16="http://schemas.microsoft.com/office/drawing/2014/main" id="{AED3676D-FFC8-4A6B-AB79-FA516C5EDB4D}"/>
              </a:ext>
            </a:extLst>
          </p:cNvPr>
          <p:cNvSpPr>
            <a:spLocks xmlns:a="http://schemas.openxmlformats.org/drawingml/2006/main" noGrp="1"/>
          </p:cNvSpPr>
          <p:nvPr/>
        </p:nvSpPr>
        <p:spPr>
          <a:xfrm xmlns:a="http://schemas.openxmlformats.org/drawingml/2006/main">
            <a:off x="704850" y="246697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0">
                <a:solidFill>
                  <a:srgbClr val="FFFFFF"/>
                </a:solidFill>
                <a:latin typeface="Helvetica Neue"/>
                <a:ea typeface="Helvetica Neue"/>
                <a:cs typeface="Helvetica Neue"/>
              </a:defRPr>
            </a:defPPr>
            <a:lvl1pPr>
              <a:defRPr sz="3675" b="0">
                <a:solidFill>
                  <a:srgbClr val="FFFFFF"/>
                </a:solidFill>
                <a:latin typeface="Helvetica Neue"/>
                <a:ea typeface="Helvetica Neue"/>
                <a:cs typeface="Helvetica Neue"/>
              </a:defRPr>
            </a:lvl1pPr>
            <a:lvl2pPr>
              <a:defRPr sz="3675" b="0">
                <a:solidFill>
                  <a:srgbClr val="FFFFFF"/>
                </a:solidFill>
                <a:latin typeface="Helvetica Neue"/>
                <a:ea typeface="Helvetica Neue"/>
                <a:cs typeface="Helvetica Neue"/>
              </a:defRPr>
            </a:lvl2pPr>
            <a:lvl3pPr>
              <a:defRPr sz="3675" b="0">
                <a:solidFill>
                  <a:srgbClr val="FFFFFF"/>
                </a:solidFill>
                <a:latin typeface="Helvetica Neue"/>
                <a:ea typeface="Helvetica Neue"/>
                <a:cs typeface="Helvetica Neue"/>
              </a:defRPr>
            </a:lvl3pPr>
            <a:lvl4pPr>
              <a:defRPr sz="3675" b="0">
                <a:solidFill>
                  <a:srgbClr val="FFFFFF"/>
                </a:solidFill>
                <a:latin typeface="Helvetica Neue"/>
                <a:ea typeface="Helvetica Neue"/>
                <a:cs typeface="Helvetica Neue"/>
              </a:defRPr>
            </a:lvl4pPr>
            <a:lvl5pPr>
              <a:defRPr sz="3675" b="0">
                <a:solidFill>
                  <a:srgbClr val="FFFFFF"/>
                </a:solidFill>
                <a:latin typeface="Helvetica Neue"/>
                <a:ea typeface="Helvetica Neue"/>
                <a:cs typeface="Helvetica Neue"/>
              </a:defRPr>
            </a:lvl5pPr>
            <a:lvl6pPr>
              <a:defRPr sz="3675" b="0">
                <a:solidFill>
                  <a:srgbClr val="FFFFFF"/>
                </a:solidFill>
                <a:latin typeface="Helvetica Neue"/>
                <a:ea typeface="Helvetica Neue"/>
                <a:cs typeface="Helvetica Neue"/>
              </a:defRPr>
            </a:lvl6pPr>
            <a:lvl7pPr>
              <a:defRPr sz="3675" b="0">
                <a:solidFill>
                  <a:srgbClr val="FFFFFF"/>
                </a:solidFill>
                <a:latin typeface="Helvetica Neue"/>
                <a:ea typeface="Helvetica Neue"/>
                <a:cs typeface="Helvetica Neue"/>
              </a:defRPr>
            </a:lvl7pPr>
            <a:lvl8pPr>
              <a:defRPr sz="3675" b="0">
                <a:solidFill>
                  <a:srgbClr val="FFFFFF"/>
                </a:solidFill>
                <a:latin typeface="Helvetica Neue"/>
                <a:ea typeface="Helvetica Neue"/>
                <a:cs typeface="Helvetica Neue"/>
              </a:defRPr>
            </a:lvl8pPr>
            <a:lvl9pPr>
              <a:defRPr sz="3675" b="0">
                <a:solidFill>
                  <a:srgbClr val="FFFFFF"/>
                </a:solidFill>
                <a:latin typeface="Helvetica Neue"/>
                <a:ea typeface="Helvetica Neue"/>
                <a:cs typeface="Helvetica Neue"/>
              </a:defRPr>
            </a:lvl9pPr>
          </a:lstStyle>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Language adaptation for</a:t>
            </a:r>
          </a:p>
          <a:p xmlns:a="http://schemas.openxmlformats.org/drawingml/2006/main">
            <a:pPr>
              <a:defRPr sz="3675" b="0">
                <a:solidFill>
                  <a:srgbClr val="FFFFFF"/>
                </a:solidFill>
                <a:latin typeface="Helvetica Neue"/>
                <a:ea typeface="Helvetica Neue"/>
                <a:cs typeface="Helvetica Neue"/>
              </a:defRPr>
            </a:pPr>
            <a:r>
              <a:rPr sz="3675" b="0">
                <a:solidFill>
                  <a:srgbClr val="FFFFFF"/>
                </a:solidFill>
                <a:latin typeface="Helvetica Neue"/>
                <a:ea typeface="Helvetica Neue"/>
                <a:cs typeface="Helvetica Neue"/>
              </a:rPr>
              <a:t>multimodal recommendation</a:t>
            </a:r>
          </a:p>
        </p:txBody>
      </p:sp>
      <p:sp>
        <p:nvSpPr>
          <p:cNvPr id="3" name="text-3">
            <a:extLst xmlns:a="http://schemas.openxmlformats.org/drawingml/2006/main">
              <a:ext uri="{FF2B5EF4-FFF2-40B4-BE49-F238E27FC236}">
                <a16:creationId xmlns:a16="http://schemas.microsoft.com/office/drawing/2014/main" id="{11AEA620-EADF-4DA0-A447-6C31D39EDAE9}"/>
              </a:ext>
            </a:extLst>
          </p:cNvPr>
          <p:cNvSpPr>
            <a:spLocks xmlns:a="http://schemas.openxmlformats.org/drawingml/2006/main" noGrp="1"/>
          </p:cNvSpPr>
          <p:nvPr/>
        </p:nvSpPr>
        <p:spPr>
          <a:xfrm xmlns:a="http://schemas.openxmlformats.org/drawingml/2006/main">
            <a:off x="723900" y="4724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A4E0D9"/>
                </a:solidFill>
                <a:latin typeface="Helvetica Neue"/>
                <a:ea typeface="Helvetica Neue"/>
                <a:cs typeface="Helvetica Neue"/>
              </a:defRPr>
            </a:defPPr>
            <a:lvl1pPr>
              <a:defRPr sz="2250" b="0">
                <a:solidFill>
                  <a:srgbClr val="A4E0D9"/>
                </a:solidFill>
                <a:latin typeface="Helvetica Neue"/>
                <a:ea typeface="Helvetica Neue"/>
                <a:cs typeface="Helvetica Neue"/>
              </a:defRPr>
            </a:lvl1pPr>
            <a:lvl2pPr>
              <a:defRPr sz="2250" b="0">
                <a:solidFill>
                  <a:srgbClr val="A4E0D9"/>
                </a:solidFill>
                <a:latin typeface="Helvetica Neue"/>
                <a:ea typeface="Helvetica Neue"/>
                <a:cs typeface="Helvetica Neue"/>
              </a:defRPr>
            </a:lvl2pPr>
            <a:lvl3pPr>
              <a:defRPr sz="2250" b="0">
                <a:solidFill>
                  <a:srgbClr val="A4E0D9"/>
                </a:solidFill>
                <a:latin typeface="Helvetica Neue"/>
                <a:ea typeface="Helvetica Neue"/>
                <a:cs typeface="Helvetica Neue"/>
              </a:defRPr>
            </a:lvl3pPr>
            <a:lvl4pPr>
              <a:defRPr sz="2250" b="0">
                <a:solidFill>
                  <a:srgbClr val="A4E0D9"/>
                </a:solidFill>
                <a:latin typeface="Helvetica Neue"/>
                <a:ea typeface="Helvetica Neue"/>
                <a:cs typeface="Helvetica Neue"/>
              </a:defRPr>
            </a:lvl4pPr>
            <a:lvl5pPr>
              <a:defRPr sz="2250" b="0">
                <a:solidFill>
                  <a:srgbClr val="A4E0D9"/>
                </a:solidFill>
                <a:latin typeface="Helvetica Neue"/>
                <a:ea typeface="Helvetica Neue"/>
                <a:cs typeface="Helvetica Neue"/>
              </a:defRPr>
            </a:lvl5pPr>
            <a:lvl6pPr>
              <a:defRPr sz="2250" b="0">
                <a:solidFill>
                  <a:srgbClr val="A4E0D9"/>
                </a:solidFill>
                <a:latin typeface="Helvetica Neue"/>
                <a:ea typeface="Helvetica Neue"/>
                <a:cs typeface="Helvetica Neue"/>
              </a:defRPr>
            </a:lvl6pPr>
            <a:lvl7pPr>
              <a:defRPr sz="2250" b="0">
                <a:solidFill>
                  <a:srgbClr val="A4E0D9"/>
                </a:solidFill>
                <a:latin typeface="Helvetica Neue"/>
                <a:ea typeface="Helvetica Neue"/>
                <a:cs typeface="Helvetica Neue"/>
              </a:defRPr>
            </a:lvl7pPr>
            <a:lvl8pPr>
              <a:defRPr sz="2250" b="0">
                <a:solidFill>
                  <a:srgbClr val="A4E0D9"/>
                </a:solidFill>
                <a:latin typeface="Helvetica Neue"/>
                <a:ea typeface="Helvetica Neue"/>
                <a:cs typeface="Helvetica Neue"/>
              </a:defRPr>
            </a:lvl8pPr>
            <a:lvl9pPr>
              <a:defRPr sz="2250" b="0">
                <a:solidFill>
                  <a:srgbClr val="A4E0D9"/>
                </a:solidFill>
                <a:latin typeface="Helvetica Neue"/>
                <a:ea typeface="Helvetica Neue"/>
                <a:cs typeface="Helvetica Neue"/>
              </a:defRPr>
            </a:lvl9pPr>
          </a:lstStyle>
          <a:p xmlns:a="http://schemas.openxmlformats.org/drawingml/2006/main">
            <a:pPr>
              <a:defRPr sz="2250" b="0">
                <a:solidFill>
                  <a:srgbClr val="A4E0D9"/>
                </a:solidFill>
                <a:latin typeface="Helvetica Neue"/>
                <a:ea typeface="Helvetica Neue"/>
                <a:cs typeface="Helvetica Neue"/>
              </a:defRPr>
            </a:pPr>
            <a:r>
              <a:rPr sz="2250" b="0">
                <a:solidFill>
                  <a:srgbClr val="A4E0D9"/>
                </a:solidFill>
                <a:latin typeface="Helvetica Neue"/>
                <a:ea typeface="Helvetica Neue"/>
                <a:cs typeface="Helvetica Neue"/>
              </a:rPr>
              <a:t>Qwen3-Embedding-0.6B with LoRA</a:t>
            </a:r>
          </a:p>
        </p:txBody>
      </p:sp>
      <p:sp>
        <p:nvSpPr>
          <p:cNvPr id="4" name="text-4">
            <a:extLst xmlns:a="http://schemas.openxmlformats.org/drawingml/2006/main">
              <a:ext uri="{FF2B5EF4-FFF2-40B4-BE49-F238E27FC236}">
                <a16:creationId xmlns:a16="http://schemas.microsoft.com/office/drawing/2014/main" id="{46D0C880-5367-42C9-B2CE-63AEC82AB452}"/>
              </a:ext>
            </a:extLst>
          </p:cNvPr>
          <p:cNvSpPr>
            <a:spLocks xmlns:a="http://schemas.openxmlformats.org/drawingml/2006/main" noGrp="1"/>
          </p:cNvSpPr>
          <p:nvPr/>
        </p:nvSpPr>
        <p:spPr>
          <a:xfrm xmlns:a="http://schemas.openxmlformats.org/drawingml/2006/main">
            <a:off x="723900" y="5724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BD9E1"/>
                </a:solidFill>
                <a:latin typeface="Helvetica Neue"/>
                <a:ea typeface="Helvetica Neue"/>
                <a:cs typeface="Helvetica Neue"/>
              </a:defRPr>
            </a:defPPr>
            <a:lvl1pPr>
              <a:defRPr sz="1800" b="0">
                <a:solidFill>
                  <a:srgbClr val="CBD9E1"/>
                </a:solidFill>
                <a:latin typeface="Helvetica Neue"/>
                <a:ea typeface="Helvetica Neue"/>
                <a:cs typeface="Helvetica Neue"/>
              </a:defRPr>
            </a:lvl1pPr>
            <a:lvl2pPr>
              <a:defRPr sz="1800" b="0">
                <a:solidFill>
                  <a:srgbClr val="CBD9E1"/>
                </a:solidFill>
                <a:latin typeface="Helvetica Neue"/>
                <a:ea typeface="Helvetica Neue"/>
                <a:cs typeface="Helvetica Neue"/>
              </a:defRPr>
            </a:lvl2pPr>
            <a:lvl3pPr>
              <a:defRPr sz="1800" b="0">
                <a:solidFill>
                  <a:srgbClr val="CBD9E1"/>
                </a:solidFill>
                <a:latin typeface="Helvetica Neue"/>
                <a:ea typeface="Helvetica Neue"/>
                <a:cs typeface="Helvetica Neue"/>
              </a:defRPr>
            </a:lvl3pPr>
            <a:lvl4pPr>
              <a:defRPr sz="1800" b="0">
                <a:solidFill>
                  <a:srgbClr val="CBD9E1"/>
                </a:solidFill>
                <a:latin typeface="Helvetica Neue"/>
                <a:ea typeface="Helvetica Neue"/>
                <a:cs typeface="Helvetica Neue"/>
              </a:defRPr>
            </a:lvl4pPr>
            <a:lvl5pPr>
              <a:defRPr sz="1800" b="0">
                <a:solidFill>
                  <a:srgbClr val="CBD9E1"/>
                </a:solidFill>
                <a:latin typeface="Helvetica Neue"/>
                <a:ea typeface="Helvetica Neue"/>
                <a:cs typeface="Helvetica Neue"/>
              </a:defRPr>
            </a:lvl5pPr>
            <a:lvl6pPr>
              <a:defRPr sz="1800" b="0">
                <a:solidFill>
                  <a:srgbClr val="CBD9E1"/>
                </a:solidFill>
                <a:latin typeface="Helvetica Neue"/>
                <a:ea typeface="Helvetica Neue"/>
                <a:cs typeface="Helvetica Neue"/>
              </a:defRPr>
            </a:lvl6pPr>
            <a:lvl7pPr>
              <a:defRPr sz="1800" b="0">
                <a:solidFill>
                  <a:srgbClr val="CBD9E1"/>
                </a:solidFill>
                <a:latin typeface="Helvetica Neue"/>
                <a:ea typeface="Helvetica Neue"/>
                <a:cs typeface="Helvetica Neue"/>
              </a:defRPr>
            </a:lvl7pPr>
            <a:lvl8pPr>
              <a:defRPr sz="1800" b="0">
                <a:solidFill>
                  <a:srgbClr val="CBD9E1"/>
                </a:solidFill>
                <a:latin typeface="Helvetica Neue"/>
                <a:ea typeface="Helvetica Neue"/>
                <a:cs typeface="Helvetica Neue"/>
              </a:defRPr>
            </a:lvl8pPr>
            <a:lvl9pPr>
              <a:defRPr sz="1800" b="0">
                <a:solidFill>
                  <a:srgbClr val="CBD9E1"/>
                </a:solidFill>
                <a:latin typeface="Helvetica Neue"/>
                <a:ea typeface="Helvetica Neue"/>
                <a:cs typeface="Helvetica Neue"/>
              </a:defRPr>
            </a:lvl9pPr>
          </a:lstStyle>
          <a:p xmlns:a="http://schemas.openxmlformats.org/drawingml/2006/main">
            <a:pPr>
              <a:defRPr sz="1800" b="0">
                <a:solidFill>
                  <a:srgbClr val="CBD9E1"/>
                </a:solidFill>
                <a:latin typeface="Helvetica Neue"/>
                <a:ea typeface="Helvetica Neue"/>
                <a:cs typeface="Helvetica Neue"/>
              </a:defRPr>
            </a:pPr>
            <a:r>
              <a:rPr sz="1800" b="0">
                <a:solidFill>
                  <a:srgbClr val="CBD9E1"/>
                </a:solidFill>
                <a:latin typeface="Helvetica Neue"/>
                <a:ea typeface="Helvetica Neue"/>
                <a:cs typeface="Helvetica Neue"/>
              </a:rPr>
              <a:t>EE6405 Natural Language Processing</a:t>
            </a:r>
          </a:p>
        </p:txBody>
      </p:sp>
    </p:spTree>
    <p:extLst>
      <p:ext uri="{BB962C8B-B14F-4D97-AF65-F5344CB8AC3E}">
        <p14:creationId xmlns:p14="http://schemas.microsoft.com/office/powerpoint/2010/main" val="1005957843"/>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5">
            <a:extLst xmlns:a="http://schemas.openxmlformats.org/drawingml/2006/main">
              <a:ext uri="{FF2B5EF4-FFF2-40B4-BE49-F238E27FC236}">
                <a16:creationId xmlns:a16="http://schemas.microsoft.com/office/drawing/2014/main" id="{BD5B3CAE-04A0-45BD-8C63-BCDB466CDD5E}"/>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Semantic alignment and user preference</a:t>
            </a:r>
          </a:p>
        </p:txBody>
      </p:sp>
      <p:sp>
        <p:nvSpPr>
          <p:cNvPr id="2" name="text-6">
            <a:extLst xmlns:a="http://schemas.openxmlformats.org/drawingml/2006/main">
              <a:ext uri="{FF2B5EF4-FFF2-40B4-BE49-F238E27FC236}">
                <a16:creationId xmlns:a16="http://schemas.microsoft.com/office/drawing/2014/main" id="{EE9EA9A9-53DB-477B-91B0-63B14E388E2A}"/>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Does learning what a review describes improve what a user receives next?</a:t>
            </a:r>
          </a:p>
        </p:txBody>
      </p:sp>
      <p:sp>
        <p:nvSpPr>
          <p:cNvPr id="3" name="text-7">
            <a:extLst xmlns:a="http://schemas.openxmlformats.org/drawingml/2006/main">
              <a:ext uri="{FF2B5EF4-FFF2-40B4-BE49-F238E27FC236}">
                <a16:creationId xmlns:a16="http://schemas.microsoft.com/office/drawing/2014/main" id="{CDBFF340-A70B-4A18-A3CB-3F5200EF3E1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569593EC-FFCD-4737-9C60-1A9AFDE82918}"/>
              </a:ext>
            </a:extLst>
          </p:cNvPr>
          <p:cNvGraphicFramePr/>
          <p:nvPr/>
        </p:nvGraphicFramePr>
        <p:xfrm>
          <a:off xmlns:a="http://schemas.openxmlformats.org/drawingml/2006/main" x="609600" y="1895475"/>
          <a:ext xmlns:a="http://schemas.openxmlformats.org/drawingml/2006/main" cx="10972800" cy="3019425"/>
        </p:xfrm>
        <a:graphic xmlns:a="http://schemas.openxmlformats.org/drawingml/2006/main">
          <a:graphicData uri="http://schemas.openxmlformats.org/drawingml/2006/table">
            <a:tbl>
              <a:tblPr firstRow="1" bandRow="0"/>
              <a:tblGrid>
                <a:gridCol w="3009900"/>
                <a:gridCol w="3886200"/>
                <a:gridCol w="4076700"/>
              </a:tblGrid>
              <a:tr h="754856">
                <a:tc>
                  <a:txBody>
                    <a:bodyPr/>
                    <a:lstStyle/>
                    <a:p>
                      <a:r>
                        <a:rPr sz="1875" b="1">
                          <a:solidFill>
                            <a:srgbClr val="FFFFFF"/>
                          </a:solidFill>
                          <a:latin typeface="Helvetica Neue"/>
                          <a:ea typeface="Helvetica Neue"/>
                          <a:cs typeface="Helvetica Neue"/>
                        </a:rPr>
                        <a:t>Arm</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75" b="1">
                          <a:solidFill>
                            <a:srgbClr val="FFFFFF"/>
                          </a:solidFill>
                          <a:latin typeface="Helvetica Neue"/>
                          <a:ea typeface="Helvetica Neue"/>
                          <a:cs typeface="Helvetica Neue"/>
                        </a:rPr>
                        <a:t>Recommendation head</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75" b="1">
                          <a:solidFill>
                            <a:srgbClr val="FFFFFF"/>
                          </a:solidFill>
                          <a:latin typeface="Helvetica Neue"/>
                          <a:ea typeface="Helvetica Neue"/>
                          <a:cs typeface="Helvetica Neue"/>
                        </a:rPr>
                        <a:t>Qwen update</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754856">
                <a:tc>
                  <a:txBody>
                    <a:bodyPr/>
                    <a:lstStyle/>
                    <a:p>
                      <a:r>
                        <a:rPr sz="1875">
                          <a:solidFill>
                            <a:srgbClr val="17243C"/>
                          </a:solidFill>
                          <a:latin typeface="Helvetica Neue"/>
                          <a:ea typeface="Helvetica Neue"/>
                          <a:cs typeface="Helvetica Neue"/>
                        </a:rPr>
                        <a:t>Frozen</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BPR ranking loss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Encoder stays fixed</a:t>
                      </a:r>
                    </a:p>
                  </a:txBody>
                  <a:tcPr marL="142875" marR="104775" marT="95250" marB="85725">
                    <a:lnR w="9525">
                      <a:solidFill>
                        <a:srgbClr val="DCE5E8"/>
                      </a:solidFill>
                      <a:prstDash val="solid"/>
                    </a:lnR>
                    <a:lnB w="9525">
                      <a:solidFill>
                        <a:srgbClr val="DCE5E8"/>
                      </a:solidFill>
                      <a:prstDash val="solid"/>
                    </a:lnB>
                    <a:solidFill>
                      <a:srgbClr val="FFFFFF"/>
                    </a:solidFill>
                  </a:tcPr>
                </a:tc>
              </a:tr>
              <a:tr h="754856">
                <a:tc>
                  <a:txBody>
                    <a:bodyPr/>
                    <a:lstStyle/>
                    <a:p>
                      <a:r>
                        <a:rPr sz="1875">
                          <a:solidFill>
                            <a:srgbClr val="17243C"/>
                          </a:solidFill>
                          <a:latin typeface="Helvetica Neue"/>
                          <a:ea typeface="Helvetica Neue"/>
                          <a:cs typeface="Helvetica Neue"/>
                        </a:rPr>
                        <a:t>Semantic alignment</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BPR on detached text</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Review–description InfoNCE</a:t>
                      </a:r>
                    </a:p>
                  </a:txBody>
                  <a:tcPr marL="142875" marR="104775" marT="95250" marB="85725">
                    <a:lnR w="9525">
                      <a:solidFill>
                        <a:srgbClr val="DCE5E8"/>
                      </a:solidFill>
                      <a:prstDash val="solid"/>
                    </a:lnR>
                    <a:lnB w="9525">
                      <a:solidFill>
                        <a:srgbClr val="DCE5E8"/>
                      </a:solidFill>
                      <a:prstDash val="solid"/>
                    </a:lnB>
                    <a:solidFill>
                      <a:srgbClr val="FFFFFF"/>
                    </a:solidFill>
                  </a:tcPr>
                </a:tc>
              </a:tr>
              <a:tr h="754856">
                <a:tc>
                  <a:txBody>
                    <a:bodyPr/>
                    <a:lstStyle/>
                    <a:p>
                      <a:r>
                        <a:rPr sz="1875">
                          <a:solidFill>
                            <a:srgbClr val="17243C"/>
                          </a:solidFill>
                          <a:latin typeface="Helvetica Neue"/>
                          <a:ea typeface="Helvetica Neue"/>
                          <a:cs typeface="Helvetica Neue"/>
                        </a:rPr>
                        <a:t>User preference</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BPR ranking loss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75">
                          <a:solidFill>
                            <a:srgbClr val="17243C"/>
                          </a:solidFill>
                          <a:latin typeface="Helvetica Neue"/>
                          <a:ea typeface="Helvetica Neue"/>
                          <a:cs typeface="Helvetica Neue"/>
                        </a:rPr>
                        <a:t>Same BPR gradient</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3E1A644E-CC01-4CE7-B352-152E4100F60F}"/>
              </a:ext>
            </a:extLst>
          </p:cNvPr>
          <p:cNvSpPr>
            <a:spLocks xmlns:a="http://schemas.openxmlformats.org/drawingml/2006/main" noGrp="1"/>
          </p:cNvSpPr>
          <p:nvPr/>
        </p:nvSpPr>
        <p:spPr>
          <a:xfrm xmlns:a="http://schemas.openxmlformats.org/drawingml/2006/main">
            <a:off x="647700" y="5248275"/>
            <a:ext cx="10877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defRPr sz="2325" b="1">
                <a:solidFill>
                  <a:srgbClr val="17243C"/>
                </a:solidFill>
                <a:latin typeface="Helvetica Neue"/>
                <a:ea typeface="Helvetica Neue"/>
                <a:cs typeface="Helvetica Neue"/>
              </a:defRPr>
            </a:lvl1pPr>
            <a:lvl2pPr>
              <a:defRPr sz="2325" b="1">
                <a:solidFill>
                  <a:srgbClr val="17243C"/>
                </a:solidFill>
                <a:latin typeface="Helvetica Neue"/>
                <a:ea typeface="Helvetica Neue"/>
                <a:cs typeface="Helvetica Neue"/>
              </a:defRPr>
            </a:lvl2pPr>
            <a:lvl3pPr>
              <a:defRPr sz="2325" b="1">
                <a:solidFill>
                  <a:srgbClr val="17243C"/>
                </a:solidFill>
                <a:latin typeface="Helvetica Neue"/>
                <a:ea typeface="Helvetica Neue"/>
                <a:cs typeface="Helvetica Neue"/>
              </a:defRPr>
            </a:lvl3pPr>
            <a:lvl4pPr>
              <a:defRPr sz="2325" b="1">
                <a:solidFill>
                  <a:srgbClr val="17243C"/>
                </a:solidFill>
                <a:latin typeface="Helvetica Neue"/>
                <a:ea typeface="Helvetica Neue"/>
                <a:cs typeface="Helvetica Neue"/>
              </a:defRPr>
            </a:lvl4pPr>
            <a:lvl5pPr>
              <a:defRPr sz="2325" b="1">
                <a:solidFill>
                  <a:srgbClr val="17243C"/>
                </a:solidFill>
                <a:latin typeface="Helvetica Neue"/>
                <a:ea typeface="Helvetica Neue"/>
                <a:cs typeface="Helvetica Neue"/>
              </a:defRPr>
            </a:lvl5pPr>
            <a:lvl6pPr>
              <a:defRPr sz="2325" b="1">
                <a:solidFill>
                  <a:srgbClr val="17243C"/>
                </a:solidFill>
                <a:latin typeface="Helvetica Neue"/>
                <a:ea typeface="Helvetica Neue"/>
                <a:cs typeface="Helvetica Neue"/>
              </a:defRPr>
            </a:lvl6pPr>
            <a:lvl7pPr>
              <a:defRPr sz="2325" b="1">
                <a:solidFill>
                  <a:srgbClr val="17243C"/>
                </a:solidFill>
                <a:latin typeface="Helvetica Neue"/>
                <a:ea typeface="Helvetica Neue"/>
                <a:cs typeface="Helvetica Neue"/>
              </a:defRPr>
            </a:lvl7pPr>
            <a:lvl8pPr>
              <a:defRPr sz="2325" b="1">
                <a:solidFill>
                  <a:srgbClr val="17243C"/>
                </a:solidFill>
                <a:latin typeface="Helvetica Neue"/>
                <a:ea typeface="Helvetica Neue"/>
                <a:cs typeface="Helvetica Neue"/>
              </a:defRPr>
            </a:lvl8pPr>
            <a:lvl9pPr>
              <a:defRPr sz="2325" b="1">
                <a:solidFill>
                  <a:srgbClr val="17243C"/>
                </a:solidFill>
                <a:latin typeface="Helvetica Neue"/>
                <a:ea typeface="Helvetica Neue"/>
                <a:cs typeface="Helvetica Neue"/>
              </a:defRPr>
            </a:lvl9pPr>
          </a:lstStyle>
          <a:p xmlns:a="http://schemas.openxmlformats.org/drawingml/2006/main">
            <a:pPr>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Frozen still trains a recommendation head.</a:t>
            </a:r>
          </a:p>
        </p:txBody>
      </p:sp>
      <p:sp>
        <p:nvSpPr>
          <p:cNvPr id="6" name="text-9">
            <a:extLst xmlns:a="http://schemas.openxmlformats.org/drawingml/2006/main">
              <a:ext uri="{FF2B5EF4-FFF2-40B4-BE49-F238E27FC236}">
                <a16:creationId xmlns:a16="http://schemas.microsoft.com/office/drawing/2014/main" id="{434C8DAE-AB08-4313-BE19-1A6FF310BC6E}"/>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Same Qwen family and frozen CLIP image features across all arms.</a:t>
            </a:r>
          </a:p>
        </p:txBody>
      </p:sp>
    </p:spTree>
    <p:extLst>
      <p:ext uri="{BB962C8B-B14F-4D97-AF65-F5344CB8AC3E}">
        <p14:creationId xmlns:p14="http://schemas.microsoft.com/office/powerpoint/2010/main" val="1542007626"/>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text-10">
            <a:extLst xmlns:a="http://schemas.openxmlformats.org/drawingml/2006/main">
              <a:ext uri="{FF2B5EF4-FFF2-40B4-BE49-F238E27FC236}">
                <a16:creationId xmlns:a16="http://schemas.microsoft.com/office/drawing/2014/main" id="{CBB53CEF-4B22-4441-BB7A-BADBE897B58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Three Amazon domains and one ranking protocol</a:t>
            </a:r>
          </a:p>
        </p:txBody>
      </p:sp>
      <p:sp>
        <p:nvSpPr>
          <p:cNvPr id="2" name="text-11">
            <a:extLst xmlns:a="http://schemas.openxmlformats.org/drawingml/2006/main">
              <a:ext uri="{FF2B5EF4-FFF2-40B4-BE49-F238E27FC236}">
                <a16:creationId xmlns:a16="http://schemas.microsoft.com/office/drawing/2014/main" id="{E4C610AB-12C9-42BF-BEE4-A433B5922161}"/>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03</a:t>
            </a:r>
          </a:p>
        </p:txBody>
      </p:sp>
      <p:graphicFrame>
        <p:nvGraphicFramePr>
          <p:cNvPr id="3" name="">
            <a:extLst xmlns:a="http://schemas.openxmlformats.org/drawingml/2006/main">
              <a:ext uri="{FF2B5EF4-FFF2-40B4-BE49-F238E27FC236}">
                <a16:creationId xmlns:a16="http://schemas.microsoft.com/office/drawing/2014/main" id="{5B3B75F1-BDEE-4BF8-B0D9-F7FEC4532151}"/>
              </a:ext>
            </a:extLst>
          </p:cNvPr>
          <p:cNvGraphicFramePr/>
          <p:nvPr/>
        </p:nvGraphicFramePr>
        <p:xfrm>
          <a:off xmlns:a="http://schemas.openxmlformats.org/drawingml/2006/main" x="609600" y="1562100"/>
          <a:ext xmlns:a="http://schemas.openxmlformats.org/drawingml/2006/main" cx="10972800" cy="2419350"/>
        </p:xfrm>
        <a:graphic xmlns:a="http://schemas.openxmlformats.org/drawingml/2006/main">
          <a:graphicData uri="http://schemas.openxmlformats.org/drawingml/2006/table">
            <a:tbl>
              <a:tblPr firstRow="1" bandRow="0"/>
              <a:tblGrid>
                <a:gridCol w="3257550"/>
                <a:gridCol w="2343150"/>
                <a:gridCol w="2552700"/>
                <a:gridCol w="2819400"/>
              </a:tblGrid>
              <a:tr h="604838">
                <a:tc>
                  <a:txBody>
                    <a:bodyPr/>
                    <a:lstStyle/>
                    <a:p>
                      <a:r>
                        <a:rPr sz="1950" b="1">
                          <a:solidFill>
                            <a:srgbClr val="FFFFFF"/>
                          </a:solidFill>
                          <a:latin typeface="Helvetica Neue"/>
                          <a:ea typeface="Helvetica Neue"/>
                          <a:cs typeface="Helvetica Neue"/>
                        </a:rPr>
                        <a:t>Domain</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Products</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Users</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Interactions</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604838">
                <a:tc>
                  <a:txBody>
                    <a:bodyPr/>
                    <a:lstStyle/>
                    <a:p>
                      <a:r>
                        <a:rPr sz="1950">
                          <a:solidFill>
                            <a:srgbClr val="17243C"/>
                          </a:solidFill>
                          <a:latin typeface="Helvetica Neue"/>
                          <a:ea typeface="Helvetica Neue"/>
                          <a:cs typeface="Helvetica Neue"/>
                        </a:rPr>
                        <a:t>Baby</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7,037</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18,479</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155,180</a:t>
                      </a:r>
                    </a:p>
                  </a:txBody>
                  <a:tcPr marL="142875" marR="104775" marT="95250" marB="85725">
                    <a:lnR w="9525">
                      <a:solidFill>
                        <a:srgbClr val="DCE5E8"/>
                      </a:solidFill>
                      <a:prstDash val="solid"/>
                    </a:lnR>
                    <a:lnB w="9525">
                      <a:solidFill>
                        <a:srgbClr val="DCE5E8"/>
                      </a:solidFill>
                      <a:prstDash val="solid"/>
                    </a:lnB>
                    <a:solidFill>
                      <a:srgbClr val="FFFFFF"/>
                    </a:solidFill>
                  </a:tcPr>
                </a:tc>
              </a:tr>
              <a:tr h="604838">
                <a:tc>
                  <a:txBody>
                    <a:bodyPr/>
                    <a:lstStyle/>
                    <a:p>
                      <a:r>
                        <a:rPr sz="1950">
                          <a:solidFill>
                            <a:srgbClr val="17243C"/>
                          </a:solidFill>
                          <a:latin typeface="Helvetica Neue"/>
                          <a:ea typeface="Helvetica Neue"/>
                          <a:cs typeface="Helvetica Neue"/>
                        </a:rPr>
                        <a:t>Sports</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18,273</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34,555</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289,579</a:t>
                      </a:r>
                    </a:p>
                  </a:txBody>
                  <a:tcPr marL="142875" marR="104775" marT="95250" marB="85725">
                    <a:lnR w="9525">
                      <a:solidFill>
                        <a:srgbClr val="DCE5E8"/>
                      </a:solidFill>
                      <a:prstDash val="solid"/>
                    </a:lnR>
                    <a:lnB w="9525">
                      <a:solidFill>
                        <a:srgbClr val="DCE5E8"/>
                      </a:solidFill>
                      <a:prstDash val="solid"/>
                    </a:lnB>
                    <a:solidFill>
                      <a:srgbClr val="FFFFFF"/>
                    </a:solidFill>
                  </a:tcPr>
                </a:tc>
              </a:tr>
              <a:tr h="604838">
                <a:tc>
                  <a:txBody>
                    <a:bodyPr/>
                    <a:lstStyle/>
                    <a:p>
                      <a:r>
                        <a:rPr sz="1950">
                          <a:solidFill>
                            <a:srgbClr val="17243C"/>
                          </a:solidFill>
                          <a:latin typeface="Helvetica Neue"/>
                          <a:ea typeface="Helvetica Neue"/>
                          <a:cs typeface="Helvetica Neue"/>
                        </a:rPr>
                        <a:t>Clothing</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22,491</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36,437</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255,681</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4" name="text-12">
            <a:extLst xmlns:a="http://schemas.openxmlformats.org/drawingml/2006/main">
              <a:ext uri="{FF2B5EF4-FFF2-40B4-BE49-F238E27FC236}">
                <a16:creationId xmlns:a16="http://schemas.microsoft.com/office/drawing/2014/main" id="{B8BE19D7-8258-4FDA-8C41-B6501E7C4203}"/>
              </a:ext>
            </a:extLst>
          </p:cNvPr>
          <p:cNvSpPr>
            <a:spLocks xmlns:a="http://schemas.openxmlformats.org/drawingml/2006/main" noGrp="1"/>
          </p:cNvSpPr>
          <p:nvPr/>
        </p:nvSpPr>
        <p:spPr>
          <a:xfrm xmlns:a="http://schemas.openxmlformats.org/drawingml/2006/main">
            <a:off x="647700" y="41624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43C"/>
                </a:solidFill>
                <a:latin typeface="Helvetica Neue"/>
                <a:ea typeface="Helvetica Neue"/>
                <a:cs typeface="Helvetica Neue"/>
              </a:defRPr>
            </a:defPPr>
            <a:lvl1pPr>
              <a:defRPr sz="2025" b="1">
                <a:solidFill>
                  <a:srgbClr val="17243C"/>
                </a:solidFill>
                <a:latin typeface="Helvetica Neue"/>
                <a:ea typeface="Helvetica Neue"/>
                <a:cs typeface="Helvetica Neue"/>
              </a:defRPr>
            </a:lvl1pPr>
            <a:lvl2pPr>
              <a:defRPr sz="2025" b="1">
                <a:solidFill>
                  <a:srgbClr val="17243C"/>
                </a:solidFill>
                <a:latin typeface="Helvetica Neue"/>
                <a:ea typeface="Helvetica Neue"/>
                <a:cs typeface="Helvetica Neue"/>
              </a:defRPr>
            </a:lvl2pPr>
            <a:lvl3pPr>
              <a:defRPr sz="2025" b="1">
                <a:solidFill>
                  <a:srgbClr val="17243C"/>
                </a:solidFill>
                <a:latin typeface="Helvetica Neue"/>
                <a:ea typeface="Helvetica Neue"/>
                <a:cs typeface="Helvetica Neue"/>
              </a:defRPr>
            </a:lvl3pPr>
            <a:lvl4pPr>
              <a:defRPr sz="2025" b="1">
                <a:solidFill>
                  <a:srgbClr val="17243C"/>
                </a:solidFill>
                <a:latin typeface="Helvetica Neue"/>
                <a:ea typeface="Helvetica Neue"/>
                <a:cs typeface="Helvetica Neue"/>
              </a:defRPr>
            </a:lvl4pPr>
            <a:lvl5pPr>
              <a:defRPr sz="2025" b="1">
                <a:solidFill>
                  <a:srgbClr val="17243C"/>
                </a:solidFill>
                <a:latin typeface="Helvetica Neue"/>
                <a:ea typeface="Helvetica Neue"/>
                <a:cs typeface="Helvetica Neue"/>
              </a:defRPr>
            </a:lvl5pPr>
            <a:lvl6pPr>
              <a:defRPr sz="2025" b="1">
                <a:solidFill>
                  <a:srgbClr val="17243C"/>
                </a:solidFill>
                <a:latin typeface="Helvetica Neue"/>
                <a:ea typeface="Helvetica Neue"/>
                <a:cs typeface="Helvetica Neue"/>
              </a:defRPr>
            </a:lvl6pPr>
            <a:lvl7pPr>
              <a:defRPr sz="2025" b="1">
                <a:solidFill>
                  <a:srgbClr val="17243C"/>
                </a:solidFill>
                <a:latin typeface="Helvetica Neue"/>
                <a:ea typeface="Helvetica Neue"/>
                <a:cs typeface="Helvetica Neue"/>
              </a:defRPr>
            </a:lvl7pPr>
            <a:lvl8pPr>
              <a:defRPr sz="2025" b="1">
                <a:solidFill>
                  <a:srgbClr val="17243C"/>
                </a:solidFill>
                <a:latin typeface="Helvetica Neue"/>
                <a:ea typeface="Helvetica Neue"/>
                <a:cs typeface="Helvetica Neue"/>
              </a:defRPr>
            </a:lvl8pPr>
            <a:lvl9pPr>
              <a:defRPr sz="2025" b="1">
                <a:solidFill>
                  <a:srgbClr val="17243C"/>
                </a:solidFill>
                <a:latin typeface="Helvetica Neue"/>
                <a:ea typeface="Helvetica Neue"/>
                <a:cs typeface="Helvetica Neue"/>
              </a:defRPr>
            </a:lvl9pPr>
          </a:lstStyle>
          <a:p xmlns:a="http://schemas.openxmlformats.org/drawingml/2006/main">
            <a:pPr>
              <a:defRPr sz="2025" b="1">
                <a:solidFill>
                  <a:srgbClr val="17243C"/>
                </a:solidFill>
                <a:latin typeface="Helvetica Neue"/>
                <a:ea typeface="Helvetica Neue"/>
                <a:cs typeface="Helvetica Neue"/>
              </a:defRPr>
            </a:pPr>
            <a:r>
              <a:rPr sz="2025" b="1">
                <a:solidFill>
                  <a:srgbClr val="17243C"/>
                </a:solidFill>
                <a:latin typeface="Helvetica Neue"/>
                <a:ea typeface="Helvetica Neue"/>
                <a:cs typeface="Helvetica Neue"/>
              </a:rPr>
              <a:t>47,801 catalogued products. Top 3 and Top 12 are display subsets.</a:t>
            </a:r>
          </a:p>
        </p:txBody>
      </p:sp>
      <p:sp>
        <p:nvSpPr>
          <p:cNvPr id="5" name="text-13">
            <a:extLst xmlns:a="http://schemas.openxmlformats.org/drawingml/2006/main">
              <a:ext uri="{FF2B5EF4-FFF2-40B4-BE49-F238E27FC236}">
                <a16:creationId xmlns:a16="http://schemas.microsoft.com/office/drawing/2014/main" id="{F8BC8D26-2EBA-4D2A-8A02-8F7763D1813C}"/>
              </a:ext>
            </a:extLst>
          </p:cNvPr>
          <p:cNvSpPr>
            <a:spLocks xmlns:a="http://schemas.openxmlformats.org/drawingml/2006/main" noGrp="1"/>
          </p:cNvSpPr>
          <p:nvPr/>
        </p:nvSpPr>
        <p:spPr>
          <a:xfrm xmlns:a="http://schemas.openxmlformats.org/drawingml/2006/main">
            <a:off x="647700" y="46958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defRPr sz="2325" b="1">
                <a:solidFill>
                  <a:srgbClr val="17243C"/>
                </a:solidFill>
                <a:latin typeface="Helvetica Neue"/>
                <a:ea typeface="Helvetica Neue"/>
                <a:cs typeface="Helvetica Neue"/>
              </a:defRPr>
            </a:lvl1pPr>
            <a:lvl2pPr>
              <a:defRPr sz="2325" b="1">
                <a:solidFill>
                  <a:srgbClr val="17243C"/>
                </a:solidFill>
                <a:latin typeface="Helvetica Neue"/>
                <a:ea typeface="Helvetica Neue"/>
                <a:cs typeface="Helvetica Neue"/>
              </a:defRPr>
            </a:lvl2pPr>
            <a:lvl3pPr>
              <a:defRPr sz="2325" b="1">
                <a:solidFill>
                  <a:srgbClr val="17243C"/>
                </a:solidFill>
                <a:latin typeface="Helvetica Neue"/>
                <a:ea typeface="Helvetica Neue"/>
                <a:cs typeface="Helvetica Neue"/>
              </a:defRPr>
            </a:lvl3pPr>
            <a:lvl4pPr>
              <a:defRPr sz="2325" b="1">
                <a:solidFill>
                  <a:srgbClr val="17243C"/>
                </a:solidFill>
                <a:latin typeface="Helvetica Neue"/>
                <a:ea typeface="Helvetica Neue"/>
                <a:cs typeface="Helvetica Neue"/>
              </a:defRPr>
            </a:lvl4pPr>
            <a:lvl5pPr>
              <a:defRPr sz="2325" b="1">
                <a:solidFill>
                  <a:srgbClr val="17243C"/>
                </a:solidFill>
                <a:latin typeface="Helvetica Neue"/>
                <a:ea typeface="Helvetica Neue"/>
                <a:cs typeface="Helvetica Neue"/>
              </a:defRPr>
            </a:lvl5pPr>
            <a:lvl6pPr>
              <a:defRPr sz="2325" b="1">
                <a:solidFill>
                  <a:srgbClr val="17243C"/>
                </a:solidFill>
                <a:latin typeface="Helvetica Neue"/>
                <a:ea typeface="Helvetica Neue"/>
                <a:cs typeface="Helvetica Neue"/>
              </a:defRPr>
            </a:lvl6pPr>
            <a:lvl7pPr>
              <a:defRPr sz="2325" b="1">
                <a:solidFill>
                  <a:srgbClr val="17243C"/>
                </a:solidFill>
                <a:latin typeface="Helvetica Neue"/>
                <a:ea typeface="Helvetica Neue"/>
                <a:cs typeface="Helvetica Neue"/>
              </a:defRPr>
            </a:lvl7pPr>
            <a:lvl8pPr>
              <a:defRPr sz="2325" b="1">
                <a:solidFill>
                  <a:srgbClr val="17243C"/>
                </a:solidFill>
                <a:latin typeface="Helvetica Neue"/>
                <a:ea typeface="Helvetica Neue"/>
                <a:cs typeface="Helvetica Neue"/>
              </a:defRPr>
            </a:lvl8pPr>
            <a:lvl9pPr>
              <a:defRPr sz="2325" b="1">
                <a:solidFill>
                  <a:srgbClr val="17243C"/>
                </a:solidFill>
                <a:latin typeface="Helvetica Neue"/>
                <a:ea typeface="Helvetica Neue"/>
                <a:cs typeface="Helvetica Neue"/>
              </a:defRPr>
            </a:lvl9pPr>
          </a:lstStyle>
          <a:p xmlns:a="http://schemas.openxmlformats.org/drawingml/2006/main">
            <a:pPr>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Chronological 80% / 10% / 10% split</a:t>
            </a:r>
          </a:p>
        </p:txBody>
      </p:sp>
      <p:sp>
        <p:nvSpPr>
          <p:cNvPr id="6" name="text-14">
            <a:extLst xmlns:a="http://schemas.openxmlformats.org/drawingml/2006/main">
              <a:ext uri="{FF2B5EF4-FFF2-40B4-BE49-F238E27FC236}">
                <a16:creationId xmlns:a16="http://schemas.microsoft.com/office/drawing/2014/main" id="{A361442D-3636-4D2F-AADE-860C6CAA36EB}"/>
              </a:ext>
            </a:extLst>
          </p:cNvPr>
          <p:cNvSpPr>
            <a:spLocks xmlns:a="http://schemas.openxmlformats.org/drawingml/2006/main" noGrp="1"/>
          </p:cNvSpPr>
          <p:nvPr/>
        </p:nvSpPr>
        <p:spPr>
          <a:xfrm xmlns:a="http://schemas.openxmlformats.org/drawingml/2006/main">
            <a:off x="647700" y="5248275"/>
            <a:ext cx="10725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Strictly earlier positives. Latest 20 distinct products.</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Full catalogue ranking, excluding previous positives. User-macro metrics.</a:t>
            </a:r>
          </a:p>
        </p:txBody>
      </p:sp>
      <p:sp>
        <p:nvSpPr>
          <p:cNvPr id="7" name="text-15">
            <a:extLst xmlns:a="http://schemas.openxmlformats.org/drawingml/2006/main">
              <a:ext uri="{FF2B5EF4-FFF2-40B4-BE49-F238E27FC236}">
                <a16:creationId xmlns:a16="http://schemas.microsoft.com/office/drawing/2014/main" id="{9B231847-56A1-4417-AA8A-B21F59A65B62}"/>
              </a:ext>
            </a:extLst>
          </p:cNvPr>
          <p:cNvSpPr>
            <a:spLocks xmlns:a="http://schemas.openxmlformats.org/drawingml/2006/main" noGrp="1"/>
          </p:cNvSpPr>
          <p:nvPr/>
        </p:nvSpPr>
        <p:spPr>
          <a:xfrm xmlns:a="http://schemas.openxmlformats.org/drawingml/2006/main">
            <a:off x="628650" y="607695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Three domains from one Amazon source limit evidence about cross-source generalization.</a:t>
            </a:r>
          </a:p>
        </p:txBody>
      </p:sp>
    </p:spTree>
    <p:extLst>
      <p:ext uri="{BB962C8B-B14F-4D97-AF65-F5344CB8AC3E}">
        <p14:creationId xmlns:p14="http://schemas.microsoft.com/office/powerpoint/2010/main" val="969373619"/>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16">
            <a:extLst xmlns:a="http://schemas.openxmlformats.org/drawingml/2006/main">
              <a:ext uri="{FF2B5EF4-FFF2-40B4-BE49-F238E27FC236}">
                <a16:creationId xmlns:a16="http://schemas.microsoft.com/office/drawing/2014/main" id="{AE3DB864-534D-4A45-9839-812442D46742}"/>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History and candidate representations</a:t>
            </a:r>
          </a:p>
        </p:txBody>
      </p:sp>
      <p:sp>
        <p:nvSpPr>
          <p:cNvPr id="2" name="text-17">
            <a:extLst xmlns:a="http://schemas.openxmlformats.org/drawingml/2006/main">
              <a:ext uri="{FF2B5EF4-FFF2-40B4-BE49-F238E27FC236}">
                <a16:creationId xmlns:a16="http://schemas.microsoft.com/office/drawing/2014/main" id="{79B66AFB-AD96-44F2-983F-DDD08EB3793C}"/>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04</a:t>
            </a:r>
          </a:p>
        </p:txBody>
      </p:sp>
      <p:graphicFrame>
        <p:nvGraphicFramePr>
          <p:cNvPr id="3" name="">
            <a:extLst xmlns:a="http://schemas.openxmlformats.org/drawingml/2006/main">
              <a:ext uri="{FF2B5EF4-FFF2-40B4-BE49-F238E27FC236}">
                <a16:creationId xmlns:a16="http://schemas.microsoft.com/office/drawing/2014/main" id="{1285AF5D-83B1-4078-8AD9-B5FC5C8678B9}"/>
              </a:ext>
            </a:extLst>
          </p:cNvPr>
          <p:cNvGraphicFramePr/>
          <p:nvPr/>
        </p:nvGraphicFramePr>
        <p:xfrm>
          <a:off xmlns:a="http://schemas.openxmlformats.org/drawingml/2006/main" x="609600" y="1695450"/>
          <a:ext xmlns:a="http://schemas.openxmlformats.org/drawingml/2006/main" cx="10972800" cy="2324100"/>
        </p:xfrm>
        <a:graphic xmlns:a="http://schemas.openxmlformats.org/drawingml/2006/main">
          <a:graphicData uri="http://schemas.openxmlformats.org/drawingml/2006/table">
            <a:tbl>
              <a:tblPr firstRow="1" bandRow="0"/>
              <a:tblGrid>
                <a:gridCol w="3238500"/>
                <a:gridCol w="4533900"/>
                <a:gridCol w="3200400"/>
              </a:tblGrid>
              <a:tr h="774700">
                <a:tc>
                  <a:txBody>
                    <a:bodyPr/>
                    <a:lstStyle/>
                    <a:p>
                      <a:r>
                        <a:rPr sz="1950" b="1">
                          <a:solidFill>
                            <a:srgbClr val="FFFFFF"/>
                          </a:solidFill>
                          <a:latin typeface="Helvetica Neue"/>
                          <a:ea typeface="Helvetica Neue"/>
                          <a:cs typeface="Helvetica Neue"/>
                        </a:rPr>
                        <a:t>Path</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Text input</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950" b="1">
                          <a:solidFill>
                            <a:srgbClr val="FFFFFF"/>
                          </a:solidFill>
                          <a:latin typeface="Helvetica Neue"/>
                          <a:ea typeface="Helvetica Neue"/>
                          <a:cs typeface="Helvetica Neue"/>
                        </a:rPr>
                        <a:t>Image input</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774700">
                <a:tc>
                  <a:txBody>
                    <a:bodyPr/>
                    <a:lstStyle/>
                    <a:p>
                      <a:r>
                        <a:rPr sz="1950">
                          <a:solidFill>
                            <a:srgbClr val="17243C"/>
                          </a:solidFill>
                          <a:latin typeface="Helvetica Neue"/>
                          <a:ea typeface="Helvetica Neue"/>
                          <a:cs typeface="Helvetica Neue"/>
                        </a:rPr>
                        <a:t>Liked-product history</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Frozen base Qwen, 1024d</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Frozen CLIP, 512d</a:t>
                      </a:r>
                    </a:p>
                  </a:txBody>
                  <a:tcPr marL="142875" marR="104775" marT="95250" marB="85725">
                    <a:lnR w="9525">
                      <a:solidFill>
                        <a:srgbClr val="DCE5E8"/>
                      </a:solidFill>
                      <a:prstDash val="solid"/>
                    </a:lnR>
                    <a:lnB w="9525">
                      <a:solidFill>
                        <a:srgbClr val="DCE5E8"/>
                      </a:solidFill>
                      <a:prstDash val="solid"/>
                    </a:lnB>
                    <a:solidFill>
                      <a:srgbClr val="FFFFFF"/>
                    </a:solidFill>
                  </a:tcPr>
                </a:tc>
              </a:tr>
              <a:tr h="774700">
                <a:tc>
                  <a:txBody>
                    <a:bodyPr/>
                    <a:lstStyle/>
                    <a:p>
                      <a:r>
                        <a:rPr sz="1950">
                          <a:solidFill>
                            <a:srgbClr val="17243C"/>
                          </a:solidFill>
                          <a:latin typeface="Helvetica Neue"/>
                          <a:ea typeface="Helvetica Neue"/>
                          <a:cs typeface="Helvetica Neue"/>
                        </a:rPr>
                        <a:t>Candidate products</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Base or selected LoRA, 1024d</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950">
                          <a:solidFill>
                            <a:srgbClr val="17243C"/>
                          </a:solidFill>
                          <a:latin typeface="Helvetica Neue"/>
                          <a:ea typeface="Helvetica Neue"/>
                          <a:cs typeface="Helvetica Neue"/>
                        </a:rPr>
                        <a:t>Same CLIP, 512d</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4" name="text-18">
            <a:extLst xmlns:a="http://schemas.openxmlformats.org/drawingml/2006/main">
              <a:ext uri="{FF2B5EF4-FFF2-40B4-BE49-F238E27FC236}">
                <a16:creationId xmlns:a16="http://schemas.microsoft.com/office/drawing/2014/main" id="{26DD0F29-405A-4CD4-9633-C4E377F0EC96}"/>
              </a:ext>
            </a:extLst>
          </p:cNvPr>
          <p:cNvSpPr>
            <a:spLocks xmlns:a="http://schemas.openxmlformats.org/drawingml/2006/main" noGrp="1"/>
          </p:cNvSpPr>
          <p:nvPr/>
        </p:nvSpPr>
        <p:spPr>
          <a:xfrm xmlns:a="http://schemas.openxmlformats.org/drawingml/2006/main">
            <a:off x="647700" y="44767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43C"/>
                </a:solidFill>
                <a:latin typeface="Helvetica Neue"/>
                <a:ea typeface="Helvetica Neue"/>
                <a:cs typeface="Helvetica Neue"/>
              </a:defRPr>
            </a:defPPr>
            <a:lvl1pPr>
              <a:defRPr sz="2250" b="1">
                <a:solidFill>
                  <a:srgbClr val="17243C"/>
                </a:solidFill>
                <a:latin typeface="Helvetica Neue"/>
                <a:ea typeface="Helvetica Neue"/>
                <a:cs typeface="Helvetica Neue"/>
              </a:defRPr>
            </a:lvl1pPr>
            <a:lvl2pPr>
              <a:defRPr sz="2250" b="1">
                <a:solidFill>
                  <a:srgbClr val="17243C"/>
                </a:solidFill>
                <a:latin typeface="Helvetica Neue"/>
                <a:ea typeface="Helvetica Neue"/>
                <a:cs typeface="Helvetica Neue"/>
              </a:defRPr>
            </a:lvl2pPr>
            <a:lvl3pPr>
              <a:defRPr sz="2250" b="1">
                <a:solidFill>
                  <a:srgbClr val="17243C"/>
                </a:solidFill>
                <a:latin typeface="Helvetica Neue"/>
                <a:ea typeface="Helvetica Neue"/>
                <a:cs typeface="Helvetica Neue"/>
              </a:defRPr>
            </a:lvl3pPr>
            <a:lvl4pPr>
              <a:defRPr sz="2250" b="1">
                <a:solidFill>
                  <a:srgbClr val="17243C"/>
                </a:solidFill>
                <a:latin typeface="Helvetica Neue"/>
                <a:ea typeface="Helvetica Neue"/>
                <a:cs typeface="Helvetica Neue"/>
              </a:defRPr>
            </a:lvl4pPr>
            <a:lvl5pPr>
              <a:defRPr sz="2250" b="1">
                <a:solidFill>
                  <a:srgbClr val="17243C"/>
                </a:solidFill>
                <a:latin typeface="Helvetica Neue"/>
                <a:ea typeface="Helvetica Neue"/>
                <a:cs typeface="Helvetica Neue"/>
              </a:defRPr>
            </a:lvl5pPr>
            <a:lvl6pPr>
              <a:defRPr sz="2250" b="1">
                <a:solidFill>
                  <a:srgbClr val="17243C"/>
                </a:solidFill>
                <a:latin typeface="Helvetica Neue"/>
                <a:ea typeface="Helvetica Neue"/>
                <a:cs typeface="Helvetica Neue"/>
              </a:defRPr>
            </a:lvl6pPr>
            <a:lvl7pPr>
              <a:defRPr sz="2250" b="1">
                <a:solidFill>
                  <a:srgbClr val="17243C"/>
                </a:solidFill>
                <a:latin typeface="Helvetica Neue"/>
                <a:ea typeface="Helvetica Neue"/>
                <a:cs typeface="Helvetica Neue"/>
              </a:defRPr>
            </a:lvl7pPr>
            <a:lvl8pPr>
              <a:defRPr sz="2250" b="1">
                <a:solidFill>
                  <a:srgbClr val="17243C"/>
                </a:solidFill>
                <a:latin typeface="Helvetica Neue"/>
                <a:ea typeface="Helvetica Neue"/>
                <a:cs typeface="Helvetica Neue"/>
              </a:defRPr>
            </a:lvl8pPr>
            <a:lvl9pPr>
              <a:defRPr sz="2250" b="1">
                <a:solidFill>
                  <a:srgbClr val="17243C"/>
                </a:solidFill>
                <a:latin typeface="Helvetica Neue"/>
                <a:ea typeface="Helvetica Neue"/>
                <a:cs typeface="Helvetica Neue"/>
              </a:defRPr>
            </a:lvl9pPr>
          </a:lstStyle>
          <a:p xmlns:a="http://schemas.openxmlformats.org/drawingml/2006/main">
            <a:pPr>
              <a:defRPr sz="2250" b="1">
                <a:solidFill>
                  <a:srgbClr val="17243C"/>
                </a:solidFill>
                <a:latin typeface="Helvetica Neue"/>
                <a:ea typeface="Helvetica Neue"/>
                <a:cs typeface="Helvetica Neue"/>
              </a:defRPr>
            </a:pPr>
            <a:r>
              <a:rPr sz="2250" b="1">
                <a:solidFill>
                  <a:srgbClr val="17243C"/>
                </a:solidFill>
                <a:latin typeface="Helvetica Neue"/>
                <a:ea typeface="Helvetica Neue"/>
                <a:cs typeface="Helvetica Neue"/>
              </a:rPr>
              <a:t>Separate history and candidate towers produce 128d vectors.</a:t>
            </a:r>
          </a:p>
        </p:txBody>
      </p:sp>
      <p:sp>
        <p:nvSpPr>
          <p:cNvPr id="5" name="text-19">
            <a:extLst xmlns:a="http://schemas.openxmlformats.org/drawingml/2006/main">
              <a:ext uri="{FF2B5EF4-FFF2-40B4-BE49-F238E27FC236}">
                <a16:creationId xmlns:a16="http://schemas.microsoft.com/office/drawing/2014/main" id="{64E20523-6570-47AF-92E0-531B1ED4CCD0}"/>
              </a:ext>
            </a:extLst>
          </p:cNvPr>
          <p:cNvSpPr>
            <a:spLocks xmlns:a="http://schemas.openxmlformats.org/drawingml/2006/main" noGrp="1"/>
          </p:cNvSpPr>
          <p:nvPr/>
        </p:nvSpPr>
        <p:spPr>
          <a:xfrm xmlns:a="http://schemas.openxmlformats.org/drawingml/2006/main">
            <a:off x="647700" y="527685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86C7C"/>
                </a:solidFill>
                <a:latin typeface="Helvetica Neue"/>
                <a:ea typeface="Helvetica Neue"/>
                <a:cs typeface="Helvetica Neue"/>
              </a:defRPr>
            </a:defPPr>
            <a:lvl1pPr>
              <a:defRPr sz="2175" b="0">
                <a:solidFill>
                  <a:srgbClr val="586C7C"/>
                </a:solidFill>
                <a:latin typeface="Helvetica Neue"/>
                <a:ea typeface="Helvetica Neue"/>
                <a:cs typeface="Helvetica Neue"/>
              </a:defRPr>
            </a:lvl1pPr>
            <a:lvl2pPr>
              <a:defRPr sz="2175" b="0">
                <a:solidFill>
                  <a:srgbClr val="586C7C"/>
                </a:solidFill>
                <a:latin typeface="Helvetica Neue"/>
                <a:ea typeface="Helvetica Neue"/>
                <a:cs typeface="Helvetica Neue"/>
              </a:defRPr>
            </a:lvl2pPr>
            <a:lvl3pPr>
              <a:defRPr sz="2175" b="0">
                <a:solidFill>
                  <a:srgbClr val="586C7C"/>
                </a:solidFill>
                <a:latin typeface="Helvetica Neue"/>
                <a:ea typeface="Helvetica Neue"/>
                <a:cs typeface="Helvetica Neue"/>
              </a:defRPr>
            </a:lvl3pPr>
            <a:lvl4pPr>
              <a:defRPr sz="2175" b="0">
                <a:solidFill>
                  <a:srgbClr val="586C7C"/>
                </a:solidFill>
                <a:latin typeface="Helvetica Neue"/>
                <a:ea typeface="Helvetica Neue"/>
                <a:cs typeface="Helvetica Neue"/>
              </a:defRPr>
            </a:lvl4pPr>
            <a:lvl5pPr>
              <a:defRPr sz="2175" b="0">
                <a:solidFill>
                  <a:srgbClr val="586C7C"/>
                </a:solidFill>
                <a:latin typeface="Helvetica Neue"/>
                <a:ea typeface="Helvetica Neue"/>
                <a:cs typeface="Helvetica Neue"/>
              </a:defRPr>
            </a:lvl5pPr>
            <a:lvl6pPr>
              <a:defRPr sz="2175" b="0">
                <a:solidFill>
                  <a:srgbClr val="586C7C"/>
                </a:solidFill>
                <a:latin typeface="Helvetica Neue"/>
                <a:ea typeface="Helvetica Neue"/>
                <a:cs typeface="Helvetica Neue"/>
              </a:defRPr>
            </a:lvl6pPr>
            <a:lvl7pPr>
              <a:defRPr sz="2175" b="0">
                <a:solidFill>
                  <a:srgbClr val="586C7C"/>
                </a:solidFill>
                <a:latin typeface="Helvetica Neue"/>
                <a:ea typeface="Helvetica Neue"/>
                <a:cs typeface="Helvetica Neue"/>
              </a:defRPr>
            </a:lvl7pPr>
            <a:lvl8pPr>
              <a:defRPr sz="2175" b="0">
                <a:solidFill>
                  <a:srgbClr val="586C7C"/>
                </a:solidFill>
                <a:latin typeface="Helvetica Neue"/>
                <a:ea typeface="Helvetica Neue"/>
                <a:cs typeface="Helvetica Neue"/>
              </a:defRPr>
            </a:lvl8pPr>
            <a:lvl9pPr>
              <a:defRPr sz="2175" b="0">
                <a:solidFill>
                  <a:srgbClr val="586C7C"/>
                </a:solidFill>
                <a:latin typeface="Helvetica Neue"/>
                <a:ea typeface="Helvetica Neue"/>
                <a:cs typeface="Helvetica Neue"/>
              </a:defRPr>
            </a:lvl9pPr>
          </a:lstStyle>
          <a:p xmlns:a="http://schemas.openxmlformats.org/drawingml/2006/main">
            <a:pPr>
              <a:defRPr sz="2175" b="0">
                <a:solidFill>
                  <a:srgbClr val="586C7C"/>
                </a:solidFill>
                <a:latin typeface="Helvetica Neue"/>
                <a:ea typeface="Helvetica Neue"/>
                <a:cs typeface="Helvetica Neue"/>
              </a:defRPr>
            </a:pPr>
            <a:r>
              <a:rPr sz="2175" b="0">
                <a:solidFill>
                  <a:srgbClr val="586C7C"/>
                </a:solidFill>
                <a:latin typeface="Helvetica Neue"/>
                <a:ea typeface="Helvetica Neue"/>
                <a:cs typeface="Helvetica Neue"/>
              </a:rPr>
              <a:t>User vector = normalize(MLP(mean(history vectors)))</a:t>
            </a:r>
          </a:p>
          <a:p xmlns:a="http://schemas.openxmlformats.org/drawingml/2006/main">
            <a:pPr>
              <a:defRPr sz="2175" b="0">
                <a:solidFill>
                  <a:srgbClr val="586C7C"/>
                </a:solidFill>
                <a:latin typeface="Helvetica Neue"/>
                <a:ea typeface="Helvetica Neue"/>
                <a:cs typeface="Helvetica Neue"/>
              </a:defRPr>
            </a:pPr>
            <a:r>
              <a:rPr sz="2175" b="0">
                <a:solidFill>
                  <a:srgbClr val="586C7C"/>
                </a:solidFill>
                <a:latin typeface="Helvetica Neue"/>
                <a:ea typeface="Helvetica Neue"/>
                <a:cs typeface="Helvetica Neue"/>
              </a:rPr>
              <a:t>Score = user vector · candidate vector</a:t>
            </a:r>
          </a:p>
        </p:txBody>
      </p:sp>
    </p:spTree>
    <p:extLst>
      <p:ext uri="{BB962C8B-B14F-4D97-AF65-F5344CB8AC3E}">
        <p14:creationId xmlns:p14="http://schemas.microsoft.com/office/powerpoint/2010/main" val="748027037"/>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text-20">
            <a:extLst xmlns:a="http://schemas.openxmlformats.org/drawingml/2006/main">
              <a:ext uri="{FF2B5EF4-FFF2-40B4-BE49-F238E27FC236}">
                <a16:creationId xmlns:a16="http://schemas.microsoft.com/office/drawing/2014/main" id="{734100C6-D265-4DA2-904C-00472771D34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Shared initialization and adaptation budget</a:t>
            </a:r>
          </a:p>
        </p:txBody>
      </p:sp>
      <p:sp>
        <p:nvSpPr>
          <p:cNvPr id="2" name="text-21">
            <a:extLst xmlns:a="http://schemas.openxmlformats.org/drawingml/2006/main">
              <a:ext uri="{FF2B5EF4-FFF2-40B4-BE49-F238E27FC236}">
                <a16:creationId xmlns:a16="http://schemas.microsoft.com/office/drawing/2014/main" id="{06A5DDD9-E5D1-4840-AE65-6EFDD74BABD7}"/>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05</a:t>
            </a:r>
          </a:p>
        </p:txBody>
      </p:sp>
      <p:sp>
        <p:nvSpPr>
          <p:cNvPr id="3" name="text-22">
            <a:extLst xmlns:a="http://schemas.openxmlformats.org/drawingml/2006/main">
              <a:ext uri="{FF2B5EF4-FFF2-40B4-BE49-F238E27FC236}">
                <a16:creationId xmlns:a16="http://schemas.microsoft.com/office/drawing/2014/main" id="{70706326-7817-40E3-9B12-2A5B3F89038A}"/>
              </a:ext>
            </a:extLst>
          </p:cNvPr>
          <p:cNvSpPr>
            <a:spLocks xmlns:a="http://schemas.openxmlformats.org/drawingml/2006/main" noGrp="1"/>
          </p:cNvSpPr>
          <p:nvPr/>
        </p:nvSpPr>
        <p:spPr>
          <a:xfrm xmlns:a="http://schemas.openxmlformats.org/drawingml/2006/main">
            <a:off x="647700" y="1581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47CDB"/>
                </a:solidFill>
                <a:latin typeface="Helvetica Neue"/>
                <a:ea typeface="Helvetica Neue"/>
                <a:cs typeface="Helvetica Neue"/>
              </a:defRPr>
            </a:defPPr>
            <a:lvl1pPr>
              <a:defRPr sz="2400" b="1">
                <a:solidFill>
                  <a:srgbClr val="347CDB"/>
                </a:solidFill>
                <a:latin typeface="Helvetica Neue"/>
                <a:ea typeface="Helvetica Neue"/>
                <a:cs typeface="Helvetica Neue"/>
              </a:defRPr>
            </a:lvl1pPr>
            <a:lvl2pPr>
              <a:defRPr sz="2400" b="1">
                <a:solidFill>
                  <a:srgbClr val="347CDB"/>
                </a:solidFill>
                <a:latin typeface="Helvetica Neue"/>
                <a:ea typeface="Helvetica Neue"/>
                <a:cs typeface="Helvetica Neue"/>
              </a:defRPr>
            </a:lvl2pPr>
            <a:lvl3pPr>
              <a:defRPr sz="2400" b="1">
                <a:solidFill>
                  <a:srgbClr val="347CDB"/>
                </a:solidFill>
                <a:latin typeface="Helvetica Neue"/>
                <a:ea typeface="Helvetica Neue"/>
                <a:cs typeface="Helvetica Neue"/>
              </a:defRPr>
            </a:lvl3pPr>
            <a:lvl4pPr>
              <a:defRPr sz="2400" b="1">
                <a:solidFill>
                  <a:srgbClr val="347CDB"/>
                </a:solidFill>
                <a:latin typeface="Helvetica Neue"/>
                <a:ea typeface="Helvetica Neue"/>
                <a:cs typeface="Helvetica Neue"/>
              </a:defRPr>
            </a:lvl4pPr>
            <a:lvl5pPr>
              <a:defRPr sz="2400" b="1">
                <a:solidFill>
                  <a:srgbClr val="347CDB"/>
                </a:solidFill>
                <a:latin typeface="Helvetica Neue"/>
                <a:ea typeface="Helvetica Neue"/>
                <a:cs typeface="Helvetica Neue"/>
              </a:defRPr>
            </a:lvl5pPr>
            <a:lvl6pPr>
              <a:defRPr sz="2400" b="1">
                <a:solidFill>
                  <a:srgbClr val="347CDB"/>
                </a:solidFill>
                <a:latin typeface="Helvetica Neue"/>
                <a:ea typeface="Helvetica Neue"/>
                <a:cs typeface="Helvetica Neue"/>
              </a:defRPr>
            </a:lvl6pPr>
            <a:lvl7pPr>
              <a:defRPr sz="2400" b="1">
                <a:solidFill>
                  <a:srgbClr val="347CDB"/>
                </a:solidFill>
                <a:latin typeface="Helvetica Neue"/>
                <a:ea typeface="Helvetica Neue"/>
                <a:cs typeface="Helvetica Neue"/>
              </a:defRPr>
            </a:lvl7pPr>
            <a:lvl8pPr>
              <a:defRPr sz="2400" b="1">
                <a:solidFill>
                  <a:srgbClr val="347CDB"/>
                </a:solidFill>
                <a:latin typeface="Helvetica Neue"/>
                <a:ea typeface="Helvetica Neue"/>
                <a:cs typeface="Helvetica Neue"/>
              </a:defRPr>
            </a:lvl8pPr>
            <a:lvl9pPr>
              <a:defRPr sz="2400" b="1">
                <a:solidFill>
                  <a:srgbClr val="347CDB"/>
                </a:solidFill>
                <a:latin typeface="Helvetica Neue"/>
                <a:ea typeface="Helvetica Neue"/>
                <a:cs typeface="Helvetica Neue"/>
              </a:defRPr>
            </a:lvl9pPr>
          </a:lstStyle>
          <a:p xmlns:a="http://schemas.openxmlformats.org/drawingml/2006/main">
            <a:pPr>
              <a:defRPr sz="2400" b="1">
                <a:solidFill>
                  <a:srgbClr val="347CDB"/>
                </a:solidFill>
                <a:latin typeface="Helvetica Neue"/>
                <a:ea typeface="Helvetica Neue"/>
                <a:cs typeface="Helvetica Neue"/>
              </a:defRPr>
            </a:pPr>
            <a:r>
              <a:rPr sz="2400" b="1">
                <a:solidFill>
                  <a:srgbClr val="347CDB"/>
                </a:solidFill>
                <a:latin typeface="Helvetica Neue"/>
                <a:ea typeface="Helvetica Neue"/>
                <a:cs typeface="Helvetica Neue"/>
              </a:rPr>
              <a:t>Common warmup</a:t>
            </a:r>
          </a:p>
        </p:txBody>
      </p:sp>
      <p:sp>
        <p:nvSpPr>
          <p:cNvPr id="4" name="text-23">
            <a:extLst xmlns:a="http://schemas.openxmlformats.org/drawingml/2006/main">
              <a:ext uri="{FF2B5EF4-FFF2-40B4-BE49-F238E27FC236}">
                <a16:creationId xmlns:a16="http://schemas.microsoft.com/office/drawing/2014/main" id="{6ED4E986-4887-40D0-9B43-C1162DB6C320}"/>
              </a:ext>
            </a:extLst>
          </p:cNvPr>
          <p:cNvSpPr>
            <a:spLocks xmlns:a="http://schemas.openxmlformats.org/drawingml/2006/main" noGrp="1"/>
          </p:cNvSpPr>
          <p:nvPr/>
        </p:nvSpPr>
        <p:spPr>
          <a:xfrm xmlns:a="http://schemas.openxmlformats.org/drawingml/2006/main">
            <a:off x="647700" y="2181225"/>
            <a:ext cx="108013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43C"/>
                </a:solidFill>
                <a:latin typeface="Helvetica Neue"/>
                <a:ea typeface="Helvetica Neue"/>
                <a:cs typeface="Helvetica Neue"/>
              </a:defRPr>
            </a:defPPr>
            <a:lvl1pPr>
              <a:defRPr sz="2175" b="0">
                <a:solidFill>
                  <a:srgbClr val="17243C"/>
                </a:solidFill>
                <a:latin typeface="Helvetica Neue"/>
                <a:ea typeface="Helvetica Neue"/>
                <a:cs typeface="Helvetica Neue"/>
              </a:defRPr>
            </a:lvl1pPr>
            <a:lvl2pPr>
              <a:defRPr sz="2175" b="0">
                <a:solidFill>
                  <a:srgbClr val="17243C"/>
                </a:solidFill>
                <a:latin typeface="Helvetica Neue"/>
                <a:ea typeface="Helvetica Neue"/>
                <a:cs typeface="Helvetica Neue"/>
              </a:defRPr>
            </a:lvl2pPr>
            <a:lvl3pPr>
              <a:defRPr sz="2175" b="0">
                <a:solidFill>
                  <a:srgbClr val="17243C"/>
                </a:solidFill>
                <a:latin typeface="Helvetica Neue"/>
                <a:ea typeface="Helvetica Neue"/>
                <a:cs typeface="Helvetica Neue"/>
              </a:defRPr>
            </a:lvl3pPr>
            <a:lvl4pPr>
              <a:defRPr sz="2175" b="0">
                <a:solidFill>
                  <a:srgbClr val="17243C"/>
                </a:solidFill>
                <a:latin typeface="Helvetica Neue"/>
                <a:ea typeface="Helvetica Neue"/>
                <a:cs typeface="Helvetica Neue"/>
              </a:defRPr>
            </a:lvl4pPr>
            <a:lvl5pPr>
              <a:defRPr sz="2175" b="0">
                <a:solidFill>
                  <a:srgbClr val="17243C"/>
                </a:solidFill>
                <a:latin typeface="Helvetica Neue"/>
                <a:ea typeface="Helvetica Neue"/>
                <a:cs typeface="Helvetica Neue"/>
              </a:defRPr>
            </a:lvl5pPr>
            <a:lvl6pPr>
              <a:defRPr sz="2175" b="0">
                <a:solidFill>
                  <a:srgbClr val="17243C"/>
                </a:solidFill>
                <a:latin typeface="Helvetica Neue"/>
                <a:ea typeface="Helvetica Neue"/>
                <a:cs typeface="Helvetica Neue"/>
              </a:defRPr>
            </a:lvl6pPr>
            <a:lvl7pPr>
              <a:defRPr sz="2175" b="0">
                <a:solidFill>
                  <a:srgbClr val="17243C"/>
                </a:solidFill>
                <a:latin typeface="Helvetica Neue"/>
                <a:ea typeface="Helvetica Neue"/>
                <a:cs typeface="Helvetica Neue"/>
              </a:defRPr>
            </a:lvl7pPr>
            <a:lvl8pPr>
              <a:defRPr sz="2175" b="0">
                <a:solidFill>
                  <a:srgbClr val="17243C"/>
                </a:solidFill>
                <a:latin typeface="Helvetica Neue"/>
                <a:ea typeface="Helvetica Neue"/>
                <a:cs typeface="Helvetica Neue"/>
              </a:defRPr>
            </a:lvl8pPr>
            <a:lvl9pPr>
              <a:defRPr sz="2175" b="0">
                <a:solidFill>
                  <a:srgbClr val="17243C"/>
                </a:solidFill>
                <a:latin typeface="Helvetica Neue"/>
                <a:ea typeface="Helvetica Neue"/>
                <a:cs typeface="Helvetica Neue"/>
              </a:defRPr>
            </a:lvl9pPr>
          </a:lstStyle>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All eligible training cases. Validation selects one shared head</a:t>
            </a:r>
          </a:p>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for each domain and seed.</a:t>
            </a:r>
          </a:p>
        </p:txBody>
      </p:sp>
      <p:sp>
        <p:nvSpPr>
          <p:cNvPr id="5" name="text-24">
            <a:extLst xmlns:a="http://schemas.openxmlformats.org/drawingml/2006/main">
              <a:ext uri="{FF2B5EF4-FFF2-40B4-BE49-F238E27FC236}">
                <a16:creationId xmlns:a16="http://schemas.microsoft.com/office/drawing/2014/main" id="{A42BD488-02EE-487C-BF9A-DD5F5C4DA245}"/>
              </a:ext>
            </a:extLst>
          </p:cNvPr>
          <p:cNvSpPr>
            <a:spLocks xmlns:a="http://schemas.openxmlformats.org/drawingml/2006/main" noGrp="1"/>
          </p:cNvSpPr>
          <p:nvPr/>
        </p:nvSpPr>
        <p:spPr>
          <a:xfrm xmlns:a="http://schemas.openxmlformats.org/drawingml/2006/main">
            <a:off x="647700" y="35052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A967B"/>
                </a:solidFill>
                <a:latin typeface="Helvetica Neue"/>
                <a:ea typeface="Helvetica Neue"/>
                <a:cs typeface="Helvetica Neue"/>
              </a:defRPr>
            </a:defPPr>
            <a:lvl1pPr>
              <a:defRPr sz="2400" b="1">
                <a:solidFill>
                  <a:srgbClr val="1A967B"/>
                </a:solidFill>
                <a:latin typeface="Helvetica Neue"/>
                <a:ea typeface="Helvetica Neue"/>
                <a:cs typeface="Helvetica Neue"/>
              </a:defRPr>
            </a:lvl1pPr>
            <a:lvl2pPr>
              <a:defRPr sz="2400" b="1">
                <a:solidFill>
                  <a:srgbClr val="1A967B"/>
                </a:solidFill>
                <a:latin typeface="Helvetica Neue"/>
                <a:ea typeface="Helvetica Neue"/>
                <a:cs typeface="Helvetica Neue"/>
              </a:defRPr>
            </a:lvl2pPr>
            <a:lvl3pPr>
              <a:defRPr sz="2400" b="1">
                <a:solidFill>
                  <a:srgbClr val="1A967B"/>
                </a:solidFill>
                <a:latin typeface="Helvetica Neue"/>
                <a:ea typeface="Helvetica Neue"/>
                <a:cs typeface="Helvetica Neue"/>
              </a:defRPr>
            </a:lvl3pPr>
            <a:lvl4pPr>
              <a:defRPr sz="2400" b="1">
                <a:solidFill>
                  <a:srgbClr val="1A967B"/>
                </a:solidFill>
                <a:latin typeface="Helvetica Neue"/>
                <a:ea typeface="Helvetica Neue"/>
                <a:cs typeface="Helvetica Neue"/>
              </a:defRPr>
            </a:lvl4pPr>
            <a:lvl5pPr>
              <a:defRPr sz="2400" b="1">
                <a:solidFill>
                  <a:srgbClr val="1A967B"/>
                </a:solidFill>
                <a:latin typeface="Helvetica Neue"/>
                <a:ea typeface="Helvetica Neue"/>
                <a:cs typeface="Helvetica Neue"/>
              </a:defRPr>
            </a:lvl5pPr>
            <a:lvl6pPr>
              <a:defRPr sz="2400" b="1">
                <a:solidFill>
                  <a:srgbClr val="1A967B"/>
                </a:solidFill>
                <a:latin typeface="Helvetica Neue"/>
                <a:ea typeface="Helvetica Neue"/>
                <a:cs typeface="Helvetica Neue"/>
              </a:defRPr>
            </a:lvl6pPr>
            <a:lvl7pPr>
              <a:defRPr sz="2400" b="1">
                <a:solidFill>
                  <a:srgbClr val="1A967B"/>
                </a:solidFill>
                <a:latin typeface="Helvetica Neue"/>
                <a:ea typeface="Helvetica Neue"/>
                <a:cs typeface="Helvetica Neue"/>
              </a:defRPr>
            </a:lvl7pPr>
            <a:lvl8pPr>
              <a:defRPr sz="2400" b="1">
                <a:solidFill>
                  <a:srgbClr val="1A967B"/>
                </a:solidFill>
                <a:latin typeface="Helvetica Neue"/>
                <a:ea typeface="Helvetica Neue"/>
                <a:cs typeface="Helvetica Neue"/>
              </a:defRPr>
            </a:lvl8pPr>
            <a:lvl9pPr>
              <a:defRPr sz="2400" b="1">
                <a:solidFill>
                  <a:srgbClr val="1A967B"/>
                </a:solidFill>
                <a:latin typeface="Helvetica Neue"/>
                <a:ea typeface="Helvetica Neue"/>
                <a:cs typeface="Helvetica Neue"/>
              </a:defRPr>
            </a:lvl9pPr>
          </a:lstStyle>
          <a:p xmlns:a="http://schemas.openxmlformats.org/drawingml/2006/main">
            <a:pPr>
              <a:defRPr sz="2400" b="1">
                <a:solidFill>
                  <a:srgbClr val="1A967B"/>
                </a:solidFill>
                <a:latin typeface="Helvetica Neue"/>
                <a:ea typeface="Helvetica Neue"/>
                <a:cs typeface="Helvetica Neue"/>
              </a:defRPr>
            </a:pPr>
            <a:r>
              <a:rPr sz="2400" b="1">
                <a:solidFill>
                  <a:srgbClr val="1A967B"/>
                </a:solidFill>
                <a:latin typeface="Helvetica Neue"/>
                <a:ea typeface="Helvetica Neue"/>
                <a:cs typeface="Helvetica Neue"/>
              </a:rPr>
              <a:t>Controlled adaptation</a:t>
            </a:r>
          </a:p>
        </p:txBody>
      </p:sp>
      <p:sp>
        <p:nvSpPr>
          <p:cNvPr id="6" name="text-25">
            <a:extLst xmlns:a="http://schemas.openxmlformats.org/drawingml/2006/main">
              <a:ext uri="{FF2B5EF4-FFF2-40B4-BE49-F238E27FC236}">
                <a16:creationId xmlns:a16="http://schemas.microsoft.com/office/drawing/2014/main" id="{21FE6164-A8AF-4F2D-96DB-917B9F5CA47C}"/>
              </a:ext>
            </a:extLst>
          </p:cNvPr>
          <p:cNvSpPr>
            <a:spLocks xmlns:a="http://schemas.openxmlformats.org/drawingml/2006/main" noGrp="1"/>
          </p:cNvSpPr>
          <p:nvPr/>
        </p:nvSpPr>
        <p:spPr>
          <a:xfrm xmlns:a="http://schemas.openxmlformats.org/drawingml/2006/main">
            <a:off x="647700" y="41052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43C"/>
                </a:solidFill>
                <a:latin typeface="Helvetica Neue"/>
                <a:ea typeface="Helvetica Neue"/>
                <a:cs typeface="Helvetica Neue"/>
              </a:defRPr>
            </a:defPPr>
            <a:lvl1pPr>
              <a:defRPr sz="2175" b="0">
                <a:solidFill>
                  <a:srgbClr val="17243C"/>
                </a:solidFill>
                <a:latin typeface="Helvetica Neue"/>
                <a:ea typeface="Helvetica Neue"/>
                <a:cs typeface="Helvetica Neue"/>
              </a:defRPr>
            </a:lvl1pPr>
            <a:lvl2pPr>
              <a:defRPr sz="2175" b="0">
                <a:solidFill>
                  <a:srgbClr val="17243C"/>
                </a:solidFill>
                <a:latin typeface="Helvetica Neue"/>
                <a:ea typeface="Helvetica Neue"/>
                <a:cs typeface="Helvetica Neue"/>
              </a:defRPr>
            </a:lvl2pPr>
            <a:lvl3pPr>
              <a:defRPr sz="2175" b="0">
                <a:solidFill>
                  <a:srgbClr val="17243C"/>
                </a:solidFill>
                <a:latin typeface="Helvetica Neue"/>
                <a:ea typeface="Helvetica Neue"/>
                <a:cs typeface="Helvetica Neue"/>
              </a:defRPr>
            </a:lvl3pPr>
            <a:lvl4pPr>
              <a:defRPr sz="2175" b="0">
                <a:solidFill>
                  <a:srgbClr val="17243C"/>
                </a:solidFill>
                <a:latin typeface="Helvetica Neue"/>
                <a:ea typeface="Helvetica Neue"/>
                <a:cs typeface="Helvetica Neue"/>
              </a:defRPr>
            </a:lvl4pPr>
            <a:lvl5pPr>
              <a:defRPr sz="2175" b="0">
                <a:solidFill>
                  <a:srgbClr val="17243C"/>
                </a:solidFill>
                <a:latin typeface="Helvetica Neue"/>
                <a:ea typeface="Helvetica Neue"/>
                <a:cs typeface="Helvetica Neue"/>
              </a:defRPr>
            </a:lvl5pPr>
            <a:lvl6pPr>
              <a:defRPr sz="2175" b="0">
                <a:solidFill>
                  <a:srgbClr val="17243C"/>
                </a:solidFill>
                <a:latin typeface="Helvetica Neue"/>
                <a:ea typeface="Helvetica Neue"/>
                <a:cs typeface="Helvetica Neue"/>
              </a:defRPr>
            </a:lvl6pPr>
            <a:lvl7pPr>
              <a:defRPr sz="2175" b="0">
                <a:solidFill>
                  <a:srgbClr val="17243C"/>
                </a:solidFill>
                <a:latin typeface="Helvetica Neue"/>
                <a:ea typeface="Helvetica Neue"/>
                <a:cs typeface="Helvetica Neue"/>
              </a:defRPr>
            </a:lvl7pPr>
            <a:lvl8pPr>
              <a:defRPr sz="2175" b="0">
                <a:solidFill>
                  <a:srgbClr val="17243C"/>
                </a:solidFill>
                <a:latin typeface="Helvetica Neue"/>
                <a:ea typeface="Helvetica Neue"/>
                <a:cs typeface="Helvetica Neue"/>
              </a:defRPr>
            </a:lvl8pPr>
            <a:lvl9pPr>
              <a:defRPr sz="2175" b="0">
                <a:solidFill>
                  <a:srgbClr val="17243C"/>
                </a:solidFill>
                <a:latin typeface="Helvetica Neue"/>
                <a:ea typeface="Helvetica Neue"/>
                <a:cs typeface="Helvetica Neue"/>
              </a:defRPr>
            </a:lvl9pPr>
          </a:lstStyle>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30,000 matched cases per domain and seed, over two epochs.</a:t>
            </a:r>
          </a:p>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Identical case order and sampled negatives across the arms.</a:t>
            </a:r>
          </a:p>
        </p:txBody>
      </p:sp>
      <p:sp>
        <p:nvSpPr>
          <p:cNvPr id="7" name="text-26">
            <a:extLst xmlns:a="http://schemas.openxmlformats.org/drawingml/2006/main">
              <a:ext uri="{FF2B5EF4-FFF2-40B4-BE49-F238E27FC236}">
                <a16:creationId xmlns:a16="http://schemas.microsoft.com/office/drawing/2014/main" id="{D2B6FB5C-059E-44F0-AD0D-9B8D315E1612}"/>
              </a:ext>
            </a:extLst>
          </p:cNvPr>
          <p:cNvSpPr>
            <a:spLocks xmlns:a="http://schemas.openxmlformats.org/drawingml/2006/main" noGrp="1"/>
          </p:cNvSpPr>
          <p:nvPr/>
        </p:nvSpPr>
        <p:spPr>
          <a:xfrm xmlns:a="http://schemas.openxmlformats.org/drawingml/2006/main">
            <a:off x="647700" y="552450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86C7C"/>
                </a:solidFill>
                <a:latin typeface="Helvetica Neue"/>
                <a:ea typeface="Helvetica Neue"/>
                <a:cs typeface="Helvetica Neue"/>
              </a:defRPr>
            </a:defPPr>
            <a:lvl1pPr>
              <a:defRPr sz="2100" b="0">
                <a:solidFill>
                  <a:srgbClr val="586C7C"/>
                </a:solidFill>
                <a:latin typeface="Helvetica Neue"/>
                <a:ea typeface="Helvetica Neue"/>
                <a:cs typeface="Helvetica Neue"/>
              </a:defRPr>
            </a:lvl1pPr>
            <a:lvl2pPr>
              <a:defRPr sz="2100" b="0">
                <a:solidFill>
                  <a:srgbClr val="586C7C"/>
                </a:solidFill>
                <a:latin typeface="Helvetica Neue"/>
                <a:ea typeface="Helvetica Neue"/>
                <a:cs typeface="Helvetica Neue"/>
              </a:defRPr>
            </a:lvl2pPr>
            <a:lvl3pPr>
              <a:defRPr sz="2100" b="0">
                <a:solidFill>
                  <a:srgbClr val="586C7C"/>
                </a:solidFill>
                <a:latin typeface="Helvetica Neue"/>
                <a:ea typeface="Helvetica Neue"/>
                <a:cs typeface="Helvetica Neue"/>
              </a:defRPr>
            </a:lvl3pPr>
            <a:lvl4pPr>
              <a:defRPr sz="2100" b="0">
                <a:solidFill>
                  <a:srgbClr val="586C7C"/>
                </a:solidFill>
                <a:latin typeface="Helvetica Neue"/>
                <a:ea typeface="Helvetica Neue"/>
                <a:cs typeface="Helvetica Neue"/>
              </a:defRPr>
            </a:lvl4pPr>
            <a:lvl5pPr>
              <a:defRPr sz="2100" b="0">
                <a:solidFill>
                  <a:srgbClr val="586C7C"/>
                </a:solidFill>
                <a:latin typeface="Helvetica Neue"/>
                <a:ea typeface="Helvetica Neue"/>
                <a:cs typeface="Helvetica Neue"/>
              </a:defRPr>
            </a:lvl5pPr>
            <a:lvl6pPr>
              <a:defRPr sz="2100" b="0">
                <a:solidFill>
                  <a:srgbClr val="586C7C"/>
                </a:solidFill>
                <a:latin typeface="Helvetica Neue"/>
                <a:ea typeface="Helvetica Neue"/>
                <a:cs typeface="Helvetica Neue"/>
              </a:defRPr>
            </a:lvl6pPr>
            <a:lvl7pPr>
              <a:defRPr sz="2100" b="0">
                <a:solidFill>
                  <a:srgbClr val="586C7C"/>
                </a:solidFill>
                <a:latin typeface="Helvetica Neue"/>
                <a:ea typeface="Helvetica Neue"/>
                <a:cs typeface="Helvetica Neue"/>
              </a:defRPr>
            </a:lvl7pPr>
            <a:lvl8pPr>
              <a:defRPr sz="2100" b="0">
                <a:solidFill>
                  <a:srgbClr val="586C7C"/>
                </a:solidFill>
                <a:latin typeface="Helvetica Neue"/>
                <a:ea typeface="Helvetica Neue"/>
                <a:cs typeface="Helvetica Neue"/>
              </a:defRPr>
            </a:lvl8pPr>
            <a:lvl9pPr>
              <a:defRPr sz="2100" b="0">
                <a:solidFill>
                  <a:srgbClr val="586C7C"/>
                </a:solidFill>
                <a:latin typeface="Helvetica Neue"/>
                <a:ea typeface="Helvetica Neue"/>
                <a:cs typeface="Helvetica Neue"/>
              </a:defRPr>
            </a:lvl9pPr>
          </a:lstStyle>
          <a:p xmlns:a="http://schemas.openxmlformats.org/drawingml/2006/main">
            <a:pPr>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Validation selects epoch 1 or 2. Seeds 42, 43 and 44 repeat the full pipeline.</a:t>
            </a:r>
          </a:p>
        </p:txBody>
      </p:sp>
    </p:spTree>
    <p:extLst>
      <p:ext uri="{BB962C8B-B14F-4D97-AF65-F5344CB8AC3E}">
        <p14:creationId xmlns:p14="http://schemas.microsoft.com/office/powerpoint/2010/main" val="707695230"/>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27">
            <a:extLst xmlns:a="http://schemas.openxmlformats.org/drawingml/2006/main">
              <a:ext uri="{FF2B5EF4-FFF2-40B4-BE49-F238E27FC236}">
                <a16:creationId xmlns:a16="http://schemas.microsoft.com/office/drawing/2014/main" id="{963A85B7-0E55-4BC7-997F-ED3FAC3832AD}"/>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Formal test results</a:t>
            </a:r>
          </a:p>
        </p:txBody>
      </p:sp>
      <p:sp>
        <p:nvSpPr>
          <p:cNvPr id="2" name="text-28">
            <a:extLst xmlns:a="http://schemas.openxmlformats.org/drawingml/2006/main">
              <a:ext uri="{FF2B5EF4-FFF2-40B4-BE49-F238E27FC236}">
                <a16:creationId xmlns:a16="http://schemas.microsoft.com/office/drawing/2014/main" id="{528F8180-C1C8-4916-8985-89AF1B1E7242}"/>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User-macro NDCG@10. Mean across three complete pipeline seeds.</a:t>
            </a:r>
          </a:p>
        </p:txBody>
      </p:sp>
      <p:sp>
        <p:nvSpPr>
          <p:cNvPr id="3" name="text-29">
            <a:extLst xmlns:a="http://schemas.openxmlformats.org/drawingml/2006/main">
              <a:ext uri="{FF2B5EF4-FFF2-40B4-BE49-F238E27FC236}">
                <a16:creationId xmlns:a16="http://schemas.microsoft.com/office/drawing/2014/main" id="{FC9541FB-BDF3-4C8C-A007-31E32132E250}"/>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06</a:t>
            </a:r>
          </a:p>
        </p:txBody>
      </p:sp>
      <p:graphicFrame>
        <p:nvGraphicFramePr>
          <p:cNvPr id="4" name="Chart">
            <a:extLst xmlns:a="http://schemas.openxmlformats.org/drawingml/2006/main">
              <a:ext uri="{FF2B5EF4-FFF2-40B4-BE49-F238E27FC236}">
                <a16:creationId xmlns:a16="http://schemas.microsoft.com/office/drawing/2014/main" id="{C3078677-978A-4795-B11D-D2F0A3904FF9}"/>
              </a:ext>
            </a:extLst>
          </p:cNvPr>
          <p:cNvGraphicFramePr/>
          <p:nvPr/>
        </p:nvGraphicFramePr>
        <p:xfrm>
          <a:off xmlns:a="http://schemas.openxmlformats.org/drawingml/2006/main" x="609600" y="1866900"/>
          <a:ext xmlns:a="http://schemas.openxmlformats.org/drawingml/2006/main" cx="10972800" cy="3676650"/>
        </p:xfrm>
        <a:graphic xmlns:a="http://schemas.openxmlformats.org/drawingml/2006/main">
          <a:graphicData uri="http://schemas.openxmlformats.org/drawingml/2006/chart">
            <c:chart xmlns:r="http://schemas.openxmlformats.org/officeDocument/2006/relationships" xmlns:c="http://schemas.openxmlformats.org/drawingml/2006/chart" r:id="Refcced936e3d4ff3"/>
          </a:graphicData>
        </a:graphic>
      </p:graphicFrame>
      <p:sp>
        <p:nvSpPr>
          <p:cNvPr id="5" name="text-30">
            <a:extLst xmlns:a="http://schemas.openxmlformats.org/drawingml/2006/main">
              <a:ext uri="{FF2B5EF4-FFF2-40B4-BE49-F238E27FC236}">
                <a16:creationId xmlns:a16="http://schemas.microsoft.com/office/drawing/2014/main" id="{61E22C4B-2FED-4149-9A5E-F22B2E5EC7D2}"/>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Frozen has the highest observed mean in all three domains.</a:t>
            </a:r>
          </a:p>
        </p:txBody>
      </p:sp>
    </p:spTree>
    <p:extLst>
      <p:ext uri="{BB962C8B-B14F-4D97-AF65-F5344CB8AC3E}">
        <p14:creationId xmlns:p14="http://schemas.microsoft.com/office/powerpoint/2010/main" val="706777176"/>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31">
            <a:extLst xmlns:a="http://schemas.openxmlformats.org/drawingml/2006/main">
              <a:ext uri="{FF2B5EF4-FFF2-40B4-BE49-F238E27FC236}">
                <a16:creationId xmlns:a16="http://schemas.microsoft.com/office/drawing/2014/main" id="{AD514C8B-C9A1-41F6-907D-E90F2411D693}"/>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Experiment gallery: every recorded seed</a:t>
            </a:r>
          </a:p>
        </p:txBody>
      </p:sp>
      <p:sp>
        <p:nvSpPr>
          <p:cNvPr id="2" name="text-32">
            <a:extLst xmlns:a="http://schemas.openxmlformats.org/drawingml/2006/main">
              <a:ext uri="{FF2B5EF4-FFF2-40B4-BE49-F238E27FC236}">
                <a16:creationId xmlns:a16="http://schemas.microsoft.com/office/drawing/2014/main" id="{D7E14D7A-900C-4F8E-8A82-9CDDA03DDD0B}"/>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buNone/>
              <a:defRPr sz="1800" b="0">
                <a:solidFill>
                  <a:srgbClr val="586C7C"/>
                </a:solidFill>
                <a:latin typeface="Helvetica Neue"/>
                <a:ea typeface="Helvetica Neue"/>
                <a:cs typeface="Helvetica Neue"/>
              </a:defRPr>
            </a:lvl1pPr>
            <a:lvl2pPr>
              <a:buNone/>
              <a:defRPr sz="1800" b="0">
                <a:solidFill>
                  <a:srgbClr val="586C7C"/>
                </a:solidFill>
                <a:latin typeface="Helvetica Neue"/>
                <a:ea typeface="Helvetica Neue"/>
                <a:cs typeface="Helvetica Neue"/>
              </a:defRPr>
            </a:lvl2pPr>
            <a:lvl3pPr>
              <a:buNone/>
              <a:defRPr sz="1800" b="0">
                <a:solidFill>
                  <a:srgbClr val="586C7C"/>
                </a:solidFill>
                <a:latin typeface="Helvetica Neue"/>
                <a:ea typeface="Helvetica Neue"/>
                <a:cs typeface="Helvetica Neue"/>
              </a:defRPr>
            </a:lvl3pPr>
            <a:lvl4pPr>
              <a:buNone/>
              <a:defRPr sz="1800" b="0">
                <a:solidFill>
                  <a:srgbClr val="586C7C"/>
                </a:solidFill>
                <a:latin typeface="Helvetica Neue"/>
                <a:ea typeface="Helvetica Neue"/>
                <a:cs typeface="Helvetica Neue"/>
              </a:defRPr>
            </a:lvl4pPr>
            <a:lvl5pPr>
              <a:buNone/>
              <a:defRPr sz="1800" b="0">
                <a:solidFill>
                  <a:srgbClr val="586C7C"/>
                </a:solidFill>
                <a:latin typeface="Helvetica Neue"/>
                <a:ea typeface="Helvetica Neue"/>
                <a:cs typeface="Helvetica Neue"/>
              </a:defRPr>
            </a:lvl5pPr>
            <a:lvl6pPr>
              <a:buNone/>
              <a:defRPr sz="1800" b="0">
                <a:solidFill>
                  <a:srgbClr val="586C7C"/>
                </a:solidFill>
                <a:latin typeface="Helvetica Neue"/>
                <a:ea typeface="Helvetica Neue"/>
                <a:cs typeface="Helvetica Neue"/>
              </a:defRPr>
            </a:lvl6pPr>
            <a:lvl7pPr>
              <a:buNone/>
              <a:defRPr sz="1800" b="0">
                <a:solidFill>
                  <a:srgbClr val="586C7C"/>
                </a:solidFill>
                <a:latin typeface="Helvetica Neue"/>
                <a:ea typeface="Helvetica Neue"/>
                <a:cs typeface="Helvetica Neue"/>
              </a:defRPr>
            </a:lvl7pPr>
            <a:lvl8pPr>
              <a:buNone/>
              <a:defRPr sz="1800" b="0">
                <a:solidFill>
                  <a:srgbClr val="586C7C"/>
                </a:solidFill>
                <a:latin typeface="Helvetica Neue"/>
                <a:ea typeface="Helvetica Neue"/>
                <a:cs typeface="Helvetica Neue"/>
              </a:defRPr>
            </a:lvl8pPr>
            <a:lvl9pPr>
              <a:buNone/>
              <a:defRPr sz="1800" b="0">
                <a:solidFill>
                  <a:srgbClr val="586C7C"/>
                </a:solidFill>
                <a:latin typeface="Helvetica Neue"/>
                <a:ea typeface="Helvetica Neue"/>
                <a:cs typeface="Helvetica Neue"/>
              </a:defRPr>
            </a:lvl9pPr>
          </a:lstStyle>
          <a:p xmlns:a="http://schemas.openxmlformats.org/drawingml/2006/main">
            <a:pPr>
              <a:buNone/>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18 matched comparisons against Frozen, from the original 27 formal test records</a:t>
            </a:r>
          </a:p>
        </p:txBody>
      </p:sp>
      <p:sp>
        <p:nvSpPr>
          <p:cNvPr id="3" name="text-33">
            <a:extLst xmlns:a="http://schemas.openxmlformats.org/drawingml/2006/main">
              <a:ext uri="{FF2B5EF4-FFF2-40B4-BE49-F238E27FC236}">
                <a16:creationId xmlns:a16="http://schemas.microsoft.com/office/drawing/2014/main" id="{ACE8D662-31BE-4BD4-BD2A-A4BA4489E234}"/>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07</a:t>
            </a:r>
          </a:p>
        </p:txBody>
      </p:sp>
      <p:pic>
        <p:nvPicPr>
          <p:cNvPr id="4" name="">
            <a:extLst xmlns:a="http://schemas.openxmlformats.org/drawingml/2006/main">
              <a:ext uri="{FF2B5EF4-FFF2-40B4-BE49-F238E27FC236}">
                <a16:creationId xmlns:a16="http://schemas.microsoft.com/office/drawing/2014/main" id="{CF63EF3F-14E0-405F-996B-2B43DE5E45C0}"/>
              </a:ext>
            </a:extLst>
          </p:cNvPr>
          <p:cNvPicPr>
            <a:picLocks xmlns:a="http://schemas.openxmlformats.org/drawingml/2006/main" noChangeAspect="1"/>
          </p:cNvPicPr>
          <p:nvPr/>
        </p:nvPicPr>
        <p:blipFill>
          <a:blip xmlns:r="http://schemas.openxmlformats.org/officeDocument/2006/relationships" xmlns:a="http://schemas.openxmlformats.org/drawingml/2006/main" r:embed="Ra7b4c9cee9d64b37"/>
          <a:srcRect xmlns:a="http://schemas.openxmlformats.org/drawingml/2006/main" l="6250" t="20139" r="6250" b="833"/>
          <a:stretch xmlns:a="http://schemas.openxmlformats.org/drawingml/2006/main"/>
        </p:blipFill>
        <p:spPr>
          <a:xfrm xmlns:a="http://schemas.openxmlformats.org/drawingml/2006/main">
            <a:off x="1708499" y="1485900"/>
            <a:ext cx="8775097" cy="4457700"/>
          </a:xfrm>
          <a:prstGeom xmlns:a="http://schemas.openxmlformats.org/drawingml/2006/main" prst="rect">
            <a:avLst/>
          </a:prstGeom>
        </p:spPr>
      </p:pic>
      <p:sp>
        <p:nvSpPr>
          <p:cNvPr id="5" name="text-34">
            <a:extLst xmlns:a="http://schemas.openxmlformats.org/drawingml/2006/main">
              <a:ext uri="{FF2B5EF4-FFF2-40B4-BE49-F238E27FC236}">
                <a16:creationId xmlns:a16="http://schemas.microsoft.com/office/drawing/2014/main" id="{297493FD-6C1D-4039-9616-84F6F1D0CDAB}"/>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Columns: seeds 42, 43 and 44. Cells: actual Δ NDCG@10.</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Coral falls below Frozen. Teal exceeds Frozen. Three seeds do not establish significance.</a:t>
            </a:r>
          </a:p>
        </p:txBody>
      </p:sp>
    </p:spTree>
    <p:extLst>
      <p:ext uri="{BB962C8B-B14F-4D97-AF65-F5344CB8AC3E}">
        <p14:creationId xmlns:p14="http://schemas.microsoft.com/office/powerpoint/2010/main" val="1469052078"/>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35">
            <a:extLst xmlns:a="http://schemas.openxmlformats.org/drawingml/2006/main">
              <a:ext uri="{FF2B5EF4-FFF2-40B4-BE49-F238E27FC236}">
                <a16:creationId xmlns:a16="http://schemas.microsoft.com/office/drawing/2014/main" id="{F13DFD18-8AF7-45BE-A9C4-4CBEE0D08DBC}"/>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 shopping request without a liked-product history</a:t>
            </a:r>
          </a:p>
        </p:txBody>
      </p:sp>
      <p:sp>
        <p:nvSpPr>
          <p:cNvPr id="2" name="text-36">
            <a:extLst xmlns:a="http://schemas.openxmlformats.org/drawingml/2006/main">
              <a:ext uri="{FF2B5EF4-FFF2-40B4-BE49-F238E27FC236}">
                <a16:creationId xmlns:a16="http://schemas.microsoft.com/office/drawing/2014/main" id="{041FE262-9C7B-4BC6-944F-9DB03035A74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08</a:t>
            </a:r>
          </a:p>
        </p:txBody>
      </p:sp>
      <p:pic>
        <p:nvPicPr>
          <p:cNvPr id="3" name="">
            <a:extLst xmlns:a="http://schemas.openxmlformats.org/drawingml/2006/main">
              <a:ext uri="{FF2B5EF4-FFF2-40B4-BE49-F238E27FC236}">
                <a16:creationId xmlns:a16="http://schemas.microsoft.com/office/drawing/2014/main" id="{F7B16C4F-F546-4A8C-8FCD-0B0D84724B46}"/>
              </a:ext>
            </a:extLst>
          </p:cNvPr>
          <p:cNvPicPr>
            <a:picLocks xmlns:a="http://schemas.openxmlformats.org/drawingml/2006/main" noChangeAspect="1"/>
          </p:cNvPicPr>
          <p:nvPr/>
        </p:nvPicPr>
        <p:blipFill>
          <a:blip xmlns:r="http://schemas.openxmlformats.org/officeDocument/2006/relationships" xmlns:a="http://schemas.openxmlformats.org/drawingml/2006/main" r:embed="R55b8df90b9324f04"/>
          <a:srcRect xmlns:a="http://schemas.openxmlformats.org/drawingml/2006/main" l="0" t="37000" r="0" b="5500"/>
          <a:stretch xmlns:a="http://schemas.openxmlformats.org/drawingml/2006/main"/>
        </p:blipFill>
        <p:spPr>
          <a:xfrm xmlns:a="http://schemas.openxmlformats.org/drawingml/2006/main">
            <a:off x="1967406" y="1485900"/>
            <a:ext cx="8257187" cy="4457700"/>
          </a:xfrm>
          <a:prstGeom xmlns:a="http://schemas.openxmlformats.org/drawingml/2006/main" prst="rect">
            <a:avLst/>
          </a:prstGeom>
        </p:spPr>
      </p:pic>
      <p:sp>
        <p:nvSpPr>
          <p:cNvPr id="4" name="text-37">
            <a:extLst xmlns:a="http://schemas.openxmlformats.org/drawingml/2006/main">
              <a:ext uri="{FF2B5EF4-FFF2-40B4-BE49-F238E27FC236}">
                <a16:creationId xmlns:a16="http://schemas.microsoft.com/office/drawing/2014/main" id="{FA465FDA-678B-41C3-9050-4CC9282B369A}"/>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Interpretation uses transparent keyword rules. Qwen supplies the retrieval embeddings.</a:t>
            </a:r>
          </a:p>
        </p:txBody>
      </p:sp>
    </p:spTree>
    <p:extLst>
      <p:ext uri="{BB962C8B-B14F-4D97-AF65-F5344CB8AC3E}">
        <p14:creationId xmlns:p14="http://schemas.microsoft.com/office/powerpoint/2010/main" val="375153367"/>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38">
            <a:extLst xmlns:a="http://schemas.openxmlformats.org/drawingml/2006/main">
              <a:ext uri="{FF2B5EF4-FFF2-40B4-BE49-F238E27FC236}">
                <a16:creationId xmlns:a16="http://schemas.microsoft.com/office/drawing/2014/main" id="{847B1E31-7AEA-40D3-B14C-F17C9065DF78}"/>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Model arena: one product across three models</a:t>
            </a:r>
          </a:p>
        </p:txBody>
      </p:sp>
      <p:sp>
        <p:nvSpPr>
          <p:cNvPr id="2" name="text-39">
            <a:extLst xmlns:a="http://schemas.openxmlformats.org/drawingml/2006/main">
              <a:ext uri="{FF2B5EF4-FFF2-40B4-BE49-F238E27FC236}">
                <a16:creationId xmlns:a16="http://schemas.microsoft.com/office/drawing/2014/main" id="{5FC7D5BA-1AE2-4666-917F-5AB0592219FB}"/>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buNone/>
              <a:defRPr sz="1800" b="0">
                <a:solidFill>
                  <a:srgbClr val="586C7C"/>
                </a:solidFill>
                <a:latin typeface="Helvetica Neue"/>
                <a:ea typeface="Helvetica Neue"/>
                <a:cs typeface="Helvetica Neue"/>
              </a:defRPr>
            </a:lvl1pPr>
            <a:lvl2pPr>
              <a:buNone/>
              <a:defRPr sz="1800" b="0">
                <a:solidFill>
                  <a:srgbClr val="586C7C"/>
                </a:solidFill>
                <a:latin typeface="Helvetica Neue"/>
                <a:ea typeface="Helvetica Neue"/>
                <a:cs typeface="Helvetica Neue"/>
              </a:defRPr>
            </a:lvl2pPr>
            <a:lvl3pPr>
              <a:buNone/>
              <a:defRPr sz="1800" b="0">
                <a:solidFill>
                  <a:srgbClr val="586C7C"/>
                </a:solidFill>
                <a:latin typeface="Helvetica Neue"/>
                <a:ea typeface="Helvetica Neue"/>
                <a:cs typeface="Helvetica Neue"/>
              </a:defRPr>
            </a:lvl3pPr>
            <a:lvl4pPr>
              <a:buNone/>
              <a:defRPr sz="1800" b="0">
                <a:solidFill>
                  <a:srgbClr val="586C7C"/>
                </a:solidFill>
                <a:latin typeface="Helvetica Neue"/>
                <a:ea typeface="Helvetica Neue"/>
                <a:cs typeface="Helvetica Neue"/>
              </a:defRPr>
            </a:lvl4pPr>
            <a:lvl5pPr>
              <a:buNone/>
              <a:defRPr sz="1800" b="0">
                <a:solidFill>
                  <a:srgbClr val="586C7C"/>
                </a:solidFill>
                <a:latin typeface="Helvetica Neue"/>
                <a:ea typeface="Helvetica Neue"/>
                <a:cs typeface="Helvetica Neue"/>
              </a:defRPr>
            </a:lvl5pPr>
            <a:lvl6pPr>
              <a:buNone/>
              <a:defRPr sz="1800" b="0">
                <a:solidFill>
                  <a:srgbClr val="586C7C"/>
                </a:solidFill>
                <a:latin typeface="Helvetica Neue"/>
                <a:ea typeface="Helvetica Neue"/>
                <a:cs typeface="Helvetica Neue"/>
              </a:defRPr>
            </a:lvl6pPr>
            <a:lvl7pPr>
              <a:buNone/>
              <a:defRPr sz="1800" b="0">
                <a:solidFill>
                  <a:srgbClr val="586C7C"/>
                </a:solidFill>
                <a:latin typeface="Helvetica Neue"/>
                <a:ea typeface="Helvetica Neue"/>
                <a:cs typeface="Helvetica Neue"/>
              </a:defRPr>
            </a:lvl7pPr>
            <a:lvl8pPr>
              <a:buNone/>
              <a:defRPr sz="1800" b="0">
                <a:solidFill>
                  <a:srgbClr val="586C7C"/>
                </a:solidFill>
                <a:latin typeface="Helvetica Neue"/>
                <a:ea typeface="Helvetica Neue"/>
                <a:cs typeface="Helvetica Neue"/>
              </a:defRPr>
            </a:lvl8pPr>
            <a:lvl9pPr>
              <a:buNone/>
              <a:defRPr sz="1800" b="0">
                <a:solidFill>
                  <a:srgbClr val="586C7C"/>
                </a:solidFill>
                <a:latin typeface="Helvetica Neue"/>
                <a:ea typeface="Helvetica Neue"/>
                <a:cs typeface="Helvetica Neue"/>
              </a:defRPr>
            </a:lvl9pPr>
          </a:lstStyle>
          <a:p xmlns:a="http://schemas.openxmlformats.org/drawingml/2006/main">
            <a:pPr>
              <a:buNone/>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“Find a stroller for everyday outings” in Baby, with no positive feedback</a:t>
            </a:r>
          </a:p>
        </p:txBody>
      </p:sp>
      <p:sp>
        <p:nvSpPr>
          <p:cNvPr id="3" name="text-40">
            <a:extLst xmlns:a="http://schemas.openxmlformats.org/drawingml/2006/main">
              <a:ext uri="{FF2B5EF4-FFF2-40B4-BE49-F238E27FC236}">
                <a16:creationId xmlns:a16="http://schemas.microsoft.com/office/drawing/2014/main" id="{C472A480-4693-44C0-9346-4659118A060B}"/>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09</a:t>
            </a:r>
          </a:p>
        </p:txBody>
      </p:sp>
      <p:pic>
        <p:nvPicPr>
          <p:cNvPr id="4" name="">
            <a:extLst xmlns:a="http://schemas.openxmlformats.org/drawingml/2006/main">
              <a:ext uri="{FF2B5EF4-FFF2-40B4-BE49-F238E27FC236}">
                <a16:creationId xmlns:a16="http://schemas.microsoft.com/office/drawing/2014/main" id="{B7BF1262-8997-40E7-A82F-177945EAFCF7}"/>
              </a:ext>
            </a:extLst>
          </p:cNvPr>
          <p:cNvPicPr>
            <a:picLocks xmlns:a="http://schemas.openxmlformats.org/drawingml/2006/main" noChangeAspect="1"/>
          </p:cNvPicPr>
          <p:nvPr/>
        </p:nvPicPr>
        <p:blipFill>
          <a:blip xmlns:r="http://schemas.openxmlformats.org/officeDocument/2006/relationships" xmlns:a="http://schemas.openxmlformats.org/drawingml/2006/main" r:embed="Rf2070ad7ae6644be"/>
          <a:srcRect xmlns:a="http://schemas.openxmlformats.org/drawingml/2006/main" l="6250" t="8472" r="30625" b="833"/>
          <a:stretch xmlns:a="http://schemas.openxmlformats.org/drawingml/2006/main"/>
        </p:blipFill>
        <p:spPr>
          <a:xfrm xmlns:a="http://schemas.openxmlformats.org/drawingml/2006/main">
            <a:off x="609600" y="1485900"/>
            <a:ext cx="5516689" cy="4457700"/>
          </a:xfrm>
          <a:prstGeom xmlns:a="http://schemas.openxmlformats.org/drawingml/2006/main" prst="rect">
            <a:avLst/>
          </a:prstGeom>
        </p:spPr>
      </p:pic>
      <p:sp>
        <p:nvSpPr>
          <p:cNvPr id="5" name="text-41">
            <a:extLst xmlns:a="http://schemas.openxmlformats.org/drawingml/2006/main">
              <a:ext uri="{FF2B5EF4-FFF2-40B4-BE49-F238E27FC236}">
                <a16:creationId xmlns:a16="http://schemas.microsoft.com/office/drawing/2014/main" id="{63A467AA-96A6-4FA7-8E4E-3EBF1DD0CB87}"/>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Each query matches its model’s candidate space. Missing Top-K positions stay unknown.</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These observed rank differences describe disagreement, without relevance labels.</a:t>
            </a:r>
          </a:p>
        </p:txBody>
      </p:sp>
      <p:sp>
        <p:nvSpPr>
          <p:cNvPr id="7" name="">
            <a:extLst xmlns:a="http://schemas.openxmlformats.org/drawingml/2006/main">
              <a:ext uri="{FF2B5EF4-FFF2-40B4-BE49-F238E27FC236}">
                <a16:creationId xmlns:a16="http://schemas.microsoft.com/office/drawing/2014/main" id="{87879BD7-F47C-4EF1-B401-92A9FB01ACD3}"/>
              </a:ext>
            </a:extLst>
          </p:cNvPr>
          <p:cNvSpPr>
            <a:spLocks xmlns:a="http://schemas.openxmlformats.org/drawingml/2006/main" noGrp="1"/>
          </p:cNvSpPr>
          <p:nvPr/>
        </p:nvSpPr>
        <p:spPr>
          <a:xfrm xmlns:a="http://schemas.openxmlformats.org/drawingml/2006/main">
            <a:off x="6667500" y="1704975"/>
            <a:ext cx="4724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86C7C"/>
                </a:solidFill>
                <a:latin typeface="Helvetica Neue"/>
                <a:ea typeface="Helvetica Neue"/>
                <a:cs typeface="Helvetica Neue"/>
              </a:defRPr>
            </a:defPPr>
            <a:lvl1pPr>
              <a:defRPr sz="1950" b="0">
                <a:solidFill>
                  <a:srgbClr val="586C7C"/>
                </a:solidFill>
                <a:latin typeface="Helvetica Neue"/>
                <a:ea typeface="Helvetica Neue"/>
                <a:cs typeface="Helvetica Neue"/>
              </a:defRPr>
            </a:lvl1pPr>
            <a:lvl2pPr>
              <a:defRPr sz="1950" b="0">
                <a:solidFill>
                  <a:srgbClr val="586C7C"/>
                </a:solidFill>
                <a:latin typeface="Helvetica Neue"/>
                <a:ea typeface="Helvetica Neue"/>
                <a:cs typeface="Helvetica Neue"/>
              </a:defRPr>
            </a:lvl2pPr>
            <a:lvl3pPr>
              <a:defRPr sz="1950" b="0">
                <a:solidFill>
                  <a:srgbClr val="586C7C"/>
                </a:solidFill>
                <a:latin typeface="Helvetica Neue"/>
                <a:ea typeface="Helvetica Neue"/>
                <a:cs typeface="Helvetica Neue"/>
              </a:defRPr>
            </a:lvl3pPr>
            <a:lvl4pPr>
              <a:defRPr sz="1950" b="0">
                <a:solidFill>
                  <a:srgbClr val="586C7C"/>
                </a:solidFill>
                <a:latin typeface="Helvetica Neue"/>
                <a:ea typeface="Helvetica Neue"/>
                <a:cs typeface="Helvetica Neue"/>
              </a:defRPr>
            </a:lvl4pPr>
            <a:lvl5pPr>
              <a:defRPr sz="1950" b="0">
                <a:solidFill>
                  <a:srgbClr val="586C7C"/>
                </a:solidFill>
                <a:latin typeface="Helvetica Neue"/>
                <a:ea typeface="Helvetica Neue"/>
                <a:cs typeface="Helvetica Neue"/>
              </a:defRPr>
            </a:lvl5pPr>
            <a:lvl6pPr>
              <a:defRPr sz="1950" b="0">
                <a:solidFill>
                  <a:srgbClr val="586C7C"/>
                </a:solidFill>
                <a:latin typeface="Helvetica Neue"/>
                <a:ea typeface="Helvetica Neue"/>
                <a:cs typeface="Helvetica Neue"/>
              </a:defRPr>
            </a:lvl6pPr>
            <a:lvl7pPr>
              <a:defRPr sz="1950" b="0">
                <a:solidFill>
                  <a:srgbClr val="586C7C"/>
                </a:solidFill>
                <a:latin typeface="Helvetica Neue"/>
                <a:ea typeface="Helvetica Neue"/>
                <a:cs typeface="Helvetica Neue"/>
              </a:defRPr>
            </a:lvl7pPr>
            <a:lvl8pPr>
              <a:defRPr sz="1950" b="0">
                <a:solidFill>
                  <a:srgbClr val="586C7C"/>
                </a:solidFill>
                <a:latin typeface="Helvetica Neue"/>
                <a:ea typeface="Helvetica Neue"/>
                <a:cs typeface="Helvetica Neue"/>
              </a:defRPr>
            </a:lvl8pPr>
            <a:lvl9pPr>
              <a:defRPr sz="1950" b="0">
                <a:solidFill>
                  <a:srgbClr val="586C7C"/>
                </a:solidFill>
                <a:latin typeface="Helvetica Neue"/>
                <a:ea typeface="Helvetica Neue"/>
                <a:cs typeface="Helvetica Neue"/>
              </a:defRPr>
            </a:lvl9pPr>
          </a:lstStyle>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Dream On Me / Mia Moda Veloce</a:t>
            </a:r>
          </a:p>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ASIN B002UHJ0HK</a:t>
            </a:r>
          </a:p>
        </p:txBody>
      </p:sp>
      <p:sp>
        <p:nvSpPr>
          <p:cNvPr id="8" name="">
            <a:extLst xmlns:a="http://schemas.openxmlformats.org/drawingml/2006/main">
              <a:ext uri="{FF2B5EF4-FFF2-40B4-BE49-F238E27FC236}">
                <a16:creationId xmlns:a16="http://schemas.microsoft.com/office/drawing/2014/main" id="{B68F966E-E035-414F-A917-7A5A51A14353}"/>
              </a:ext>
            </a:extLst>
          </p:cNvPr>
          <p:cNvSpPr>
            <a:spLocks xmlns:a="http://schemas.openxmlformats.org/drawingml/2006/main" noGrp="1"/>
          </p:cNvSpPr>
          <p:nvPr/>
        </p:nvSpPr>
        <p:spPr>
          <a:xfrm xmlns:a="http://schemas.openxmlformats.org/drawingml/2006/main">
            <a:off x="6667500" y="2686050"/>
            <a:ext cx="472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546982"/>
                </a:solidFill>
                <a:latin typeface="Helvetica Neue"/>
                <a:ea typeface="Helvetica Neue"/>
                <a:cs typeface="Helvetica Neue"/>
              </a:defRPr>
            </a:defPPr>
            <a:lvl1pPr>
              <a:defRPr sz="2400" b="1">
                <a:solidFill>
                  <a:srgbClr val="546982"/>
                </a:solidFill>
                <a:latin typeface="Helvetica Neue"/>
                <a:ea typeface="Helvetica Neue"/>
                <a:cs typeface="Helvetica Neue"/>
              </a:defRPr>
            </a:lvl1pPr>
            <a:lvl2pPr>
              <a:defRPr sz="2400" b="1">
                <a:solidFill>
                  <a:srgbClr val="546982"/>
                </a:solidFill>
                <a:latin typeface="Helvetica Neue"/>
                <a:ea typeface="Helvetica Neue"/>
                <a:cs typeface="Helvetica Neue"/>
              </a:defRPr>
            </a:lvl2pPr>
            <a:lvl3pPr>
              <a:defRPr sz="2400" b="1">
                <a:solidFill>
                  <a:srgbClr val="546982"/>
                </a:solidFill>
                <a:latin typeface="Helvetica Neue"/>
                <a:ea typeface="Helvetica Neue"/>
                <a:cs typeface="Helvetica Neue"/>
              </a:defRPr>
            </a:lvl3pPr>
            <a:lvl4pPr>
              <a:defRPr sz="2400" b="1">
                <a:solidFill>
                  <a:srgbClr val="546982"/>
                </a:solidFill>
                <a:latin typeface="Helvetica Neue"/>
                <a:ea typeface="Helvetica Neue"/>
                <a:cs typeface="Helvetica Neue"/>
              </a:defRPr>
            </a:lvl4pPr>
            <a:lvl5pPr>
              <a:defRPr sz="2400" b="1">
                <a:solidFill>
                  <a:srgbClr val="546982"/>
                </a:solidFill>
                <a:latin typeface="Helvetica Neue"/>
                <a:ea typeface="Helvetica Neue"/>
                <a:cs typeface="Helvetica Neue"/>
              </a:defRPr>
            </a:lvl5pPr>
            <a:lvl6pPr>
              <a:defRPr sz="2400" b="1">
                <a:solidFill>
                  <a:srgbClr val="546982"/>
                </a:solidFill>
                <a:latin typeface="Helvetica Neue"/>
                <a:ea typeface="Helvetica Neue"/>
                <a:cs typeface="Helvetica Neue"/>
              </a:defRPr>
            </a:lvl6pPr>
            <a:lvl7pPr>
              <a:defRPr sz="2400" b="1">
                <a:solidFill>
                  <a:srgbClr val="546982"/>
                </a:solidFill>
                <a:latin typeface="Helvetica Neue"/>
                <a:ea typeface="Helvetica Neue"/>
                <a:cs typeface="Helvetica Neue"/>
              </a:defRPr>
            </a:lvl7pPr>
            <a:lvl8pPr>
              <a:defRPr sz="2400" b="1">
                <a:solidFill>
                  <a:srgbClr val="546982"/>
                </a:solidFill>
                <a:latin typeface="Helvetica Neue"/>
                <a:ea typeface="Helvetica Neue"/>
                <a:cs typeface="Helvetica Neue"/>
              </a:defRPr>
            </a:lvl8pPr>
            <a:lvl9pPr>
              <a:defRPr sz="2400" b="1">
                <a:solidFill>
                  <a:srgbClr val="546982"/>
                </a:solidFill>
                <a:latin typeface="Helvetica Neue"/>
                <a:ea typeface="Helvetica Neue"/>
                <a:cs typeface="Helvetica Neue"/>
              </a:defRPr>
            </a:lvl9pPr>
          </a:lstStyle>
          <a:p xmlns:a="http://schemas.openxmlformats.org/drawingml/2006/main">
            <a:pPr>
              <a:defRPr sz="2400" b="1">
                <a:solidFill>
                  <a:srgbClr val="546982"/>
                </a:solidFill>
                <a:latin typeface="Helvetica Neue"/>
                <a:ea typeface="Helvetica Neue"/>
                <a:cs typeface="Helvetica Neue"/>
              </a:defRPr>
            </a:pPr>
            <a:r>
              <a:rPr sz="2400" b="1">
                <a:solidFill>
                  <a:srgbClr val="546982"/>
                </a:solidFill>
                <a:latin typeface="Helvetica Neue"/>
                <a:ea typeface="Helvetica Neue"/>
                <a:cs typeface="Helvetica Neue"/>
              </a:rPr>
              <a:t>Frozen #5</a:t>
            </a:r>
          </a:p>
        </p:txBody>
      </p:sp>
      <p:sp>
        <p:nvSpPr>
          <p:cNvPr id="9" name="">
            <a:extLst xmlns:a="http://schemas.openxmlformats.org/drawingml/2006/main">
              <a:ext uri="{FF2B5EF4-FFF2-40B4-BE49-F238E27FC236}">
                <a16:creationId xmlns:a16="http://schemas.microsoft.com/office/drawing/2014/main" id="{36A5894D-7699-4274-9E7A-7E8D92E63301}"/>
              </a:ext>
            </a:extLst>
          </p:cNvPr>
          <p:cNvSpPr>
            <a:spLocks xmlns:a="http://schemas.openxmlformats.org/drawingml/2006/main" noGrp="1"/>
          </p:cNvSpPr>
          <p:nvPr/>
        </p:nvSpPr>
        <p:spPr>
          <a:xfrm xmlns:a="http://schemas.openxmlformats.org/drawingml/2006/main">
            <a:off x="6667500" y="3162300"/>
            <a:ext cx="472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347CDB"/>
                </a:solidFill>
                <a:latin typeface="Helvetica Neue"/>
                <a:ea typeface="Helvetica Neue"/>
                <a:cs typeface="Helvetica Neue"/>
              </a:defRPr>
            </a:defPPr>
            <a:lvl1pPr>
              <a:defRPr sz="2400" b="1">
                <a:solidFill>
                  <a:srgbClr val="347CDB"/>
                </a:solidFill>
                <a:latin typeface="Helvetica Neue"/>
                <a:ea typeface="Helvetica Neue"/>
                <a:cs typeface="Helvetica Neue"/>
              </a:defRPr>
            </a:lvl1pPr>
            <a:lvl2pPr>
              <a:defRPr sz="2400" b="1">
                <a:solidFill>
                  <a:srgbClr val="347CDB"/>
                </a:solidFill>
                <a:latin typeface="Helvetica Neue"/>
                <a:ea typeface="Helvetica Neue"/>
                <a:cs typeface="Helvetica Neue"/>
              </a:defRPr>
            </a:lvl2pPr>
            <a:lvl3pPr>
              <a:defRPr sz="2400" b="1">
                <a:solidFill>
                  <a:srgbClr val="347CDB"/>
                </a:solidFill>
                <a:latin typeface="Helvetica Neue"/>
                <a:ea typeface="Helvetica Neue"/>
                <a:cs typeface="Helvetica Neue"/>
              </a:defRPr>
            </a:lvl3pPr>
            <a:lvl4pPr>
              <a:defRPr sz="2400" b="1">
                <a:solidFill>
                  <a:srgbClr val="347CDB"/>
                </a:solidFill>
                <a:latin typeface="Helvetica Neue"/>
                <a:ea typeface="Helvetica Neue"/>
                <a:cs typeface="Helvetica Neue"/>
              </a:defRPr>
            </a:lvl4pPr>
            <a:lvl5pPr>
              <a:defRPr sz="2400" b="1">
                <a:solidFill>
                  <a:srgbClr val="347CDB"/>
                </a:solidFill>
                <a:latin typeface="Helvetica Neue"/>
                <a:ea typeface="Helvetica Neue"/>
                <a:cs typeface="Helvetica Neue"/>
              </a:defRPr>
            </a:lvl5pPr>
            <a:lvl6pPr>
              <a:defRPr sz="2400" b="1">
                <a:solidFill>
                  <a:srgbClr val="347CDB"/>
                </a:solidFill>
                <a:latin typeface="Helvetica Neue"/>
                <a:ea typeface="Helvetica Neue"/>
                <a:cs typeface="Helvetica Neue"/>
              </a:defRPr>
            </a:lvl6pPr>
            <a:lvl7pPr>
              <a:defRPr sz="2400" b="1">
                <a:solidFill>
                  <a:srgbClr val="347CDB"/>
                </a:solidFill>
                <a:latin typeface="Helvetica Neue"/>
                <a:ea typeface="Helvetica Neue"/>
                <a:cs typeface="Helvetica Neue"/>
              </a:defRPr>
            </a:lvl7pPr>
            <a:lvl8pPr>
              <a:defRPr sz="2400" b="1">
                <a:solidFill>
                  <a:srgbClr val="347CDB"/>
                </a:solidFill>
                <a:latin typeface="Helvetica Neue"/>
                <a:ea typeface="Helvetica Neue"/>
                <a:cs typeface="Helvetica Neue"/>
              </a:defRPr>
            </a:lvl8pPr>
            <a:lvl9pPr>
              <a:defRPr sz="2400" b="1">
                <a:solidFill>
                  <a:srgbClr val="347CDB"/>
                </a:solidFill>
                <a:latin typeface="Helvetica Neue"/>
                <a:ea typeface="Helvetica Neue"/>
                <a:cs typeface="Helvetica Neue"/>
              </a:defRPr>
            </a:lvl9pPr>
          </a:lstStyle>
          <a:p xmlns:a="http://schemas.openxmlformats.org/drawingml/2006/main">
            <a:pPr>
              <a:defRPr sz="2400" b="1">
                <a:solidFill>
                  <a:srgbClr val="347CDB"/>
                </a:solidFill>
                <a:latin typeface="Helvetica Neue"/>
                <a:ea typeface="Helvetica Neue"/>
                <a:cs typeface="Helvetica Neue"/>
              </a:defRPr>
            </a:pPr>
            <a:r>
              <a:rPr sz="2400" b="1">
                <a:solidFill>
                  <a:srgbClr val="347CDB"/>
                </a:solidFill>
                <a:latin typeface="Helvetica Neue"/>
                <a:ea typeface="Helvetica Neue"/>
                <a:cs typeface="Helvetica Neue"/>
              </a:rPr>
              <a:t>Semantic #1</a:t>
            </a:r>
          </a:p>
        </p:txBody>
      </p:sp>
      <p:sp>
        <p:nvSpPr>
          <p:cNvPr id="10" name="">
            <a:extLst xmlns:a="http://schemas.openxmlformats.org/drawingml/2006/main">
              <a:ext uri="{FF2B5EF4-FFF2-40B4-BE49-F238E27FC236}">
                <a16:creationId xmlns:a16="http://schemas.microsoft.com/office/drawing/2014/main" id="{B52A09F1-D017-4C36-99E8-E3E943CF2F55}"/>
              </a:ext>
            </a:extLst>
          </p:cNvPr>
          <p:cNvSpPr>
            <a:spLocks xmlns:a="http://schemas.openxmlformats.org/drawingml/2006/main" noGrp="1"/>
          </p:cNvSpPr>
          <p:nvPr/>
        </p:nvSpPr>
        <p:spPr>
          <a:xfrm xmlns:a="http://schemas.openxmlformats.org/drawingml/2006/main">
            <a:off x="6667500" y="3638550"/>
            <a:ext cx="472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A967B"/>
                </a:solidFill>
                <a:latin typeface="Helvetica Neue"/>
                <a:ea typeface="Helvetica Neue"/>
                <a:cs typeface="Helvetica Neue"/>
              </a:defRPr>
            </a:defPPr>
            <a:lvl1pPr>
              <a:defRPr sz="2400" b="1">
                <a:solidFill>
                  <a:srgbClr val="1A967B"/>
                </a:solidFill>
                <a:latin typeface="Helvetica Neue"/>
                <a:ea typeface="Helvetica Neue"/>
                <a:cs typeface="Helvetica Neue"/>
              </a:defRPr>
            </a:lvl1pPr>
            <a:lvl2pPr>
              <a:defRPr sz="2400" b="1">
                <a:solidFill>
                  <a:srgbClr val="1A967B"/>
                </a:solidFill>
                <a:latin typeface="Helvetica Neue"/>
                <a:ea typeface="Helvetica Neue"/>
                <a:cs typeface="Helvetica Neue"/>
              </a:defRPr>
            </a:lvl2pPr>
            <a:lvl3pPr>
              <a:defRPr sz="2400" b="1">
                <a:solidFill>
                  <a:srgbClr val="1A967B"/>
                </a:solidFill>
                <a:latin typeface="Helvetica Neue"/>
                <a:ea typeface="Helvetica Neue"/>
                <a:cs typeface="Helvetica Neue"/>
              </a:defRPr>
            </a:lvl3pPr>
            <a:lvl4pPr>
              <a:defRPr sz="2400" b="1">
                <a:solidFill>
                  <a:srgbClr val="1A967B"/>
                </a:solidFill>
                <a:latin typeface="Helvetica Neue"/>
                <a:ea typeface="Helvetica Neue"/>
                <a:cs typeface="Helvetica Neue"/>
              </a:defRPr>
            </a:lvl4pPr>
            <a:lvl5pPr>
              <a:defRPr sz="2400" b="1">
                <a:solidFill>
                  <a:srgbClr val="1A967B"/>
                </a:solidFill>
                <a:latin typeface="Helvetica Neue"/>
                <a:ea typeface="Helvetica Neue"/>
                <a:cs typeface="Helvetica Neue"/>
              </a:defRPr>
            </a:lvl5pPr>
            <a:lvl6pPr>
              <a:defRPr sz="2400" b="1">
                <a:solidFill>
                  <a:srgbClr val="1A967B"/>
                </a:solidFill>
                <a:latin typeface="Helvetica Neue"/>
                <a:ea typeface="Helvetica Neue"/>
                <a:cs typeface="Helvetica Neue"/>
              </a:defRPr>
            </a:lvl6pPr>
            <a:lvl7pPr>
              <a:defRPr sz="2400" b="1">
                <a:solidFill>
                  <a:srgbClr val="1A967B"/>
                </a:solidFill>
                <a:latin typeface="Helvetica Neue"/>
                <a:ea typeface="Helvetica Neue"/>
                <a:cs typeface="Helvetica Neue"/>
              </a:defRPr>
            </a:lvl7pPr>
            <a:lvl8pPr>
              <a:defRPr sz="2400" b="1">
                <a:solidFill>
                  <a:srgbClr val="1A967B"/>
                </a:solidFill>
                <a:latin typeface="Helvetica Neue"/>
                <a:ea typeface="Helvetica Neue"/>
                <a:cs typeface="Helvetica Neue"/>
              </a:defRPr>
            </a:lvl8pPr>
            <a:lvl9pPr>
              <a:defRPr sz="2400" b="1">
                <a:solidFill>
                  <a:srgbClr val="1A967B"/>
                </a:solidFill>
                <a:latin typeface="Helvetica Neue"/>
                <a:ea typeface="Helvetica Neue"/>
                <a:cs typeface="Helvetica Neue"/>
              </a:defRPr>
            </a:lvl9pPr>
          </a:lstStyle>
          <a:p xmlns:a="http://schemas.openxmlformats.org/drawingml/2006/main">
            <a:pPr>
              <a:defRPr sz="2400" b="1">
                <a:solidFill>
                  <a:srgbClr val="1A967B"/>
                </a:solidFill>
                <a:latin typeface="Helvetica Neue"/>
                <a:ea typeface="Helvetica Neue"/>
                <a:cs typeface="Helvetica Neue"/>
              </a:defRPr>
            </a:pPr>
            <a:r>
              <a:rPr sz="2400" b="1">
                <a:solidFill>
                  <a:srgbClr val="1A967B"/>
                </a:solidFill>
                <a:latin typeface="Helvetica Neue"/>
                <a:ea typeface="Helvetica Neue"/>
                <a:cs typeface="Helvetica Neue"/>
              </a:rPr>
              <a:t>Preference #6</a:t>
            </a:r>
          </a:p>
        </p:txBody>
      </p:sp>
      <p:sp>
        <p:nvSpPr>
          <p:cNvPr id="11" name="">
            <a:extLst xmlns:a="http://schemas.openxmlformats.org/drawingml/2006/main">
              <a:ext uri="{FF2B5EF4-FFF2-40B4-BE49-F238E27FC236}">
                <a16:creationId xmlns:a16="http://schemas.microsoft.com/office/drawing/2014/main" id="{EB92D1E5-FCE5-4A94-8AD3-B118B86B6454}"/>
              </a:ext>
            </a:extLst>
          </p:cNvPr>
          <p:cNvSpPr>
            <a:spLocks xmlns:a="http://schemas.openxmlformats.org/drawingml/2006/main" noGrp="1"/>
          </p:cNvSpPr>
          <p:nvPr/>
        </p:nvSpPr>
        <p:spPr>
          <a:xfrm xmlns:a="http://schemas.openxmlformats.org/drawingml/2006/main">
            <a:off x="6667500" y="4410075"/>
            <a:ext cx="4724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Observed Top 12 per model</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24 unique products</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2 in all three lists</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14 in exactly one list</a:t>
            </a:r>
          </a:p>
        </p:txBody>
      </p:sp>
    </p:spTree>
    <p:extLst>
      <p:ext uri="{BB962C8B-B14F-4D97-AF65-F5344CB8AC3E}">
        <p14:creationId xmlns:p14="http://schemas.microsoft.com/office/powerpoint/2010/main" val="11284866"/>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text-42">
            <a:extLst xmlns:a="http://schemas.openxmlformats.org/drawingml/2006/main">
              <a:ext uri="{FF2B5EF4-FFF2-40B4-BE49-F238E27FC236}">
                <a16:creationId xmlns:a16="http://schemas.microsoft.com/office/drawing/2014/main" id="{A44B3448-3C51-4E30-9E6D-AA9D59D00970}"/>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Visual reference and explicit constraints</a:t>
            </a:r>
          </a:p>
        </p:txBody>
      </p:sp>
      <p:sp>
        <p:nvSpPr>
          <p:cNvPr id="2" name="text-43">
            <a:extLst xmlns:a="http://schemas.openxmlformats.org/drawingml/2006/main">
              <a:ext uri="{FF2B5EF4-FFF2-40B4-BE49-F238E27FC236}">
                <a16:creationId xmlns:a16="http://schemas.microsoft.com/office/drawing/2014/main" id="{77F5E563-67D7-4D1F-97A6-120F107CFEA5}"/>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10</a:t>
            </a:r>
          </a:p>
        </p:txBody>
      </p:sp>
      <p:sp>
        <p:nvSpPr>
          <p:cNvPr id="3" name="text-44">
            <a:extLst xmlns:a="http://schemas.openxmlformats.org/drawingml/2006/main">
              <a:ext uri="{FF2B5EF4-FFF2-40B4-BE49-F238E27FC236}">
                <a16:creationId xmlns:a16="http://schemas.microsoft.com/office/drawing/2014/main" id="{F4A5CCE5-CA75-4ED6-81A1-B533CE5A8D89}"/>
              </a:ext>
            </a:extLst>
          </p:cNvPr>
          <p:cNvSpPr>
            <a:spLocks xmlns:a="http://schemas.openxmlformats.org/drawingml/2006/main" noGrp="1"/>
          </p:cNvSpPr>
          <p:nvPr/>
        </p:nvSpPr>
        <p:spPr>
          <a:xfrm xmlns:a="http://schemas.openxmlformats.org/drawingml/2006/main">
            <a:off x="647700" y="1762125"/>
            <a:ext cx="3105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Historical price ceiling</a:t>
            </a:r>
          </a:p>
        </p:txBody>
      </p:sp>
      <p:sp>
        <p:nvSpPr>
          <p:cNvPr id="4" name="text-45">
            <a:extLst xmlns:a="http://schemas.openxmlformats.org/drawingml/2006/main">
              <a:ext uri="{FF2B5EF4-FFF2-40B4-BE49-F238E27FC236}">
                <a16:creationId xmlns:a16="http://schemas.microsoft.com/office/drawing/2014/main" id="{6B28D1D6-EA2E-4F86-B22A-9C8AF88A5162}"/>
              </a:ext>
            </a:extLst>
          </p:cNvPr>
          <p:cNvSpPr>
            <a:spLocks xmlns:a="http://schemas.openxmlformats.org/drawingml/2006/main" noGrp="1"/>
          </p:cNvSpPr>
          <p:nvPr/>
        </p:nvSpPr>
        <p:spPr>
          <a:xfrm xmlns:a="http://schemas.openxmlformats.org/drawingml/2006/main">
            <a:off x="647700" y="2362200"/>
            <a:ext cx="31051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7243C"/>
                </a:solidFill>
                <a:latin typeface="Helvetica Neue"/>
                <a:ea typeface="Helvetica Neue"/>
                <a:cs typeface="Helvetica Neue"/>
              </a:defRPr>
            </a:defPPr>
            <a:lvl1pPr>
              <a:defRPr sz="2925" b="1">
                <a:solidFill>
                  <a:srgbClr val="17243C"/>
                </a:solidFill>
                <a:latin typeface="Helvetica Neue"/>
                <a:ea typeface="Helvetica Neue"/>
                <a:cs typeface="Helvetica Neue"/>
              </a:defRPr>
            </a:lvl1pPr>
            <a:lvl2pPr>
              <a:defRPr sz="2925" b="1">
                <a:solidFill>
                  <a:srgbClr val="17243C"/>
                </a:solidFill>
                <a:latin typeface="Helvetica Neue"/>
                <a:ea typeface="Helvetica Neue"/>
                <a:cs typeface="Helvetica Neue"/>
              </a:defRPr>
            </a:lvl2pPr>
            <a:lvl3pPr>
              <a:defRPr sz="2925" b="1">
                <a:solidFill>
                  <a:srgbClr val="17243C"/>
                </a:solidFill>
                <a:latin typeface="Helvetica Neue"/>
                <a:ea typeface="Helvetica Neue"/>
                <a:cs typeface="Helvetica Neue"/>
              </a:defRPr>
            </a:lvl3pPr>
            <a:lvl4pPr>
              <a:defRPr sz="2925" b="1">
                <a:solidFill>
                  <a:srgbClr val="17243C"/>
                </a:solidFill>
                <a:latin typeface="Helvetica Neue"/>
                <a:ea typeface="Helvetica Neue"/>
                <a:cs typeface="Helvetica Neue"/>
              </a:defRPr>
            </a:lvl4pPr>
            <a:lvl5pPr>
              <a:defRPr sz="2925" b="1">
                <a:solidFill>
                  <a:srgbClr val="17243C"/>
                </a:solidFill>
                <a:latin typeface="Helvetica Neue"/>
                <a:ea typeface="Helvetica Neue"/>
                <a:cs typeface="Helvetica Neue"/>
              </a:defRPr>
            </a:lvl5pPr>
            <a:lvl6pPr>
              <a:defRPr sz="2925" b="1">
                <a:solidFill>
                  <a:srgbClr val="17243C"/>
                </a:solidFill>
                <a:latin typeface="Helvetica Neue"/>
                <a:ea typeface="Helvetica Neue"/>
                <a:cs typeface="Helvetica Neue"/>
              </a:defRPr>
            </a:lvl6pPr>
            <a:lvl7pPr>
              <a:defRPr sz="2925" b="1">
                <a:solidFill>
                  <a:srgbClr val="17243C"/>
                </a:solidFill>
                <a:latin typeface="Helvetica Neue"/>
                <a:ea typeface="Helvetica Neue"/>
                <a:cs typeface="Helvetica Neue"/>
              </a:defRPr>
            </a:lvl7pPr>
            <a:lvl8pPr>
              <a:defRPr sz="2925" b="1">
                <a:solidFill>
                  <a:srgbClr val="17243C"/>
                </a:solidFill>
                <a:latin typeface="Helvetica Neue"/>
                <a:ea typeface="Helvetica Neue"/>
                <a:cs typeface="Helvetica Neue"/>
              </a:defRPr>
            </a:lvl8pPr>
            <a:lvl9pPr>
              <a:defRPr sz="2925" b="1">
                <a:solidFill>
                  <a:srgbClr val="17243C"/>
                </a:solidFill>
                <a:latin typeface="Helvetica Neue"/>
                <a:ea typeface="Helvetica Neue"/>
                <a:cs typeface="Helvetica Neue"/>
              </a:defRPr>
            </a:lvl9pPr>
          </a:lstStyle>
          <a:p xmlns:a="http://schemas.openxmlformats.org/drawingml/2006/main">
            <a:pPr>
              <a:defRPr sz="2925" b="1">
                <a:solidFill>
                  <a:srgbClr val="17243C"/>
                </a:solidFill>
                <a:latin typeface="Helvetica Neue"/>
                <a:ea typeface="Helvetica Neue"/>
                <a:cs typeface="Helvetica Neue"/>
              </a:defRPr>
            </a:pPr>
            <a:r>
              <a:rPr sz="2925" b="1">
                <a:solidFill>
                  <a:srgbClr val="17243C"/>
                </a:solidFill>
                <a:latin typeface="Helvetica Neue"/>
                <a:ea typeface="Helvetica Neue"/>
                <a:cs typeface="Helvetica Neue"/>
              </a:rPr>
              <a:t>$150</a:t>
            </a:r>
          </a:p>
        </p:txBody>
      </p:sp>
      <p:sp>
        <p:nvSpPr>
          <p:cNvPr id="5" name="text-46">
            <a:extLst xmlns:a="http://schemas.openxmlformats.org/drawingml/2006/main">
              <a:ext uri="{FF2B5EF4-FFF2-40B4-BE49-F238E27FC236}">
                <a16:creationId xmlns:a16="http://schemas.microsoft.com/office/drawing/2014/main" id="{4B90A00B-374D-4003-AEDA-2EFA067AA250}"/>
              </a:ext>
            </a:extLst>
          </p:cNvPr>
          <p:cNvSpPr>
            <a:spLocks xmlns:a="http://schemas.openxmlformats.org/drawingml/2006/main" noGrp="1"/>
          </p:cNvSpPr>
          <p:nvPr/>
        </p:nvSpPr>
        <p:spPr>
          <a:xfrm xmlns:a="http://schemas.openxmlformats.org/drawingml/2006/main">
            <a:off x="647700" y="3324225"/>
            <a:ext cx="3105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243C"/>
                </a:solidFill>
                <a:latin typeface="Helvetica Neue"/>
                <a:ea typeface="Helvetica Neue"/>
                <a:cs typeface="Helvetica Neue"/>
              </a:defRPr>
            </a:defPPr>
            <a:lvl1pPr>
              <a:defRPr sz="2175" b="1">
                <a:solidFill>
                  <a:srgbClr val="17243C"/>
                </a:solidFill>
                <a:latin typeface="Helvetica Neue"/>
                <a:ea typeface="Helvetica Neue"/>
                <a:cs typeface="Helvetica Neue"/>
              </a:defRPr>
            </a:lvl1pPr>
            <a:lvl2pPr>
              <a:defRPr sz="2175" b="1">
                <a:solidFill>
                  <a:srgbClr val="17243C"/>
                </a:solidFill>
                <a:latin typeface="Helvetica Neue"/>
                <a:ea typeface="Helvetica Neue"/>
                <a:cs typeface="Helvetica Neue"/>
              </a:defRPr>
            </a:lvl2pPr>
            <a:lvl3pPr>
              <a:defRPr sz="2175" b="1">
                <a:solidFill>
                  <a:srgbClr val="17243C"/>
                </a:solidFill>
                <a:latin typeface="Helvetica Neue"/>
                <a:ea typeface="Helvetica Neue"/>
                <a:cs typeface="Helvetica Neue"/>
              </a:defRPr>
            </a:lvl3pPr>
            <a:lvl4pPr>
              <a:defRPr sz="2175" b="1">
                <a:solidFill>
                  <a:srgbClr val="17243C"/>
                </a:solidFill>
                <a:latin typeface="Helvetica Neue"/>
                <a:ea typeface="Helvetica Neue"/>
                <a:cs typeface="Helvetica Neue"/>
              </a:defRPr>
            </a:lvl4pPr>
            <a:lvl5pPr>
              <a:defRPr sz="2175" b="1">
                <a:solidFill>
                  <a:srgbClr val="17243C"/>
                </a:solidFill>
                <a:latin typeface="Helvetica Neue"/>
                <a:ea typeface="Helvetica Neue"/>
                <a:cs typeface="Helvetica Neue"/>
              </a:defRPr>
            </a:lvl5pPr>
            <a:lvl6pPr>
              <a:defRPr sz="2175" b="1">
                <a:solidFill>
                  <a:srgbClr val="17243C"/>
                </a:solidFill>
                <a:latin typeface="Helvetica Neue"/>
                <a:ea typeface="Helvetica Neue"/>
                <a:cs typeface="Helvetica Neue"/>
              </a:defRPr>
            </a:lvl6pPr>
            <a:lvl7pPr>
              <a:defRPr sz="2175" b="1">
                <a:solidFill>
                  <a:srgbClr val="17243C"/>
                </a:solidFill>
                <a:latin typeface="Helvetica Neue"/>
                <a:ea typeface="Helvetica Neue"/>
                <a:cs typeface="Helvetica Neue"/>
              </a:defRPr>
            </a:lvl7pPr>
            <a:lvl8pPr>
              <a:defRPr sz="2175" b="1">
                <a:solidFill>
                  <a:srgbClr val="17243C"/>
                </a:solidFill>
                <a:latin typeface="Helvetica Neue"/>
                <a:ea typeface="Helvetica Neue"/>
                <a:cs typeface="Helvetica Neue"/>
              </a:defRPr>
            </a:lvl8pPr>
            <a:lvl9pPr>
              <a:defRPr sz="2175" b="1">
                <a:solidFill>
                  <a:srgbClr val="17243C"/>
                </a:solidFill>
                <a:latin typeface="Helvetica Neue"/>
                <a:ea typeface="Helvetica Neue"/>
                <a:cs typeface="Helvetica Neue"/>
              </a:defRPr>
            </a:lvl9pPr>
          </a:lstStyle>
          <a:p xmlns:a="http://schemas.openxmlformats.org/drawingml/2006/main">
            <a:pPr>
              <a:defRPr sz="2175" b="1">
                <a:solidFill>
                  <a:srgbClr val="17243C"/>
                </a:solidFill>
                <a:latin typeface="Helvetica Neue"/>
                <a:ea typeface="Helvetica Neue"/>
                <a:cs typeface="Helvetica Neue"/>
              </a:defRPr>
            </a:pPr>
            <a:r>
              <a:rPr sz="2175" b="1">
                <a:solidFill>
                  <a:srgbClr val="17243C"/>
                </a:solidFill>
                <a:latin typeface="Helvetica Neue"/>
                <a:ea typeface="Helvetica Neue"/>
                <a:cs typeface="Helvetica Neue"/>
              </a:rPr>
              <a:t>Soft avoid: bulky</a:t>
            </a:r>
          </a:p>
        </p:txBody>
      </p:sp>
      <p:sp>
        <p:nvSpPr>
          <p:cNvPr id="6" name="text-47">
            <a:extLst xmlns:a="http://schemas.openxmlformats.org/drawingml/2006/main">
              <a:ext uri="{FF2B5EF4-FFF2-40B4-BE49-F238E27FC236}">
                <a16:creationId xmlns:a16="http://schemas.microsoft.com/office/drawing/2014/main" id="{664A67F1-05D0-4033-A794-E400A82009E7}"/>
              </a:ext>
            </a:extLst>
          </p:cNvPr>
          <p:cNvSpPr>
            <a:spLocks xmlns:a="http://schemas.openxmlformats.org/drawingml/2006/main" noGrp="1"/>
          </p:cNvSpPr>
          <p:nvPr/>
        </p:nvSpPr>
        <p:spPr>
          <a:xfrm xmlns:a="http://schemas.openxmlformats.org/drawingml/2006/main">
            <a:off x="647700" y="4181475"/>
            <a:ext cx="3105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243C"/>
                </a:solidFill>
                <a:latin typeface="Helvetica Neue"/>
                <a:ea typeface="Helvetica Neue"/>
                <a:cs typeface="Helvetica Neue"/>
              </a:defRPr>
            </a:defPPr>
            <a:lvl1pPr>
              <a:defRPr sz="2175" b="1">
                <a:solidFill>
                  <a:srgbClr val="17243C"/>
                </a:solidFill>
                <a:latin typeface="Helvetica Neue"/>
                <a:ea typeface="Helvetica Neue"/>
                <a:cs typeface="Helvetica Neue"/>
              </a:defRPr>
            </a:lvl1pPr>
            <a:lvl2pPr>
              <a:defRPr sz="2175" b="1">
                <a:solidFill>
                  <a:srgbClr val="17243C"/>
                </a:solidFill>
                <a:latin typeface="Helvetica Neue"/>
                <a:ea typeface="Helvetica Neue"/>
                <a:cs typeface="Helvetica Neue"/>
              </a:defRPr>
            </a:lvl2pPr>
            <a:lvl3pPr>
              <a:defRPr sz="2175" b="1">
                <a:solidFill>
                  <a:srgbClr val="17243C"/>
                </a:solidFill>
                <a:latin typeface="Helvetica Neue"/>
                <a:ea typeface="Helvetica Neue"/>
                <a:cs typeface="Helvetica Neue"/>
              </a:defRPr>
            </a:lvl3pPr>
            <a:lvl4pPr>
              <a:defRPr sz="2175" b="1">
                <a:solidFill>
                  <a:srgbClr val="17243C"/>
                </a:solidFill>
                <a:latin typeface="Helvetica Neue"/>
                <a:ea typeface="Helvetica Neue"/>
                <a:cs typeface="Helvetica Neue"/>
              </a:defRPr>
            </a:lvl4pPr>
            <a:lvl5pPr>
              <a:defRPr sz="2175" b="1">
                <a:solidFill>
                  <a:srgbClr val="17243C"/>
                </a:solidFill>
                <a:latin typeface="Helvetica Neue"/>
                <a:ea typeface="Helvetica Neue"/>
                <a:cs typeface="Helvetica Neue"/>
              </a:defRPr>
            </a:lvl5pPr>
            <a:lvl6pPr>
              <a:defRPr sz="2175" b="1">
                <a:solidFill>
                  <a:srgbClr val="17243C"/>
                </a:solidFill>
                <a:latin typeface="Helvetica Neue"/>
                <a:ea typeface="Helvetica Neue"/>
                <a:cs typeface="Helvetica Neue"/>
              </a:defRPr>
            </a:lvl6pPr>
            <a:lvl7pPr>
              <a:defRPr sz="2175" b="1">
                <a:solidFill>
                  <a:srgbClr val="17243C"/>
                </a:solidFill>
                <a:latin typeface="Helvetica Neue"/>
                <a:ea typeface="Helvetica Neue"/>
                <a:cs typeface="Helvetica Neue"/>
              </a:defRPr>
            </a:lvl7pPr>
            <a:lvl8pPr>
              <a:defRPr sz="2175" b="1">
                <a:solidFill>
                  <a:srgbClr val="17243C"/>
                </a:solidFill>
                <a:latin typeface="Helvetica Neue"/>
                <a:ea typeface="Helvetica Neue"/>
                <a:cs typeface="Helvetica Neue"/>
              </a:defRPr>
            </a:lvl8pPr>
            <a:lvl9pPr>
              <a:defRPr sz="2175" b="1">
                <a:solidFill>
                  <a:srgbClr val="17243C"/>
                </a:solidFill>
                <a:latin typeface="Helvetica Neue"/>
                <a:ea typeface="Helvetica Neue"/>
                <a:cs typeface="Helvetica Neue"/>
              </a:defRPr>
            </a:lvl9pPr>
          </a:lstStyle>
          <a:p xmlns:a="http://schemas.openxmlformats.org/drawingml/2006/main">
            <a:pPr>
              <a:defRPr sz="2175" b="1">
                <a:solidFill>
                  <a:srgbClr val="17243C"/>
                </a:solidFill>
                <a:latin typeface="Helvetica Neue"/>
                <a:ea typeface="Helvetica Neue"/>
                <a:cs typeface="Helvetica Neue"/>
              </a:defRPr>
            </a:pPr>
            <a:r>
              <a:rPr sz="2175" b="1">
                <a:solidFill>
                  <a:srgbClr val="17243C"/>
                </a:solidFill>
                <a:latin typeface="Helvetica Neue"/>
                <a:ea typeface="Helvetica Neue"/>
                <a:cs typeface="Helvetica Neue"/>
              </a:rPr>
              <a:t>Text weight: 0.65</a:t>
            </a:r>
          </a:p>
        </p:txBody>
      </p:sp>
      <p:sp>
        <p:nvSpPr>
          <p:cNvPr id="7" name="text-48">
            <a:extLst xmlns:a="http://schemas.openxmlformats.org/drawingml/2006/main">
              <a:ext uri="{FF2B5EF4-FFF2-40B4-BE49-F238E27FC236}">
                <a16:creationId xmlns:a16="http://schemas.microsoft.com/office/drawing/2014/main" id="{881BB52E-B6A5-44FB-B218-0AAC6890678A}"/>
              </a:ext>
            </a:extLst>
          </p:cNvPr>
          <p:cNvSpPr>
            <a:spLocks xmlns:a="http://schemas.openxmlformats.org/drawingml/2006/main" noGrp="1"/>
          </p:cNvSpPr>
          <p:nvPr/>
        </p:nvSpPr>
        <p:spPr>
          <a:xfrm xmlns:a="http://schemas.openxmlformats.org/drawingml/2006/main">
            <a:off x="647700" y="504825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Local catalog reference</a:t>
            </a:r>
          </a:p>
        </p:txBody>
      </p:sp>
      <p:pic>
        <p:nvPicPr>
          <p:cNvPr id="8" name="">
            <a:extLst xmlns:a="http://schemas.openxmlformats.org/drawingml/2006/main">
              <a:ext uri="{FF2B5EF4-FFF2-40B4-BE49-F238E27FC236}">
                <a16:creationId xmlns:a16="http://schemas.microsoft.com/office/drawing/2014/main" id="{3F81484F-5F01-4BA7-B40C-770B16641EF7}"/>
              </a:ext>
            </a:extLst>
          </p:cNvPr>
          <p:cNvPicPr>
            <a:picLocks xmlns:a="http://schemas.openxmlformats.org/drawingml/2006/main" noChangeAspect="1"/>
          </p:cNvPicPr>
          <p:nvPr/>
        </p:nvPicPr>
        <p:blipFill>
          <a:blip xmlns:r="http://schemas.openxmlformats.org/officeDocument/2006/relationships" xmlns:a="http://schemas.openxmlformats.org/drawingml/2006/main" r:embed="R0352df0bf5b443a0"/>
          <a:srcRect xmlns:a="http://schemas.openxmlformats.org/drawingml/2006/main" l="0" t="40000" r="0" b="500"/>
          <a:stretch xmlns:a="http://schemas.openxmlformats.org/drawingml/2006/main"/>
        </p:blipFill>
        <p:spPr>
          <a:xfrm xmlns:a="http://schemas.openxmlformats.org/drawingml/2006/main">
            <a:off x="4000500" y="1625569"/>
            <a:ext cx="7581900" cy="4235512"/>
          </a:xfrm>
          <a:prstGeom xmlns:a="http://schemas.openxmlformats.org/drawingml/2006/main" prst="rect">
            <a:avLst/>
          </a:prstGeom>
        </p:spPr>
      </p:pic>
      <p:sp>
        <p:nvSpPr>
          <p:cNvPr id="9" name="text-49">
            <a:extLst xmlns:a="http://schemas.openxmlformats.org/drawingml/2006/main">
              <a:ext uri="{FF2B5EF4-FFF2-40B4-BE49-F238E27FC236}">
                <a16:creationId xmlns:a16="http://schemas.microsoft.com/office/drawing/2014/main" id="{FA3CE349-18B3-4A47-A47A-B1C607F0C42F}"/>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Reference: Capri Stroller - Red Tech. Metadata prices are historical, not live offers.</a:t>
            </a:r>
          </a:p>
        </p:txBody>
      </p:sp>
    </p:spTree>
    <p:extLst>
      <p:ext uri="{BB962C8B-B14F-4D97-AF65-F5344CB8AC3E}">
        <p14:creationId xmlns:p14="http://schemas.microsoft.com/office/powerpoint/2010/main" val="1098451630"/>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0">
            <a:extLst xmlns:a="http://schemas.openxmlformats.org/drawingml/2006/main">
              <a:ext uri="{FF2B5EF4-FFF2-40B4-BE49-F238E27FC236}">
                <a16:creationId xmlns:a16="http://schemas.microsoft.com/office/drawing/2014/main" id="{E2681FA6-F683-4CC9-AD8D-0684DD56C66D}"/>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Feedback, exact hiding and undo</a:t>
            </a:r>
          </a:p>
        </p:txBody>
      </p:sp>
      <p:sp>
        <p:nvSpPr>
          <p:cNvPr id="2" name="text-51">
            <a:extLst xmlns:a="http://schemas.openxmlformats.org/drawingml/2006/main">
              <a:ext uri="{FF2B5EF4-FFF2-40B4-BE49-F238E27FC236}">
                <a16:creationId xmlns:a16="http://schemas.microsoft.com/office/drawing/2014/main" id="{0D1105B6-6F6A-418C-9B36-79A37E9B5B1A}"/>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11</a:t>
            </a:r>
          </a:p>
        </p:txBody>
      </p:sp>
      <p:pic>
        <p:nvPicPr>
          <p:cNvPr id="3" name="">
            <a:extLst xmlns:a="http://schemas.openxmlformats.org/drawingml/2006/main">
              <a:ext uri="{FF2B5EF4-FFF2-40B4-BE49-F238E27FC236}">
                <a16:creationId xmlns:a16="http://schemas.microsoft.com/office/drawing/2014/main" id="{30595807-A681-478A-BFAA-DB612AA0AA0A}"/>
              </a:ext>
            </a:extLst>
          </p:cNvPr>
          <p:cNvPicPr>
            <a:picLocks xmlns:a="http://schemas.openxmlformats.org/drawingml/2006/main" noChangeAspect="1"/>
          </p:cNvPicPr>
          <p:nvPr/>
        </p:nvPicPr>
        <p:blipFill>
          <a:blip xmlns:r="http://schemas.openxmlformats.org/officeDocument/2006/relationships" xmlns:a="http://schemas.openxmlformats.org/drawingml/2006/main" r:embed="Rcacd0b6798a6423a"/>
          <a:srcRect xmlns:a="http://schemas.openxmlformats.org/drawingml/2006/main" l="0" t="35000" r="0" b="0"/>
          <a:stretch xmlns:a="http://schemas.openxmlformats.org/drawingml/2006/main"/>
        </p:blipFill>
        <p:spPr>
          <a:xfrm xmlns:a="http://schemas.openxmlformats.org/drawingml/2006/main">
            <a:off x="2443783" y="1485900"/>
            <a:ext cx="7304435" cy="4457700"/>
          </a:xfrm>
          <a:prstGeom xmlns:a="http://schemas.openxmlformats.org/drawingml/2006/main" prst="rect">
            <a:avLst/>
          </a:prstGeom>
        </p:spPr>
      </p:pic>
      <p:sp>
        <p:nvSpPr>
          <p:cNvPr id="4" name="text-52">
            <a:extLst xmlns:a="http://schemas.openxmlformats.org/drawingml/2006/main">
              <a:ext uri="{FF2B5EF4-FFF2-40B4-BE49-F238E27FC236}">
                <a16:creationId xmlns:a16="http://schemas.microsoft.com/office/drawing/2014/main" id="{2B8DDB03-4F92-4B6F-82EE-3F8055B788FD}"/>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Feedback reranks products using cached query vectors. Positive examples activate the selected trained recommender.</a:t>
            </a:r>
          </a:p>
        </p:txBody>
      </p:sp>
    </p:spTree>
    <p:extLst>
      <p:ext uri="{BB962C8B-B14F-4D97-AF65-F5344CB8AC3E}">
        <p14:creationId xmlns:p14="http://schemas.microsoft.com/office/powerpoint/2010/main" val="760642264"/>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3">
            <a:extLst xmlns:a="http://schemas.openxmlformats.org/drawingml/2006/main">
              <a:ext uri="{FF2B5EF4-FFF2-40B4-BE49-F238E27FC236}">
                <a16:creationId xmlns:a16="http://schemas.microsoft.com/office/drawing/2014/main" id="{0EF6F14F-4562-4AA2-8A9D-58539142840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 shortlist with original product evidence</a:t>
            </a:r>
          </a:p>
        </p:txBody>
      </p:sp>
      <p:sp>
        <p:nvSpPr>
          <p:cNvPr id="2" name="text-54">
            <a:extLst xmlns:a="http://schemas.openxmlformats.org/drawingml/2006/main">
              <a:ext uri="{FF2B5EF4-FFF2-40B4-BE49-F238E27FC236}">
                <a16:creationId xmlns:a16="http://schemas.microsoft.com/office/drawing/2014/main" id="{C23468C5-4CB7-4356-9C9C-FDD9AB4D612B}"/>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12</a:t>
            </a:r>
          </a:p>
        </p:txBody>
      </p:sp>
      <p:pic>
        <p:nvPicPr>
          <p:cNvPr id="3" name="">
            <a:extLst xmlns:a="http://schemas.openxmlformats.org/drawingml/2006/main">
              <a:ext uri="{FF2B5EF4-FFF2-40B4-BE49-F238E27FC236}">
                <a16:creationId xmlns:a16="http://schemas.microsoft.com/office/drawing/2014/main" id="{B5D48E9A-276A-4514-B04B-36AF082A01BA}"/>
              </a:ext>
            </a:extLst>
          </p:cNvPr>
          <p:cNvPicPr>
            <a:picLocks xmlns:a="http://schemas.openxmlformats.org/drawingml/2006/main" noChangeAspect="1"/>
          </p:cNvPicPr>
          <p:nvPr/>
        </p:nvPicPr>
        <p:blipFill>
          <a:blip xmlns:r="http://schemas.openxmlformats.org/officeDocument/2006/relationships" xmlns:a="http://schemas.openxmlformats.org/drawingml/2006/main" r:embed="R5b4e0f588d4d407f"/>
          <a:srcRect xmlns:a="http://schemas.openxmlformats.org/drawingml/2006/main" l="0" t="35000" r="0" b="9500"/>
          <a:stretch xmlns:a="http://schemas.openxmlformats.org/drawingml/2006/main"/>
        </p:blipFill>
        <p:spPr>
          <a:xfrm xmlns:a="http://schemas.openxmlformats.org/drawingml/2006/main">
            <a:off x="1818628" y="1485900"/>
            <a:ext cx="8554744" cy="4457700"/>
          </a:xfrm>
          <a:prstGeom xmlns:a="http://schemas.openxmlformats.org/drawingml/2006/main" prst="rect">
            <a:avLst/>
          </a:prstGeom>
        </p:spPr>
      </p:pic>
      <p:sp>
        <p:nvSpPr>
          <p:cNvPr id="4" name="text-55">
            <a:extLst xmlns:a="http://schemas.openxmlformats.org/drawingml/2006/main">
              <a:ext uri="{FF2B5EF4-FFF2-40B4-BE49-F238E27FC236}">
                <a16:creationId xmlns:a16="http://schemas.microsoft.com/office/drawing/2014/main" id="{0D66258C-F754-4E31-935B-A766265CC81C}"/>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Adding a product to the shortlist does not activate preference feedback.</a:t>
            </a:r>
          </a:p>
        </p:txBody>
      </p:sp>
    </p:spTree>
    <p:extLst>
      <p:ext uri="{BB962C8B-B14F-4D97-AF65-F5344CB8AC3E}">
        <p14:creationId xmlns:p14="http://schemas.microsoft.com/office/powerpoint/2010/main" val="1854783492"/>
      </p:ext>
    </p:extLst>
  </p:cSld>
</p:sld>
</file>

<file path=ppt/slides/slide1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6">
            <a:extLst xmlns:a="http://schemas.openxmlformats.org/drawingml/2006/main">
              <a:ext uri="{FF2B5EF4-FFF2-40B4-BE49-F238E27FC236}">
                <a16:creationId xmlns:a16="http://schemas.microsoft.com/office/drawing/2014/main" id="{D978E4B0-E83B-4DE1-B02D-712AFC64B1D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 final choice with portable exports</a:t>
            </a:r>
          </a:p>
        </p:txBody>
      </p:sp>
      <p:sp>
        <p:nvSpPr>
          <p:cNvPr id="2" name="text-57">
            <a:extLst xmlns:a="http://schemas.openxmlformats.org/drawingml/2006/main">
              <a:ext uri="{FF2B5EF4-FFF2-40B4-BE49-F238E27FC236}">
                <a16:creationId xmlns:a16="http://schemas.microsoft.com/office/drawing/2014/main" id="{804A04ED-EA95-4CAC-BE90-6E16ABDDFCCF}"/>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13</a:t>
            </a:r>
          </a:p>
        </p:txBody>
      </p:sp>
      <p:pic>
        <p:nvPicPr>
          <p:cNvPr id="3" name="">
            <a:extLst xmlns:a="http://schemas.openxmlformats.org/drawingml/2006/main">
              <a:ext uri="{FF2B5EF4-FFF2-40B4-BE49-F238E27FC236}">
                <a16:creationId xmlns:a16="http://schemas.microsoft.com/office/drawing/2014/main" id="{2B272003-5394-4F26-B076-9E5EE50AF3D6}"/>
              </a:ext>
            </a:extLst>
          </p:cNvPr>
          <p:cNvPicPr>
            <a:picLocks xmlns:a="http://schemas.openxmlformats.org/drawingml/2006/main" noChangeAspect="1"/>
          </p:cNvPicPr>
          <p:nvPr/>
        </p:nvPicPr>
        <p:blipFill>
          <a:blip xmlns:r="http://schemas.openxmlformats.org/officeDocument/2006/relationships" xmlns:a="http://schemas.openxmlformats.org/drawingml/2006/main" r:embed="R63e1c46883b949c3"/>
          <a:srcRect xmlns:a="http://schemas.openxmlformats.org/drawingml/2006/main" l="0" t="10000" r="0" b="46000"/>
          <a:stretch xmlns:a="http://schemas.openxmlformats.org/drawingml/2006/main"/>
        </p:blipFill>
        <p:spPr>
          <a:xfrm xmlns:a="http://schemas.openxmlformats.org/drawingml/2006/main">
            <a:off x="700679" y="1485900"/>
            <a:ext cx="10790642" cy="4457700"/>
          </a:xfrm>
          <a:prstGeom xmlns:a="http://schemas.openxmlformats.org/drawingml/2006/main" prst="rect">
            <a:avLst/>
          </a:prstGeom>
        </p:spPr>
      </p:pic>
      <p:sp>
        <p:nvSpPr>
          <p:cNvPr id="4" name="text-58">
            <a:extLst xmlns:a="http://schemas.openxmlformats.org/drawingml/2006/main">
              <a:ext uri="{FF2B5EF4-FFF2-40B4-BE49-F238E27FC236}">
                <a16:creationId xmlns:a16="http://schemas.microsoft.com/office/drawing/2014/main" id="{1E197F7B-7132-47B8-99CC-A3F7D7859D29}"/>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Exports retain the chosen product, request, feedback and model provenance.</a:t>
            </a:r>
          </a:p>
        </p:txBody>
      </p:sp>
    </p:spTree>
    <p:extLst>
      <p:ext uri="{BB962C8B-B14F-4D97-AF65-F5344CB8AC3E}">
        <p14:creationId xmlns:p14="http://schemas.microsoft.com/office/powerpoint/2010/main" val="603172544"/>
      </p:ext>
    </p:extLst>
  </p:cSld>
</p:sld>
</file>

<file path=ppt/slides/slide1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59">
            <a:extLst xmlns:a="http://schemas.openxmlformats.org/drawingml/2006/main">
              <a:ext uri="{FF2B5EF4-FFF2-40B4-BE49-F238E27FC236}">
                <a16:creationId xmlns:a16="http://schemas.microsoft.com/office/drawing/2014/main" id="{0A9A7477-5062-4828-B554-6D077578259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Product atlas with a real product inspector</a:t>
            </a:r>
          </a:p>
        </p:txBody>
      </p:sp>
      <p:sp>
        <p:nvSpPr>
          <p:cNvPr id="2" name="text-60">
            <a:extLst xmlns:a="http://schemas.openxmlformats.org/drawingml/2006/main">
              <a:ext uri="{FF2B5EF4-FFF2-40B4-BE49-F238E27FC236}">
                <a16:creationId xmlns:a16="http://schemas.microsoft.com/office/drawing/2014/main" id="{069E6231-E67B-4646-8FF9-5C21AA72F3F8}"/>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14</a:t>
            </a:r>
          </a:p>
        </p:txBody>
      </p:sp>
      <p:pic>
        <p:nvPicPr>
          <p:cNvPr id="3" name="">
            <a:extLst xmlns:a="http://schemas.openxmlformats.org/drawingml/2006/main">
              <a:ext uri="{FF2B5EF4-FFF2-40B4-BE49-F238E27FC236}">
                <a16:creationId xmlns:a16="http://schemas.microsoft.com/office/drawing/2014/main" id="{7468938C-1606-4B2B-80B8-62B0F9FD9BF9}"/>
              </a:ext>
            </a:extLst>
          </p:cNvPr>
          <p:cNvPicPr>
            <a:picLocks xmlns:a="http://schemas.openxmlformats.org/drawingml/2006/main" noChangeAspect="1"/>
          </p:cNvPicPr>
          <p:nvPr/>
        </p:nvPicPr>
        <p:blipFill>
          <a:blip xmlns:r="http://schemas.openxmlformats.org/officeDocument/2006/relationships" xmlns:a="http://schemas.openxmlformats.org/drawingml/2006/main" r:embed="R72e80405d7e6456b"/>
          <a:srcRect xmlns:a="http://schemas.openxmlformats.org/drawingml/2006/main" l="25500" t="41000" r="2500" b="2500"/>
          <a:stretch xmlns:a="http://schemas.openxmlformats.org/drawingml/2006/main"/>
        </p:blipFill>
        <p:spPr>
          <a:xfrm xmlns:a="http://schemas.openxmlformats.org/drawingml/2006/main">
            <a:off x="2005962" y="1485900"/>
            <a:ext cx="8180077" cy="4457700"/>
          </a:xfrm>
          <a:prstGeom xmlns:a="http://schemas.openxmlformats.org/drawingml/2006/main" prst="rect">
            <a:avLst/>
          </a:prstGeom>
        </p:spPr>
      </p:pic>
      <p:sp>
        <p:nvSpPr>
          <p:cNvPr id="4" name="text-61">
            <a:extLst xmlns:a="http://schemas.openxmlformats.org/drawingml/2006/main">
              <a:ext uri="{FF2B5EF4-FFF2-40B4-BE49-F238E27FC236}">
                <a16:creationId xmlns:a16="http://schemas.microsoft.com/office/drawing/2014/main" id="{BD238498-6383-4F77-B6C7-0DAF6B3EA313}"/>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One fixed PCA map preserves coordinates across models. Projection distance can hide information.</a:t>
            </a:r>
          </a:p>
        </p:txBody>
      </p:sp>
    </p:spTree>
    <p:extLst>
      <p:ext uri="{BB962C8B-B14F-4D97-AF65-F5344CB8AC3E}">
        <p14:creationId xmlns:p14="http://schemas.microsoft.com/office/powerpoint/2010/main" val="54948508"/>
      </p:ext>
    </p:extLst>
  </p:cSld>
</p:sld>
</file>

<file path=ppt/slides/slide1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62">
            <a:extLst xmlns:a="http://schemas.openxmlformats.org/drawingml/2006/main">
              <a:ext uri="{FF2B5EF4-FFF2-40B4-BE49-F238E27FC236}">
                <a16:creationId xmlns:a16="http://schemas.microsoft.com/office/drawing/2014/main" id="{257ADBB2-8C8E-4F61-8DE5-C84BBE385F7D}"/>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Preference relationships in the actual tower</a:t>
            </a:r>
          </a:p>
        </p:txBody>
      </p:sp>
      <p:sp>
        <p:nvSpPr>
          <p:cNvPr id="2" name="text-63">
            <a:extLst xmlns:a="http://schemas.openxmlformats.org/drawingml/2006/main">
              <a:ext uri="{FF2B5EF4-FFF2-40B4-BE49-F238E27FC236}">
                <a16:creationId xmlns:a16="http://schemas.microsoft.com/office/drawing/2014/main" id="{B085DB9C-AB97-4324-810B-5DB49EE2A37C}"/>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15</a:t>
            </a:r>
          </a:p>
        </p:txBody>
      </p:sp>
      <p:pic>
        <p:nvPicPr>
          <p:cNvPr id="3" name="">
            <a:extLst xmlns:a="http://schemas.openxmlformats.org/drawingml/2006/main">
              <a:ext uri="{FF2B5EF4-FFF2-40B4-BE49-F238E27FC236}">
                <a16:creationId xmlns:a16="http://schemas.microsoft.com/office/drawing/2014/main" id="{B229523D-D335-468A-BEBB-D75AA4900068}"/>
              </a:ext>
            </a:extLst>
          </p:cNvPr>
          <p:cNvPicPr>
            <a:picLocks xmlns:a="http://schemas.openxmlformats.org/drawingml/2006/main" noChangeAspect="1"/>
          </p:cNvPicPr>
          <p:nvPr/>
        </p:nvPicPr>
        <p:blipFill>
          <a:blip xmlns:r="http://schemas.openxmlformats.org/officeDocument/2006/relationships" xmlns:a="http://schemas.openxmlformats.org/drawingml/2006/main" r:embed="R21b9058f6d794abf"/>
          <a:srcRect xmlns:a="http://schemas.openxmlformats.org/drawingml/2006/main" l="11000" t="28000" r="7000" b="18000"/>
          <a:stretch xmlns:a="http://schemas.openxmlformats.org/drawingml/2006/main"/>
        </p:blipFill>
        <p:spPr>
          <a:xfrm xmlns:a="http://schemas.openxmlformats.org/drawingml/2006/main">
            <a:off x="2491126" y="1485900"/>
            <a:ext cx="7209748" cy="4457700"/>
          </a:xfrm>
          <a:prstGeom xmlns:a="http://schemas.openxmlformats.org/drawingml/2006/main" prst="rect">
            <a:avLst/>
          </a:prstGeom>
        </p:spPr>
      </p:pic>
      <p:sp>
        <p:nvSpPr>
          <p:cNvPr id="4" name="text-64">
            <a:extLst xmlns:a="http://schemas.openxmlformats.org/drawingml/2006/main">
              <a:ext uri="{FF2B5EF4-FFF2-40B4-BE49-F238E27FC236}">
                <a16:creationId xmlns:a16="http://schemas.microsoft.com/office/drawing/2014/main" id="{EC711D1D-BAC9-4AB6-947E-43FAABE00C54}"/>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Green: history. Blue: candidates. Solid/dashed links: positive/negative cosine.</a:t>
            </a:r>
          </a:p>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These diagnostics do not decompose the final user-network score.</a:t>
            </a:r>
          </a:p>
        </p:txBody>
      </p:sp>
    </p:spTree>
    <p:extLst>
      <p:ext uri="{BB962C8B-B14F-4D97-AF65-F5344CB8AC3E}">
        <p14:creationId xmlns:p14="http://schemas.microsoft.com/office/powerpoint/2010/main" val="1256811732"/>
      </p:ext>
    </p:extLst>
  </p:cSld>
</p:sld>
</file>

<file path=ppt/slides/slide1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65">
            <a:extLst xmlns:a="http://schemas.openxmlformats.org/drawingml/2006/main">
              <a:ext uri="{FF2B5EF4-FFF2-40B4-BE49-F238E27FC236}">
                <a16:creationId xmlns:a16="http://schemas.microsoft.com/office/drawing/2014/main" id="{6DA764B3-9AB3-461E-824B-B12CE89B4C6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Observed rank flow across objectives</a:t>
            </a:r>
          </a:p>
        </p:txBody>
      </p:sp>
      <p:sp>
        <p:nvSpPr>
          <p:cNvPr id="2" name="text-66">
            <a:extLst xmlns:a="http://schemas.openxmlformats.org/drawingml/2006/main">
              <a:ext uri="{FF2B5EF4-FFF2-40B4-BE49-F238E27FC236}">
                <a16:creationId xmlns:a16="http://schemas.microsoft.com/office/drawing/2014/main" id="{77B05944-6E00-4DF7-9BAB-697D9296F4DA}"/>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16</a:t>
            </a:r>
          </a:p>
        </p:txBody>
      </p:sp>
      <p:pic>
        <p:nvPicPr>
          <p:cNvPr id="3" name="">
            <a:extLst xmlns:a="http://schemas.openxmlformats.org/drawingml/2006/main">
              <a:ext uri="{FF2B5EF4-FFF2-40B4-BE49-F238E27FC236}">
                <a16:creationId xmlns:a16="http://schemas.microsoft.com/office/drawing/2014/main" id="{3FB9668B-C2D1-4ACE-9A73-7C4990DC9776}"/>
              </a:ext>
            </a:extLst>
          </p:cNvPr>
          <p:cNvPicPr>
            <a:picLocks xmlns:a="http://schemas.openxmlformats.org/drawingml/2006/main" noChangeAspect="1"/>
          </p:cNvPicPr>
          <p:nvPr/>
        </p:nvPicPr>
        <p:blipFill>
          <a:blip xmlns:r="http://schemas.openxmlformats.org/officeDocument/2006/relationships" xmlns:a="http://schemas.openxmlformats.org/drawingml/2006/main" r:embed="Rd08e2d9bfbc34019"/>
          <a:srcRect xmlns:a="http://schemas.openxmlformats.org/drawingml/2006/main" l="1500" t="12000" r="1500" b="24000"/>
          <a:stretch xmlns:a="http://schemas.openxmlformats.org/drawingml/2006/main"/>
        </p:blipFill>
        <p:spPr>
          <a:xfrm xmlns:a="http://schemas.openxmlformats.org/drawingml/2006/main">
            <a:off x="2497995" y="1485900"/>
            <a:ext cx="7196010" cy="4457700"/>
          </a:xfrm>
          <a:prstGeom xmlns:a="http://schemas.openxmlformats.org/drawingml/2006/main" prst="rect">
            <a:avLst/>
          </a:prstGeom>
        </p:spPr>
      </p:pic>
      <p:sp>
        <p:nvSpPr>
          <p:cNvPr id="4" name="text-67">
            <a:extLst xmlns:a="http://schemas.openxmlformats.org/drawingml/2006/main">
              <a:ext uri="{FF2B5EF4-FFF2-40B4-BE49-F238E27FC236}">
                <a16:creationId xmlns:a16="http://schemas.microsoft.com/office/drawing/2014/main" id="{FF898E10-48FF-482A-ABD6-705E570006C4}"/>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A broken line means absence from the observed Top-K. The missing full rank remains unknown.</a:t>
            </a:r>
          </a:p>
        </p:txBody>
      </p:sp>
    </p:spTree>
    <p:extLst>
      <p:ext uri="{BB962C8B-B14F-4D97-AF65-F5344CB8AC3E}">
        <p14:creationId xmlns:p14="http://schemas.microsoft.com/office/powerpoint/2010/main" val="1978544377"/>
      </p:ext>
    </p:extLst>
  </p:cSld>
</p:sld>
</file>

<file path=ppt/slides/slide1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68">
            <a:extLst xmlns:a="http://schemas.openxmlformats.org/drawingml/2006/main">
              <a:ext uri="{FF2B5EF4-FFF2-40B4-BE49-F238E27FC236}">
                <a16:creationId xmlns:a16="http://schemas.microsoft.com/office/drawing/2014/main" id="{D32988FC-B826-46E0-A1AA-256F67C0BFAB}"/>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Removal sensitivity for the current history</a:t>
            </a:r>
          </a:p>
        </p:txBody>
      </p:sp>
      <p:sp>
        <p:nvSpPr>
          <p:cNvPr id="2" name="text-69">
            <a:extLst xmlns:a="http://schemas.openxmlformats.org/drawingml/2006/main">
              <a:ext uri="{FF2B5EF4-FFF2-40B4-BE49-F238E27FC236}">
                <a16:creationId xmlns:a16="http://schemas.microsoft.com/office/drawing/2014/main" id="{9868143E-8D17-492F-9080-27B16D09B847}"/>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17</a:t>
            </a:r>
          </a:p>
        </p:txBody>
      </p:sp>
      <p:pic>
        <p:nvPicPr>
          <p:cNvPr id="3" name="">
            <a:extLst xmlns:a="http://schemas.openxmlformats.org/drawingml/2006/main">
              <a:ext uri="{FF2B5EF4-FFF2-40B4-BE49-F238E27FC236}">
                <a16:creationId xmlns:a16="http://schemas.microsoft.com/office/drawing/2014/main" id="{F9ADF98A-1913-4043-A346-3CCC6A6CA02F}"/>
              </a:ext>
            </a:extLst>
          </p:cNvPr>
          <p:cNvPicPr>
            <a:picLocks xmlns:a="http://schemas.openxmlformats.org/drawingml/2006/main" noChangeAspect="1"/>
          </p:cNvPicPr>
          <p:nvPr/>
        </p:nvPicPr>
        <p:blipFill>
          <a:blip xmlns:r="http://schemas.openxmlformats.org/officeDocument/2006/relationships" xmlns:a="http://schemas.openxmlformats.org/drawingml/2006/main" r:embed="R58eff986c72f472c"/>
          <a:srcRect xmlns:a="http://schemas.openxmlformats.org/drawingml/2006/main" l="25500" t="19000" r="3500" b="21000"/>
          <a:stretch xmlns:a="http://schemas.openxmlformats.org/drawingml/2006/main"/>
        </p:blipFill>
        <p:spPr>
          <a:xfrm xmlns:a="http://schemas.openxmlformats.org/drawingml/2006/main">
            <a:off x="2298040" y="1485900"/>
            <a:ext cx="7595921" cy="4457700"/>
          </a:xfrm>
          <a:prstGeom xmlns:a="http://schemas.openxmlformats.org/drawingml/2006/main" prst="rect">
            <a:avLst/>
          </a:prstGeom>
        </p:spPr>
      </p:pic>
      <p:sp>
        <p:nvSpPr>
          <p:cNvPr id="4" name="text-70">
            <a:extLst xmlns:a="http://schemas.openxmlformats.org/drawingml/2006/main">
              <a:ext uri="{FF2B5EF4-FFF2-40B4-BE49-F238E27FC236}">
                <a16:creationId xmlns:a16="http://schemas.microsoft.com/office/drawing/2014/main" id="{C2FC8DEC-2B77-45B9-B0CA-9CE60686C7FD}"/>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Each removal reruns the selected seed42 recommender. This is a session sensitivity check.</a:t>
            </a:r>
          </a:p>
        </p:txBody>
      </p:sp>
    </p:spTree>
    <p:extLst>
      <p:ext uri="{BB962C8B-B14F-4D97-AF65-F5344CB8AC3E}">
        <p14:creationId xmlns:p14="http://schemas.microsoft.com/office/powerpoint/2010/main" val="1661500656"/>
      </p:ext>
    </p:extLst>
  </p:cSld>
</p:sld>
</file>

<file path=ppt/slides/slide1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71">
            <a:extLst xmlns:a="http://schemas.openxmlformats.org/drawingml/2006/main">
              <a:ext uri="{FF2B5EF4-FFF2-40B4-BE49-F238E27FC236}">
                <a16:creationId xmlns:a16="http://schemas.microsoft.com/office/drawing/2014/main" id="{AB694F89-822A-4123-9D5B-9F9679619AD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Findings and limits</a:t>
            </a:r>
          </a:p>
        </p:txBody>
      </p:sp>
      <p:sp>
        <p:nvSpPr>
          <p:cNvPr id="2" name="text-72">
            <a:extLst xmlns:a="http://schemas.openxmlformats.org/drawingml/2006/main">
              <a:ext uri="{FF2B5EF4-FFF2-40B4-BE49-F238E27FC236}">
                <a16:creationId xmlns:a16="http://schemas.microsoft.com/office/drawing/2014/main" id="{A3E183A6-BBF1-4C11-A265-34ED73A3F2E8}"/>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18</a:t>
            </a:r>
          </a:p>
        </p:txBody>
      </p:sp>
      <p:sp>
        <p:nvSpPr>
          <p:cNvPr id="3" name="text-73">
            <a:extLst xmlns:a="http://schemas.openxmlformats.org/drawingml/2006/main">
              <a:ext uri="{FF2B5EF4-FFF2-40B4-BE49-F238E27FC236}">
                <a16:creationId xmlns:a16="http://schemas.microsoft.com/office/drawing/2014/main" id="{B7C98B75-811B-44C3-9426-3E80487DF094}"/>
              </a:ext>
            </a:extLst>
          </p:cNvPr>
          <p:cNvSpPr>
            <a:spLocks xmlns:a="http://schemas.openxmlformats.org/drawingml/2006/main" noGrp="1"/>
          </p:cNvSpPr>
          <p:nvPr/>
        </p:nvSpPr>
        <p:spPr>
          <a:xfrm xmlns:a="http://schemas.openxmlformats.org/drawingml/2006/main">
            <a:off x="647700" y="1581150"/>
            <a:ext cx="10763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243C"/>
                </a:solidFill>
                <a:latin typeface="Helvetica Neue"/>
                <a:ea typeface="Helvetica Neue"/>
                <a:cs typeface="Helvetica Neue"/>
              </a:defRPr>
            </a:defPPr>
            <a:lvl1pPr>
              <a:defRPr sz="2625" b="1">
                <a:solidFill>
                  <a:srgbClr val="17243C"/>
                </a:solidFill>
                <a:latin typeface="Helvetica Neue"/>
                <a:ea typeface="Helvetica Neue"/>
                <a:cs typeface="Helvetica Neue"/>
              </a:defRPr>
            </a:lvl1pPr>
            <a:lvl2pPr>
              <a:defRPr sz="2625" b="1">
                <a:solidFill>
                  <a:srgbClr val="17243C"/>
                </a:solidFill>
                <a:latin typeface="Helvetica Neue"/>
                <a:ea typeface="Helvetica Neue"/>
                <a:cs typeface="Helvetica Neue"/>
              </a:defRPr>
            </a:lvl2pPr>
            <a:lvl3pPr>
              <a:defRPr sz="2625" b="1">
                <a:solidFill>
                  <a:srgbClr val="17243C"/>
                </a:solidFill>
                <a:latin typeface="Helvetica Neue"/>
                <a:ea typeface="Helvetica Neue"/>
                <a:cs typeface="Helvetica Neue"/>
              </a:defRPr>
            </a:lvl3pPr>
            <a:lvl4pPr>
              <a:defRPr sz="2625" b="1">
                <a:solidFill>
                  <a:srgbClr val="17243C"/>
                </a:solidFill>
                <a:latin typeface="Helvetica Neue"/>
                <a:ea typeface="Helvetica Neue"/>
                <a:cs typeface="Helvetica Neue"/>
              </a:defRPr>
            </a:lvl4pPr>
            <a:lvl5pPr>
              <a:defRPr sz="2625" b="1">
                <a:solidFill>
                  <a:srgbClr val="17243C"/>
                </a:solidFill>
                <a:latin typeface="Helvetica Neue"/>
                <a:ea typeface="Helvetica Neue"/>
                <a:cs typeface="Helvetica Neue"/>
              </a:defRPr>
            </a:lvl5pPr>
            <a:lvl6pPr>
              <a:defRPr sz="2625" b="1">
                <a:solidFill>
                  <a:srgbClr val="17243C"/>
                </a:solidFill>
                <a:latin typeface="Helvetica Neue"/>
                <a:ea typeface="Helvetica Neue"/>
                <a:cs typeface="Helvetica Neue"/>
              </a:defRPr>
            </a:lvl6pPr>
            <a:lvl7pPr>
              <a:defRPr sz="2625" b="1">
                <a:solidFill>
                  <a:srgbClr val="17243C"/>
                </a:solidFill>
                <a:latin typeface="Helvetica Neue"/>
                <a:ea typeface="Helvetica Neue"/>
                <a:cs typeface="Helvetica Neue"/>
              </a:defRPr>
            </a:lvl7pPr>
            <a:lvl8pPr>
              <a:defRPr sz="2625" b="1">
                <a:solidFill>
                  <a:srgbClr val="17243C"/>
                </a:solidFill>
                <a:latin typeface="Helvetica Neue"/>
                <a:ea typeface="Helvetica Neue"/>
                <a:cs typeface="Helvetica Neue"/>
              </a:defRPr>
            </a:lvl8pPr>
            <a:lvl9pPr>
              <a:defRPr sz="2625" b="1">
                <a:solidFill>
                  <a:srgbClr val="17243C"/>
                </a:solidFill>
                <a:latin typeface="Helvetica Neue"/>
                <a:ea typeface="Helvetica Neue"/>
                <a:cs typeface="Helvetica Neue"/>
              </a:defRPr>
            </a:lvl9pPr>
          </a:lstStyle>
          <a:p xmlns:a="http://schemas.openxmlformats.org/drawingml/2006/main">
            <a:pPr>
              <a:defRPr sz="2625" b="1">
                <a:solidFill>
                  <a:srgbClr val="17243C"/>
                </a:solidFill>
                <a:latin typeface="Helvetica Neue"/>
                <a:ea typeface="Helvetica Neue"/>
                <a:cs typeface="Helvetica Neue"/>
              </a:defRPr>
            </a:pPr>
            <a:r>
              <a:rPr sz="2625" b="1">
                <a:solidFill>
                  <a:srgbClr val="17243C"/>
                </a:solidFill>
                <a:latin typeface="Helvetica Neue"/>
                <a:ea typeface="Helvetica Neue"/>
                <a:cs typeface="Helvetica Neue"/>
              </a:rPr>
              <a:t>Adaptation did not improve the mean NDCG@10</a:t>
            </a:r>
          </a:p>
          <a:p xmlns:a="http://schemas.openxmlformats.org/drawingml/2006/main">
            <a:pPr>
              <a:defRPr sz="2625" b="1">
                <a:solidFill>
                  <a:srgbClr val="17243C"/>
                </a:solidFill>
                <a:latin typeface="Helvetica Neue"/>
                <a:ea typeface="Helvetica Neue"/>
                <a:cs typeface="Helvetica Neue"/>
              </a:defRPr>
            </a:pPr>
            <a:r>
              <a:rPr sz="2625" b="1">
                <a:solidFill>
                  <a:srgbClr val="17243C"/>
                </a:solidFill>
                <a:latin typeface="Helvetica Neue"/>
                <a:ea typeface="Helvetica Neue"/>
                <a:cs typeface="Helvetica Neue"/>
              </a:rPr>
              <a:t>in any of the three domains under this budget.</a:t>
            </a:r>
          </a:p>
        </p:txBody>
      </p:sp>
      <p:sp>
        <p:nvSpPr>
          <p:cNvPr id="4" name="text-74">
            <a:extLst xmlns:a="http://schemas.openxmlformats.org/drawingml/2006/main">
              <a:ext uri="{FF2B5EF4-FFF2-40B4-BE49-F238E27FC236}">
                <a16:creationId xmlns:a16="http://schemas.microsoft.com/office/drawing/2014/main" id="{26B6A53B-675A-434E-9DF4-4C64D2319632}"/>
              </a:ext>
            </a:extLst>
          </p:cNvPr>
          <p:cNvSpPr>
            <a:spLocks xmlns:a="http://schemas.openxmlformats.org/drawingml/2006/main" noGrp="1"/>
          </p:cNvSpPr>
          <p:nvPr/>
        </p:nvSpPr>
        <p:spPr>
          <a:xfrm xmlns:a="http://schemas.openxmlformats.org/drawingml/2006/main">
            <a:off x="647700" y="3009900"/>
            <a:ext cx="10763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347CDB"/>
                </a:solidFill>
                <a:latin typeface="Helvetica Neue"/>
                <a:ea typeface="Helvetica Neue"/>
                <a:cs typeface="Helvetica Neue"/>
              </a:defRPr>
            </a:defPPr>
            <a:lvl1pPr>
              <a:defRPr sz="2475" b="1">
                <a:solidFill>
                  <a:srgbClr val="347CDB"/>
                </a:solidFill>
                <a:latin typeface="Helvetica Neue"/>
                <a:ea typeface="Helvetica Neue"/>
                <a:cs typeface="Helvetica Neue"/>
              </a:defRPr>
            </a:lvl1pPr>
            <a:lvl2pPr>
              <a:defRPr sz="2475" b="1">
                <a:solidFill>
                  <a:srgbClr val="347CDB"/>
                </a:solidFill>
                <a:latin typeface="Helvetica Neue"/>
                <a:ea typeface="Helvetica Neue"/>
                <a:cs typeface="Helvetica Neue"/>
              </a:defRPr>
            </a:lvl2pPr>
            <a:lvl3pPr>
              <a:defRPr sz="2475" b="1">
                <a:solidFill>
                  <a:srgbClr val="347CDB"/>
                </a:solidFill>
                <a:latin typeface="Helvetica Neue"/>
                <a:ea typeface="Helvetica Neue"/>
                <a:cs typeface="Helvetica Neue"/>
              </a:defRPr>
            </a:lvl3pPr>
            <a:lvl4pPr>
              <a:defRPr sz="2475" b="1">
                <a:solidFill>
                  <a:srgbClr val="347CDB"/>
                </a:solidFill>
                <a:latin typeface="Helvetica Neue"/>
                <a:ea typeface="Helvetica Neue"/>
                <a:cs typeface="Helvetica Neue"/>
              </a:defRPr>
            </a:lvl4pPr>
            <a:lvl5pPr>
              <a:defRPr sz="2475" b="1">
                <a:solidFill>
                  <a:srgbClr val="347CDB"/>
                </a:solidFill>
                <a:latin typeface="Helvetica Neue"/>
                <a:ea typeface="Helvetica Neue"/>
                <a:cs typeface="Helvetica Neue"/>
              </a:defRPr>
            </a:lvl5pPr>
            <a:lvl6pPr>
              <a:defRPr sz="2475" b="1">
                <a:solidFill>
                  <a:srgbClr val="347CDB"/>
                </a:solidFill>
                <a:latin typeface="Helvetica Neue"/>
                <a:ea typeface="Helvetica Neue"/>
                <a:cs typeface="Helvetica Neue"/>
              </a:defRPr>
            </a:lvl6pPr>
            <a:lvl7pPr>
              <a:defRPr sz="2475" b="1">
                <a:solidFill>
                  <a:srgbClr val="347CDB"/>
                </a:solidFill>
                <a:latin typeface="Helvetica Neue"/>
                <a:ea typeface="Helvetica Neue"/>
                <a:cs typeface="Helvetica Neue"/>
              </a:defRPr>
            </a:lvl7pPr>
            <a:lvl8pPr>
              <a:defRPr sz="2475" b="1">
                <a:solidFill>
                  <a:srgbClr val="347CDB"/>
                </a:solidFill>
                <a:latin typeface="Helvetica Neue"/>
                <a:ea typeface="Helvetica Neue"/>
                <a:cs typeface="Helvetica Neue"/>
              </a:defRPr>
            </a:lvl8pPr>
            <a:lvl9pPr>
              <a:defRPr sz="2475" b="1">
                <a:solidFill>
                  <a:srgbClr val="347CDB"/>
                </a:solidFill>
                <a:latin typeface="Helvetica Neue"/>
                <a:ea typeface="Helvetica Neue"/>
                <a:cs typeface="Helvetica Neue"/>
              </a:defRPr>
            </a:lvl9pPr>
          </a:lstStyle>
          <a:p xmlns:a="http://schemas.openxmlformats.org/drawingml/2006/main">
            <a:pPr>
              <a:defRPr sz="2475" b="1">
                <a:solidFill>
                  <a:srgbClr val="347CDB"/>
                </a:solidFill>
                <a:latin typeface="Helvetica Neue"/>
                <a:ea typeface="Helvetica Neue"/>
                <a:cs typeface="Helvetica Neue"/>
              </a:defRPr>
            </a:pPr>
            <a:r>
              <a:rPr sz="2475" b="1">
                <a:solidFill>
                  <a:srgbClr val="347CDB"/>
                </a:solidFill>
                <a:latin typeface="Helvetica Neue"/>
                <a:ea typeface="Helvetica Neue"/>
                <a:cs typeface="Helvetica Neue"/>
              </a:rPr>
              <a:t>Semantic alignment: 2 of 9 matched wins</a:t>
            </a:r>
          </a:p>
          <a:p xmlns:a="http://schemas.openxmlformats.org/drawingml/2006/main">
            <a:pPr>
              <a:defRPr sz="2475" b="1">
                <a:solidFill>
                  <a:srgbClr val="347CDB"/>
                </a:solidFill>
                <a:latin typeface="Helvetica Neue"/>
                <a:ea typeface="Helvetica Neue"/>
                <a:cs typeface="Helvetica Neue"/>
              </a:defRPr>
            </a:pPr>
            <a:r>
              <a:rPr sz="2475" b="1">
                <a:solidFill>
                  <a:srgbClr val="347CDB"/>
                </a:solidFill>
                <a:latin typeface="Helvetica Neue"/>
                <a:ea typeface="Helvetica Neue"/>
                <a:cs typeface="Helvetica Neue"/>
              </a:rPr>
              <a:t>User preference: 3 of 9 matched wins</a:t>
            </a:r>
          </a:p>
        </p:txBody>
      </p:sp>
      <p:sp>
        <p:nvSpPr>
          <p:cNvPr id="5" name="text-75">
            <a:extLst xmlns:a="http://schemas.openxmlformats.org/drawingml/2006/main">
              <a:ext uri="{FF2B5EF4-FFF2-40B4-BE49-F238E27FC236}">
                <a16:creationId xmlns:a16="http://schemas.microsoft.com/office/drawing/2014/main" id="{FECB7C79-71AC-406E-AB90-02A607A14E04}"/>
              </a:ext>
            </a:extLst>
          </p:cNvPr>
          <p:cNvSpPr>
            <a:spLocks xmlns:a="http://schemas.openxmlformats.org/drawingml/2006/main" noGrp="1"/>
          </p:cNvSpPr>
          <p:nvPr/>
        </p:nvSpPr>
        <p:spPr>
          <a:xfrm xmlns:a="http://schemas.openxmlformats.org/drawingml/2006/main">
            <a:off x="647700" y="440055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43C"/>
                </a:solidFill>
                <a:latin typeface="Helvetica Neue"/>
                <a:ea typeface="Helvetica Neue"/>
                <a:cs typeface="Helvetica Neue"/>
              </a:defRPr>
            </a:defPPr>
            <a:lvl1pPr>
              <a:defRPr sz="2175" b="0">
                <a:solidFill>
                  <a:srgbClr val="17243C"/>
                </a:solidFill>
                <a:latin typeface="Helvetica Neue"/>
                <a:ea typeface="Helvetica Neue"/>
                <a:cs typeface="Helvetica Neue"/>
              </a:defRPr>
            </a:lvl1pPr>
            <a:lvl2pPr>
              <a:defRPr sz="2175" b="0">
                <a:solidFill>
                  <a:srgbClr val="17243C"/>
                </a:solidFill>
                <a:latin typeface="Helvetica Neue"/>
                <a:ea typeface="Helvetica Neue"/>
                <a:cs typeface="Helvetica Neue"/>
              </a:defRPr>
            </a:lvl2pPr>
            <a:lvl3pPr>
              <a:defRPr sz="2175" b="0">
                <a:solidFill>
                  <a:srgbClr val="17243C"/>
                </a:solidFill>
                <a:latin typeface="Helvetica Neue"/>
                <a:ea typeface="Helvetica Neue"/>
                <a:cs typeface="Helvetica Neue"/>
              </a:defRPr>
            </a:lvl3pPr>
            <a:lvl4pPr>
              <a:defRPr sz="2175" b="0">
                <a:solidFill>
                  <a:srgbClr val="17243C"/>
                </a:solidFill>
                <a:latin typeface="Helvetica Neue"/>
                <a:ea typeface="Helvetica Neue"/>
                <a:cs typeface="Helvetica Neue"/>
              </a:defRPr>
            </a:lvl4pPr>
            <a:lvl5pPr>
              <a:defRPr sz="2175" b="0">
                <a:solidFill>
                  <a:srgbClr val="17243C"/>
                </a:solidFill>
                <a:latin typeface="Helvetica Neue"/>
                <a:ea typeface="Helvetica Neue"/>
                <a:cs typeface="Helvetica Neue"/>
              </a:defRPr>
            </a:lvl5pPr>
            <a:lvl6pPr>
              <a:defRPr sz="2175" b="0">
                <a:solidFill>
                  <a:srgbClr val="17243C"/>
                </a:solidFill>
                <a:latin typeface="Helvetica Neue"/>
                <a:ea typeface="Helvetica Neue"/>
                <a:cs typeface="Helvetica Neue"/>
              </a:defRPr>
            </a:lvl6pPr>
            <a:lvl7pPr>
              <a:defRPr sz="2175" b="0">
                <a:solidFill>
                  <a:srgbClr val="17243C"/>
                </a:solidFill>
                <a:latin typeface="Helvetica Neue"/>
                <a:ea typeface="Helvetica Neue"/>
                <a:cs typeface="Helvetica Neue"/>
              </a:defRPr>
            </a:lvl7pPr>
            <a:lvl8pPr>
              <a:defRPr sz="2175" b="0">
                <a:solidFill>
                  <a:srgbClr val="17243C"/>
                </a:solidFill>
                <a:latin typeface="Helvetica Neue"/>
                <a:ea typeface="Helvetica Neue"/>
                <a:cs typeface="Helvetica Neue"/>
              </a:defRPr>
            </a:lvl8pPr>
            <a:lvl9pPr>
              <a:defRPr sz="2175" b="0">
                <a:solidFill>
                  <a:srgbClr val="17243C"/>
                </a:solidFill>
                <a:latin typeface="Helvetica Neue"/>
                <a:ea typeface="Helvetica Neue"/>
                <a:cs typeface="Helvetica Neue"/>
              </a:defRPr>
            </a:lvl9pPr>
          </a:lstStyle>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The interface makes the trained models inspectable and usable.</a:t>
            </a:r>
          </a:p>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Examples from text requests remain exploratory, with no relevance labels.</a:t>
            </a:r>
          </a:p>
        </p:txBody>
      </p:sp>
      <p:sp>
        <p:nvSpPr>
          <p:cNvPr id="6" name="text-76">
            <a:extLst xmlns:a="http://schemas.openxmlformats.org/drawingml/2006/main">
              <a:ext uri="{FF2B5EF4-FFF2-40B4-BE49-F238E27FC236}">
                <a16:creationId xmlns:a16="http://schemas.microsoft.com/office/drawing/2014/main" id="{1C29BD30-EF13-4D0C-B13F-35DFE9D3DE97}"/>
              </a:ext>
            </a:extLst>
          </p:cNvPr>
          <p:cNvSpPr>
            <a:spLocks xmlns:a="http://schemas.openxmlformats.org/drawingml/2006/main" noGrp="1"/>
          </p:cNvSpPr>
          <p:nvPr/>
        </p:nvSpPr>
        <p:spPr>
          <a:xfrm xmlns:a="http://schemas.openxmlformats.org/drawingml/2006/main">
            <a:off x="647700" y="56007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86C7C"/>
                </a:solidFill>
                <a:latin typeface="Helvetica Neue"/>
                <a:ea typeface="Helvetica Neue"/>
                <a:cs typeface="Helvetica Neue"/>
              </a:defRPr>
            </a:defPPr>
            <a:lvl1pPr>
              <a:defRPr sz="1950" b="0">
                <a:solidFill>
                  <a:srgbClr val="586C7C"/>
                </a:solidFill>
                <a:latin typeface="Helvetica Neue"/>
                <a:ea typeface="Helvetica Neue"/>
                <a:cs typeface="Helvetica Neue"/>
              </a:defRPr>
            </a:lvl1pPr>
            <a:lvl2pPr>
              <a:defRPr sz="1950" b="0">
                <a:solidFill>
                  <a:srgbClr val="586C7C"/>
                </a:solidFill>
                <a:latin typeface="Helvetica Neue"/>
                <a:ea typeface="Helvetica Neue"/>
                <a:cs typeface="Helvetica Neue"/>
              </a:defRPr>
            </a:lvl2pPr>
            <a:lvl3pPr>
              <a:defRPr sz="1950" b="0">
                <a:solidFill>
                  <a:srgbClr val="586C7C"/>
                </a:solidFill>
                <a:latin typeface="Helvetica Neue"/>
                <a:ea typeface="Helvetica Neue"/>
                <a:cs typeface="Helvetica Neue"/>
              </a:defRPr>
            </a:lvl3pPr>
            <a:lvl4pPr>
              <a:defRPr sz="1950" b="0">
                <a:solidFill>
                  <a:srgbClr val="586C7C"/>
                </a:solidFill>
                <a:latin typeface="Helvetica Neue"/>
                <a:ea typeface="Helvetica Neue"/>
                <a:cs typeface="Helvetica Neue"/>
              </a:defRPr>
            </a:lvl4pPr>
            <a:lvl5pPr>
              <a:defRPr sz="1950" b="0">
                <a:solidFill>
                  <a:srgbClr val="586C7C"/>
                </a:solidFill>
                <a:latin typeface="Helvetica Neue"/>
                <a:ea typeface="Helvetica Neue"/>
                <a:cs typeface="Helvetica Neue"/>
              </a:defRPr>
            </a:lvl5pPr>
            <a:lvl6pPr>
              <a:defRPr sz="1950" b="0">
                <a:solidFill>
                  <a:srgbClr val="586C7C"/>
                </a:solidFill>
                <a:latin typeface="Helvetica Neue"/>
                <a:ea typeface="Helvetica Neue"/>
                <a:cs typeface="Helvetica Neue"/>
              </a:defRPr>
            </a:lvl6pPr>
            <a:lvl7pPr>
              <a:defRPr sz="1950" b="0">
                <a:solidFill>
                  <a:srgbClr val="586C7C"/>
                </a:solidFill>
                <a:latin typeface="Helvetica Neue"/>
                <a:ea typeface="Helvetica Neue"/>
                <a:cs typeface="Helvetica Neue"/>
              </a:defRPr>
            </a:lvl7pPr>
            <a:lvl8pPr>
              <a:defRPr sz="1950" b="0">
                <a:solidFill>
                  <a:srgbClr val="586C7C"/>
                </a:solidFill>
                <a:latin typeface="Helvetica Neue"/>
                <a:ea typeface="Helvetica Neue"/>
                <a:cs typeface="Helvetica Neue"/>
              </a:defRPr>
            </a:lvl8pPr>
            <a:lvl9pPr>
              <a:defRPr sz="1950" b="0">
                <a:solidFill>
                  <a:srgbClr val="586C7C"/>
                </a:solidFill>
                <a:latin typeface="Helvetica Neue"/>
                <a:ea typeface="Helvetica Neue"/>
                <a:cs typeface="Helvetica Neue"/>
              </a:defRPr>
            </a:lvl9pPr>
          </a:lstStyle>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One Amazon source. Static metadata. Three seeds.</a:t>
            </a:r>
          </a:p>
          <a:p xmlns:a="http://schemas.openxmlformats.org/drawingml/2006/main">
            <a:pPr>
              <a:defRPr sz="1950" b="0">
                <a:solidFill>
                  <a:srgbClr val="586C7C"/>
                </a:solidFill>
                <a:latin typeface="Helvetica Neue"/>
                <a:ea typeface="Helvetica Neue"/>
                <a:cs typeface="Helvetica Neue"/>
              </a:defRPr>
            </a:pPr>
            <a:r>
              <a:rPr sz="1950" b="0">
                <a:solidFill>
                  <a:srgbClr val="586C7C"/>
                </a:solidFill>
                <a:latin typeface="Helvetica Neue"/>
                <a:ea typeface="Helvetica Neue"/>
                <a:cs typeface="Helvetica Neue"/>
              </a:rPr>
              <a:t>No online conversion, causal explanation or broad cold-start claim.</a:t>
            </a:r>
          </a:p>
        </p:txBody>
      </p:sp>
    </p:spTree>
    <p:extLst>
      <p:ext uri="{BB962C8B-B14F-4D97-AF65-F5344CB8AC3E}">
        <p14:creationId xmlns:p14="http://schemas.microsoft.com/office/powerpoint/2010/main" val="1484197532"/>
      </p:ext>
    </p:extLst>
  </p:cSld>
</p:sld>
</file>

<file path=ppt/slides/slide1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77">
            <a:extLst xmlns:a="http://schemas.openxmlformats.org/drawingml/2006/main">
              <a:ext uri="{FF2B5EF4-FFF2-40B4-BE49-F238E27FC236}">
                <a16:creationId xmlns:a16="http://schemas.microsoft.com/office/drawing/2014/main" id="{9182EA10-47C9-4C95-A4D7-180C801DB52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1. Formal NDCG@10 detail</a:t>
            </a:r>
          </a:p>
        </p:txBody>
      </p:sp>
      <p:sp>
        <p:nvSpPr>
          <p:cNvPr id="2" name="text-78">
            <a:extLst xmlns:a="http://schemas.openxmlformats.org/drawingml/2006/main">
              <a:ext uri="{FF2B5EF4-FFF2-40B4-BE49-F238E27FC236}">
                <a16:creationId xmlns:a16="http://schemas.microsoft.com/office/drawing/2014/main" id="{51D18F61-5DF8-4FC8-AB04-70CEB9007FD9}"/>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Mean ± sample standard deviation. Three complete pipeline seeds per cell.</a:t>
            </a:r>
          </a:p>
        </p:txBody>
      </p:sp>
      <p:sp>
        <p:nvSpPr>
          <p:cNvPr id="3" name="text-79">
            <a:extLst xmlns:a="http://schemas.openxmlformats.org/drawingml/2006/main">
              <a:ext uri="{FF2B5EF4-FFF2-40B4-BE49-F238E27FC236}">
                <a16:creationId xmlns:a16="http://schemas.microsoft.com/office/drawing/2014/main" id="{F134A804-D3E9-4508-BCC5-3675DEF7C9BF}"/>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19</a:t>
            </a:r>
          </a:p>
        </p:txBody>
      </p:sp>
      <p:graphicFrame>
        <p:nvGraphicFramePr>
          <p:cNvPr id="4" name="">
            <a:extLst xmlns:a="http://schemas.openxmlformats.org/drawingml/2006/main">
              <a:ext uri="{FF2B5EF4-FFF2-40B4-BE49-F238E27FC236}">
                <a16:creationId xmlns:a16="http://schemas.microsoft.com/office/drawing/2014/main" id="{C7D518EE-528B-4DDF-8623-D78D85B1F9FB}"/>
              </a:ext>
            </a:extLst>
          </p:cNvPr>
          <p:cNvGraphicFramePr/>
          <p:nvPr/>
        </p:nvGraphicFramePr>
        <p:xfrm>
          <a:off xmlns:a="http://schemas.openxmlformats.org/drawingml/2006/main" x="609600" y="1809750"/>
          <a:ext xmlns:a="http://schemas.openxmlformats.org/drawingml/2006/main" cx="10972800" cy="2590800"/>
        </p:xfrm>
        <a:graphic xmlns:a="http://schemas.openxmlformats.org/drawingml/2006/main">
          <a:graphicData uri="http://schemas.openxmlformats.org/drawingml/2006/table">
            <a:tbl>
              <a:tblPr firstRow="1" bandRow="0"/>
              <a:tblGrid>
                <a:gridCol w="2171700"/>
                <a:gridCol w="2933700"/>
                <a:gridCol w="2933700"/>
                <a:gridCol w="2933700"/>
              </a:tblGrid>
              <a:tr h="647700">
                <a:tc>
                  <a:txBody>
                    <a:bodyPr/>
                    <a:lstStyle/>
                    <a:p>
                      <a:r>
                        <a:rPr sz="1800" b="1">
                          <a:solidFill>
                            <a:srgbClr val="FFFFFF"/>
                          </a:solidFill>
                          <a:latin typeface="Helvetica Neue"/>
                          <a:ea typeface="Helvetica Neue"/>
                          <a:cs typeface="Helvetica Neue"/>
                        </a:rPr>
                        <a:t>Domain</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Frozen</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Semantic</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Preference</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647700">
                <a:tc>
                  <a:txBody>
                    <a:bodyPr/>
                    <a:lstStyle/>
                    <a:p>
                      <a:r>
                        <a:rPr sz="1800">
                          <a:solidFill>
                            <a:srgbClr val="17243C"/>
                          </a:solidFill>
                          <a:latin typeface="Helvetica Neue"/>
                          <a:ea typeface="Helvetica Neue"/>
                          <a:cs typeface="Helvetica Neue"/>
                        </a:rPr>
                        <a:t>Baby</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0.012796 ± 0.000959</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0.009930 ± 0.000728</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0.012475 ± 0.000849</a:t>
                      </a:r>
                    </a:p>
                  </a:txBody>
                  <a:tcPr marL="142875" marR="104775" marT="95250" marB="85725">
                    <a:lnR w="9525">
                      <a:solidFill>
                        <a:srgbClr val="DCE5E8"/>
                      </a:solidFill>
                      <a:prstDash val="solid"/>
                    </a:lnR>
                    <a:lnB w="9525">
                      <a:solidFill>
                        <a:srgbClr val="DCE5E8"/>
                      </a:solidFill>
                      <a:prstDash val="solid"/>
                    </a:lnB>
                    <a:solidFill>
                      <a:srgbClr val="FFFFFF"/>
                    </a:solidFill>
                  </a:tcPr>
                </a:tc>
              </a:tr>
              <a:tr h="647700">
                <a:tc>
                  <a:txBody>
                    <a:bodyPr/>
                    <a:lstStyle/>
                    <a:p>
                      <a:r>
                        <a:rPr sz="1800">
                          <a:solidFill>
                            <a:srgbClr val="17243C"/>
                          </a:solidFill>
                          <a:latin typeface="Helvetica Neue"/>
                          <a:ea typeface="Helvetica Neue"/>
                          <a:cs typeface="Helvetica Neue"/>
                        </a:rPr>
                        <a:t>Sports</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0.007116 ± 0.000684</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0.006872 ± 0.000613</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0.007039 ± 0.000584</a:t>
                      </a:r>
                    </a:p>
                  </a:txBody>
                  <a:tcPr marL="142875" marR="104775" marT="95250" marB="85725">
                    <a:lnR w="9525">
                      <a:solidFill>
                        <a:srgbClr val="DCE5E8"/>
                      </a:solidFill>
                      <a:prstDash val="solid"/>
                    </a:lnR>
                    <a:lnB w="9525">
                      <a:solidFill>
                        <a:srgbClr val="DCE5E8"/>
                      </a:solidFill>
                      <a:prstDash val="solid"/>
                    </a:lnB>
                    <a:solidFill>
                      <a:srgbClr val="FFFFFF"/>
                    </a:solidFill>
                  </a:tcPr>
                </a:tc>
              </a:tr>
              <a:tr h="647700">
                <a:tc>
                  <a:txBody>
                    <a:bodyPr/>
                    <a:lstStyle/>
                    <a:p>
                      <a:r>
                        <a:rPr sz="1800">
                          <a:solidFill>
                            <a:srgbClr val="17243C"/>
                          </a:solidFill>
                          <a:latin typeface="Helvetica Neue"/>
                          <a:ea typeface="Helvetica Neue"/>
                          <a:cs typeface="Helvetica Neue"/>
                        </a:rPr>
                        <a:t>Clothing</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0.005186 ± 0.000562</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0.004460 ± 0.000384</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0.005124 ± 0.000463</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5" name="text-80">
            <a:extLst xmlns:a="http://schemas.openxmlformats.org/drawingml/2006/main">
              <a:ext uri="{FF2B5EF4-FFF2-40B4-BE49-F238E27FC236}">
                <a16:creationId xmlns:a16="http://schemas.microsoft.com/office/drawing/2014/main" id="{766473A1-BDE3-4E19-9348-80C389E6DB6D}"/>
              </a:ext>
            </a:extLst>
          </p:cNvPr>
          <p:cNvSpPr>
            <a:spLocks xmlns:a="http://schemas.openxmlformats.org/drawingml/2006/main" noGrp="1"/>
          </p:cNvSpPr>
          <p:nvPr/>
        </p:nvSpPr>
        <p:spPr>
          <a:xfrm xmlns:a="http://schemas.openxmlformats.org/drawingml/2006/main">
            <a:off x="647700" y="47720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43C"/>
                </a:solidFill>
                <a:latin typeface="Helvetica Neue"/>
                <a:ea typeface="Helvetica Neue"/>
                <a:cs typeface="Helvetica Neue"/>
              </a:defRPr>
            </a:defPPr>
            <a:lvl1pPr>
              <a:defRPr sz="2250" b="1">
                <a:solidFill>
                  <a:srgbClr val="17243C"/>
                </a:solidFill>
                <a:latin typeface="Helvetica Neue"/>
                <a:ea typeface="Helvetica Neue"/>
                <a:cs typeface="Helvetica Neue"/>
              </a:defRPr>
            </a:lvl1pPr>
            <a:lvl2pPr>
              <a:defRPr sz="2250" b="1">
                <a:solidFill>
                  <a:srgbClr val="17243C"/>
                </a:solidFill>
                <a:latin typeface="Helvetica Neue"/>
                <a:ea typeface="Helvetica Neue"/>
                <a:cs typeface="Helvetica Neue"/>
              </a:defRPr>
            </a:lvl2pPr>
            <a:lvl3pPr>
              <a:defRPr sz="2250" b="1">
                <a:solidFill>
                  <a:srgbClr val="17243C"/>
                </a:solidFill>
                <a:latin typeface="Helvetica Neue"/>
                <a:ea typeface="Helvetica Neue"/>
                <a:cs typeface="Helvetica Neue"/>
              </a:defRPr>
            </a:lvl3pPr>
            <a:lvl4pPr>
              <a:defRPr sz="2250" b="1">
                <a:solidFill>
                  <a:srgbClr val="17243C"/>
                </a:solidFill>
                <a:latin typeface="Helvetica Neue"/>
                <a:ea typeface="Helvetica Neue"/>
                <a:cs typeface="Helvetica Neue"/>
              </a:defRPr>
            </a:lvl4pPr>
            <a:lvl5pPr>
              <a:defRPr sz="2250" b="1">
                <a:solidFill>
                  <a:srgbClr val="17243C"/>
                </a:solidFill>
                <a:latin typeface="Helvetica Neue"/>
                <a:ea typeface="Helvetica Neue"/>
                <a:cs typeface="Helvetica Neue"/>
              </a:defRPr>
            </a:lvl5pPr>
            <a:lvl6pPr>
              <a:defRPr sz="2250" b="1">
                <a:solidFill>
                  <a:srgbClr val="17243C"/>
                </a:solidFill>
                <a:latin typeface="Helvetica Neue"/>
                <a:ea typeface="Helvetica Neue"/>
                <a:cs typeface="Helvetica Neue"/>
              </a:defRPr>
            </a:lvl6pPr>
            <a:lvl7pPr>
              <a:defRPr sz="2250" b="1">
                <a:solidFill>
                  <a:srgbClr val="17243C"/>
                </a:solidFill>
                <a:latin typeface="Helvetica Neue"/>
                <a:ea typeface="Helvetica Neue"/>
                <a:cs typeface="Helvetica Neue"/>
              </a:defRPr>
            </a:lvl7pPr>
            <a:lvl8pPr>
              <a:defRPr sz="2250" b="1">
                <a:solidFill>
                  <a:srgbClr val="17243C"/>
                </a:solidFill>
                <a:latin typeface="Helvetica Neue"/>
                <a:ea typeface="Helvetica Neue"/>
                <a:cs typeface="Helvetica Neue"/>
              </a:defRPr>
            </a:lvl8pPr>
            <a:lvl9pPr>
              <a:defRPr sz="2250" b="1">
                <a:solidFill>
                  <a:srgbClr val="17243C"/>
                </a:solidFill>
                <a:latin typeface="Helvetica Neue"/>
                <a:ea typeface="Helvetica Neue"/>
                <a:cs typeface="Helvetica Neue"/>
              </a:defRPr>
            </a:lvl9pPr>
          </a:lstStyle>
          <a:p xmlns:a="http://schemas.openxmlformats.org/drawingml/2006/main">
            <a:pPr>
              <a:defRPr sz="2250" b="1">
                <a:solidFill>
                  <a:srgbClr val="17243C"/>
                </a:solidFill>
                <a:latin typeface="Helvetica Neue"/>
                <a:ea typeface="Helvetica Neue"/>
                <a:cs typeface="Helvetica Neue"/>
              </a:defRPr>
            </a:pPr>
            <a:r>
              <a:rPr sz="2250" b="1">
                <a:solidFill>
                  <a:srgbClr val="17243C"/>
                </a:solidFill>
                <a:latin typeface="Helvetica Neue"/>
                <a:ea typeface="Helvetica Neue"/>
                <a:cs typeface="Helvetica Neue"/>
              </a:rPr>
              <a:t>Matched wins versus Frozen</a:t>
            </a:r>
          </a:p>
        </p:txBody>
      </p:sp>
      <p:sp>
        <p:nvSpPr>
          <p:cNvPr id="6" name="text-81">
            <a:extLst xmlns:a="http://schemas.openxmlformats.org/drawingml/2006/main">
              <a:ext uri="{FF2B5EF4-FFF2-40B4-BE49-F238E27FC236}">
                <a16:creationId xmlns:a16="http://schemas.microsoft.com/office/drawing/2014/main" id="{48421492-2127-4EEF-8FE0-969414EEABB3}"/>
              </a:ext>
            </a:extLst>
          </p:cNvPr>
          <p:cNvSpPr>
            <a:spLocks xmlns:a="http://schemas.openxmlformats.org/drawingml/2006/main" noGrp="1"/>
          </p:cNvSpPr>
          <p:nvPr/>
        </p:nvSpPr>
        <p:spPr>
          <a:xfrm xmlns:a="http://schemas.openxmlformats.org/drawingml/2006/main">
            <a:off x="647700" y="53340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Baby: semantic 0/3, preference 1/3</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Sports: semantic 2/3, preference 1/3</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Clothing: semantic 0/3, preference 1/3</a:t>
            </a:r>
          </a:p>
        </p:txBody>
      </p:sp>
    </p:spTree>
    <p:extLst>
      <p:ext uri="{BB962C8B-B14F-4D97-AF65-F5344CB8AC3E}">
        <p14:creationId xmlns:p14="http://schemas.microsoft.com/office/powerpoint/2010/main" val="1238584292"/>
      </p:ext>
    </p:extLst>
  </p:cSld>
</p:sld>
</file>

<file path=ppt/slides/slide2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text-82">
            <a:extLst xmlns:a="http://schemas.openxmlformats.org/drawingml/2006/main">
              <a:ext uri="{FF2B5EF4-FFF2-40B4-BE49-F238E27FC236}">
                <a16:creationId xmlns:a16="http://schemas.microsoft.com/office/drawing/2014/main" id="{230C9BD9-278A-4223-9450-275CB373ECC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2. Sparse items and numerical scope</a:t>
            </a:r>
          </a:p>
        </p:txBody>
      </p:sp>
      <p:sp>
        <p:nvSpPr>
          <p:cNvPr id="2" name="text-83">
            <a:extLst xmlns:a="http://schemas.openxmlformats.org/drawingml/2006/main">
              <a:ext uri="{FF2B5EF4-FFF2-40B4-BE49-F238E27FC236}">
                <a16:creationId xmlns:a16="http://schemas.microsoft.com/office/drawing/2014/main" id="{12AE2C03-CBFC-434E-9E23-7948983876F2}"/>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Mean user-macro NDCG@10 across three seeds.</a:t>
            </a:r>
          </a:p>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Targets with at most five distinct training-positive users, including zero.</a:t>
            </a:r>
          </a:p>
        </p:txBody>
      </p:sp>
      <p:sp>
        <p:nvSpPr>
          <p:cNvPr id="3" name="text-84">
            <a:extLst xmlns:a="http://schemas.openxmlformats.org/drawingml/2006/main">
              <a:ext uri="{FF2B5EF4-FFF2-40B4-BE49-F238E27FC236}">
                <a16:creationId xmlns:a16="http://schemas.microsoft.com/office/drawing/2014/main" id="{E48A6B7E-1ABF-40EC-A5C4-4302CBE95CFD}"/>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20</a:t>
            </a:r>
          </a:p>
        </p:txBody>
      </p:sp>
      <p:graphicFrame>
        <p:nvGraphicFramePr>
          <p:cNvPr id="4" name="Chart">
            <a:extLst xmlns:a="http://schemas.openxmlformats.org/drawingml/2006/main">
              <a:ext uri="{FF2B5EF4-FFF2-40B4-BE49-F238E27FC236}">
                <a16:creationId xmlns:a16="http://schemas.microsoft.com/office/drawing/2014/main" id="{B9B12B11-DC69-4351-9221-55C562520DAC}"/>
              </a:ext>
            </a:extLst>
          </p:cNvPr>
          <p:cNvGraphicFramePr/>
          <p:nvPr/>
        </p:nvGraphicFramePr>
        <p:xfrm>
          <a:off xmlns:a="http://schemas.openxmlformats.org/drawingml/2006/main" x="609600" y="1733550"/>
          <a:ext xmlns:a="http://schemas.openxmlformats.org/drawingml/2006/main" cx="10972800" cy="3143250"/>
        </p:xfrm>
        <a:graphic xmlns:a="http://schemas.openxmlformats.org/drawingml/2006/main">
          <a:graphicData uri="http://schemas.openxmlformats.org/drawingml/2006/chart">
            <c:chart xmlns:r="http://schemas.openxmlformats.org/officeDocument/2006/relationships" xmlns:c="http://schemas.openxmlformats.org/drawingml/2006/chart" r:id="Rd7b74bba829a4861"/>
          </a:graphicData>
        </a:graphic>
      </p:graphicFrame>
      <p:sp>
        <p:nvSpPr>
          <p:cNvPr id="5" name="text-85">
            <a:extLst xmlns:a="http://schemas.openxmlformats.org/drawingml/2006/main">
              <a:ext uri="{FF2B5EF4-FFF2-40B4-BE49-F238E27FC236}">
                <a16:creationId xmlns:a16="http://schemas.microsoft.com/office/drawing/2014/main" id="{03810CAB-41B9-4B92-9641-82F5D5D4EE27}"/>
              </a:ext>
            </a:extLst>
          </p:cNvPr>
          <p:cNvSpPr>
            <a:spLocks xmlns:a="http://schemas.openxmlformats.org/drawingml/2006/main" noGrp="1"/>
          </p:cNvSpPr>
          <p:nvPr/>
        </p:nvSpPr>
        <p:spPr>
          <a:xfrm xmlns:a="http://schemas.openxmlformats.org/drawingml/2006/main">
            <a:off x="647700" y="5200650"/>
            <a:ext cx="1080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43C"/>
                </a:solidFill>
                <a:latin typeface="Helvetica Neue"/>
                <a:ea typeface="Helvetica Neue"/>
                <a:cs typeface="Helvetica Neue"/>
              </a:defRPr>
            </a:defPPr>
            <a:lvl1pPr>
              <a:defRPr sz="1950" b="1">
                <a:solidFill>
                  <a:srgbClr val="17243C"/>
                </a:solidFill>
                <a:latin typeface="Helvetica Neue"/>
                <a:ea typeface="Helvetica Neue"/>
                <a:cs typeface="Helvetica Neue"/>
              </a:defRPr>
            </a:lvl1pPr>
            <a:lvl2pPr>
              <a:defRPr sz="1950" b="1">
                <a:solidFill>
                  <a:srgbClr val="17243C"/>
                </a:solidFill>
                <a:latin typeface="Helvetica Neue"/>
                <a:ea typeface="Helvetica Neue"/>
                <a:cs typeface="Helvetica Neue"/>
              </a:defRPr>
            </a:lvl2pPr>
            <a:lvl3pPr>
              <a:defRPr sz="1950" b="1">
                <a:solidFill>
                  <a:srgbClr val="17243C"/>
                </a:solidFill>
                <a:latin typeface="Helvetica Neue"/>
                <a:ea typeface="Helvetica Neue"/>
                <a:cs typeface="Helvetica Neue"/>
              </a:defRPr>
            </a:lvl3pPr>
            <a:lvl4pPr>
              <a:defRPr sz="1950" b="1">
                <a:solidFill>
                  <a:srgbClr val="17243C"/>
                </a:solidFill>
                <a:latin typeface="Helvetica Neue"/>
                <a:ea typeface="Helvetica Neue"/>
                <a:cs typeface="Helvetica Neue"/>
              </a:defRPr>
            </a:lvl4pPr>
            <a:lvl5pPr>
              <a:defRPr sz="1950" b="1">
                <a:solidFill>
                  <a:srgbClr val="17243C"/>
                </a:solidFill>
                <a:latin typeface="Helvetica Neue"/>
                <a:ea typeface="Helvetica Neue"/>
                <a:cs typeface="Helvetica Neue"/>
              </a:defRPr>
            </a:lvl5pPr>
            <a:lvl6pPr>
              <a:defRPr sz="1950" b="1">
                <a:solidFill>
                  <a:srgbClr val="17243C"/>
                </a:solidFill>
                <a:latin typeface="Helvetica Neue"/>
                <a:ea typeface="Helvetica Neue"/>
                <a:cs typeface="Helvetica Neue"/>
              </a:defRPr>
            </a:lvl6pPr>
            <a:lvl7pPr>
              <a:defRPr sz="1950" b="1">
                <a:solidFill>
                  <a:srgbClr val="17243C"/>
                </a:solidFill>
                <a:latin typeface="Helvetica Neue"/>
                <a:ea typeface="Helvetica Neue"/>
                <a:cs typeface="Helvetica Neue"/>
              </a:defRPr>
            </a:lvl7pPr>
            <a:lvl8pPr>
              <a:defRPr sz="1950" b="1">
                <a:solidFill>
                  <a:srgbClr val="17243C"/>
                </a:solidFill>
                <a:latin typeface="Helvetica Neue"/>
                <a:ea typeface="Helvetica Neue"/>
                <a:cs typeface="Helvetica Neue"/>
              </a:defRPr>
            </a:lvl8pPr>
            <a:lvl9pPr>
              <a:defRPr sz="1950" b="1">
                <a:solidFill>
                  <a:srgbClr val="17243C"/>
                </a:solidFill>
                <a:latin typeface="Helvetica Neue"/>
                <a:ea typeface="Helvetica Neue"/>
                <a:cs typeface="Helvetica Neue"/>
              </a:defRPr>
            </a:lvl9pPr>
          </a:lstStyle>
          <a:p xmlns:a="http://schemas.openxmlformats.org/drawingml/2006/main">
            <a:pPr>
              <a:defRPr sz="1950" b="1">
                <a:solidFill>
                  <a:srgbClr val="17243C"/>
                </a:solidFill>
                <a:latin typeface="Helvetica Neue"/>
                <a:ea typeface="Helvetica Neue"/>
                <a:cs typeface="Helvetica Neue"/>
              </a:defRPr>
            </a:pPr>
            <a:r>
              <a:rPr sz="1950" b="1">
                <a:solidFill>
                  <a:srgbClr val="17243C"/>
                </a:solidFill>
                <a:latin typeface="Helvetica Neue"/>
                <a:ea typeface="Helvetica Neue"/>
                <a:cs typeface="Helvetica Neue"/>
              </a:rPr>
              <a:t>All Baby scores are zero. This cohort does not isolate strict cold start.</a:t>
            </a:r>
          </a:p>
        </p:txBody>
      </p:sp>
      <p:sp>
        <p:nvSpPr>
          <p:cNvPr id="6" name="text-86">
            <a:extLst xmlns:a="http://schemas.openxmlformats.org/drawingml/2006/main">
              <a:ext uri="{FF2B5EF4-FFF2-40B4-BE49-F238E27FC236}">
                <a16:creationId xmlns:a16="http://schemas.microsoft.com/office/drawing/2014/main" id="{E9036A89-CBB0-4A04-AF36-6B95496D256F}"/>
              </a:ext>
            </a:extLst>
          </p:cNvPr>
          <p:cNvSpPr>
            <a:spLocks xmlns:a="http://schemas.openxmlformats.org/drawingml/2006/main" noGrp="1"/>
          </p:cNvSpPr>
          <p:nvPr/>
        </p:nvSpPr>
        <p:spPr>
          <a:xfrm xmlns:a="http://schemas.openxmlformats.org/drawingml/2006/main">
            <a:off x="647700" y="58102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Clothing LoRA training used MATH SDPA after a reproduced gradient failure.</a:t>
            </a:r>
          </a:p>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Earlier completed runs kept automatic dispatch. Trajectories may differ.</a:t>
            </a:r>
          </a:p>
        </p:txBody>
      </p:sp>
    </p:spTree>
    <p:extLst>
      <p:ext uri="{BB962C8B-B14F-4D97-AF65-F5344CB8AC3E}">
        <p14:creationId xmlns:p14="http://schemas.microsoft.com/office/powerpoint/2010/main" val="402958099"/>
      </p:ext>
    </p:extLst>
  </p:cSld>
</p:sld>
</file>

<file path=ppt/slides/slide2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87">
            <a:extLst xmlns:a="http://schemas.openxmlformats.org/drawingml/2006/main">
              <a:ext uri="{FF2B5EF4-FFF2-40B4-BE49-F238E27FC236}">
                <a16:creationId xmlns:a16="http://schemas.microsoft.com/office/drawing/2014/main" id="{9F31D832-6124-4FED-B80E-5D5C66825367}"/>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3. Request retrieval and history evaluation</a:t>
            </a:r>
          </a:p>
        </p:txBody>
      </p:sp>
      <p:sp>
        <p:nvSpPr>
          <p:cNvPr id="2" name="text-88">
            <a:extLst xmlns:a="http://schemas.openxmlformats.org/drawingml/2006/main">
              <a:ext uri="{FF2B5EF4-FFF2-40B4-BE49-F238E27FC236}">
                <a16:creationId xmlns:a16="http://schemas.microsoft.com/office/drawing/2014/main" id="{901EB445-4C90-470D-A26F-EC08B4D8A2EA}"/>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21</a:t>
            </a:r>
          </a:p>
        </p:txBody>
      </p:sp>
      <p:graphicFrame>
        <p:nvGraphicFramePr>
          <p:cNvPr id="3" name="">
            <a:extLst xmlns:a="http://schemas.openxmlformats.org/drawingml/2006/main">
              <a:ext uri="{FF2B5EF4-FFF2-40B4-BE49-F238E27FC236}">
                <a16:creationId xmlns:a16="http://schemas.microsoft.com/office/drawing/2014/main" id="{0D7D9A9B-ED06-4E21-A789-77E6216B2CFC}"/>
              </a:ext>
            </a:extLst>
          </p:cNvPr>
          <p:cNvGraphicFramePr/>
          <p:nvPr/>
        </p:nvGraphicFramePr>
        <p:xfrm>
          <a:off xmlns:a="http://schemas.openxmlformats.org/drawingml/2006/main" x="609600" y="1647825"/>
          <a:ext xmlns:a="http://schemas.openxmlformats.org/drawingml/2006/main" cx="10972800" cy="3714750"/>
        </p:xfrm>
        <a:graphic xmlns:a="http://schemas.openxmlformats.org/drawingml/2006/main">
          <a:graphicData uri="http://schemas.openxmlformats.org/drawingml/2006/table">
            <a:tbl>
              <a:tblPr firstRow="1" bandRow="0"/>
              <a:tblGrid>
                <a:gridCol w="2171700"/>
                <a:gridCol w="4400550"/>
                <a:gridCol w="4400550"/>
              </a:tblGrid>
              <a:tr h="742950">
                <a:tc>
                  <a:txBody>
                    <a:bodyPr/>
                    <a:lstStyle/>
                    <a:p>
                      <a:r>
                        <a:rPr sz="1800" b="1">
                          <a:solidFill>
                            <a:srgbClr val="FFFFFF"/>
                          </a:solidFill>
                          <a:latin typeface="Helvetica Neue"/>
                          <a:ea typeface="Helvetica Neue"/>
                          <a:cs typeface="Helvetica Neue"/>
                        </a:rPr>
                        <a:t/>
                      </a:r>
                    </a:p>
                  </a:txBody>
                  <a:tcPr marL="142875" marR="104775" marT="95250" marB="85725">
                    <a:lnL w="9525">
                      <a:solidFill>
                        <a:srgbClr val="DCE5E8"/>
                      </a:solidFill>
                      <a:prstDash val="solid"/>
                    </a:lnL>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Formal history evaluation</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c>
                  <a:txBody>
                    <a:bodyPr/>
                    <a:lstStyle/>
                    <a:p>
                      <a:r>
                        <a:rPr sz="1800" b="1">
                          <a:solidFill>
                            <a:srgbClr val="FFFFFF"/>
                          </a:solidFill>
                          <a:latin typeface="Helvetica Neue"/>
                          <a:ea typeface="Helvetica Neue"/>
                          <a:cs typeface="Helvetica Neue"/>
                        </a:rPr>
                        <a:t>Shopping Studio</a:t>
                      </a:r>
                    </a:p>
                  </a:txBody>
                  <a:tcPr marL="142875" marR="104775" marT="95250" marB="85725">
                    <a:lnR w="9525">
                      <a:solidFill>
                        <a:srgbClr val="DCE5E8"/>
                      </a:solidFill>
                      <a:prstDash val="solid"/>
                    </a:lnR>
                    <a:lnT w="9525">
                      <a:solidFill>
                        <a:srgbClr val="DCE5E8"/>
                      </a:solidFill>
                      <a:prstDash val="solid"/>
                    </a:lnT>
                    <a:lnB w="9525">
                      <a:solidFill>
                        <a:srgbClr val="DCE5E8"/>
                      </a:solidFill>
                      <a:prstDash val="solid"/>
                    </a:lnB>
                    <a:solidFill>
                      <a:srgbClr val="17243C"/>
                    </a:solidFill>
                  </a:tcPr>
                </a:tc>
              </a:tr>
              <a:tr h="742950">
                <a:tc>
                  <a:txBody>
                    <a:bodyPr/>
                    <a:lstStyle/>
                    <a:p>
                      <a:r>
                        <a:rPr sz="1800">
                          <a:solidFill>
                            <a:srgbClr val="17243C"/>
                          </a:solidFill>
                          <a:latin typeface="Helvetica Neue"/>
                          <a:ea typeface="Helvetica Neue"/>
                          <a:cs typeface="Helvetica Neue"/>
                        </a:rPr>
                        <a:t>Input</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Earlier positive products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Text request, optional image</a:t>
                      </a:r>
                    </a:p>
                  </a:txBody>
                  <a:tcPr marL="142875" marR="104775" marT="95250" marB="85725">
                    <a:lnR w="9525">
                      <a:solidFill>
                        <a:srgbClr val="DCE5E8"/>
                      </a:solidFill>
                      <a:prstDash val="solid"/>
                    </a:lnR>
                    <a:lnB w="9525">
                      <a:solidFill>
                        <a:srgbClr val="DCE5E8"/>
                      </a:solidFill>
                      <a:prstDash val="solid"/>
                    </a:lnB>
                    <a:solidFill>
                      <a:srgbClr val="FFFFFF"/>
                    </a:solidFill>
                  </a:tcPr>
                </a:tc>
              </a:tr>
              <a:tr h="742950">
                <a:tc>
                  <a:txBody>
                    <a:bodyPr/>
                    <a:lstStyle/>
                    <a:p>
                      <a:r>
                        <a:rPr sz="1800">
                          <a:solidFill>
                            <a:srgbClr val="17243C"/>
                          </a:solidFill>
                          <a:latin typeface="Helvetica Neue"/>
                          <a:ea typeface="Helvetica Neue"/>
                          <a:cs typeface="Helvetica Neue"/>
                        </a:rPr>
                        <a:t>Candidate set</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Full eligible catalogue</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Text: Top 200 per model</a:t>
                      </a:r>
                    </a:p>
                    <a:p>
                      <a:r>
                        <a:rPr sz="1800">
                          <a:solidFill>
                            <a:srgbClr val="17243C"/>
                          </a:solidFill>
                          <a:latin typeface="Helvetica Neue"/>
                          <a:ea typeface="Helvetica Neue"/>
                          <a:cs typeface="Helvetica Neue"/>
                        </a:rPr>
                        <a:t>Image only: shared CLIP pool</a:t>
                      </a:r>
                    </a:p>
                  </a:txBody>
                  <a:tcPr marL="142875" marR="104775" marT="95250" marB="85725">
                    <a:lnR w="9525">
                      <a:solidFill>
                        <a:srgbClr val="DCE5E8"/>
                      </a:solidFill>
                      <a:prstDash val="solid"/>
                    </a:lnR>
                    <a:lnB w="9525">
                      <a:solidFill>
                        <a:srgbClr val="DCE5E8"/>
                      </a:solidFill>
                      <a:prstDash val="solid"/>
                    </a:lnB>
                    <a:solidFill>
                      <a:srgbClr val="FFFFFF"/>
                    </a:solidFill>
                  </a:tcPr>
                </a:tc>
              </a:tr>
              <a:tr h="742950">
                <a:tc>
                  <a:txBody>
                    <a:bodyPr/>
                    <a:lstStyle/>
                    <a:p>
                      <a:r>
                        <a:rPr sz="1800">
                          <a:solidFill>
                            <a:srgbClr val="17243C"/>
                          </a:solidFill>
                          <a:latin typeface="Helvetica Neue"/>
                          <a:ea typeface="Helvetica Neue"/>
                          <a:cs typeface="Helvetica Neue"/>
                        </a:rPr>
                        <a:t>Model selection</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Validation, seeds 42/43/44</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Selected seed42 exports</a:t>
                      </a:r>
                    </a:p>
                  </a:txBody>
                  <a:tcPr marL="142875" marR="104775" marT="95250" marB="85725">
                    <a:lnR w="9525">
                      <a:solidFill>
                        <a:srgbClr val="DCE5E8"/>
                      </a:solidFill>
                      <a:prstDash val="solid"/>
                    </a:lnR>
                    <a:lnB w="9525">
                      <a:solidFill>
                        <a:srgbClr val="DCE5E8"/>
                      </a:solidFill>
                      <a:prstDash val="solid"/>
                    </a:lnB>
                    <a:solidFill>
                      <a:srgbClr val="FFFFFF"/>
                    </a:solidFill>
                  </a:tcPr>
                </a:tc>
              </a:tr>
              <a:tr h="742950">
                <a:tc>
                  <a:txBody>
                    <a:bodyPr/>
                    <a:lstStyle/>
                    <a:p>
                      <a:r>
                        <a:rPr sz="1800">
                          <a:solidFill>
                            <a:srgbClr val="17243C"/>
                          </a:solidFill>
                          <a:latin typeface="Helvetica Neue"/>
                          <a:ea typeface="Helvetica Neue"/>
                          <a:cs typeface="Helvetica Neue"/>
                        </a:rPr>
                        <a:t>Meaning</a:t>
                      </a:r>
                    </a:p>
                  </a:txBody>
                  <a:tcPr marL="142875" marR="104775" marT="95250" marB="85725">
                    <a:lnL w="9525">
                      <a:solidFill>
                        <a:srgbClr val="DCE5E8"/>
                      </a:solidFill>
                      <a:prstDash val="solid"/>
                    </a:lnL>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Held-out user-macro metrics</a:t>
                      </a:r>
                    </a:p>
                  </a:txBody>
                  <a:tcPr marL="142875" marR="104775" marT="95250" marB="85725">
                    <a:lnR w="9525">
                      <a:solidFill>
                        <a:srgbClr val="DCE5E8"/>
                      </a:solidFill>
                      <a:prstDash val="solid"/>
                    </a:lnR>
                    <a:lnB w="9525">
                      <a:solidFill>
                        <a:srgbClr val="DCE5E8"/>
                      </a:solidFill>
                      <a:prstDash val="solid"/>
                    </a:lnB>
                    <a:solidFill>
                      <a:srgbClr val="FFFFFF"/>
                    </a:solidFill>
                  </a:tcPr>
                </a:tc>
                <a:tc>
                  <a:txBody>
                    <a:bodyPr/>
                    <a:lstStyle/>
                    <a:p>
                      <a:r>
                        <a:rPr sz="1800">
                          <a:solidFill>
                            <a:srgbClr val="17243C"/>
                          </a:solidFill>
                          <a:latin typeface="Helvetica Neue"/>
                          <a:ea typeface="Helvetica Neue"/>
                          <a:cs typeface="Helvetica Neue"/>
                        </a:rPr>
                        <a:t>Exploratory session ranking</a:t>
                      </a:r>
                    </a:p>
                  </a:txBody>
                  <a:tcPr marL="142875" marR="104775" marT="95250" marB="85725">
                    <a:lnR w="9525">
                      <a:solidFill>
                        <a:srgbClr val="DCE5E8"/>
                      </a:solidFill>
                      <a:prstDash val="solid"/>
                    </a:lnR>
                    <a:lnB w="9525">
                      <a:solidFill>
                        <a:srgbClr val="DCE5E8"/>
                      </a:solidFill>
                      <a:prstDash val="solid"/>
                    </a:lnB>
                    <a:solidFill>
                      <a:srgbClr val="FFFFFF"/>
                    </a:solidFill>
                  </a:tcPr>
                </a:tc>
              </a:tr>
            </a:tbl>
          </a:graphicData>
        </a:graphic>
      </p:graphicFrame>
      <p:sp>
        <p:nvSpPr>
          <p:cNvPr id="4" name="text-89">
            <a:extLst xmlns:a="http://schemas.openxmlformats.org/drawingml/2006/main">
              <a:ext uri="{FF2B5EF4-FFF2-40B4-BE49-F238E27FC236}">
                <a16:creationId xmlns:a16="http://schemas.microsoft.com/office/drawing/2014/main" id="{D907CFE0-C212-4D39-B31D-C4B352A85156}"/>
              </a:ext>
            </a:extLst>
          </p:cNvPr>
          <p:cNvSpPr>
            <a:spLocks xmlns:a="http://schemas.openxmlformats.org/drawingml/2006/main" noGrp="1"/>
          </p:cNvSpPr>
          <p:nvPr/>
        </p:nvSpPr>
        <p:spPr>
          <a:xfrm xmlns:a="http://schemas.openxmlformats.org/drawingml/2006/main">
            <a:off x="647700" y="5534025"/>
            <a:ext cx="10801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C7C"/>
                </a:solidFill>
                <a:latin typeface="Helvetica Neue"/>
                <a:ea typeface="Helvetica Neue"/>
                <a:cs typeface="Helvetica Neue"/>
              </a:defRPr>
            </a:defPPr>
            <a:lvl1pPr>
              <a:defRPr sz="2025" b="0">
                <a:solidFill>
                  <a:srgbClr val="586C7C"/>
                </a:solidFill>
                <a:latin typeface="Helvetica Neue"/>
                <a:ea typeface="Helvetica Neue"/>
                <a:cs typeface="Helvetica Neue"/>
              </a:defRPr>
            </a:lvl1pPr>
            <a:lvl2pPr>
              <a:defRPr sz="2025" b="0">
                <a:solidFill>
                  <a:srgbClr val="586C7C"/>
                </a:solidFill>
                <a:latin typeface="Helvetica Neue"/>
                <a:ea typeface="Helvetica Neue"/>
                <a:cs typeface="Helvetica Neue"/>
              </a:defRPr>
            </a:lvl2pPr>
            <a:lvl3pPr>
              <a:defRPr sz="2025" b="0">
                <a:solidFill>
                  <a:srgbClr val="586C7C"/>
                </a:solidFill>
                <a:latin typeface="Helvetica Neue"/>
                <a:ea typeface="Helvetica Neue"/>
                <a:cs typeface="Helvetica Neue"/>
              </a:defRPr>
            </a:lvl3pPr>
            <a:lvl4pPr>
              <a:defRPr sz="2025" b="0">
                <a:solidFill>
                  <a:srgbClr val="586C7C"/>
                </a:solidFill>
                <a:latin typeface="Helvetica Neue"/>
                <a:ea typeface="Helvetica Neue"/>
                <a:cs typeface="Helvetica Neue"/>
              </a:defRPr>
            </a:lvl4pPr>
            <a:lvl5pPr>
              <a:defRPr sz="2025" b="0">
                <a:solidFill>
                  <a:srgbClr val="586C7C"/>
                </a:solidFill>
                <a:latin typeface="Helvetica Neue"/>
                <a:ea typeface="Helvetica Neue"/>
                <a:cs typeface="Helvetica Neue"/>
              </a:defRPr>
            </a:lvl5pPr>
            <a:lvl6pPr>
              <a:defRPr sz="2025" b="0">
                <a:solidFill>
                  <a:srgbClr val="586C7C"/>
                </a:solidFill>
                <a:latin typeface="Helvetica Neue"/>
                <a:ea typeface="Helvetica Neue"/>
                <a:cs typeface="Helvetica Neue"/>
              </a:defRPr>
            </a:lvl6pPr>
            <a:lvl7pPr>
              <a:defRPr sz="2025" b="0">
                <a:solidFill>
                  <a:srgbClr val="586C7C"/>
                </a:solidFill>
                <a:latin typeface="Helvetica Neue"/>
                <a:ea typeface="Helvetica Neue"/>
                <a:cs typeface="Helvetica Neue"/>
              </a:defRPr>
            </a:lvl7pPr>
            <a:lvl8pPr>
              <a:defRPr sz="2025" b="0">
                <a:solidFill>
                  <a:srgbClr val="586C7C"/>
                </a:solidFill>
                <a:latin typeface="Helvetica Neue"/>
                <a:ea typeface="Helvetica Neue"/>
                <a:cs typeface="Helvetica Neue"/>
              </a:defRPr>
            </a:lvl8pPr>
            <a:lvl9pPr>
              <a:defRPr sz="2025" b="0">
                <a:solidFill>
                  <a:srgbClr val="586C7C"/>
                </a:solidFill>
                <a:latin typeface="Helvetica Neue"/>
                <a:ea typeface="Helvetica Neue"/>
                <a:cs typeface="Helvetica Neue"/>
              </a:defRPr>
            </a:lvl9pPr>
          </a:lstStyle>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Queries use the matching base or LoRA encoder. Images share fixed CLIP.</a:t>
            </a:r>
          </a:p>
          <a:p xmlns:a="http://schemas.openxmlformats.org/drawingml/2006/main">
            <a:pPr>
              <a:defRPr sz="2025" b="0">
                <a:solidFill>
                  <a:srgbClr val="586C7C"/>
                </a:solidFill>
                <a:latin typeface="Helvetica Neue"/>
                <a:ea typeface="Helvetica Neue"/>
                <a:cs typeface="Helvetica Neue"/>
              </a:defRPr>
            </a:pPr>
            <a:r>
              <a:rPr sz="2025" b="0">
                <a:solidFill>
                  <a:srgbClr val="586C7C"/>
                </a:solidFill>
                <a:latin typeface="Helvetica Neue"/>
                <a:ea typeface="Helvetica Neue"/>
                <a:cs typeface="Helvetica Neue"/>
              </a:rPr>
              <a:t>Positive feedback uses each model’s exported history tower and trained user head.</a:t>
            </a:r>
          </a:p>
        </p:txBody>
      </p:sp>
    </p:spTree>
    <p:extLst>
      <p:ext uri="{BB962C8B-B14F-4D97-AF65-F5344CB8AC3E}">
        <p14:creationId xmlns:p14="http://schemas.microsoft.com/office/powerpoint/2010/main" val="392460429"/>
      </p:ext>
    </p:extLst>
  </p:cSld>
</p:sld>
</file>

<file path=ppt/slides/slide2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text-90">
            <a:extLst xmlns:a="http://schemas.openxmlformats.org/drawingml/2006/main">
              <a:ext uri="{FF2B5EF4-FFF2-40B4-BE49-F238E27FC236}">
                <a16:creationId xmlns:a16="http://schemas.microsoft.com/office/drawing/2014/main" id="{BAF28D32-3370-4019-AC67-B945D9A8C3A9}"/>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4. Studio source evidence</a:t>
            </a:r>
          </a:p>
        </p:txBody>
      </p:sp>
      <p:sp>
        <p:nvSpPr>
          <p:cNvPr id="2" name="text-91">
            <a:extLst xmlns:a="http://schemas.openxmlformats.org/drawingml/2006/main">
              <a:ext uri="{FF2B5EF4-FFF2-40B4-BE49-F238E27FC236}">
                <a16:creationId xmlns:a16="http://schemas.microsoft.com/office/drawing/2014/main" id="{3E52FC72-21A5-4111-959E-CB80C116D529}"/>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Original catalogue fields and computed retrieval signals</a:t>
            </a:r>
          </a:p>
        </p:txBody>
      </p:sp>
      <p:sp>
        <p:nvSpPr>
          <p:cNvPr id="3" name="text-92">
            <a:extLst xmlns:a="http://schemas.openxmlformats.org/drawingml/2006/main">
              <a:ext uri="{FF2B5EF4-FFF2-40B4-BE49-F238E27FC236}">
                <a16:creationId xmlns:a16="http://schemas.microsoft.com/office/drawing/2014/main" id="{7ADED512-1A44-4BA8-AE74-AE494D731C9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22</a:t>
            </a:r>
          </a:p>
        </p:txBody>
      </p:sp>
      <p:pic>
        <p:nvPicPr>
          <p:cNvPr id="4" name="">
            <a:extLst xmlns:a="http://schemas.openxmlformats.org/drawingml/2006/main">
              <a:ext uri="{FF2B5EF4-FFF2-40B4-BE49-F238E27FC236}">
                <a16:creationId xmlns:a16="http://schemas.microsoft.com/office/drawing/2014/main" id="{9E98C8A9-AA3F-4F34-8ED1-D250FDD04B58}"/>
              </a:ext>
            </a:extLst>
          </p:cNvPr>
          <p:cNvPicPr>
            <a:picLocks xmlns:a="http://schemas.openxmlformats.org/drawingml/2006/main" noChangeAspect="1"/>
          </p:cNvPicPr>
          <p:nvPr/>
        </p:nvPicPr>
        <p:blipFill>
          <a:blip xmlns:r="http://schemas.openxmlformats.org/officeDocument/2006/relationships" xmlns:a="http://schemas.openxmlformats.org/drawingml/2006/main" r:embed="R76af7bc233434b67"/>
          <a:srcRect xmlns:a="http://schemas.openxmlformats.org/drawingml/2006/main" l="0" t="3000" r="0" b="38000"/>
          <a:stretch xmlns:a="http://schemas.openxmlformats.org/drawingml/2006/main"/>
        </p:blipFill>
        <p:spPr>
          <a:xfrm xmlns:a="http://schemas.openxmlformats.org/drawingml/2006/main">
            <a:off x="2072371" y="1485900"/>
            <a:ext cx="8047259" cy="4457700"/>
          </a:xfrm>
          <a:prstGeom xmlns:a="http://schemas.openxmlformats.org/drawingml/2006/main" prst="rect">
            <a:avLst/>
          </a:prstGeom>
        </p:spPr>
      </p:pic>
      <p:sp>
        <p:nvSpPr>
          <p:cNvPr id="5" name="text-93">
            <a:extLst xmlns:a="http://schemas.openxmlformats.org/drawingml/2006/main">
              <a:ext uri="{FF2B5EF4-FFF2-40B4-BE49-F238E27FC236}">
                <a16:creationId xmlns:a16="http://schemas.microsoft.com/office/drawing/2014/main" id="{FEF235D2-5862-4D89-961A-C4AD413C75E1}"/>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Cosines and within-catalogue percentiles are diagnostic signals, not probabilities or causal explanations.</a:t>
            </a:r>
          </a:p>
        </p:txBody>
      </p:sp>
    </p:spTree>
    <p:extLst>
      <p:ext uri="{BB962C8B-B14F-4D97-AF65-F5344CB8AC3E}">
        <p14:creationId xmlns:p14="http://schemas.microsoft.com/office/powerpoint/2010/main" val="2129783778"/>
      </p:ext>
    </p:extLst>
  </p:cSld>
</p:sld>
</file>

<file path=ppt/slides/slide2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94">
            <a:extLst xmlns:a="http://schemas.openxmlformats.org/drawingml/2006/main">
              <a:ext uri="{FF2B5EF4-FFF2-40B4-BE49-F238E27FC236}">
                <a16:creationId xmlns:a16="http://schemas.microsoft.com/office/drawing/2014/main" id="{2B653596-68B3-49AA-9D98-F819ED1CE3AC}"/>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5. Research recommendation evidence</a:t>
            </a:r>
          </a:p>
        </p:txBody>
      </p:sp>
      <p:sp>
        <p:nvSpPr>
          <p:cNvPr id="2" name="text-95">
            <a:extLst xmlns:a="http://schemas.openxmlformats.org/drawingml/2006/main">
              <a:ext uri="{FF2B5EF4-FFF2-40B4-BE49-F238E27FC236}">
                <a16:creationId xmlns:a16="http://schemas.microsoft.com/office/drawing/2014/main" id="{F24EE0C1-42D0-46F0-BF31-27E826FF5F62}"/>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23</a:t>
            </a:r>
          </a:p>
        </p:txBody>
      </p:sp>
      <p:pic>
        <p:nvPicPr>
          <p:cNvPr id="3" name="">
            <a:extLst xmlns:a="http://schemas.openxmlformats.org/drawingml/2006/main">
              <a:ext uri="{FF2B5EF4-FFF2-40B4-BE49-F238E27FC236}">
                <a16:creationId xmlns:a16="http://schemas.microsoft.com/office/drawing/2014/main" id="{104B4282-B7B6-4B93-A7A3-62B4E03F5FE9}"/>
              </a:ext>
            </a:extLst>
          </p:cNvPr>
          <p:cNvPicPr>
            <a:picLocks xmlns:a="http://schemas.openxmlformats.org/drawingml/2006/main" noChangeAspect="1"/>
          </p:cNvPicPr>
          <p:nvPr/>
        </p:nvPicPr>
        <p:blipFill>
          <a:blip xmlns:r="http://schemas.openxmlformats.org/officeDocument/2006/relationships" xmlns:a="http://schemas.openxmlformats.org/drawingml/2006/main" r:embed="R87fc7596b0224029"/>
          <a:srcRect xmlns:a="http://schemas.openxmlformats.org/drawingml/2006/main" l="1500" t="47000" r="1500" b="9500"/>
          <a:stretch xmlns:a="http://schemas.openxmlformats.org/drawingml/2006/main"/>
        </p:blipFill>
        <p:spPr>
          <a:xfrm xmlns:a="http://schemas.openxmlformats.org/drawingml/2006/main">
            <a:off x="802384" y="1485900"/>
            <a:ext cx="10587233" cy="4457700"/>
          </a:xfrm>
          <a:prstGeom xmlns:a="http://schemas.openxmlformats.org/drawingml/2006/main" prst="rect">
            <a:avLst/>
          </a:prstGeom>
        </p:spPr>
      </p:pic>
      <p:sp>
        <p:nvSpPr>
          <p:cNvPr id="4" name="text-96">
            <a:extLst xmlns:a="http://schemas.openxmlformats.org/drawingml/2006/main">
              <a:ext uri="{FF2B5EF4-FFF2-40B4-BE49-F238E27FC236}">
                <a16:creationId xmlns:a16="http://schemas.microsoft.com/office/drawing/2014/main" id="{5737699F-44CF-42DB-A78A-4C16FEA0640A}"/>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Original records support inspection. Similarity diagnostics do not explain the score causally.</a:t>
            </a:r>
          </a:p>
        </p:txBody>
      </p:sp>
    </p:spTree>
    <p:extLst>
      <p:ext uri="{BB962C8B-B14F-4D97-AF65-F5344CB8AC3E}">
        <p14:creationId xmlns:p14="http://schemas.microsoft.com/office/powerpoint/2010/main" val="1081342803"/>
      </p:ext>
    </p:extLst>
  </p:cSld>
</p:sld>
</file>

<file path=ppt/slides/slide2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97">
            <a:extLst xmlns:a="http://schemas.openxmlformats.org/drawingml/2006/main">
              <a:ext uri="{FF2B5EF4-FFF2-40B4-BE49-F238E27FC236}">
                <a16:creationId xmlns:a16="http://schemas.microsoft.com/office/drawing/2014/main" id="{357BBDF1-E174-4D4A-98F4-9DAB10FB28E1}"/>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6. Product lists from three models</a:t>
            </a:r>
          </a:p>
        </p:txBody>
      </p:sp>
      <p:sp>
        <p:nvSpPr>
          <p:cNvPr id="2" name="text-98">
            <a:extLst xmlns:a="http://schemas.openxmlformats.org/drawingml/2006/main">
              <a:ext uri="{FF2B5EF4-FFF2-40B4-BE49-F238E27FC236}">
                <a16:creationId xmlns:a16="http://schemas.microsoft.com/office/drawing/2014/main" id="{38122AAB-4882-4EF2-8E4D-F5600E79F8C2}"/>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24</a:t>
            </a:r>
          </a:p>
        </p:txBody>
      </p:sp>
      <p:pic>
        <p:nvPicPr>
          <p:cNvPr id="3" name="">
            <a:extLst xmlns:a="http://schemas.openxmlformats.org/drawingml/2006/main">
              <a:ext uri="{FF2B5EF4-FFF2-40B4-BE49-F238E27FC236}">
                <a16:creationId xmlns:a16="http://schemas.microsoft.com/office/drawing/2014/main" id="{BBCE460E-E1C4-4FB5-815E-5C471DD6ED05}"/>
              </a:ext>
            </a:extLst>
          </p:cNvPr>
          <p:cNvPicPr>
            <a:picLocks xmlns:a="http://schemas.openxmlformats.org/drawingml/2006/main" noChangeAspect="1"/>
          </p:cNvPicPr>
          <p:nvPr/>
        </p:nvPicPr>
        <p:blipFill>
          <a:blip xmlns:r="http://schemas.openxmlformats.org/officeDocument/2006/relationships" xmlns:a="http://schemas.openxmlformats.org/drawingml/2006/main" r:embed="Rab5ede6cc47f4092"/>
          <a:srcRect xmlns:a="http://schemas.openxmlformats.org/drawingml/2006/main" l="25000" t="45000" r="4000" b="500"/>
          <a:stretch xmlns:a="http://schemas.openxmlformats.org/drawingml/2006/main"/>
        </p:blipFill>
        <p:spPr>
          <a:xfrm xmlns:a="http://schemas.openxmlformats.org/drawingml/2006/main">
            <a:off x="1914759" y="1485900"/>
            <a:ext cx="8362482" cy="4457700"/>
          </a:xfrm>
          <a:prstGeom xmlns:a="http://schemas.openxmlformats.org/drawingml/2006/main" prst="rect">
            <a:avLst/>
          </a:prstGeom>
        </p:spPr>
      </p:pic>
      <p:sp>
        <p:nvSpPr>
          <p:cNvPr id="4" name="text-99">
            <a:extLst xmlns:a="http://schemas.openxmlformats.org/drawingml/2006/main">
              <a:ext uri="{FF2B5EF4-FFF2-40B4-BE49-F238E27FC236}">
                <a16:creationId xmlns:a16="http://schemas.microsoft.com/office/drawing/2014/main" id="{3B8EF3CE-56C8-4A9B-8509-7FDE4FCFA747}"/>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Baby has 7,037 products. Shown: each model’s first recommendation.</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Top 12 is a display subset. Three models do not mean three catalogue products.</a:t>
            </a:r>
          </a:p>
        </p:txBody>
      </p:sp>
      <p:sp>
        <p:nvSpPr>
          <p:cNvPr id="6" name="">
            <a:extLst xmlns:a="http://schemas.openxmlformats.org/drawingml/2006/main">
              <a:ext uri="{FF2B5EF4-FFF2-40B4-BE49-F238E27FC236}">
                <a16:creationId xmlns:a16="http://schemas.microsoft.com/office/drawing/2014/main" id="{638B83BF-78CE-45CF-9BDE-E14D9F2516A2}"/>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An earlier actual Baby request, with no positive feedback</a:t>
            </a:r>
          </a:p>
        </p:txBody>
      </p:sp>
    </p:spTree>
    <p:extLst>
      <p:ext uri="{BB962C8B-B14F-4D97-AF65-F5344CB8AC3E}">
        <p14:creationId xmlns:p14="http://schemas.microsoft.com/office/powerpoint/2010/main" val="1440073686"/>
      </p:ext>
    </p:extLst>
  </p:cSld>
</p:sld>
</file>

<file path=ppt/slides/slide2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5" name="text-100">
            <a:extLst xmlns:a="http://schemas.openxmlformats.org/drawingml/2006/main">
              <a:ext uri="{FF2B5EF4-FFF2-40B4-BE49-F238E27FC236}">
                <a16:creationId xmlns:a16="http://schemas.microsoft.com/office/drawing/2014/main" id="{72F8A265-5299-45E6-8E17-3ABB87BDD708}"/>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7. Training dynamics</a:t>
            </a:r>
          </a:p>
        </p:txBody>
      </p:sp>
      <p:sp>
        <p:nvSpPr>
          <p:cNvPr id="2" name="text-101">
            <a:extLst xmlns:a="http://schemas.openxmlformats.org/drawingml/2006/main">
              <a:ext uri="{FF2B5EF4-FFF2-40B4-BE49-F238E27FC236}">
                <a16:creationId xmlns:a16="http://schemas.microsoft.com/office/drawing/2014/main" id="{83C49455-ED93-471B-B01E-C1EFD8A8ABE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25</a:t>
            </a:r>
          </a:p>
        </p:txBody>
      </p:sp>
      <p:pic>
        <p:nvPicPr>
          <p:cNvPr id="3" name="">
            <a:extLst xmlns:a="http://schemas.openxmlformats.org/drawingml/2006/main">
              <a:ext uri="{FF2B5EF4-FFF2-40B4-BE49-F238E27FC236}">
                <a16:creationId xmlns:a16="http://schemas.microsoft.com/office/drawing/2014/main" id="{82F91D69-B50D-45A2-9698-0E8492479046}"/>
              </a:ext>
            </a:extLst>
          </p:cNvPr>
          <p:cNvPicPr>
            <a:picLocks xmlns:a="http://schemas.openxmlformats.org/drawingml/2006/main" noChangeAspect="1"/>
          </p:cNvPicPr>
          <p:nvPr/>
        </p:nvPicPr>
        <p:blipFill>
          <a:blip xmlns:r="http://schemas.openxmlformats.org/officeDocument/2006/relationships" xmlns:a="http://schemas.openxmlformats.org/drawingml/2006/main" r:embed="R70a7acd6c90b4041"/>
          <a:srcRect xmlns:a="http://schemas.openxmlformats.org/drawingml/2006/main" l="6250" t="25789" r="6250" b="10322"/>
          <a:stretch xmlns:a="http://schemas.openxmlformats.org/drawingml/2006/main"/>
        </p:blipFill>
        <p:spPr>
          <a:xfrm xmlns:a="http://schemas.openxmlformats.org/drawingml/2006/main">
            <a:off x="669227" y="1485900"/>
            <a:ext cx="10853547" cy="4457700"/>
          </a:xfrm>
          <a:prstGeom xmlns:a="http://schemas.openxmlformats.org/drawingml/2006/main" prst="rect">
            <a:avLst/>
          </a:prstGeom>
        </p:spPr>
      </p:pic>
      <p:sp>
        <p:nvSpPr>
          <p:cNvPr id="4" name="text-102">
            <a:extLst xmlns:a="http://schemas.openxmlformats.org/drawingml/2006/main">
              <a:ext uri="{FF2B5EF4-FFF2-40B4-BE49-F238E27FC236}">
                <a16:creationId xmlns:a16="http://schemas.microsoft.com/office/drawing/2014/main" id="{7092CDF0-3819-4D3F-9607-50FDCB788569}"/>
              </a:ext>
            </a:extLst>
          </p:cNvPr>
          <p:cNvSpPr>
            <a:spLocks xmlns:a="http://schemas.openxmlformats.org/drawingml/2006/main" noGrp="1"/>
          </p:cNvSpPr>
          <p:nvPr/>
        </p:nvSpPr>
        <p:spPr>
          <a:xfrm xmlns:a="http://schemas.openxmlformats.org/drawingml/2006/main">
            <a:off x="628650" y="60007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All three Sports seed44 models select epoch 1. Rings mark the selected checkpoints.</a:t>
            </a:r>
          </a:p>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Only two recorded validation epochs. Test metrics never select the checkpoint.</a:t>
            </a:r>
          </a:p>
        </p:txBody>
      </p:sp>
      <p:sp>
        <p:nvSpPr>
          <p:cNvPr id="6" name="">
            <a:extLst xmlns:a="http://schemas.openxmlformats.org/drawingml/2006/main">
              <a:ext uri="{FF2B5EF4-FFF2-40B4-BE49-F238E27FC236}">
                <a16:creationId xmlns:a16="http://schemas.microsoft.com/office/drawing/2014/main" id="{024B33D8-CC7E-4C0E-941B-E7E53A4A72A0}"/>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Sports, matched pipeline seed 44. Actual validation NDCG@10.</a:t>
            </a:r>
          </a:p>
        </p:txBody>
      </p:sp>
    </p:spTree>
    <p:extLst>
      <p:ext uri="{BB962C8B-B14F-4D97-AF65-F5344CB8AC3E}">
        <p14:creationId xmlns:p14="http://schemas.microsoft.com/office/powerpoint/2010/main" val="1195076260"/>
      </p:ext>
    </p:extLst>
  </p:cSld>
</p:sld>
</file>

<file path=ppt/slides/slide2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text-103">
            <a:extLst xmlns:a="http://schemas.openxmlformats.org/drawingml/2006/main">
              <a:ext uri="{FF2B5EF4-FFF2-40B4-BE49-F238E27FC236}">
                <a16:creationId xmlns:a16="http://schemas.microsoft.com/office/drawing/2014/main" id="{012513DC-2447-4EC4-982A-A9FC53A6396E}"/>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buNone/>
              <a:defRPr sz="3075" b="1">
                <a:solidFill>
                  <a:srgbClr val="17243C"/>
                </a:solidFill>
                <a:latin typeface="Helvetica Neue"/>
                <a:ea typeface="Helvetica Neue"/>
                <a:cs typeface="Helvetica Neue"/>
              </a:defRPr>
            </a:lvl1pPr>
            <a:lvl2pPr>
              <a:buNone/>
              <a:defRPr sz="3075" b="1">
                <a:solidFill>
                  <a:srgbClr val="17243C"/>
                </a:solidFill>
                <a:latin typeface="Helvetica Neue"/>
                <a:ea typeface="Helvetica Neue"/>
                <a:cs typeface="Helvetica Neue"/>
              </a:defRPr>
            </a:lvl2pPr>
            <a:lvl3pPr>
              <a:buNone/>
              <a:defRPr sz="3075" b="1">
                <a:solidFill>
                  <a:srgbClr val="17243C"/>
                </a:solidFill>
                <a:latin typeface="Helvetica Neue"/>
                <a:ea typeface="Helvetica Neue"/>
                <a:cs typeface="Helvetica Neue"/>
              </a:defRPr>
            </a:lvl3pPr>
            <a:lvl4pPr>
              <a:buNone/>
              <a:defRPr sz="3075" b="1">
                <a:solidFill>
                  <a:srgbClr val="17243C"/>
                </a:solidFill>
                <a:latin typeface="Helvetica Neue"/>
                <a:ea typeface="Helvetica Neue"/>
                <a:cs typeface="Helvetica Neue"/>
              </a:defRPr>
            </a:lvl4pPr>
            <a:lvl5pPr>
              <a:buNone/>
              <a:defRPr sz="3075" b="1">
                <a:solidFill>
                  <a:srgbClr val="17243C"/>
                </a:solidFill>
                <a:latin typeface="Helvetica Neue"/>
                <a:ea typeface="Helvetica Neue"/>
                <a:cs typeface="Helvetica Neue"/>
              </a:defRPr>
            </a:lvl5pPr>
            <a:lvl6pPr>
              <a:buNone/>
              <a:defRPr sz="3075" b="1">
                <a:solidFill>
                  <a:srgbClr val="17243C"/>
                </a:solidFill>
                <a:latin typeface="Helvetica Neue"/>
                <a:ea typeface="Helvetica Neue"/>
                <a:cs typeface="Helvetica Neue"/>
              </a:defRPr>
            </a:lvl6pPr>
            <a:lvl7pPr>
              <a:buNone/>
              <a:defRPr sz="3075" b="1">
                <a:solidFill>
                  <a:srgbClr val="17243C"/>
                </a:solidFill>
                <a:latin typeface="Helvetica Neue"/>
                <a:ea typeface="Helvetica Neue"/>
                <a:cs typeface="Helvetica Neue"/>
              </a:defRPr>
            </a:lvl7pPr>
            <a:lvl8pPr>
              <a:buNone/>
              <a:defRPr sz="3075" b="1">
                <a:solidFill>
                  <a:srgbClr val="17243C"/>
                </a:solidFill>
                <a:latin typeface="Helvetica Neue"/>
                <a:ea typeface="Helvetica Neue"/>
                <a:cs typeface="Helvetica Neue"/>
              </a:defRPr>
            </a:lvl8pPr>
            <a:lvl9pPr>
              <a:buNone/>
              <a:defRPr sz="3075" b="1">
                <a:solidFill>
                  <a:srgbClr val="17243C"/>
                </a:solidFill>
                <a:latin typeface="Helvetica Neue"/>
                <a:ea typeface="Helvetica Neue"/>
                <a:cs typeface="Helvetica Neue"/>
              </a:defRPr>
            </a:lvl9pPr>
          </a:lstStyle>
          <a:p xmlns:a="http://schemas.openxmlformats.org/drawingml/2006/main">
            <a:pPr>
              <a:buNone/>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Appendix 8. Sources and reproducibility</a:t>
            </a:r>
          </a:p>
        </p:txBody>
      </p:sp>
      <p:sp>
        <p:nvSpPr>
          <p:cNvPr id="2" name="text-104">
            <a:extLst xmlns:a="http://schemas.openxmlformats.org/drawingml/2006/main">
              <a:ext uri="{FF2B5EF4-FFF2-40B4-BE49-F238E27FC236}">
                <a16:creationId xmlns:a16="http://schemas.microsoft.com/office/drawing/2014/main" id="{3D8D2697-ADCE-4348-B212-798EEE6A0495}"/>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buNone/>
              <a:defRPr sz="1275" b="0">
                <a:solidFill>
                  <a:srgbClr val="586C7C"/>
                </a:solidFill>
                <a:latin typeface="Helvetica Neue"/>
                <a:ea typeface="Helvetica Neue"/>
                <a:cs typeface="Helvetica Neue"/>
              </a:defRPr>
            </a:lvl1pPr>
            <a:lvl2pPr algn="r">
              <a:buNone/>
              <a:defRPr sz="1275" b="0">
                <a:solidFill>
                  <a:srgbClr val="586C7C"/>
                </a:solidFill>
                <a:latin typeface="Helvetica Neue"/>
                <a:ea typeface="Helvetica Neue"/>
                <a:cs typeface="Helvetica Neue"/>
              </a:defRPr>
            </a:lvl2pPr>
            <a:lvl3pPr algn="r">
              <a:buNone/>
              <a:defRPr sz="1275" b="0">
                <a:solidFill>
                  <a:srgbClr val="586C7C"/>
                </a:solidFill>
                <a:latin typeface="Helvetica Neue"/>
                <a:ea typeface="Helvetica Neue"/>
                <a:cs typeface="Helvetica Neue"/>
              </a:defRPr>
            </a:lvl3pPr>
            <a:lvl4pPr algn="r">
              <a:buNone/>
              <a:defRPr sz="1275" b="0">
                <a:solidFill>
                  <a:srgbClr val="586C7C"/>
                </a:solidFill>
                <a:latin typeface="Helvetica Neue"/>
                <a:ea typeface="Helvetica Neue"/>
                <a:cs typeface="Helvetica Neue"/>
              </a:defRPr>
            </a:lvl4pPr>
            <a:lvl5pPr algn="r">
              <a:buNone/>
              <a:defRPr sz="1275" b="0">
                <a:solidFill>
                  <a:srgbClr val="586C7C"/>
                </a:solidFill>
                <a:latin typeface="Helvetica Neue"/>
                <a:ea typeface="Helvetica Neue"/>
                <a:cs typeface="Helvetica Neue"/>
              </a:defRPr>
            </a:lvl5pPr>
            <a:lvl6pPr algn="r">
              <a:buNone/>
              <a:defRPr sz="1275" b="0">
                <a:solidFill>
                  <a:srgbClr val="586C7C"/>
                </a:solidFill>
                <a:latin typeface="Helvetica Neue"/>
                <a:ea typeface="Helvetica Neue"/>
                <a:cs typeface="Helvetica Neue"/>
              </a:defRPr>
            </a:lvl6pPr>
            <a:lvl7pPr algn="r">
              <a:buNone/>
              <a:defRPr sz="1275" b="0">
                <a:solidFill>
                  <a:srgbClr val="586C7C"/>
                </a:solidFill>
                <a:latin typeface="Helvetica Neue"/>
                <a:ea typeface="Helvetica Neue"/>
                <a:cs typeface="Helvetica Neue"/>
              </a:defRPr>
            </a:lvl7pPr>
            <a:lvl8pPr algn="r">
              <a:buNone/>
              <a:defRPr sz="1275" b="0">
                <a:solidFill>
                  <a:srgbClr val="586C7C"/>
                </a:solidFill>
                <a:latin typeface="Helvetica Neue"/>
                <a:ea typeface="Helvetica Neue"/>
                <a:cs typeface="Helvetica Neue"/>
              </a:defRPr>
            </a:lvl8pPr>
            <a:lvl9pPr algn="r">
              <a:buNone/>
              <a:defRPr sz="1275" b="0">
                <a:solidFill>
                  <a:srgbClr val="586C7C"/>
                </a:solidFill>
                <a:latin typeface="Helvetica Neue"/>
                <a:ea typeface="Helvetica Neue"/>
                <a:cs typeface="Helvetica Neue"/>
              </a:defRPr>
            </a:lvl9pPr>
          </a:lstStyle>
          <a:p xmlns:a="http://schemas.openxmlformats.org/drawingml/2006/main">
            <a:pPr algn="r">
              <a:buNone/>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26</a:t>
            </a:r>
          </a:p>
        </p:txBody>
      </p:sp>
      <p:sp>
        <p:nvSpPr>
          <p:cNvPr id="3" name="text-105">
            <a:extLst xmlns:a="http://schemas.openxmlformats.org/drawingml/2006/main">
              <a:ext uri="{FF2B5EF4-FFF2-40B4-BE49-F238E27FC236}">
                <a16:creationId xmlns:a16="http://schemas.microsoft.com/office/drawing/2014/main" id="{0766116B-58E9-4E7A-B0B7-811ACB53A27E}"/>
              </a:ext>
            </a:extLst>
          </p:cNvPr>
          <p:cNvSpPr>
            <a:spLocks xmlns:a="http://schemas.openxmlformats.org/drawingml/2006/main" noGrp="1"/>
          </p:cNvSpPr>
          <p:nvPr/>
        </p:nvSpPr>
        <p:spPr>
          <a:xfrm xmlns:a="http://schemas.openxmlformats.org/drawingml/2006/main">
            <a:off x="647700" y="15049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buNone/>
              <a:defRPr sz="2325" b="1">
                <a:solidFill>
                  <a:srgbClr val="17243C"/>
                </a:solidFill>
                <a:latin typeface="Helvetica Neue"/>
                <a:ea typeface="Helvetica Neue"/>
                <a:cs typeface="Helvetica Neue"/>
              </a:defRPr>
            </a:lvl1pPr>
            <a:lvl2pPr>
              <a:buNone/>
              <a:defRPr sz="2325" b="1">
                <a:solidFill>
                  <a:srgbClr val="17243C"/>
                </a:solidFill>
                <a:latin typeface="Helvetica Neue"/>
                <a:ea typeface="Helvetica Neue"/>
                <a:cs typeface="Helvetica Neue"/>
              </a:defRPr>
            </a:lvl2pPr>
            <a:lvl3pPr>
              <a:buNone/>
              <a:defRPr sz="2325" b="1">
                <a:solidFill>
                  <a:srgbClr val="17243C"/>
                </a:solidFill>
                <a:latin typeface="Helvetica Neue"/>
                <a:ea typeface="Helvetica Neue"/>
                <a:cs typeface="Helvetica Neue"/>
              </a:defRPr>
            </a:lvl3pPr>
            <a:lvl4pPr>
              <a:buNone/>
              <a:defRPr sz="2325" b="1">
                <a:solidFill>
                  <a:srgbClr val="17243C"/>
                </a:solidFill>
                <a:latin typeface="Helvetica Neue"/>
                <a:ea typeface="Helvetica Neue"/>
                <a:cs typeface="Helvetica Neue"/>
              </a:defRPr>
            </a:lvl4pPr>
            <a:lvl5pPr>
              <a:buNone/>
              <a:defRPr sz="2325" b="1">
                <a:solidFill>
                  <a:srgbClr val="17243C"/>
                </a:solidFill>
                <a:latin typeface="Helvetica Neue"/>
                <a:ea typeface="Helvetica Neue"/>
                <a:cs typeface="Helvetica Neue"/>
              </a:defRPr>
            </a:lvl5pPr>
            <a:lvl6pPr>
              <a:buNone/>
              <a:defRPr sz="2325" b="1">
                <a:solidFill>
                  <a:srgbClr val="17243C"/>
                </a:solidFill>
                <a:latin typeface="Helvetica Neue"/>
                <a:ea typeface="Helvetica Neue"/>
                <a:cs typeface="Helvetica Neue"/>
              </a:defRPr>
            </a:lvl6pPr>
            <a:lvl7pPr>
              <a:buNone/>
              <a:defRPr sz="2325" b="1">
                <a:solidFill>
                  <a:srgbClr val="17243C"/>
                </a:solidFill>
                <a:latin typeface="Helvetica Neue"/>
                <a:ea typeface="Helvetica Neue"/>
                <a:cs typeface="Helvetica Neue"/>
              </a:defRPr>
            </a:lvl7pPr>
            <a:lvl8pPr>
              <a:buNone/>
              <a:defRPr sz="2325" b="1">
                <a:solidFill>
                  <a:srgbClr val="17243C"/>
                </a:solidFill>
                <a:latin typeface="Helvetica Neue"/>
                <a:ea typeface="Helvetica Neue"/>
                <a:cs typeface="Helvetica Neue"/>
              </a:defRPr>
            </a:lvl8pPr>
            <a:lvl9pPr>
              <a:buNone/>
              <a:defRPr sz="2325" b="1">
                <a:solidFill>
                  <a:srgbClr val="17243C"/>
                </a:solidFill>
                <a:latin typeface="Helvetica Neue"/>
                <a:ea typeface="Helvetica Neue"/>
                <a:cs typeface="Helvetica Neue"/>
              </a:defRPr>
            </a:lvl9pPr>
          </a:lstStyle>
          <a:p xmlns:a="http://schemas.openxmlformats.org/drawingml/2006/main">
            <a:pPr>
              <a:buNone/>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Data and methods</a:t>
            </a:r>
          </a:p>
        </p:txBody>
      </p:sp>
      <p:sp>
        <p:nvSpPr>
          <p:cNvPr id="4" name="text-106">
            <a:extLst xmlns:a="http://schemas.openxmlformats.org/drawingml/2006/main">
              <a:ext uri="{FF2B5EF4-FFF2-40B4-BE49-F238E27FC236}">
                <a16:creationId xmlns:a16="http://schemas.microsoft.com/office/drawing/2014/main" id="{F80857CD-5D1A-4F76-9902-1E9EDC309BBB}"/>
              </a:ext>
            </a:extLst>
          </p:cNvPr>
          <p:cNvSpPr>
            <a:spLocks xmlns:a="http://schemas.openxmlformats.org/drawingml/2006/main" noGrp="1"/>
          </p:cNvSpPr>
          <p:nvPr/>
        </p:nvSpPr>
        <p:spPr>
          <a:xfrm xmlns:a="http://schemas.openxmlformats.org/drawingml/2006/main">
            <a:off x="647700" y="21145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86C7C"/>
                </a:solidFill>
                <a:latin typeface="Helvetica Neue"/>
                <a:ea typeface="Helvetica Neue"/>
                <a:cs typeface="Helvetica Neue"/>
              </a:defRPr>
            </a:defPPr>
            <a:lvl1pPr>
              <a:buNone/>
              <a:defRPr sz="2100" b="0">
                <a:solidFill>
                  <a:srgbClr val="586C7C"/>
                </a:solidFill>
                <a:latin typeface="Helvetica Neue"/>
                <a:ea typeface="Helvetica Neue"/>
                <a:cs typeface="Helvetica Neue"/>
              </a:defRPr>
            </a:lvl1pPr>
            <a:lvl2pPr>
              <a:buNone/>
              <a:defRPr sz="2100" b="0">
                <a:solidFill>
                  <a:srgbClr val="586C7C"/>
                </a:solidFill>
                <a:latin typeface="Helvetica Neue"/>
                <a:ea typeface="Helvetica Neue"/>
                <a:cs typeface="Helvetica Neue"/>
              </a:defRPr>
            </a:lvl2pPr>
            <a:lvl3pPr>
              <a:buNone/>
              <a:defRPr sz="2100" b="0">
                <a:solidFill>
                  <a:srgbClr val="586C7C"/>
                </a:solidFill>
                <a:latin typeface="Helvetica Neue"/>
                <a:ea typeface="Helvetica Neue"/>
                <a:cs typeface="Helvetica Neue"/>
              </a:defRPr>
            </a:lvl3pPr>
            <a:lvl4pPr>
              <a:buNone/>
              <a:defRPr sz="2100" b="0">
                <a:solidFill>
                  <a:srgbClr val="586C7C"/>
                </a:solidFill>
                <a:latin typeface="Helvetica Neue"/>
                <a:ea typeface="Helvetica Neue"/>
                <a:cs typeface="Helvetica Neue"/>
              </a:defRPr>
            </a:lvl4pPr>
            <a:lvl5pPr>
              <a:buNone/>
              <a:defRPr sz="2100" b="0">
                <a:solidFill>
                  <a:srgbClr val="586C7C"/>
                </a:solidFill>
                <a:latin typeface="Helvetica Neue"/>
                <a:ea typeface="Helvetica Neue"/>
                <a:cs typeface="Helvetica Neue"/>
              </a:defRPr>
            </a:lvl5pPr>
            <a:lvl6pPr>
              <a:buNone/>
              <a:defRPr sz="2100" b="0">
                <a:solidFill>
                  <a:srgbClr val="586C7C"/>
                </a:solidFill>
                <a:latin typeface="Helvetica Neue"/>
                <a:ea typeface="Helvetica Neue"/>
                <a:cs typeface="Helvetica Neue"/>
              </a:defRPr>
            </a:lvl6pPr>
            <a:lvl7pPr>
              <a:buNone/>
              <a:defRPr sz="2100" b="0">
                <a:solidFill>
                  <a:srgbClr val="586C7C"/>
                </a:solidFill>
                <a:latin typeface="Helvetica Neue"/>
                <a:ea typeface="Helvetica Neue"/>
                <a:cs typeface="Helvetica Neue"/>
              </a:defRPr>
            </a:lvl7pPr>
            <a:lvl8pPr>
              <a:buNone/>
              <a:defRPr sz="2100" b="0">
                <a:solidFill>
                  <a:srgbClr val="586C7C"/>
                </a:solidFill>
                <a:latin typeface="Helvetica Neue"/>
                <a:ea typeface="Helvetica Neue"/>
                <a:cs typeface="Helvetica Neue"/>
              </a:defRPr>
            </a:lvl8pPr>
            <a:lvl9pPr>
              <a:buNone/>
              <a:defRPr sz="2100" b="0">
                <a:solidFill>
                  <a:srgbClr val="586C7C"/>
                </a:solidFill>
                <a:latin typeface="Helvetica Neue"/>
                <a:ea typeface="Helvetica Neue"/>
                <a:cs typeface="Helvetica Neue"/>
              </a:defRPr>
            </a:lvl9pPr>
          </a:lstStyle>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Amazon Reviews 2014, McAuley Lab</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Qwen3-Embedding official model card and training documentation</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LoRA, Hu et al.    CLIP, Radford et al.    BPR, Rendle et al.</a:t>
            </a:r>
          </a:p>
        </p:txBody>
      </p:sp>
      <p:sp>
        <p:nvSpPr>
          <p:cNvPr id="5" name="text-107">
            <a:extLst xmlns:a="http://schemas.openxmlformats.org/drawingml/2006/main">
              <a:ext uri="{FF2B5EF4-FFF2-40B4-BE49-F238E27FC236}">
                <a16:creationId xmlns:a16="http://schemas.microsoft.com/office/drawing/2014/main" id="{C370B35C-3B05-4F6C-BC6C-AE5E96453D8F}"/>
              </a:ext>
            </a:extLst>
          </p:cNvPr>
          <p:cNvSpPr>
            <a:spLocks xmlns:a="http://schemas.openxmlformats.org/drawingml/2006/main" noGrp="1"/>
          </p:cNvSpPr>
          <p:nvPr/>
        </p:nvSpPr>
        <p:spPr>
          <a:xfrm xmlns:a="http://schemas.openxmlformats.org/drawingml/2006/main">
            <a:off x="647700" y="3867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43C"/>
                </a:solidFill>
                <a:latin typeface="Helvetica Neue"/>
                <a:ea typeface="Helvetica Neue"/>
                <a:cs typeface="Helvetica Neue"/>
              </a:defRPr>
            </a:defPPr>
            <a:lvl1pPr>
              <a:buNone/>
              <a:defRPr sz="2325" b="1">
                <a:solidFill>
                  <a:srgbClr val="17243C"/>
                </a:solidFill>
                <a:latin typeface="Helvetica Neue"/>
                <a:ea typeface="Helvetica Neue"/>
                <a:cs typeface="Helvetica Neue"/>
              </a:defRPr>
            </a:lvl1pPr>
            <a:lvl2pPr>
              <a:buNone/>
              <a:defRPr sz="2325" b="1">
                <a:solidFill>
                  <a:srgbClr val="17243C"/>
                </a:solidFill>
                <a:latin typeface="Helvetica Neue"/>
                <a:ea typeface="Helvetica Neue"/>
                <a:cs typeface="Helvetica Neue"/>
              </a:defRPr>
            </a:lvl2pPr>
            <a:lvl3pPr>
              <a:buNone/>
              <a:defRPr sz="2325" b="1">
                <a:solidFill>
                  <a:srgbClr val="17243C"/>
                </a:solidFill>
                <a:latin typeface="Helvetica Neue"/>
                <a:ea typeface="Helvetica Neue"/>
                <a:cs typeface="Helvetica Neue"/>
              </a:defRPr>
            </a:lvl3pPr>
            <a:lvl4pPr>
              <a:buNone/>
              <a:defRPr sz="2325" b="1">
                <a:solidFill>
                  <a:srgbClr val="17243C"/>
                </a:solidFill>
                <a:latin typeface="Helvetica Neue"/>
                <a:ea typeface="Helvetica Neue"/>
                <a:cs typeface="Helvetica Neue"/>
              </a:defRPr>
            </a:lvl4pPr>
            <a:lvl5pPr>
              <a:buNone/>
              <a:defRPr sz="2325" b="1">
                <a:solidFill>
                  <a:srgbClr val="17243C"/>
                </a:solidFill>
                <a:latin typeface="Helvetica Neue"/>
                <a:ea typeface="Helvetica Neue"/>
                <a:cs typeface="Helvetica Neue"/>
              </a:defRPr>
            </a:lvl5pPr>
            <a:lvl6pPr>
              <a:buNone/>
              <a:defRPr sz="2325" b="1">
                <a:solidFill>
                  <a:srgbClr val="17243C"/>
                </a:solidFill>
                <a:latin typeface="Helvetica Neue"/>
                <a:ea typeface="Helvetica Neue"/>
                <a:cs typeface="Helvetica Neue"/>
              </a:defRPr>
            </a:lvl6pPr>
            <a:lvl7pPr>
              <a:buNone/>
              <a:defRPr sz="2325" b="1">
                <a:solidFill>
                  <a:srgbClr val="17243C"/>
                </a:solidFill>
                <a:latin typeface="Helvetica Neue"/>
                <a:ea typeface="Helvetica Neue"/>
                <a:cs typeface="Helvetica Neue"/>
              </a:defRPr>
            </a:lvl7pPr>
            <a:lvl8pPr>
              <a:buNone/>
              <a:defRPr sz="2325" b="1">
                <a:solidFill>
                  <a:srgbClr val="17243C"/>
                </a:solidFill>
                <a:latin typeface="Helvetica Neue"/>
                <a:ea typeface="Helvetica Neue"/>
                <a:cs typeface="Helvetica Neue"/>
              </a:defRPr>
            </a:lvl8pPr>
            <a:lvl9pPr>
              <a:buNone/>
              <a:defRPr sz="2325" b="1">
                <a:solidFill>
                  <a:srgbClr val="17243C"/>
                </a:solidFill>
                <a:latin typeface="Helvetica Neue"/>
                <a:ea typeface="Helvetica Neue"/>
                <a:cs typeface="Helvetica Neue"/>
              </a:defRPr>
            </a:lvl9pPr>
          </a:lstStyle>
          <a:p xmlns:a="http://schemas.openxmlformats.org/drawingml/2006/main">
            <a:pPr>
              <a:buNone/>
              <a:defRPr sz="2325" b="1">
                <a:solidFill>
                  <a:srgbClr val="17243C"/>
                </a:solidFill>
                <a:latin typeface="Helvetica Neue"/>
                <a:ea typeface="Helvetica Neue"/>
                <a:cs typeface="Helvetica Neue"/>
              </a:defRPr>
            </a:pPr>
            <a:r>
              <a:rPr sz="2325" b="1">
                <a:solidFill>
                  <a:srgbClr val="17243C"/>
                </a:solidFill>
                <a:latin typeface="Helvetica Neue"/>
                <a:ea typeface="Helvetica Neue"/>
                <a:cs typeface="Helvetica Neue"/>
              </a:rPr>
              <a:t>Report, code and offline evidence</a:t>
            </a:r>
          </a:p>
        </p:txBody>
      </p:sp>
      <p:sp>
        <p:nvSpPr>
          <p:cNvPr id="6" name="text-108">
            <a:extLst xmlns:a="http://schemas.openxmlformats.org/drawingml/2006/main">
              <a:ext uri="{FF2B5EF4-FFF2-40B4-BE49-F238E27FC236}">
                <a16:creationId xmlns:a16="http://schemas.microsoft.com/office/drawing/2014/main" id="{33A5737B-0B10-4B2A-AA5D-D833BB9D961C}"/>
              </a:ext>
            </a:extLst>
          </p:cNvPr>
          <p:cNvSpPr>
            <a:spLocks xmlns:a="http://schemas.openxmlformats.org/drawingml/2006/main" noGrp="1"/>
          </p:cNvSpPr>
          <p:nvPr/>
        </p:nvSpPr>
        <p:spPr>
          <a:xfrm xmlns:a="http://schemas.openxmlformats.org/drawingml/2006/main">
            <a:off x="647700" y="4467225"/>
            <a:ext cx="10763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86C7C"/>
                </a:solidFill>
                <a:latin typeface="Helvetica Neue"/>
                <a:ea typeface="Helvetica Neue"/>
                <a:cs typeface="Helvetica Neue"/>
              </a:defRPr>
            </a:defPPr>
            <a:lvl1pPr>
              <a:buNone/>
              <a:defRPr sz="2100" b="0">
                <a:solidFill>
                  <a:srgbClr val="586C7C"/>
                </a:solidFill>
                <a:latin typeface="Helvetica Neue"/>
                <a:ea typeface="Helvetica Neue"/>
                <a:cs typeface="Helvetica Neue"/>
              </a:defRPr>
            </a:lvl1pPr>
            <a:lvl2pPr>
              <a:buNone/>
              <a:defRPr sz="2100" b="0">
                <a:solidFill>
                  <a:srgbClr val="586C7C"/>
                </a:solidFill>
                <a:latin typeface="Helvetica Neue"/>
                <a:ea typeface="Helvetica Neue"/>
                <a:cs typeface="Helvetica Neue"/>
              </a:defRPr>
            </a:lvl2pPr>
            <a:lvl3pPr>
              <a:buNone/>
              <a:defRPr sz="2100" b="0">
                <a:solidFill>
                  <a:srgbClr val="586C7C"/>
                </a:solidFill>
                <a:latin typeface="Helvetica Neue"/>
                <a:ea typeface="Helvetica Neue"/>
                <a:cs typeface="Helvetica Neue"/>
              </a:defRPr>
            </a:lvl3pPr>
            <a:lvl4pPr>
              <a:buNone/>
              <a:defRPr sz="2100" b="0">
                <a:solidFill>
                  <a:srgbClr val="586C7C"/>
                </a:solidFill>
                <a:latin typeface="Helvetica Neue"/>
                <a:ea typeface="Helvetica Neue"/>
                <a:cs typeface="Helvetica Neue"/>
              </a:defRPr>
            </a:lvl4pPr>
            <a:lvl5pPr>
              <a:buNone/>
              <a:defRPr sz="2100" b="0">
                <a:solidFill>
                  <a:srgbClr val="586C7C"/>
                </a:solidFill>
                <a:latin typeface="Helvetica Neue"/>
                <a:ea typeface="Helvetica Neue"/>
                <a:cs typeface="Helvetica Neue"/>
              </a:defRPr>
            </a:lvl5pPr>
            <a:lvl6pPr>
              <a:buNone/>
              <a:defRPr sz="2100" b="0">
                <a:solidFill>
                  <a:srgbClr val="586C7C"/>
                </a:solidFill>
                <a:latin typeface="Helvetica Neue"/>
                <a:ea typeface="Helvetica Neue"/>
                <a:cs typeface="Helvetica Neue"/>
              </a:defRPr>
            </a:lvl6pPr>
            <a:lvl7pPr>
              <a:buNone/>
              <a:defRPr sz="2100" b="0">
                <a:solidFill>
                  <a:srgbClr val="586C7C"/>
                </a:solidFill>
                <a:latin typeface="Helvetica Neue"/>
                <a:ea typeface="Helvetica Neue"/>
                <a:cs typeface="Helvetica Neue"/>
              </a:defRPr>
            </a:lvl7pPr>
            <a:lvl8pPr>
              <a:buNone/>
              <a:defRPr sz="2100" b="0">
                <a:solidFill>
                  <a:srgbClr val="586C7C"/>
                </a:solidFill>
                <a:latin typeface="Helvetica Neue"/>
                <a:ea typeface="Helvetica Neue"/>
                <a:cs typeface="Helvetica Neue"/>
              </a:defRPr>
            </a:lvl8pPr>
            <a:lvl9pPr>
              <a:buNone/>
              <a:defRPr sz="2100" b="0">
                <a:solidFill>
                  <a:srgbClr val="586C7C"/>
                </a:solidFill>
                <a:latin typeface="Helvetica Neue"/>
                <a:ea typeface="Helvetica Neue"/>
                <a:cs typeface="Helvetica Neue"/>
              </a:defRPr>
            </a:lvl9pPr>
          </a:lstStyle>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English experiment report and audited 27-record summary</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Selected model exports, hashes and recorded validation results</a:t>
            </a:r>
          </a:p>
          <a:p xmlns:a="http://schemas.openxmlformats.org/drawingml/2006/main">
            <a:pPr>
              <a:buNone/>
              <a:defRPr sz="2100" b="0">
                <a:solidFill>
                  <a:srgbClr val="586C7C"/>
                </a:solidFill>
                <a:latin typeface="Helvetica Neue"/>
                <a:ea typeface="Helvetica Neue"/>
                <a:cs typeface="Helvetica Neue"/>
              </a:defRPr>
            </a:pPr>
            <a:r>
              <a:rPr sz="2100" b="0">
                <a:solidFill>
                  <a:srgbClr val="586C7C"/>
                </a:solidFill>
                <a:latin typeface="Helvetica Neue"/>
                <a:ea typeface="Helvetica Neue"/>
                <a:cs typeface="Helvetica Neue"/>
              </a:rPr>
              <a:t>Experiment gallery: seven interactive figures plus CSV / JSON</a:t>
            </a:r>
          </a:p>
        </p:txBody>
      </p:sp>
      <p:sp>
        <p:nvSpPr>
          <p:cNvPr id="7" name="text-109">
            <a:extLst xmlns:a="http://schemas.openxmlformats.org/drawingml/2006/main">
              <a:ext uri="{FF2B5EF4-FFF2-40B4-BE49-F238E27FC236}">
                <a16:creationId xmlns:a16="http://schemas.microsoft.com/office/drawing/2014/main" id="{EC954517-385C-40DB-94E2-FC191CA011BE}"/>
              </a:ext>
            </a:extLst>
          </p:cNvPr>
          <p:cNvSpPr>
            <a:spLocks xmlns:a="http://schemas.openxmlformats.org/drawingml/2006/main" noGrp="1"/>
          </p:cNvSpPr>
          <p:nvPr/>
        </p:nvSpPr>
        <p:spPr>
          <a:xfrm xmlns:a="http://schemas.openxmlformats.org/drawingml/2006/main">
            <a:off x="628650" y="60579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buNone/>
              <a:defRPr sz="1650" b="0">
                <a:solidFill>
                  <a:srgbClr val="586C7C"/>
                </a:solidFill>
                <a:latin typeface="Helvetica Neue"/>
                <a:ea typeface="Helvetica Neue"/>
                <a:cs typeface="Helvetica Neue"/>
              </a:defRPr>
            </a:lvl1pPr>
            <a:lvl2pPr>
              <a:buNone/>
              <a:defRPr sz="1650" b="0">
                <a:solidFill>
                  <a:srgbClr val="586C7C"/>
                </a:solidFill>
                <a:latin typeface="Helvetica Neue"/>
                <a:ea typeface="Helvetica Neue"/>
                <a:cs typeface="Helvetica Neue"/>
              </a:defRPr>
            </a:lvl2pPr>
            <a:lvl3pPr>
              <a:buNone/>
              <a:defRPr sz="1650" b="0">
                <a:solidFill>
                  <a:srgbClr val="586C7C"/>
                </a:solidFill>
                <a:latin typeface="Helvetica Neue"/>
                <a:ea typeface="Helvetica Neue"/>
                <a:cs typeface="Helvetica Neue"/>
              </a:defRPr>
            </a:lvl3pPr>
            <a:lvl4pPr>
              <a:buNone/>
              <a:defRPr sz="1650" b="0">
                <a:solidFill>
                  <a:srgbClr val="586C7C"/>
                </a:solidFill>
                <a:latin typeface="Helvetica Neue"/>
                <a:ea typeface="Helvetica Neue"/>
                <a:cs typeface="Helvetica Neue"/>
              </a:defRPr>
            </a:lvl4pPr>
            <a:lvl5pPr>
              <a:buNone/>
              <a:defRPr sz="1650" b="0">
                <a:solidFill>
                  <a:srgbClr val="586C7C"/>
                </a:solidFill>
                <a:latin typeface="Helvetica Neue"/>
                <a:ea typeface="Helvetica Neue"/>
                <a:cs typeface="Helvetica Neue"/>
              </a:defRPr>
            </a:lvl5pPr>
            <a:lvl6pPr>
              <a:buNone/>
              <a:defRPr sz="1650" b="0">
                <a:solidFill>
                  <a:srgbClr val="586C7C"/>
                </a:solidFill>
                <a:latin typeface="Helvetica Neue"/>
                <a:ea typeface="Helvetica Neue"/>
                <a:cs typeface="Helvetica Neue"/>
              </a:defRPr>
            </a:lvl6pPr>
            <a:lvl7pPr>
              <a:buNone/>
              <a:defRPr sz="1650" b="0">
                <a:solidFill>
                  <a:srgbClr val="586C7C"/>
                </a:solidFill>
                <a:latin typeface="Helvetica Neue"/>
                <a:ea typeface="Helvetica Neue"/>
                <a:cs typeface="Helvetica Neue"/>
              </a:defRPr>
            </a:lvl7pPr>
            <a:lvl8pPr>
              <a:buNone/>
              <a:defRPr sz="1650" b="0">
                <a:solidFill>
                  <a:srgbClr val="586C7C"/>
                </a:solidFill>
                <a:latin typeface="Helvetica Neue"/>
                <a:ea typeface="Helvetica Neue"/>
                <a:cs typeface="Helvetica Neue"/>
              </a:defRPr>
            </a:lvl8pPr>
            <a:lvl9pPr>
              <a:buNone/>
              <a:defRPr sz="1650" b="0">
                <a:solidFill>
                  <a:srgbClr val="586C7C"/>
                </a:solidFill>
                <a:latin typeface="Helvetica Neue"/>
                <a:ea typeface="Helvetica Neue"/>
                <a:cs typeface="Helvetica Neue"/>
              </a:defRPr>
            </a:lvl9pPr>
          </a:lstStyle>
          <a:p xmlns:a="http://schemas.openxmlformats.org/drawingml/2006/main">
            <a:pPr>
              <a:buNone/>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The export script creates the optional offline gallery. Runtime assets install separately.</a:t>
            </a:r>
          </a:p>
        </p:txBody>
      </p:sp>
    </p:spTree>
    <p:extLst>
      <p:ext uri="{BB962C8B-B14F-4D97-AF65-F5344CB8AC3E}">
        <p14:creationId xmlns:p14="http://schemas.microsoft.com/office/powerpoint/2010/main" val="2075138257"/>
      </p:ext>
    </p:extLst>
  </p:cSld>
</p:sld>
</file>

<file path=ppt/slides/slide2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8A5874-2A79-4E00-A5A8-85451D52E118}"/>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Additional benchmarks for four questions</a:t>
            </a:r>
          </a:p>
        </p:txBody>
      </p:sp>
      <p:sp>
        <p:nvSpPr>
          <p:cNvPr id="2" name="">
            <a:extLst xmlns:a="http://schemas.openxmlformats.org/drawingml/2006/main">
              <a:ext uri="{FF2B5EF4-FFF2-40B4-BE49-F238E27FC236}">
                <a16:creationId xmlns:a16="http://schemas.microsoft.com/office/drawing/2014/main" id="{C66F11DC-C898-439A-99C9-6484BD49D13E}"/>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Existing dataset labels support the new measurements. No new manual annotation.</a:t>
            </a:r>
          </a:p>
        </p:txBody>
      </p:sp>
      <p:sp>
        <p:nvSpPr>
          <p:cNvPr id="3" name="">
            <a:extLst xmlns:a="http://schemas.openxmlformats.org/drawingml/2006/main">
              <a:ext uri="{FF2B5EF4-FFF2-40B4-BE49-F238E27FC236}">
                <a16:creationId xmlns:a16="http://schemas.microsoft.com/office/drawing/2014/main" id="{438479C1-73D2-4666-842B-27E9BF11EB49}"/>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27</a:t>
            </a:r>
          </a:p>
        </p:txBody>
      </p:sp>
      <p:graphicFrame>
        <p:nvGraphicFramePr>
          <p:cNvPr id="4" name="">
            <a:extLst xmlns:a="http://schemas.openxmlformats.org/drawingml/2006/main">
              <a:ext uri="{FF2B5EF4-FFF2-40B4-BE49-F238E27FC236}">
                <a16:creationId xmlns:a16="http://schemas.microsoft.com/office/drawing/2014/main" id="{508C1DBF-F0ED-4006-BAC9-963A0E01742A}"/>
              </a:ext>
            </a:extLst>
          </p:cNvPr>
          <p:cNvGraphicFramePr/>
          <p:nvPr/>
        </p:nvGraphicFramePr>
        <p:xfrm>
          <a:off xmlns:a="http://schemas.openxmlformats.org/drawingml/2006/main" x="609600" y="1714500"/>
          <a:ext xmlns:a="http://schemas.openxmlformats.org/drawingml/2006/main" cx="10972800" cy="3838575"/>
        </p:xfrm>
        <a:graphic xmlns:a="http://schemas.openxmlformats.org/drawingml/2006/main">
          <a:graphicData uri="http://schemas.openxmlformats.org/drawingml/2006/table">
            <a:tbl>
              <a:tblPr/>
              <a:tblGrid>
                <a:gridCol w="2476500"/>
                <a:gridCol w="3857625"/>
                <a:gridCol w="4638675"/>
              </a:tblGrid>
              <a:tr h="767715">
                <a:tc>
                  <a:txBody>
                    <a:bodyPr/>
                    <a:lstStyle/>
                    <a:p>
                      <a:r>
                        <a:rPr sz="1725" b="1">
                          <a:solidFill>
                            <a:srgbClr val="FFFFFF"/>
                          </a:solidFill>
                          <a:latin typeface="Helvetica Neue"/>
                          <a:ea typeface="Helvetica Neue"/>
                          <a:cs typeface="Helvetica Neue"/>
                        </a:rPr>
                        <a:t>Question</a:t>
                      </a:r>
                    </a:p>
                  </a:txBody>
                  <a:tcPr marL="123825" marR="123825" marT="95250" marB="76200" anchor="t">
                    <a:lnL w="9525">
                      <a:solidFill>
                        <a:srgbClr val="DAE2EC"/>
                      </a:solidFill>
                      <a:prstDash val="solid"/>
                    </a:lnL>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c>
                  <a:txBody>
                    <a:bodyPr/>
                    <a:lstStyle/>
                    <a:p>
                      <a:r>
                        <a:rPr sz="1725" b="1">
                          <a:solidFill>
                            <a:srgbClr val="FFFFFF"/>
                          </a:solidFill>
                          <a:latin typeface="Helvetica Neue"/>
                          <a:ea typeface="Helvetica Neue"/>
                          <a:cs typeface="Helvetica Neue"/>
                        </a:rPr>
                        <a:t>Evidence source</a:t>
                      </a:r>
                    </a:p>
                  </a:txBody>
                  <a:tcPr marL="123825" marR="123825" marT="95250" marB="76200" anchor="t">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c>
                  <a:txBody>
                    <a:bodyPr/>
                    <a:lstStyle/>
                    <a:p>
                      <a:r>
                        <a:rPr sz="1725" b="1">
                          <a:solidFill>
                            <a:srgbClr val="FFFFFF"/>
                          </a:solidFill>
                          <a:latin typeface="Helvetica Neue"/>
                          <a:ea typeface="Helvetica Neue"/>
                          <a:cs typeface="Helvetica Neue"/>
                        </a:rPr>
                        <a:t>Measured scope</a:t>
                      </a:r>
                    </a:p>
                  </a:txBody>
                  <a:tcPr marL="123825" marR="123825" marT="95250" marB="76200" anchor="t">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r>
              <a:tr h="767715">
                <a:tc>
                  <a:txBody>
                    <a:bodyPr/>
                    <a:lstStyle/>
                    <a:p>
                      <a:r>
                        <a:rPr sz="1725" b="0">
                          <a:solidFill>
                            <a:srgbClr val="17243C"/>
                          </a:solidFill>
                          <a:latin typeface="Helvetica Neue"/>
                          <a:ea typeface="Helvetica Neue"/>
                          <a:cs typeface="Helvetica Neue"/>
                        </a:rPr>
                        <a:t>Search relevance</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Amazon ESCI</a:t>
                      </a:r>
                    </a:p>
                    <a:p>
                      <a:r>
                        <a:rPr sz="1725" b="0">
                          <a:solidFill>
                            <a:srgbClr val="17243C"/>
                          </a:solidFill>
                          <a:latin typeface="Helvetica Neue"/>
                          <a:ea typeface="Helvetica Neue"/>
                          <a:cs typeface="Helvetica Neue"/>
                        </a:rPr>
                        <a:t>Official query-product labels</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500 test queries</a:t>
                      </a:r>
                    </a:p>
                    <a:p>
                      <a:r>
                        <a:rPr sz="1725" b="0">
                          <a:solidFill>
                            <a:srgbClr val="17243C"/>
                          </a:solidFill>
                          <a:latin typeface="Helvetica Neue"/>
                          <a:ea typeface="Helvetica Neue"/>
                          <a:cs typeface="Helvetica Neue"/>
                        </a:rPr>
                        <a:t>Complete lists of 2–40 products</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67715">
                <a:tc>
                  <a:txBody>
                    <a:bodyPr/>
                    <a:lstStyle/>
                    <a:p>
                      <a:r>
                        <a:rPr sz="1725" b="0">
                          <a:solidFill>
                            <a:srgbClr val="17243C"/>
                          </a:solidFill>
                          <a:latin typeface="Helvetica Neue"/>
                          <a:ea typeface="Helvetica Neue"/>
                          <a:cs typeface="Helvetica Neue"/>
                        </a:rPr>
                        <a:t>Image + language</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FashionIQ</a:t>
                      </a:r>
                    </a:p>
                    <a:p>
                      <a:r>
                        <a:rPr sz="1725" b="0">
                          <a:solidFill>
                            <a:srgbClr val="17243C"/>
                          </a:solidFill>
                          <a:latin typeface="Helvetica Neue"/>
                          <a:ea typeface="Helvetica Neue"/>
                          <a:cs typeface="Helvetica Neue"/>
                        </a:rPr>
                        <a:t>Image, relative edit, target</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287 validation queries</a:t>
                      </a:r>
                    </a:p>
                    <a:p>
                      <a:r>
                        <a:rPr sz="1725" b="0">
                          <a:solidFill>
                            <a:srgbClr val="17243C"/>
                          </a:solidFill>
                          <a:latin typeface="Helvetica Neue"/>
                          <a:ea typeface="Helvetica Neue"/>
                          <a:cs typeface="Helvetica Neue"/>
                        </a:rPr>
                        <a:t>Selected category image galleries</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67715">
                <a:tc>
                  <a:txBody>
                    <a:bodyPr/>
                    <a:lstStyle/>
                    <a:p>
                      <a:r>
                        <a:rPr sz="1725" b="0">
                          <a:solidFill>
                            <a:srgbClr val="17243C"/>
                          </a:solidFill>
                          <a:latin typeface="Helvetica Neue"/>
                          <a:ea typeface="Helvetica Neue"/>
                          <a:cs typeface="Helvetica Neue"/>
                        </a:rPr>
                        <a:t>History and exposure</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Amazon Reviews 2014</a:t>
                      </a:r>
                    </a:p>
                    <a:p>
                      <a:r>
                        <a:rPr sz="1725" b="0">
                          <a:solidFill>
                            <a:srgbClr val="17243C"/>
                          </a:solidFill>
                          <a:latin typeface="Helvetica Neue"/>
                          <a:ea typeface="Helvetica Neue"/>
                          <a:cs typeface="Helvetica Neue"/>
                        </a:rPr>
                        <a:t>Fixed seed42 checkpoints</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1,000 selected test users per domain</a:t>
                      </a:r>
                    </a:p>
                    <a:p>
                      <a:r>
                        <a:rPr sz="1725" b="0">
                          <a:solidFill>
                            <a:srgbClr val="17243C"/>
                          </a:solidFill>
                          <a:latin typeface="Helvetica Neue"/>
                          <a:ea typeface="Helvetica Neue"/>
                          <a:cs typeface="Helvetica Neue"/>
                        </a:rPr>
                        <a:t>History caps and exposure</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67715">
                <a:tc>
                  <a:txBody>
                    <a:bodyPr/>
                    <a:lstStyle/>
                    <a:p>
                      <a:r>
                        <a:rPr sz="1725" b="0">
                          <a:solidFill>
                            <a:srgbClr val="17243C"/>
                          </a:solidFill>
                          <a:latin typeface="Helvetica Neue"/>
                          <a:ea typeface="Helvetica Neue"/>
                          <a:cs typeface="Helvetica Neue"/>
                        </a:rPr>
                        <a:t>Local inference cost</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Prepared local models</a:t>
                      </a:r>
                    </a:p>
                    <a:p>
                      <a:r>
                        <a:rPr sz="1725" b="0">
                          <a:solidFill>
                            <a:srgbClr val="17243C"/>
                          </a:solidFill>
                          <a:latin typeface="Helvetica Neue"/>
                          <a:ea typeface="Helvetica Neue"/>
                          <a:cs typeface="Helvetica Neue"/>
                        </a:rPr>
                        <a:t>CPU execution</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725" b="0">
                          <a:solidFill>
                            <a:srgbClr val="17243C"/>
                          </a:solidFill>
                          <a:latin typeface="Helvetica Neue"/>
                          <a:ea typeface="Helvetica Neue"/>
                          <a:cs typeface="Helvetica Neue"/>
                        </a:rPr>
                        <a:t>Cold, new input and exact repeat</a:t>
                      </a:r>
                    </a:p>
                    <a:p>
                      <a:r>
                        <a:rPr sz="1725" b="0">
                          <a:solidFill>
                            <a:srgbClr val="17243C"/>
                          </a:solidFill>
                          <a:latin typeface="Helvetica Neue"/>
                          <a:ea typeface="Helvetica Neue"/>
                          <a:cs typeface="Helvetica Neue"/>
                        </a:rPr>
                        <a:t>Paired ranking-stage comparison</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DA19D23-DD59-4DFD-B4C7-47C1615657FF}"/>
              </a:ext>
            </a:extLst>
          </p:cNvPr>
          <p:cNvSpPr>
            <a:spLocks xmlns:a="http://schemas.openxmlformats.org/drawingml/2006/main" noGrp="1"/>
          </p:cNvSpPr>
          <p:nvPr/>
        </p:nvSpPr>
        <p:spPr>
          <a:xfrm xmlns:a="http://schemas.openxmlformats.org/drawingml/2006/main">
            <a:off x="628650" y="59245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The original 27 training evaluations remain unchanged. Each added task keeps its own metrics.</a:t>
            </a:r>
          </a:p>
        </p:txBody>
      </p:sp>
    </p:spTree>
    <p:extLst>
      <p:ext uri="{BB962C8B-B14F-4D97-AF65-F5344CB8AC3E}">
        <p14:creationId xmlns:p14="http://schemas.microsoft.com/office/powerpoint/2010/main" val="1709975817"/>
      </p:ext>
    </p:extLst>
  </p:cSld>
</p:sld>
</file>

<file path=ppt/slides/slide2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B584CA-773E-40B6-B56C-22D0B940725C}"/>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ESCI query-to-product relevance</a:t>
            </a:r>
          </a:p>
        </p:txBody>
      </p:sp>
      <p:sp>
        <p:nvSpPr>
          <p:cNvPr id="2" name="">
            <a:extLst xmlns:a="http://schemas.openxmlformats.org/drawingml/2006/main">
              <a:ext uri="{FF2B5EF4-FFF2-40B4-BE49-F238E27FC236}">
                <a16:creationId xmlns:a16="http://schemas.microsoft.com/office/drawing/2014/main" id="{30950219-0DB1-41D5-9B93-D589E0959260}"/>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500 official English test queries, 9,766 judged candidates. Title-only transfer.</a:t>
            </a:r>
          </a:p>
        </p:txBody>
      </p:sp>
      <p:sp>
        <p:nvSpPr>
          <p:cNvPr id="3" name="">
            <a:extLst xmlns:a="http://schemas.openxmlformats.org/drawingml/2006/main">
              <a:ext uri="{FF2B5EF4-FFF2-40B4-BE49-F238E27FC236}">
                <a16:creationId xmlns:a16="http://schemas.microsoft.com/office/drawing/2014/main" id="{DFB98896-2006-4DD6-8817-64E2462508C3}"/>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28</a:t>
            </a:r>
          </a:p>
        </p:txBody>
      </p:sp>
      <p:graphicFrame>
        <p:nvGraphicFramePr>
          <p:cNvPr id="4" name="Chart">
            <a:extLst xmlns:a="http://schemas.openxmlformats.org/drawingml/2006/main">
              <a:ext uri="{FF2B5EF4-FFF2-40B4-BE49-F238E27FC236}">
                <a16:creationId xmlns:a16="http://schemas.microsoft.com/office/drawing/2014/main" id="{6367CB76-0E0D-45F0-9DE4-8B8B52A667C1}"/>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chart">
            <c:chart xmlns:r="http://schemas.openxmlformats.org/officeDocument/2006/relationships" xmlns:c="http://schemas.openxmlformats.org/drawingml/2006/chart" r:id="R39d728a4bd33432e"/>
          </a:graphicData>
        </a:graphic>
      </p:graphicFrame>
      <p:sp>
        <p:nvSpPr>
          <p:cNvPr id="5" name="">
            <a:extLst xmlns:a="http://schemas.openxmlformats.org/drawingml/2006/main">
              <a:ext uri="{FF2B5EF4-FFF2-40B4-BE49-F238E27FC236}">
                <a16:creationId xmlns:a16="http://schemas.microsoft.com/office/drawing/2014/main" id="{210D8749-1A2D-4FE5-A347-94D88B0B8997}"/>
              </a:ext>
            </a:extLst>
          </p:cNvPr>
          <p:cNvSpPr>
            <a:spLocks xmlns:a="http://schemas.openxmlformats.org/drawingml/2006/main" noGrp="1"/>
          </p:cNvSpPr>
          <p:nvPr/>
        </p:nvSpPr>
        <p:spPr>
          <a:xfrm xmlns:a="http://schemas.openxmlformats.org/drawingml/2006/main">
            <a:off x="628650" y="5715000"/>
            <a:ext cx="1083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The Clothing adapters transfer from historical recommendation training without ESCI fine-tuning.</a:t>
            </a:r>
          </a:p>
        </p:txBody>
      </p:sp>
      <p:sp>
        <p:nvSpPr>
          <p:cNvPr id="6" name="">
            <a:extLst xmlns:a="http://schemas.openxmlformats.org/drawingml/2006/main">
              <a:ext uri="{FF2B5EF4-FFF2-40B4-BE49-F238E27FC236}">
                <a16:creationId xmlns:a16="http://schemas.microsoft.com/office/drawing/2014/main" id="{6F6A49BC-BBE1-4CE2-950A-494514070F93}"/>
              </a:ext>
            </a:extLst>
          </p:cNvPr>
          <p:cNvSpPr>
            <a:spLocks xmlns:a="http://schemas.openxmlformats.org/drawingml/2006/main" noGrp="1"/>
          </p:cNvSpPr>
          <p:nvPr/>
        </p:nvSpPr>
        <p:spPr>
          <a:xfrm xmlns:a="http://schemas.openxmlformats.org/drawingml/2006/main">
            <a:off x="628650" y="6105525"/>
            <a:ext cx="10839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All models rerank the same complete per-query list. These scores do not measure whole-catalogue search.</a:t>
            </a:r>
          </a:p>
        </p:txBody>
      </p:sp>
    </p:spTree>
    <p:extLst>
      <p:ext uri="{BB962C8B-B14F-4D97-AF65-F5344CB8AC3E}">
        <p14:creationId xmlns:p14="http://schemas.microsoft.com/office/powerpoint/2010/main" val="202964620"/>
      </p:ext>
    </p:extLst>
  </p:cSld>
</p:sld>
</file>

<file path=ppt/slides/slide2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3E5690-3D74-4C7C-8A52-C0FE83296AF8}"/>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One official request across four ranking methods</a:t>
            </a:r>
          </a:p>
        </p:txBody>
      </p:sp>
      <p:sp>
        <p:nvSpPr>
          <p:cNvPr id="2" name="">
            <a:extLst xmlns:a="http://schemas.openxmlformats.org/drawingml/2006/main">
              <a:ext uri="{FF2B5EF4-FFF2-40B4-BE49-F238E27FC236}">
                <a16:creationId xmlns:a16="http://schemas.microsoft.com/office/drawing/2014/main" id="{4B59A659-44A6-482D-A2AC-88228F7F2D2A}"/>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“I would want a light weight protable laptop with a graphics card and alot of memory”</a:t>
            </a:r>
          </a:p>
        </p:txBody>
      </p:sp>
      <p:sp>
        <p:nvSpPr>
          <p:cNvPr id="3" name="">
            <a:extLst xmlns:a="http://schemas.openxmlformats.org/drawingml/2006/main">
              <a:ext uri="{FF2B5EF4-FFF2-40B4-BE49-F238E27FC236}">
                <a16:creationId xmlns:a16="http://schemas.microsoft.com/office/drawing/2014/main" id="{28CAA063-0B50-46B7-94C1-6622501D1EBD}"/>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29</a:t>
            </a:r>
          </a:p>
        </p:txBody>
      </p:sp>
      <p:graphicFrame>
        <p:nvGraphicFramePr>
          <p:cNvPr id="4" name="">
            <a:extLst xmlns:a="http://schemas.openxmlformats.org/drawingml/2006/main">
              <a:ext uri="{FF2B5EF4-FFF2-40B4-BE49-F238E27FC236}">
                <a16:creationId xmlns:a16="http://schemas.microsoft.com/office/drawing/2014/main" id="{DBEA6C94-F387-417D-AE19-7A89D3EBADD6}"/>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a:tblGrid>
                <a:gridCol w="1619250"/>
                <a:gridCol w="3114675"/>
                <a:gridCol w="3114675"/>
                <a:gridCol w="3124200"/>
              </a:tblGrid>
              <a:tr h="723900">
                <a:tc>
                  <a:txBody>
                    <a:bodyPr/>
                    <a:lstStyle/>
                    <a:p>
                      <a:r>
                        <a:rPr sz="1500" b="1">
                          <a:solidFill>
                            <a:srgbClr val="FFFFFF"/>
                          </a:solidFill>
                          <a:latin typeface="Helvetica Neue"/>
                          <a:ea typeface="Helvetica Neue"/>
                          <a:cs typeface="Helvetica Neue"/>
                        </a:rPr>
                        <a:t>Model</a:t>
                      </a:r>
                    </a:p>
                  </a:txBody>
                  <a:tcPr marL="123825" marR="123825" marT="95250" marB="76200" anchor="t">
                    <a:lnL w="9525">
                      <a:solidFill>
                        <a:srgbClr val="DAE2EC"/>
                      </a:solidFill>
                      <a:prstDash val="solid"/>
                    </a:lnL>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c>
                  <a:txBody>
                    <a:bodyPr/>
                    <a:lstStyle/>
                    <a:p>
                      <a:r>
                        <a:rPr sz="1500" b="1">
                          <a:solidFill>
                            <a:srgbClr val="FFFFFF"/>
                          </a:solidFill>
                          <a:latin typeface="Helvetica Neue"/>
                          <a:ea typeface="Helvetica Neue"/>
                          <a:cs typeface="Helvetica Neue"/>
                        </a:rPr>
                        <a:t>Rank 1</a:t>
                      </a:r>
                    </a:p>
                  </a:txBody>
                  <a:tcPr marL="123825" marR="123825" marT="95250" marB="76200" anchor="t">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c>
                  <a:txBody>
                    <a:bodyPr/>
                    <a:lstStyle/>
                    <a:p>
                      <a:r>
                        <a:rPr sz="1500" b="1">
                          <a:solidFill>
                            <a:srgbClr val="FFFFFF"/>
                          </a:solidFill>
                          <a:latin typeface="Helvetica Neue"/>
                          <a:ea typeface="Helvetica Neue"/>
                          <a:cs typeface="Helvetica Neue"/>
                        </a:rPr>
                        <a:t>Rank 2</a:t>
                      </a:r>
                    </a:p>
                  </a:txBody>
                  <a:tcPr marL="123825" marR="123825" marT="95250" marB="76200" anchor="t">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c>
                  <a:txBody>
                    <a:bodyPr/>
                    <a:lstStyle/>
                    <a:p>
                      <a:r>
                        <a:rPr sz="1500" b="1">
                          <a:solidFill>
                            <a:srgbClr val="FFFFFF"/>
                          </a:solidFill>
                          <a:latin typeface="Helvetica Neue"/>
                          <a:ea typeface="Helvetica Neue"/>
                          <a:cs typeface="Helvetica Neue"/>
                        </a:rPr>
                        <a:t>Rank 3</a:t>
                      </a:r>
                    </a:p>
                  </a:txBody>
                  <a:tcPr marL="123825" marR="123825" marT="95250" marB="76200" anchor="t">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r>
              <a:tr h="723900">
                <a:tc>
                  <a:txBody>
                    <a:bodyPr/>
                    <a:lstStyle/>
                    <a:p>
                      <a:r>
                        <a:rPr sz="1500" b="0">
                          <a:solidFill>
                            <a:srgbClr val="17243C"/>
                          </a:solidFill>
                          <a:latin typeface="Helvetica Neue"/>
                          <a:ea typeface="Helvetica Neue"/>
                          <a:cs typeface="Helvetica Neue"/>
                        </a:rPr>
                        <a:t>TF-IDF</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2021 HP Stream 14" HD Laptop Light-Weight, Intel…</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C   Sapphire Technology Nitro+ AMD Radeon RX 6700 XT…</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C   Sapphire Technology Pulse AMD Radeon RX 6700 XT …</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23900">
                <a:tc>
                  <a:txBody>
                    <a:bodyPr/>
                    <a:lstStyle/>
                    <a:p>
                      <a:r>
                        <a:rPr sz="1500" b="0">
                          <a:solidFill>
                            <a:srgbClr val="17243C"/>
                          </a:solidFill>
                          <a:latin typeface="Helvetica Neue"/>
                          <a:ea typeface="Helvetica Neue"/>
                          <a:cs typeface="Helvetica Neue"/>
                        </a:rPr>
                        <a:t>Frozen</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Windows 10 Laptop 13.3" Full HD 1920 x 1080, Lig…</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Lenovo Chromebook Flex 5 13" Laptop, FHD (1920 x…</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2021 Lenovo Ideapad 3 15.6" Touchscreen Laptop C…</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23900">
                <a:tc>
                  <a:txBody>
                    <a:bodyPr/>
                    <a:lstStyle/>
                    <a:p>
                      <a:r>
                        <a:rPr sz="1500" b="0">
                          <a:solidFill>
                            <a:srgbClr val="17243C"/>
                          </a:solidFill>
                          <a:latin typeface="Helvetica Neue"/>
                          <a:ea typeface="Helvetica Neue"/>
                          <a:cs typeface="Helvetica Neue"/>
                        </a:rPr>
                        <a:t>Semantic</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S   Acer Aspire 5 Slim Laptop, 15.6 inches Full HD I…</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2021 HP Stream 14" HD Laptop Light-Weight, Intel…</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2021 Lenovo Ideapad 3 15.6" Touchscreen Laptop C…</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23900">
                <a:tc>
                  <a:txBody>
                    <a:bodyPr/>
                    <a:lstStyle/>
                    <a:p>
                      <a:r>
                        <a:rPr sz="1500" b="0">
                          <a:solidFill>
                            <a:srgbClr val="17243C"/>
                          </a:solidFill>
                          <a:latin typeface="Helvetica Neue"/>
                          <a:ea typeface="Helvetica Neue"/>
                          <a:cs typeface="Helvetica Neue"/>
                        </a:rPr>
                        <a:t>Preference</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Windows 10 Laptop 13.3" Full HD 1920 x 1080, Lig…</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Lenovo Chromebook Flex 5 13" Laptop, FHD (1920 x…</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500" b="0">
                          <a:solidFill>
                            <a:srgbClr val="17243C"/>
                          </a:solidFill>
                          <a:latin typeface="Helvetica Neue"/>
                          <a:ea typeface="Helvetica Neue"/>
                          <a:cs typeface="Helvetica Neue"/>
                        </a:rPr>
                        <a:t>E   2021 Lenovo Ideapad 3 15.6" Touchscreen Laptop C…</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FFDF2AD-3018-4D4C-AE0C-96C90A8220B2}"/>
              </a:ext>
            </a:extLst>
          </p:cNvPr>
          <p:cNvSpPr>
            <a:spLocks xmlns:a="http://schemas.openxmlformats.org/drawingml/2006/main" noGrp="1"/>
          </p:cNvSpPr>
          <p:nvPr/>
        </p:nvSpPr>
        <p:spPr>
          <a:xfrm xmlns:a="http://schemas.openxmlformats.org/drawingml/2006/main">
            <a:off x="628650" y="5848350"/>
            <a:ext cx="10839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Query 5722 has 39 official candidates. E exact, S substitute, C complement, I irrelevant.</a:t>
            </a:r>
          </a:p>
        </p:txBody>
      </p:sp>
      <p:sp>
        <p:nvSpPr>
          <p:cNvPr id="6" name="">
            <a:extLst xmlns:a="http://schemas.openxmlformats.org/drawingml/2006/main">
              <a:ext uri="{FF2B5EF4-FFF2-40B4-BE49-F238E27FC236}">
                <a16:creationId xmlns:a16="http://schemas.microsoft.com/office/drawing/2014/main" id="{3A871E81-CB57-4688-8EF2-7AA15DF14196}"/>
              </a:ext>
            </a:extLst>
          </p:cNvPr>
          <p:cNvSpPr>
            <a:spLocks xmlns:a="http://schemas.openxmlformats.org/drawingml/2006/main" noGrp="1"/>
          </p:cNvSpPr>
          <p:nvPr/>
        </p:nvSpPr>
        <p:spPr>
          <a:xfrm xmlns:a="http://schemas.openxmlformats.org/drawingml/2006/main">
            <a:off x="628650" y="61817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C7C"/>
                </a:solidFill>
                <a:latin typeface="Helvetica Neue"/>
                <a:ea typeface="Helvetica Neue"/>
                <a:cs typeface="Helvetica Neue"/>
              </a:defRPr>
            </a:defPPr>
            <a:lvl1pPr>
              <a:defRPr sz="1575" b="0">
                <a:solidFill>
                  <a:srgbClr val="586C7C"/>
                </a:solidFill>
                <a:latin typeface="Helvetica Neue"/>
                <a:ea typeface="Helvetica Neue"/>
                <a:cs typeface="Helvetica Neue"/>
              </a:defRPr>
            </a:lvl1pPr>
            <a:lvl2pPr>
              <a:defRPr sz="1575" b="0">
                <a:solidFill>
                  <a:srgbClr val="586C7C"/>
                </a:solidFill>
                <a:latin typeface="Helvetica Neue"/>
                <a:ea typeface="Helvetica Neue"/>
                <a:cs typeface="Helvetica Neue"/>
              </a:defRPr>
            </a:lvl2pPr>
            <a:lvl3pPr>
              <a:defRPr sz="1575" b="0">
                <a:solidFill>
                  <a:srgbClr val="586C7C"/>
                </a:solidFill>
                <a:latin typeface="Helvetica Neue"/>
                <a:ea typeface="Helvetica Neue"/>
                <a:cs typeface="Helvetica Neue"/>
              </a:defRPr>
            </a:lvl3pPr>
            <a:lvl4pPr>
              <a:defRPr sz="1575" b="0">
                <a:solidFill>
                  <a:srgbClr val="586C7C"/>
                </a:solidFill>
                <a:latin typeface="Helvetica Neue"/>
                <a:ea typeface="Helvetica Neue"/>
                <a:cs typeface="Helvetica Neue"/>
              </a:defRPr>
            </a:lvl4pPr>
            <a:lvl5pPr>
              <a:defRPr sz="1575" b="0">
                <a:solidFill>
                  <a:srgbClr val="586C7C"/>
                </a:solidFill>
                <a:latin typeface="Helvetica Neue"/>
                <a:ea typeface="Helvetica Neue"/>
                <a:cs typeface="Helvetica Neue"/>
              </a:defRPr>
            </a:lvl5pPr>
            <a:lvl6pPr>
              <a:defRPr sz="1575" b="0">
                <a:solidFill>
                  <a:srgbClr val="586C7C"/>
                </a:solidFill>
                <a:latin typeface="Helvetica Neue"/>
                <a:ea typeface="Helvetica Neue"/>
                <a:cs typeface="Helvetica Neue"/>
              </a:defRPr>
            </a:lvl6pPr>
            <a:lvl7pPr>
              <a:defRPr sz="1575" b="0">
                <a:solidFill>
                  <a:srgbClr val="586C7C"/>
                </a:solidFill>
                <a:latin typeface="Helvetica Neue"/>
                <a:ea typeface="Helvetica Neue"/>
                <a:cs typeface="Helvetica Neue"/>
              </a:defRPr>
            </a:lvl7pPr>
            <a:lvl8pPr>
              <a:defRPr sz="1575" b="0">
                <a:solidFill>
                  <a:srgbClr val="586C7C"/>
                </a:solidFill>
                <a:latin typeface="Helvetica Neue"/>
                <a:ea typeface="Helvetica Neue"/>
                <a:cs typeface="Helvetica Neue"/>
              </a:defRPr>
            </a:lvl8pPr>
            <a:lvl9pPr>
              <a:defRPr sz="1575" b="0">
                <a:solidFill>
                  <a:srgbClr val="586C7C"/>
                </a:solidFill>
                <a:latin typeface="Helvetica Neue"/>
                <a:ea typeface="Helvetica Neue"/>
                <a:cs typeface="Helvetica Neue"/>
              </a:defRPr>
            </a:lvl9pPr>
          </a:lstStyle>
          <a:p xmlns:a="http://schemas.openxmlformats.org/drawingml/2006/main">
            <a:pPr>
              <a:defRPr sz="1575" b="0">
                <a:solidFill>
                  <a:srgbClr val="586C7C"/>
                </a:solidFill>
                <a:latin typeface="Helvetica Neue"/>
                <a:ea typeface="Helvetica Neue"/>
                <a:cs typeface="Helvetica Neue"/>
              </a:defRPr>
            </a:pPr>
            <a:r>
              <a:rPr sz="1575" b="0">
                <a:solidFill>
                  <a:srgbClr val="586C7C"/>
                </a:solidFill>
                <a:latin typeface="Helvetica Neue"/>
                <a:ea typeface="Helvetica Neue"/>
                <a:cs typeface="Helvetica Neue"/>
              </a:rPr>
              <a:t>This query is first in the fixed hash sample. The example does not select an apparent model win.</a:t>
            </a:r>
          </a:p>
        </p:txBody>
      </p:sp>
    </p:spTree>
    <p:extLst>
      <p:ext uri="{BB962C8B-B14F-4D97-AF65-F5344CB8AC3E}">
        <p14:creationId xmlns:p14="http://schemas.microsoft.com/office/powerpoint/2010/main" val="564113296"/>
      </p:ext>
    </p:extLst>
  </p:cSld>
</p:sld>
</file>

<file path=ppt/slides/slide3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967E0F-7EBE-4900-99D3-899AC1F12236}"/>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FashionIQ composed image retrieval</a:t>
            </a:r>
          </a:p>
        </p:txBody>
      </p:sp>
      <p:sp>
        <p:nvSpPr>
          <p:cNvPr id="2" name="">
            <a:extLst xmlns:a="http://schemas.openxmlformats.org/drawingml/2006/main">
              <a:ext uri="{FF2B5EF4-FFF2-40B4-BE49-F238E27FC236}">
                <a16:creationId xmlns:a16="http://schemas.microsoft.com/office/drawing/2014/main" id="{B415FDDA-E524-42B6-A469-23151911F808}"/>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850 train, 82 internal development, 287 official validation queries. Frozen CLIP.</a:t>
            </a:r>
          </a:p>
        </p:txBody>
      </p:sp>
      <p:sp>
        <p:nvSpPr>
          <p:cNvPr id="3" name="">
            <a:extLst xmlns:a="http://schemas.openxmlformats.org/drawingml/2006/main">
              <a:ext uri="{FF2B5EF4-FFF2-40B4-BE49-F238E27FC236}">
                <a16:creationId xmlns:a16="http://schemas.microsoft.com/office/drawing/2014/main" id="{52E38BA3-8C81-4E40-9968-5F2EE7B85E70}"/>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30</a:t>
            </a:r>
          </a:p>
        </p:txBody>
      </p:sp>
      <p:graphicFrame>
        <p:nvGraphicFramePr>
          <p:cNvPr id="4" name="Chart">
            <a:extLst xmlns:a="http://schemas.openxmlformats.org/drawingml/2006/main">
              <a:ext uri="{FF2B5EF4-FFF2-40B4-BE49-F238E27FC236}">
                <a16:creationId xmlns:a16="http://schemas.microsoft.com/office/drawing/2014/main" id="{C5E94B62-221F-421A-9F3A-149A3E8F29E4}"/>
              </a:ext>
            </a:extLst>
          </p:cNvPr>
          <p:cNvGraphicFramePr/>
          <p:nvPr/>
        </p:nvGraphicFramePr>
        <p:xfrm>
          <a:off xmlns:a="http://schemas.openxmlformats.org/drawingml/2006/main" x="609600" y="1714500"/>
          <a:ext xmlns:a="http://schemas.openxmlformats.org/drawingml/2006/main" cx="10972800" cy="3524250"/>
        </p:xfrm>
        <a:graphic xmlns:a="http://schemas.openxmlformats.org/drawingml/2006/main">
          <a:graphicData uri="http://schemas.openxmlformats.org/drawingml/2006/chart">
            <c:chart xmlns:r="http://schemas.openxmlformats.org/officeDocument/2006/relationships" xmlns:c="http://schemas.openxmlformats.org/drawingml/2006/chart" r:id="R1ecb0db8b675430a"/>
          </a:graphicData>
        </a:graphic>
      </p:graphicFrame>
      <p:sp>
        <p:nvSpPr>
          <p:cNvPr id="5" name="">
            <a:extLst xmlns:a="http://schemas.openxmlformats.org/drawingml/2006/main">
              <a:ext uri="{FF2B5EF4-FFF2-40B4-BE49-F238E27FC236}">
                <a16:creationId xmlns:a16="http://schemas.microsoft.com/office/drawing/2014/main" id="{0274CD67-36E9-4A9C-A023-93F26D2A345C}"/>
              </a:ext>
            </a:extLst>
          </p:cNvPr>
          <p:cNvSpPr>
            <a:spLocks xmlns:a="http://schemas.openxmlformats.org/drawingml/2006/main" noGrp="1"/>
          </p:cNvSpPr>
          <p:nvPr/>
        </p:nvSpPr>
        <p:spPr>
          <a:xfrm xmlns:a="http://schemas.openxmlformats.org/drawingml/2006/main">
            <a:off x="628650" y="5553075"/>
            <a:ext cx="1083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243C"/>
                </a:solidFill>
                <a:latin typeface="Helvetica Neue"/>
                <a:ea typeface="Helvetica Neue"/>
                <a:cs typeface="Helvetica Neue"/>
              </a:defRPr>
            </a:defPPr>
            <a:lvl1pPr>
              <a:defRPr sz="1875" b="1">
                <a:solidFill>
                  <a:srgbClr val="17243C"/>
                </a:solidFill>
                <a:latin typeface="Helvetica Neue"/>
                <a:ea typeface="Helvetica Neue"/>
                <a:cs typeface="Helvetica Neue"/>
              </a:defRPr>
            </a:lvl1pPr>
            <a:lvl2pPr>
              <a:defRPr sz="1875" b="1">
                <a:solidFill>
                  <a:srgbClr val="17243C"/>
                </a:solidFill>
                <a:latin typeface="Helvetica Neue"/>
                <a:ea typeface="Helvetica Neue"/>
                <a:cs typeface="Helvetica Neue"/>
              </a:defRPr>
            </a:lvl2pPr>
            <a:lvl3pPr>
              <a:defRPr sz="1875" b="1">
                <a:solidFill>
                  <a:srgbClr val="17243C"/>
                </a:solidFill>
                <a:latin typeface="Helvetica Neue"/>
                <a:ea typeface="Helvetica Neue"/>
                <a:cs typeface="Helvetica Neue"/>
              </a:defRPr>
            </a:lvl3pPr>
            <a:lvl4pPr>
              <a:defRPr sz="1875" b="1">
                <a:solidFill>
                  <a:srgbClr val="17243C"/>
                </a:solidFill>
                <a:latin typeface="Helvetica Neue"/>
                <a:ea typeface="Helvetica Neue"/>
                <a:cs typeface="Helvetica Neue"/>
              </a:defRPr>
            </a:lvl4pPr>
            <a:lvl5pPr>
              <a:defRPr sz="1875" b="1">
                <a:solidFill>
                  <a:srgbClr val="17243C"/>
                </a:solidFill>
                <a:latin typeface="Helvetica Neue"/>
                <a:ea typeface="Helvetica Neue"/>
                <a:cs typeface="Helvetica Neue"/>
              </a:defRPr>
            </a:lvl5pPr>
            <a:lvl6pPr>
              <a:defRPr sz="1875" b="1">
                <a:solidFill>
                  <a:srgbClr val="17243C"/>
                </a:solidFill>
                <a:latin typeface="Helvetica Neue"/>
                <a:ea typeface="Helvetica Neue"/>
                <a:cs typeface="Helvetica Neue"/>
              </a:defRPr>
            </a:lvl6pPr>
            <a:lvl7pPr>
              <a:defRPr sz="1875" b="1">
                <a:solidFill>
                  <a:srgbClr val="17243C"/>
                </a:solidFill>
                <a:latin typeface="Helvetica Neue"/>
                <a:ea typeface="Helvetica Neue"/>
                <a:cs typeface="Helvetica Neue"/>
              </a:defRPr>
            </a:lvl7pPr>
            <a:lvl8pPr>
              <a:defRPr sz="1875" b="1">
                <a:solidFill>
                  <a:srgbClr val="17243C"/>
                </a:solidFill>
                <a:latin typeface="Helvetica Neue"/>
                <a:ea typeface="Helvetica Neue"/>
                <a:cs typeface="Helvetica Neue"/>
              </a:defRPr>
            </a:lvl8pPr>
            <a:lvl9pPr>
              <a:defRPr sz="1875" b="1">
                <a:solidFill>
                  <a:srgbClr val="17243C"/>
                </a:solidFill>
                <a:latin typeface="Helvetica Neue"/>
                <a:ea typeface="Helvetica Neue"/>
                <a:cs typeface="Helvetica Neue"/>
              </a:defRPr>
            </a:lvl9pPr>
          </a:lstStyle>
          <a:p xmlns:a="http://schemas.openxmlformats.org/drawingml/2006/main">
            <a:pPr>
              <a:defRPr sz="1875" b="1">
                <a:solidFill>
                  <a:srgbClr val="17243C"/>
                </a:solidFill>
                <a:latin typeface="Helvetica Neue"/>
                <a:ea typeface="Helvetica Neue"/>
                <a:cs typeface="Helvetica Neue"/>
              </a:defRPr>
            </a:pPr>
            <a:r>
              <a:rPr sz="1875" b="1">
                <a:solidFill>
                  <a:srgbClr val="17243C"/>
                </a:solidFill>
                <a:latin typeface="Helvetica Neue"/>
                <a:ea typeface="Helvetica Neue"/>
                <a:cs typeface="Helvetica Neue"/>
              </a:rPr>
              <a:t>Learned fusion improves fixed fusion by 12.17 percentage points at Recall@10.</a:t>
            </a:r>
          </a:p>
        </p:txBody>
      </p:sp>
      <p:sp>
        <p:nvSpPr>
          <p:cNvPr id="6" name="">
            <a:extLst xmlns:a="http://schemas.openxmlformats.org/drawingml/2006/main">
              <a:ext uri="{FF2B5EF4-FFF2-40B4-BE49-F238E27FC236}">
                <a16:creationId xmlns:a16="http://schemas.microsoft.com/office/drawing/2014/main" id="{042CAC15-6BA9-46E0-9E77-EBFD63E3B182}"/>
              </a:ext>
            </a:extLst>
          </p:cNvPr>
          <p:cNvSpPr>
            <a:spLocks xmlns:a="http://schemas.openxmlformats.org/drawingml/2006/main" noGrp="1"/>
          </p:cNvSpPr>
          <p:nvPr/>
        </p:nvSpPr>
        <p:spPr>
          <a:xfrm xmlns:a="http://schemas.openxmlformats.org/drawingml/2006/main">
            <a:off x="628650" y="59436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Text alone reaches 56.05% at Recall@10. Learned fusion reaches 52.27%.</a:t>
            </a:r>
          </a:p>
        </p:txBody>
      </p:sp>
      <p:sp>
        <p:nvSpPr>
          <p:cNvPr id="7" name="">
            <a:extLst xmlns:a="http://schemas.openxmlformats.org/drawingml/2006/main">
              <a:ext uri="{FF2B5EF4-FFF2-40B4-BE49-F238E27FC236}">
                <a16:creationId xmlns:a16="http://schemas.microsoft.com/office/drawing/2014/main" id="{506CB25D-4CDA-487D-8B44-D63F9798FF13}"/>
              </a:ext>
            </a:extLst>
          </p:cNvPr>
          <p:cNvSpPr>
            <a:spLocks xmlns:a="http://schemas.openxmlformats.org/drawingml/2006/main" noGrp="1"/>
          </p:cNvSpPr>
          <p:nvPr/>
        </p:nvSpPr>
        <p:spPr>
          <a:xfrm xmlns:a="http://schemas.openxmlformats.org/drawingml/2006/main">
            <a:off x="628650" y="62579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C7C"/>
                </a:solidFill>
                <a:latin typeface="Helvetica Neue"/>
                <a:ea typeface="Helvetica Neue"/>
                <a:cs typeface="Helvetica Neue"/>
              </a:defRPr>
            </a:defPPr>
            <a:lvl1pPr>
              <a:defRPr sz="1575" b="0">
                <a:solidFill>
                  <a:srgbClr val="586C7C"/>
                </a:solidFill>
                <a:latin typeface="Helvetica Neue"/>
                <a:ea typeface="Helvetica Neue"/>
                <a:cs typeface="Helvetica Neue"/>
              </a:defRPr>
            </a:lvl1pPr>
            <a:lvl2pPr>
              <a:defRPr sz="1575" b="0">
                <a:solidFill>
                  <a:srgbClr val="586C7C"/>
                </a:solidFill>
                <a:latin typeface="Helvetica Neue"/>
                <a:ea typeface="Helvetica Neue"/>
                <a:cs typeface="Helvetica Neue"/>
              </a:defRPr>
            </a:lvl2pPr>
            <a:lvl3pPr>
              <a:defRPr sz="1575" b="0">
                <a:solidFill>
                  <a:srgbClr val="586C7C"/>
                </a:solidFill>
                <a:latin typeface="Helvetica Neue"/>
                <a:ea typeface="Helvetica Neue"/>
                <a:cs typeface="Helvetica Neue"/>
              </a:defRPr>
            </a:lvl3pPr>
            <a:lvl4pPr>
              <a:defRPr sz="1575" b="0">
                <a:solidFill>
                  <a:srgbClr val="586C7C"/>
                </a:solidFill>
                <a:latin typeface="Helvetica Neue"/>
                <a:ea typeface="Helvetica Neue"/>
                <a:cs typeface="Helvetica Neue"/>
              </a:defRPr>
            </a:lvl4pPr>
            <a:lvl5pPr>
              <a:defRPr sz="1575" b="0">
                <a:solidFill>
                  <a:srgbClr val="586C7C"/>
                </a:solidFill>
                <a:latin typeface="Helvetica Neue"/>
                <a:ea typeface="Helvetica Neue"/>
                <a:cs typeface="Helvetica Neue"/>
              </a:defRPr>
            </a:lvl5pPr>
            <a:lvl6pPr>
              <a:defRPr sz="1575" b="0">
                <a:solidFill>
                  <a:srgbClr val="586C7C"/>
                </a:solidFill>
                <a:latin typeface="Helvetica Neue"/>
                <a:ea typeface="Helvetica Neue"/>
                <a:cs typeface="Helvetica Neue"/>
              </a:defRPr>
            </a:lvl6pPr>
            <a:lvl7pPr>
              <a:defRPr sz="1575" b="0">
                <a:solidFill>
                  <a:srgbClr val="586C7C"/>
                </a:solidFill>
                <a:latin typeface="Helvetica Neue"/>
                <a:ea typeface="Helvetica Neue"/>
                <a:cs typeface="Helvetica Neue"/>
              </a:defRPr>
            </a:lvl7pPr>
            <a:lvl8pPr>
              <a:defRPr sz="1575" b="0">
                <a:solidFill>
                  <a:srgbClr val="586C7C"/>
                </a:solidFill>
                <a:latin typeface="Helvetica Neue"/>
                <a:ea typeface="Helvetica Neue"/>
                <a:cs typeface="Helvetica Neue"/>
              </a:defRPr>
            </a:lvl8pPr>
            <a:lvl9pPr>
              <a:defRPr sz="1575" b="0">
                <a:solidFill>
                  <a:srgbClr val="586C7C"/>
                </a:solidFill>
                <a:latin typeface="Helvetica Neue"/>
                <a:ea typeface="Helvetica Neue"/>
                <a:cs typeface="Helvetica Neue"/>
              </a:defRPr>
            </a:lvl9pPr>
          </a:lstStyle>
          <a:p xmlns:a="http://schemas.openxmlformats.org/drawingml/2006/main">
            <a:pPr>
              <a:defRPr sz="1575" b="0">
                <a:solidFill>
                  <a:srgbClr val="586C7C"/>
                </a:solidFill>
                <a:latin typeface="Helvetica Neue"/>
                <a:ea typeface="Helvetica Neue"/>
                <a:cs typeface="Helvetica Neue"/>
              </a:defRPr>
            </a:pPr>
            <a:r>
              <a:rPr sz="1575" b="0">
                <a:solidFill>
                  <a:srgbClr val="586C7C"/>
                </a:solidFill>
                <a:latin typeface="Helvetica Neue"/>
                <a:ea typeface="Helvetica Neue"/>
                <a:cs typeface="Helvetica Neue"/>
              </a:rPr>
              <a:t>Selected image pools, one known target per query, seed42. These are subset results.</a:t>
            </a:r>
          </a:p>
        </p:txBody>
      </p:sp>
    </p:spTree>
    <p:extLst>
      <p:ext uri="{BB962C8B-B14F-4D97-AF65-F5344CB8AC3E}">
        <p14:creationId xmlns:p14="http://schemas.microsoft.com/office/powerpoint/2010/main" val="594172189"/>
      </p:ext>
    </p:extLst>
  </p:cSld>
</p:sld>
</file>

<file path=ppt/slides/slide3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27261F6-BC5C-427B-8342-DAA4C541977A}"/>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Reference, modification and retrieved garments</a:t>
            </a:r>
          </a:p>
        </p:txBody>
      </p:sp>
      <p:sp>
        <p:nvSpPr>
          <p:cNvPr id="2" name="">
            <a:extLst xmlns:a="http://schemas.openxmlformats.org/drawingml/2006/main">
              <a:ext uri="{FF2B5EF4-FFF2-40B4-BE49-F238E27FC236}">
                <a16:creationId xmlns:a16="http://schemas.microsoft.com/office/drawing/2014/main" id="{18BD1DD3-2FA8-4E6C-BBAB-9FB86D4B952D}"/>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Actual FashionIQ photographs and recorded ranks from the held-out subset</a:t>
            </a:r>
          </a:p>
        </p:txBody>
      </p:sp>
      <p:sp>
        <p:nvSpPr>
          <p:cNvPr id="3" name="">
            <a:extLst xmlns:a="http://schemas.openxmlformats.org/drawingml/2006/main">
              <a:ext uri="{FF2B5EF4-FFF2-40B4-BE49-F238E27FC236}">
                <a16:creationId xmlns:a16="http://schemas.microsoft.com/office/drawing/2014/main" id="{5DB8B412-7948-4581-A16E-996E6A54C2BC}"/>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31</a:t>
            </a:r>
          </a:p>
        </p:txBody>
      </p:sp>
      <p:sp>
        <p:nvSpPr>
          <p:cNvPr id="4" name="">
            <a:extLst xmlns:a="http://schemas.openxmlformats.org/drawingml/2006/main">
              <a:ext uri="{FF2B5EF4-FFF2-40B4-BE49-F238E27FC236}">
                <a16:creationId xmlns:a16="http://schemas.microsoft.com/office/drawing/2014/main" id="{7DAB45BF-BD16-4104-9B62-9826CE934759}"/>
              </a:ext>
            </a:extLst>
          </p:cNvPr>
          <p:cNvSpPr>
            <a:spLocks xmlns:a="http://schemas.openxmlformats.org/drawingml/2006/main" noGrp="1"/>
          </p:cNvSpPr>
          <p:nvPr/>
        </p:nvSpPr>
        <p:spPr>
          <a:xfrm xmlns:a="http://schemas.openxmlformats.org/drawingml/2006/main">
            <a:off x="628650" y="15811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43C"/>
                </a:solidFill>
                <a:latin typeface="Helvetica Neue"/>
                <a:ea typeface="Helvetica Neue"/>
                <a:cs typeface="Helvetica Neue"/>
              </a:defRPr>
            </a:defPPr>
            <a:lvl1pPr>
              <a:defRPr sz="1725" b="1">
                <a:solidFill>
                  <a:srgbClr val="17243C"/>
                </a:solidFill>
                <a:latin typeface="Helvetica Neue"/>
                <a:ea typeface="Helvetica Neue"/>
                <a:cs typeface="Helvetica Neue"/>
              </a:defRPr>
            </a:lvl1pPr>
            <a:lvl2pPr>
              <a:defRPr sz="1725" b="1">
                <a:solidFill>
                  <a:srgbClr val="17243C"/>
                </a:solidFill>
                <a:latin typeface="Helvetica Neue"/>
                <a:ea typeface="Helvetica Neue"/>
                <a:cs typeface="Helvetica Neue"/>
              </a:defRPr>
            </a:lvl2pPr>
            <a:lvl3pPr>
              <a:defRPr sz="1725" b="1">
                <a:solidFill>
                  <a:srgbClr val="17243C"/>
                </a:solidFill>
                <a:latin typeface="Helvetica Neue"/>
                <a:ea typeface="Helvetica Neue"/>
                <a:cs typeface="Helvetica Neue"/>
              </a:defRPr>
            </a:lvl3pPr>
            <a:lvl4pPr>
              <a:defRPr sz="1725" b="1">
                <a:solidFill>
                  <a:srgbClr val="17243C"/>
                </a:solidFill>
                <a:latin typeface="Helvetica Neue"/>
                <a:ea typeface="Helvetica Neue"/>
                <a:cs typeface="Helvetica Neue"/>
              </a:defRPr>
            </a:lvl4pPr>
            <a:lvl5pPr>
              <a:defRPr sz="1725" b="1">
                <a:solidFill>
                  <a:srgbClr val="17243C"/>
                </a:solidFill>
                <a:latin typeface="Helvetica Neue"/>
                <a:ea typeface="Helvetica Neue"/>
                <a:cs typeface="Helvetica Neue"/>
              </a:defRPr>
            </a:lvl5pPr>
            <a:lvl6pPr>
              <a:defRPr sz="1725" b="1">
                <a:solidFill>
                  <a:srgbClr val="17243C"/>
                </a:solidFill>
                <a:latin typeface="Helvetica Neue"/>
                <a:ea typeface="Helvetica Neue"/>
                <a:cs typeface="Helvetica Neue"/>
              </a:defRPr>
            </a:lvl6pPr>
            <a:lvl7pPr>
              <a:defRPr sz="1725" b="1">
                <a:solidFill>
                  <a:srgbClr val="17243C"/>
                </a:solidFill>
                <a:latin typeface="Helvetica Neue"/>
                <a:ea typeface="Helvetica Neue"/>
                <a:cs typeface="Helvetica Neue"/>
              </a:defRPr>
            </a:lvl7pPr>
            <a:lvl8pPr>
              <a:defRPr sz="1725" b="1">
                <a:solidFill>
                  <a:srgbClr val="17243C"/>
                </a:solidFill>
                <a:latin typeface="Helvetica Neue"/>
                <a:ea typeface="Helvetica Neue"/>
                <a:cs typeface="Helvetica Neue"/>
              </a:defRPr>
            </a:lvl8pPr>
            <a:lvl9pPr>
              <a:defRPr sz="1725" b="1">
                <a:solidFill>
                  <a:srgbClr val="17243C"/>
                </a:solidFill>
                <a:latin typeface="Helvetica Neue"/>
                <a:ea typeface="Helvetica Neue"/>
                <a:cs typeface="Helvetica Neue"/>
              </a:defRPr>
            </a:lvl9pPr>
          </a:lstStyle>
          <a:p xmlns:a="http://schemas.openxmlformats.org/drawingml/2006/main">
            <a:pPr>
              <a:defRPr sz="1725" b="1">
                <a:solidFill>
                  <a:srgbClr val="17243C"/>
                </a:solidFill>
                <a:latin typeface="Helvetica Neue"/>
                <a:ea typeface="Helvetica Neue"/>
                <a:cs typeface="Helvetica Neue"/>
              </a:defRPr>
            </a:pPr>
            <a:r>
              <a:rPr sz="1725" b="1">
                <a:solidFill>
                  <a:srgbClr val="17243C"/>
                </a:solidFill>
                <a:latin typeface="Helvetica Neue"/>
                <a:ea typeface="Helvetica Neue"/>
                <a:cs typeface="Helvetica Neue"/>
              </a:rPr>
              <a:t>Reference</a:t>
            </a:r>
          </a:p>
        </p:txBody>
      </p:sp>
      <p:sp>
        <p:nvSpPr>
          <p:cNvPr id="5" name="">
            <a:extLst xmlns:a="http://schemas.openxmlformats.org/drawingml/2006/main">
              <a:ext uri="{FF2B5EF4-FFF2-40B4-BE49-F238E27FC236}">
                <a16:creationId xmlns:a16="http://schemas.microsoft.com/office/drawing/2014/main" id="{1EAA868D-9578-41D2-8A88-E7201E4704A8}"/>
              </a:ext>
            </a:extLst>
          </p:cNvPr>
          <p:cNvSpPr>
            <a:spLocks xmlns:a="http://schemas.openxmlformats.org/drawingml/2006/main" noGrp="1"/>
          </p:cNvSpPr>
          <p:nvPr/>
        </p:nvSpPr>
        <p:spPr>
          <a:xfrm xmlns:a="http://schemas.openxmlformats.org/drawingml/2006/main">
            <a:off x="2571750" y="15811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43C"/>
                </a:solidFill>
                <a:latin typeface="Helvetica Neue"/>
                <a:ea typeface="Helvetica Neue"/>
                <a:cs typeface="Helvetica Neue"/>
              </a:defRPr>
            </a:defPPr>
            <a:lvl1pPr>
              <a:defRPr sz="1725" b="1">
                <a:solidFill>
                  <a:srgbClr val="17243C"/>
                </a:solidFill>
                <a:latin typeface="Helvetica Neue"/>
                <a:ea typeface="Helvetica Neue"/>
                <a:cs typeface="Helvetica Neue"/>
              </a:defRPr>
            </a:lvl1pPr>
            <a:lvl2pPr>
              <a:defRPr sz="1725" b="1">
                <a:solidFill>
                  <a:srgbClr val="17243C"/>
                </a:solidFill>
                <a:latin typeface="Helvetica Neue"/>
                <a:ea typeface="Helvetica Neue"/>
                <a:cs typeface="Helvetica Neue"/>
              </a:defRPr>
            </a:lvl2pPr>
            <a:lvl3pPr>
              <a:defRPr sz="1725" b="1">
                <a:solidFill>
                  <a:srgbClr val="17243C"/>
                </a:solidFill>
                <a:latin typeface="Helvetica Neue"/>
                <a:ea typeface="Helvetica Neue"/>
                <a:cs typeface="Helvetica Neue"/>
              </a:defRPr>
            </a:lvl3pPr>
            <a:lvl4pPr>
              <a:defRPr sz="1725" b="1">
                <a:solidFill>
                  <a:srgbClr val="17243C"/>
                </a:solidFill>
                <a:latin typeface="Helvetica Neue"/>
                <a:ea typeface="Helvetica Neue"/>
                <a:cs typeface="Helvetica Neue"/>
              </a:defRPr>
            </a:lvl4pPr>
            <a:lvl5pPr>
              <a:defRPr sz="1725" b="1">
                <a:solidFill>
                  <a:srgbClr val="17243C"/>
                </a:solidFill>
                <a:latin typeface="Helvetica Neue"/>
                <a:ea typeface="Helvetica Neue"/>
                <a:cs typeface="Helvetica Neue"/>
              </a:defRPr>
            </a:lvl5pPr>
            <a:lvl6pPr>
              <a:defRPr sz="1725" b="1">
                <a:solidFill>
                  <a:srgbClr val="17243C"/>
                </a:solidFill>
                <a:latin typeface="Helvetica Neue"/>
                <a:ea typeface="Helvetica Neue"/>
                <a:cs typeface="Helvetica Neue"/>
              </a:defRPr>
            </a:lvl6pPr>
            <a:lvl7pPr>
              <a:defRPr sz="1725" b="1">
                <a:solidFill>
                  <a:srgbClr val="17243C"/>
                </a:solidFill>
                <a:latin typeface="Helvetica Neue"/>
                <a:ea typeface="Helvetica Neue"/>
                <a:cs typeface="Helvetica Neue"/>
              </a:defRPr>
            </a:lvl7pPr>
            <a:lvl8pPr>
              <a:defRPr sz="1725" b="1">
                <a:solidFill>
                  <a:srgbClr val="17243C"/>
                </a:solidFill>
                <a:latin typeface="Helvetica Neue"/>
                <a:ea typeface="Helvetica Neue"/>
                <a:cs typeface="Helvetica Neue"/>
              </a:defRPr>
            </a:lvl8pPr>
            <a:lvl9pPr>
              <a:defRPr sz="1725" b="1">
                <a:solidFill>
                  <a:srgbClr val="17243C"/>
                </a:solidFill>
                <a:latin typeface="Helvetica Neue"/>
                <a:ea typeface="Helvetica Neue"/>
                <a:cs typeface="Helvetica Neue"/>
              </a:defRPr>
            </a:lvl9pPr>
          </a:lstStyle>
          <a:p xmlns:a="http://schemas.openxmlformats.org/drawingml/2006/main">
            <a:pPr>
              <a:defRPr sz="1725" b="1">
                <a:solidFill>
                  <a:srgbClr val="17243C"/>
                </a:solidFill>
                <a:latin typeface="Helvetica Neue"/>
                <a:ea typeface="Helvetica Neue"/>
                <a:cs typeface="Helvetica Neue"/>
              </a:defRPr>
            </a:pPr>
            <a:r>
              <a:rPr sz="1725" b="1">
                <a:solidFill>
                  <a:srgbClr val="17243C"/>
                </a:solidFill>
                <a:latin typeface="Helvetica Neue"/>
                <a:ea typeface="Helvetica Neue"/>
                <a:cs typeface="Helvetica Neue"/>
              </a:rPr>
              <a:t>Paired target</a:t>
            </a:r>
          </a:p>
        </p:txBody>
      </p:sp>
      <p:pic>
        <p:nvPicPr>
          <p:cNvPr id="6" name="">
            <a:extLst xmlns:a="http://schemas.openxmlformats.org/drawingml/2006/main">
              <a:ext uri="{FF2B5EF4-FFF2-40B4-BE49-F238E27FC236}">
                <a16:creationId xmlns:a16="http://schemas.microsoft.com/office/drawing/2014/main" id="{75559EEC-4578-4796-A76F-6C235EAD662C}"/>
              </a:ext>
            </a:extLst>
          </p:cNvPr>
          <p:cNvPicPr>
            <a:picLocks xmlns:a="http://schemas.openxmlformats.org/drawingml/2006/main" noChangeAspect="1"/>
          </p:cNvPicPr>
          <p:nvPr/>
        </p:nvPicPr>
        <p:blipFill>
          <a:blip xmlns:r="http://schemas.openxmlformats.org/officeDocument/2006/relationships" xmlns:a="http://schemas.openxmlformats.org/drawingml/2006/main" r:embed="R53319a6d40fb466b"/>
          <a:stretch xmlns:a="http://schemas.openxmlformats.org/drawingml/2006/main"/>
        </p:blipFill>
        <p:spPr>
          <a:xfrm xmlns:a="http://schemas.openxmlformats.org/drawingml/2006/main">
            <a:off x="830580" y="1924050"/>
            <a:ext cx="1177290" cy="16954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FFBC327-7616-41CA-BF1C-C7B528332100}"/>
              </a:ext>
            </a:extLst>
          </p:cNvPr>
          <p:cNvPicPr>
            <a:picLocks xmlns:a="http://schemas.openxmlformats.org/drawingml/2006/main" noChangeAspect="1"/>
          </p:cNvPicPr>
          <p:nvPr/>
        </p:nvPicPr>
        <p:blipFill>
          <a:blip xmlns:r="http://schemas.openxmlformats.org/officeDocument/2006/relationships" xmlns:a="http://schemas.openxmlformats.org/drawingml/2006/main" r:embed="Ra51b731f19644493"/>
          <a:stretch xmlns:a="http://schemas.openxmlformats.org/drawingml/2006/main"/>
        </p:blipFill>
        <p:spPr>
          <a:xfrm xmlns:a="http://schemas.openxmlformats.org/drawingml/2006/main">
            <a:off x="2985135" y="1924050"/>
            <a:ext cx="754380" cy="1695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9A1B25B-6878-4E1D-9955-97C87CBBDD93}"/>
              </a:ext>
            </a:extLst>
          </p:cNvPr>
          <p:cNvSpPr>
            <a:spLocks xmlns:a="http://schemas.openxmlformats.org/drawingml/2006/main" noGrp="1"/>
          </p:cNvSpPr>
          <p:nvPr/>
        </p:nvSpPr>
        <p:spPr>
          <a:xfrm xmlns:a="http://schemas.openxmlformats.org/drawingml/2006/main">
            <a:off x="4629150" y="1581150"/>
            <a:ext cx="670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43C"/>
                </a:solidFill>
                <a:latin typeface="Helvetica Neue"/>
                <a:ea typeface="Helvetica Neue"/>
                <a:cs typeface="Helvetica Neue"/>
              </a:defRPr>
            </a:defPPr>
            <a:lvl1pPr>
              <a:defRPr sz="1725" b="1">
                <a:solidFill>
                  <a:srgbClr val="17243C"/>
                </a:solidFill>
                <a:latin typeface="Helvetica Neue"/>
                <a:ea typeface="Helvetica Neue"/>
                <a:cs typeface="Helvetica Neue"/>
              </a:defRPr>
            </a:lvl1pPr>
            <a:lvl2pPr>
              <a:defRPr sz="1725" b="1">
                <a:solidFill>
                  <a:srgbClr val="17243C"/>
                </a:solidFill>
                <a:latin typeface="Helvetica Neue"/>
                <a:ea typeface="Helvetica Neue"/>
                <a:cs typeface="Helvetica Neue"/>
              </a:defRPr>
            </a:lvl2pPr>
            <a:lvl3pPr>
              <a:defRPr sz="1725" b="1">
                <a:solidFill>
                  <a:srgbClr val="17243C"/>
                </a:solidFill>
                <a:latin typeface="Helvetica Neue"/>
                <a:ea typeface="Helvetica Neue"/>
                <a:cs typeface="Helvetica Neue"/>
              </a:defRPr>
            </a:lvl3pPr>
            <a:lvl4pPr>
              <a:defRPr sz="1725" b="1">
                <a:solidFill>
                  <a:srgbClr val="17243C"/>
                </a:solidFill>
                <a:latin typeface="Helvetica Neue"/>
                <a:ea typeface="Helvetica Neue"/>
                <a:cs typeface="Helvetica Neue"/>
              </a:defRPr>
            </a:lvl4pPr>
            <a:lvl5pPr>
              <a:defRPr sz="1725" b="1">
                <a:solidFill>
                  <a:srgbClr val="17243C"/>
                </a:solidFill>
                <a:latin typeface="Helvetica Neue"/>
                <a:ea typeface="Helvetica Neue"/>
                <a:cs typeface="Helvetica Neue"/>
              </a:defRPr>
            </a:lvl5pPr>
            <a:lvl6pPr>
              <a:defRPr sz="1725" b="1">
                <a:solidFill>
                  <a:srgbClr val="17243C"/>
                </a:solidFill>
                <a:latin typeface="Helvetica Neue"/>
                <a:ea typeface="Helvetica Neue"/>
                <a:cs typeface="Helvetica Neue"/>
              </a:defRPr>
            </a:lvl6pPr>
            <a:lvl7pPr>
              <a:defRPr sz="1725" b="1">
                <a:solidFill>
                  <a:srgbClr val="17243C"/>
                </a:solidFill>
                <a:latin typeface="Helvetica Neue"/>
                <a:ea typeface="Helvetica Neue"/>
                <a:cs typeface="Helvetica Neue"/>
              </a:defRPr>
            </a:lvl7pPr>
            <a:lvl8pPr>
              <a:defRPr sz="1725" b="1">
                <a:solidFill>
                  <a:srgbClr val="17243C"/>
                </a:solidFill>
                <a:latin typeface="Helvetica Neue"/>
                <a:ea typeface="Helvetica Neue"/>
                <a:cs typeface="Helvetica Neue"/>
              </a:defRPr>
            </a:lvl8pPr>
            <a:lvl9pPr>
              <a:defRPr sz="1725" b="1">
                <a:solidFill>
                  <a:srgbClr val="17243C"/>
                </a:solidFill>
                <a:latin typeface="Helvetica Neue"/>
                <a:ea typeface="Helvetica Neue"/>
                <a:cs typeface="Helvetica Neue"/>
              </a:defRPr>
            </a:lvl9pPr>
          </a:lstStyle>
          <a:p xmlns:a="http://schemas.openxmlformats.org/drawingml/2006/main">
            <a:pPr>
              <a:defRPr sz="1725" b="1">
                <a:solidFill>
                  <a:srgbClr val="17243C"/>
                </a:solidFill>
                <a:latin typeface="Helvetica Neue"/>
                <a:ea typeface="Helvetica Neue"/>
                <a:cs typeface="Helvetica Neue"/>
              </a:defRPr>
            </a:pPr>
            <a:r>
              <a:rPr sz="1725" b="1">
                <a:solidFill>
                  <a:srgbClr val="17243C"/>
                </a:solidFill>
                <a:latin typeface="Helvetica Neue"/>
                <a:ea typeface="Helvetica Neue"/>
                <a:cs typeface="Helvetica Neue"/>
              </a:rPr>
              <a:t>Relative modification</a:t>
            </a:r>
          </a:p>
        </p:txBody>
      </p:sp>
      <p:sp>
        <p:nvSpPr>
          <p:cNvPr id="9" name="">
            <a:extLst xmlns:a="http://schemas.openxmlformats.org/drawingml/2006/main">
              <a:ext uri="{FF2B5EF4-FFF2-40B4-BE49-F238E27FC236}">
                <a16:creationId xmlns:a16="http://schemas.microsoft.com/office/drawing/2014/main" id="{94F9DC79-EF74-41C0-97C2-F064C61025DA}"/>
              </a:ext>
            </a:extLst>
          </p:cNvPr>
          <p:cNvSpPr>
            <a:spLocks xmlns:a="http://schemas.openxmlformats.org/drawingml/2006/main" noGrp="1"/>
          </p:cNvSpPr>
          <p:nvPr/>
        </p:nvSpPr>
        <p:spPr>
          <a:xfrm xmlns:a="http://schemas.openxmlformats.org/drawingml/2006/main">
            <a:off x="4629150" y="2000250"/>
            <a:ext cx="6705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43C"/>
                </a:solidFill>
                <a:latin typeface="Helvetica Neue"/>
                <a:ea typeface="Helvetica Neue"/>
                <a:cs typeface="Helvetica Neue"/>
              </a:defRPr>
            </a:defPPr>
            <a:lvl1pPr>
              <a:defRPr sz="2175" b="0">
                <a:solidFill>
                  <a:srgbClr val="17243C"/>
                </a:solidFill>
                <a:latin typeface="Helvetica Neue"/>
                <a:ea typeface="Helvetica Neue"/>
                <a:cs typeface="Helvetica Neue"/>
              </a:defRPr>
            </a:lvl1pPr>
            <a:lvl2pPr>
              <a:defRPr sz="2175" b="0">
                <a:solidFill>
                  <a:srgbClr val="17243C"/>
                </a:solidFill>
                <a:latin typeface="Helvetica Neue"/>
                <a:ea typeface="Helvetica Neue"/>
                <a:cs typeface="Helvetica Neue"/>
              </a:defRPr>
            </a:lvl2pPr>
            <a:lvl3pPr>
              <a:defRPr sz="2175" b="0">
                <a:solidFill>
                  <a:srgbClr val="17243C"/>
                </a:solidFill>
                <a:latin typeface="Helvetica Neue"/>
                <a:ea typeface="Helvetica Neue"/>
                <a:cs typeface="Helvetica Neue"/>
              </a:defRPr>
            </a:lvl3pPr>
            <a:lvl4pPr>
              <a:defRPr sz="2175" b="0">
                <a:solidFill>
                  <a:srgbClr val="17243C"/>
                </a:solidFill>
                <a:latin typeface="Helvetica Neue"/>
                <a:ea typeface="Helvetica Neue"/>
                <a:cs typeface="Helvetica Neue"/>
              </a:defRPr>
            </a:lvl4pPr>
            <a:lvl5pPr>
              <a:defRPr sz="2175" b="0">
                <a:solidFill>
                  <a:srgbClr val="17243C"/>
                </a:solidFill>
                <a:latin typeface="Helvetica Neue"/>
                <a:ea typeface="Helvetica Neue"/>
                <a:cs typeface="Helvetica Neue"/>
              </a:defRPr>
            </a:lvl5pPr>
            <a:lvl6pPr>
              <a:defRPr sz="2175" b="0">
                <a:solidFill>
                  <a:srgbClr val="17243C"/>
                </a:solidFill>
                <a:latin typeface="Helvetica Neue"/>
                <a:ea typeface="Helvetica Neue"/>
                <a:cs typeface="Helvetica Neue"/>
              </a:defRPr>
            </a:lvl6pPr>
            <a:lvl7pPr>
              <a:defRPr sz="2175" b="0">
                <a:solidFill>
                  <a:srgbClr val="17243C"/>
                </a:solidFill>
                <a:latin typeface="Helvetica Neue"/>
                <a:ea typeface="Helvetica Neue"/>
                <a:cs typeface="Helvetica Neue"/>
              </a:defRPr>
            </a:lvl7pPr>
            <a:lvl8pPr>
              <a:defRPr sz="2175" b="0">
                <a:solidFill>
                  <a:srgbClr val="17243C"/>
                </a:solidFill>
                <a:latin typeface="Helvetica Neue"/>
                <a:ea typeface="Helvetica Neue"/>
                <a:cs typeface="Helvetica Neue"/>
              </a:defRPr>
            </a:lvl8pPr>
            <a:lvl9pPr>
              <a:defRPr sz="2175" b="0">
                <a:solidFill>
                  <a:srgbClr val="17243C"/>
                </a:solidFill>
                <a:latin typeface="Helvetica Neue"/>
                <a:ea typeface="Helvetica Neue"/>
                <a:cs typeface="Helvetica Neue"/>
              </a:defRPr>
            </a:lvl9pPr>
          </a:lstStyle>
          <a:p xmlns:a="http://schemas.openxmlformats.org/drawingml/2006/main">
            <a:pPr>
              <a:defRPr sz="2175" b="0">
                <a:solidFill>
                  <a:srgbClr val="17243C"/>
                </a:solidFill>
                <a:latin typeface="Helvetica Neue"/>
                <a:ea typeface="Helvetica Neue"/>
                <a:cs typeface="Helvetica Neue"/>
              </a:defRPr>
            </a:pPr>
            <a:r>
              <a:rPr sz="2175" b="0">
                <a:solidFill>
                  <a:srgbClr val="17243C"/>
                </a:solidFill>
                <a:latin typeface="Helvetica Neue"/>
                <a:ea typeface="Helvetica Neue"/>
                <a:cs typeface="Helvetica Neue"/>
              </a:rPr>
              <a:t>“is red with black buttons and has longer sleeves”</a:t>
            </a:r>
          </a:p>
        </p:txBody>
      </p:sp>
      <p:sp>
        <p:nvSpPr>
          <p:cNvPr id="10" name="">
            <a:extLst xmlns:a="http://schemas.openxmlformats.org/drawingml/2006/main">
              <a:ext uri="{FF2B5EF4-FFF2-40B4-BE49-F238E27FC236}">
                <a16:creationId xmlns:a16="http://schemas.microsoft.com/office/drawing/2014/main" id="{393B4B79-9B20-4705-A571-A02C53C16EFB}"/>
              </a:ext>
            </a:extLst>
          </p:cNvPr>
          <p:cNvSpPr>
            <a:spLocks xmlns:a="http://schemas.openxmlformats.org/drawingml/2006/main" noGrp="1"/>
          </p:cNvSpPr>
          <p:nvPr/>
        </p:nvSpPr>
        <p:spPr>
          <a:xfrm xmlns:a="http://schemas.openxmlformats.org/drawingml/2006/main">
            <a:off x="4629150" y="3333750"/>
            <a:ext cx="670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C7C"/>
                </a:solidFill>
                <a:latin typeface="Helvetica Neue"/>
                <a:ea typeface="Helvetica Neue"/>
                <a:cs typeface="Helvetica Neue"/>
              </a:defRPr>
            </a:defPPr>
            <a:lvl1pPr>
              <a:defRPr sz="1575" b="0">
                <a:solidFill>
                  <a:srgbClr val="586C7C"/>
                </a:solidFill>
                <a:latin typeface="Helvetica Neue"/>
                <a:ea typeface="Helvetica Neue"/>
                <a:cs typeface="Helvetica Neue"/>
              </a:defRPr>
            </a:lvl1pPr>
            <a:lvl2pPr>
              <a:defRPr sz="1575" b="0">
                <a:solidFill>
                  <a:srgbClr val="586C7C"/>
                </a:solidFill>
                <a:latin typeface="Helvetica Neue"/>
                <a:ea typeface="Helvetica Neue"/>
                <a:cs typeface="Helvetica Neue"/>
              </a:defRPr>
            </a:lvl2pPr>
            <a:lvl3pPr>
              <a:defRPr sz="1575" b="0">
                <a:solidFill>
                  <a:srgbClr val="586C7C"/>
                </a:solidFill>
                <a:latin typeface="Helvetica Neue"/>
                <a:ea typeface="Helvetica Neue"/>
                <a:cs typeface="Helvetica Neue"/>
              </a:defRPr>
            </a:lvl3pPr>
            <a:lvl4pPr>
              <a:defRPr sz="1575" b="0">
                <a:solidFill>
                  <a:srgbClr val="586C7C"/>
                </a:solidFill>
                <a:latin typeface="Helvetica Neue"/>
                <a:ea typeface="Helvetica Neue"/>
                <a:cs typeface="Helvetica Neue"/>
              </a:defRPr>
            </a:lvl4pPr>
            <a:lvl5pPr>
              <a:defRPr sz="1575" b="0">
                <a:solidFill>
                  <a:srgbClr val="586C7C"/>
                </a:solidFill>
                <a:latin typeface="Helvetica Neue"/>
                <a:ea typeface="Helvetica Neue"/>
                <a:cs typeface="Helvetica Neue"/>
              </a:defRPr>
            </a:lvl5pPr>
            <a:lvl6pPr>
              <a:defRPr sz="1575" b="0">
                <a:solidFill>
                  <a:srgbClr val="586C7C"/>
                </a:solidFill>
                <a:latin typeface="Helvetica Neue"/>
                <a:ea typeface="Helvetica Neue"/>
                <a:cs typeface="Helvetica Neue"/>
              </a:defRPr>
            </a:lvl6pPr>
            <a:lvl7pPr>
              <a:defRPr sz="1575" b="0">
                <a:solidFill>
                  <a:srgbClr val="586C7C"/>
                </a:solidFill>
                <a:latin typeface="Helvetica Neue"/>
                <a:ea typeface="Helvetica Neue"/>
                <a:cs typeface="Helvetica Neue"/>
              </a:defRPr>
            </a:lvl7pPr>
            <a:lvl8pPr>
              <a:defRPr sz="1575" b="0">
                <a:solidFill>
                  <a:srgbClr val="586C7C"/>
                </a:solidFill>
                <a:latin typeface="Helvetica Neue"/>
                <a:ea typeface="Helvetica Neue"/>
                <a:cs typeface="Helvetica Neue"/>
              </a:defRPr>
            </a:lvl8pPr>
            <a:lvl9pPr>
              <a:defRPr sz="1575" b="0">
                <a:solidFill>
                  <a:srgbClr val="586C7C"/>
                </a:solidFill>
                <a:latin typeface="Helvetica Neue"/>
                <a:ea typeface="Helvetica Neue"/>
                <a:cs typeface="Helvetica Neue"/>
              </a:defRPr>
            </a:lvl9pPr>
          </a:lstStyle>
          <a:p xmlns:a="http://schemas.openxmlformats.org/drawingml/2006/main">
            <a:pPr>
              <a:defRPr sz="1575" b="0">
                <a:solidFill>
                  <a:srgbClr val="586C7C"/>
                </a:solidFill>
                <a:latin typeface="Helvetica Neue"/>
                <a:ea typeface="Helvetica Neue"/>
                <a:cs typeface="Helvetica Neue"/>
              </a:defRPr>
            </a:pPr>
            <a:r>
              <a:rPr sz="1575" b="0">
                <a:solidFill>
                  <a:srgbClr val="586C7C"/>
                </a:solidFill>
                <a:latin typeface="Helvetica Neue"/>
                <a:ea typeface="Helvetica Neue"/>
                <a:cs typeface="Helvetica Neue"/>
              </a:rPr>
              <a:t>dress category. Reference excluded from every candidate ranking.</a:t>
            </a:r>
          </a:p>
        </p:txBody>
      </p:sp>
      <p:sp>
        <p:nvSpPr>
          <p:cNvPr id="11" name="">
            <a:extLst xmlns:a="http://schemas.openxmlformats.org/drawingml/2006/main">
              <a:ext uri="{FF2B5EF4-FFF2-40B4-BE49-F238E27FC236}">
                <a16:creationId xmlns:a16="http://schemas.microsoft.com/office/drawing/2014/main" id="{B43D3421-39FB-4B0A-B174-6A16C2DE2D1E}"/>
              </a:ext>
            </a:extLst>
          </p:cNvPr>
          <p:cNvSpPr>
            <a:spLocks xmlns:a="http://schemas.openxmlformats.org/drawingml/2006/main" noGrp="1"/>
          </p:cNvSpPr>
          <p:nvPr/>
        </p:nvSpPr>
        <p:spPr>
          <a:xfrm xmlns:a="http://schemas.openxmlformats.org/drawingml/2006/main">
            <a:off x="628650" y="4010025"/>
            <a:ext cx="2533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43C"/>
                </a:solidFill>
                <a:latin typeface="Helvetica Neue"/>
                <a:ea typeface="Helvetica Neue"/>
                <a:cs typeface="Helvetica Neue"/>
              </a:defRPr>
            </a:defPPr>
            <a:lvl1pPr>
              <a:defRPr sz="1800" b="1">
                <a:solidFill>
                  <a:srgbClr val="17243C"/>
                </a:solidFill>
                <a:latin typeface="Helvetica Neue"/>
                <a:ea typeface="Helvetica Neue"/>
                <a:cs typeface="Helvetica Neue"/>
              </a:defRPr>
            </a:lvl1pPr>
            <a:lvl2pPr>
              <a:defRPr sz="1800" b="1">
                <a:solidFill>
                  <a:srgbClr val="17243C"/>
                </a:solidFill>
                <a:latin typeface="Helvetica Neue"/>
                <a:ea typeface="Helvetica Neue"/>
                <a:cs typeface="Helvetica Neue"/>
              </a:defRPr>
            </a:lvl2pPr>
            <a:lvl3pPr>
              <a:defRPr sz="1800" b="1">
                <a:solidFill>
                  <a:srgbClr val="17243C"/>
                </a:solidFill>
                <a:latin typeface="Helvetica Neue"/>
                <a:ea typeface="Helvetica Neue"/>
                <a:cs typeface="Helvetica Neue"/>
              </a:defRPr>
            </a:lvl3pPr>
            <a:lvl4pPr>
              <a:defRPr sz="1800" b="1">
                <a:solidFill>
                  <a:srgbClr val="17243C"/>
                </a:solidFill>
                <a:latin typeface="Helvetica Neue"/>
                <a:ea typeface="Helvetica Neue"/>
                <a:cs typeface="Helvetica Neue"/>
              </a:defRPr>
            </a:lvl4pPr>
            <a:lvl5pPr>
              <a:defRPr sz="1800" b="1">
                <a:solidFill>
                  <a:srgbClr val="17243C"/>
                </a:solidFill>
                <a:latin typeface="Helvetica Neue"/>
                <a:ea typeface="Helvetica Neue"/>
                <a:cs typeface="Helvetica Neue"/>
              </a:defRPr>
            </a:lvl5pPr>
            <a:lvl6pPr>
              <a:defRPr sz="1800" b="1">
                <a:solidFill>
                  <a:srgbClr val="17243C"/>
                </a:solidFill>
                <a:latin typeface="Helvetica Neue"/>
                <a:ea typeface="Helvetica Neue"/>
                <a:cs typeface="Helvetica Neue"/>
              </a:defRPr>
            </a:lvl6pPr>
            <a:lvl7pPr>
              <a:defRPr sz="1800" b="1">
                <a:solidFill>
                  <a:srgbClr val="17243C"/>
                </a:solidFill>
                <a:latin typeface="Helvetica Neue"/>
                <a:ea typeface="Helvetica Neue"/>
                <a:cs typeface="Helvetica Neue"/>
              </a:defRPr>
            </a:lvl7pPr>
            <a:lvl8pPr>
              <a:defRPr sz="1800" b="1">
                <a:solidFill>
                  <a:srgbClr val="17243C"/>
                </a:solidFill>
                <a:latin typeface="Helvetica Neue"/>
                <a:ea typeface="Helvetica Neue"/>
                <a:cs typeface="Helvetica Neue"/>
              </a:defRPr>
            </a:lvl8pPr>
            <a:lvl9pPr>
              <a:defRPr sz="1800" b="1">
                <a:solidFill>
                  <a:srgbClr val="17243C"/>
                </a:solidFill>
                <a:latin typeface="Helvetica Neue"/>
                <a:ea typeface="Helvetica Neue"/>
                <a:cs typeface="Helvetica Neue"/>
              </a:defRPr>
            </a:lvl9pPr>
          </a:lstStyle>
          <a:p xmlns:a="http://schemas.openxmlformats.org/drawingml/2006/main">
            <a:pPr>
              <a:defRPr sz="1800" b="1">
                <a:solidFill>
                  <a:srgbClr val="17243C"/>
                </a:solidFill>
                <a:latin typeface="Helvetica Neue"/>
                <a:ea typeface="Helvetica Neue"/>
                <a:cs typeface="Helvetica Neue"/>
              </a:defRPr>
            </a:pPr>
            <a:r>
              <a:rPr sz="1800" b="1">
                <a:solidFill>
                  <a:srgbClr val="17243C"/>
                </a:solidFill>
                <a:latin typeface="Helvetica Neue"/>
                <a:ea typeface="Helvetica Neue"/>
                <a:cs typeface="Helvetica Neue"/>
              </a:rPr>
              <a:t>Image only</a:t>
            </a:r>
          </a:p>
        </p:txBody>
      </p:sp>
      <p:sp>
        <p:nvSpPr>
          <p:cNvPr id="12" name="">
            <a:extLst xmlns:a="http://schemas.openxmlformats.org/drawingml/2006/main">
              <a:ext uri="{FF2B5EF4-FFF2-40B4-BE49-F238E27FC236}">
                <a16:creationId xmlns:a16="http://schemas.microsoft.com/office/drawing/2014/main" id="{807EF097-E61F-41D0-96C7-4FEE66C60799}"/>
              </a:ext>
            </a:extLst>
          </p:cNvPr>
          <p:cNvSpPr>
            <a:spLocks xmlns:a="http://schemas.openxmlformats.org/drawingml/2006/main" noGrp="1"/>
          </p:cNvSpPr>
          <p:nvPr/>
        </p:nvSpPr>
        <p:spPr>
          <a:xfrm xmlns:a="http://schemas.openxmlformats.org/drawingml/2006/main">
            <a:off x="628650" y="4343400"/>
            <a:ext cx="2533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C7C"/>
                </a:solidFill>
                <a:latin typeface="Helvetica Neue"/>
                <a:ea typeface="Helvetica Neue"/>
                <a:cs typeface="Helvetica Neue"/>
              </a:defRPr>
            </a:defPPr>
            <a:lvl1pPr>
              <a:defRPr sz="1575" b="0">
                <a:solidFill>
                  <a:srgbClr val="586C7C"/>
                </a:solidFill>
                <a:latin typeface="Helvetica Neue"/>
                <a:ea typeface="Helvetica Neue"/>
                <a:cs typeface="Helvetica Neue"/>
              </a:defRPr>
            </a:lvl1pPr>
            <a:lvl2pPr>
              <a:defRPr sz="1575" b="0">
                <a:solidFill>
                  <a:srgbClr val="586C7C"/>
                </a:solidFill>
                <a:latin typeface="Helvetica Neue"/>
                <a:ea typeface="Helvetica Neue"/>
                <a:cs typeface="Helvetica Neue"/>
              </a:defRPr>
            </a:lvl2pPr>
            <a:lvl3pPr>
              <a:defRPr sz="1575" b="0">
                <a:solidFill>
                  <a:srgbClr val="586C7C"/>
                </a:solidFill>
                <a:latin typeface="Helvetica Neue"/>
                <a:ea typeface="Helvetica Neue"/>
                <a:cs typeface="Helvetica Neue"/>
              </a:defRPr>
            </a:lvl3pPr>
            <a:lvl4pPr>
              <a:defRPr sz="1575" b="0">
                <a:solidFill>
                  <a:srgbClr val="586C7C"/>
                </a:solidFill>
                <a:latin typeface="Helvetica Neue"/>
                <a:ea typeface="Helvetica Neue"/>
                <a:cs typeface="Helvetica Neue"/>
              </a:defRPr>
            </a:lvl4pPr>
            <a:lvl5pPr>
              <a:defRPr sz="1575" b="0">
                <a:solidFill>
                  <a:srgbClr val="586C7C"/>
                </a:solidFill>
                <a:latin typeface="Helvetica Neue"/>
                <a:ea typeface="Helvetica Neue"/>
                <a:cs typeface="Helvetica Neue"/>
              </a:defRPr>
            </a:lvl5pPr>
            <a:lvl6pPr>
              <a:defRPr sz="1575" b="0">
                <a:solidFill>
                  <a:srgbClr val="586C7C"/>
                </a:solidFill>
                <a:latin typeface="Helvetica Neue"/>
                <a:ea typeface="Helvetica Neue"/>
                <a:cs typeface="Helvetica Neue"/>
              </a:defRPr>
            </a:lvl6pPr>
            <a:lvl7pPr>
              <a:defRPr sz="1575" b="0">
                <a:solidFill>
                  <a:srgbClr val="586C7C"/>
                </a:solidFill>
                <a:latin typeface="Helvetica Neue"/>
                <a:ea typeface="Helvetica Neue"/>
                <a:cs typeface="Helvetica Neue"/>
              </a:defRPr>
            </a:lvl7pPr>
            <a:lvl8pPr>
              <a:defRPr sz="1575" b="0">
                <a:solidFill>
                  <a:srgbClr val="586C7C"/>
                </a:solidFill>
                <a:latin typeface="Helvetica Neue"/>
                <a:ea typeface="Helvetica Neue"/>
                <a:cs typeface="Helvetica Neue"/>
              </a:defRPr>
            </a:lvl8pPr>
            <a:lvl9pPr>
              <a:defRPr sz="1575" b="0">
                <a:solidFill>
                  <a:srgbClr val="586C7C"/>
                </a:solidFill>
                <a:latin typeface="Helvetica Neue"/>
                <a:ea typeface="Helvetica Neue"/>
                <a:cs typeface="Helvetica Neue"/>
              </a:defRPr>
            </a:lvl9pPr>
          </a:lstStyle>
          <a:p xmlns:a="http://schemas.openxmlformats.org/drawingml/2006/main">
            <a:pPr>
              <a:defRPr sz="1575" b="0">
                <a:solidFill>
                  <a:srgbClr val="586C7C"/>
                </a:solidFill>
                <a:latin typeface="Helvetica Neue"/>
                <a:ea typeface="Helvetica Neue"/>
                <a:cs typeface="Helvetica Neue"/>
              </a:defRPr>
            </a:pPr>
            <a:r>
              <a:rPr sz="1575" b="0">
                <a:solidFill>
                  <a:srgbClr val="586C7C"/>
                </a:solidFill>
                <a:latin typeface="Helvetica Neue"/>
                <a:ea typeface="Helvetica Neue"/>
                <a:cs typeface="Helvetica Neue"/>
              </a:rPr>
              <a:t>Target rank 177</a:t>
            </a:r>
          </a:p>
        </p:txBody>
      </p:sp>
      <p:pic>
        <p:nvPicPr>
          <p:cNvPr id="13" name="">
            <a:extLst xmlns:a="http://schemas.openxmlformats.org/drawingml/2006/main">
              <a:ext uri="{FF2B5EF4-FFF2-40B4-BE49-F238E27FC236}">
                <a16:creationId xmlns:a16="http://schemas.microsoft.com/office/drawing/2014/main" id="{FED36B9D-7279-43BC-9A3F-86ED91BB0CF9}"/>
              </a:ext>
            </a:extLst>
          </p:cNvPr>
          <p:cNvPicPr>
            <a:picLocks xmlns:a="http://schemas.openxmlformats.org/drawingml/2006/main" noChangeAspect="1"/>
          </p:cNvPicPr>
          <p:nvPr/>
        </p:nvPicPr>
        <p:blipFill>
          <a:blip xmlns:r="http://schemas.openxmlformats.org/officeDocument/2006/relationships" xmlns:a="http://schemas.openxmlformats.org/drawingml/2006/main" r:embed="R14cb92c3319a4086"/>
          <a:stretch xmlns:a="http://schemas.openxmlformats.org/drawingml/2006/main"/>
        </p:blipFill>
        <p:spPr>
          <a:xfrm xmlns:a="http://schemas.openxmlformats.org/drawingml/2006/main">
            <a:off x="1447586" y="4705350"/>
            <a:ext cx="533828" cy="1381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BA8B19F-265E-478E-8445-F8A147A119BE}"/>
              </a:ext>
            </a:extLst>
          </p:cNvPr>
          <p:cNvSpPr>
            <a:spLocks xmlns:a="http://schemas.openxmlformats.org/drawingml/2006/main" noGrp="1"/>
          </p:cNvSpPr>
          <p:nvPr/>
        </p:nvSpPr>
        <p:spPr>
          <a:xfrm xmlns:a="http://schemas.openxmlformats.org/drawingml/2006/main">
            <a:off x="628650" y="6134100"/>
            <a:ext cx="2533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C7C"/>
                </a:solidFill>
                <a:latin typeface="Helvetica Neue"/>
                <a:ea typeface="Helvetica Neue"/>
                <a:cs typeface="Helvetica Neue"/>
              </a:defRPr>
            </a:defPPr>
            <a:lvl1pPr>
              <a:defRPr sz="1425" b="0">
                <a:solidFill>
                  <a:srgbClr val="586C7C"/>
                </a:solidFill>
                <a:latin typeface="Helvetica Neue"/>
                <a:ea typeface="Helvetica Neue"/>
                <a:cs typeface="Helvetica Neue"/>
              </a:defRPr>
            </a:lvl1pPr>
            <a:lvl2pPr>
              <a:defRPr sz="1425" b="0">
                <a:solidFill>
                  <a:srgbClr val="586C7C"/>
                </a:solidFill>
                <a:latin typeface="Helvetica Neue"/>
                <a:ea typeface="Helvetica Neue"/>
                <a:cs typeface="Helvetica Neue"/>
              </a:defRPr>
            </a:lvl2pPr>
            <a:lvl3pPr>
              <a:defRPr sz="1425" b="0">
                <a:solidFill>
                  <a:srgbClr val="586C7C"/>
                </a:solidFill>
                <a:latin typeface="Helvetica Neue"/>
                <a:ea typeface="Helvetica Neue"/>
                <a:cs typeface="Helvetica Neue"/>
              </a:defRPr>
            </a:lvl3pPr>
            <a:lvl4pPr>
              <a:defRPr sz="1425" b="0">
                <a:solidFill>
                  <a:srgbClr val="586C7C"/>
                </a:solidFill>
                <a:latin typeface="Helvetica Neue"/>
                <a:ea typeface="Helvetica Neue"/>
                <a:cs typeface="Helvetica Neue"/>
              </a:defRPr>
            </a:lvl4pPr>
            <a:lvl5pPr>
              <a:defRPr sz="1425" b="0">
                <a:solidFill>
                  <a:srgbClr val="586C7C"/>
                </a:solidFill>
                <a:latin typeface="Helvetica Neue"/>
                <a:ea typeface="Helvetica Neue"/>
                <a:cs typeface="Helvetica Neue"/>
              </a:defRPr>
            </a:lvl5pPr>
            <a:lvl6pPr>
              <a:defRPr sz="1425" b="0">
                <a:solidFill>
                  <a:srgbClr val="586C7C"/>
                </a:solidFill>
                <a:latin typeface="Helvetica Neue"/>
                <a:ea typeface="Helvetica Neue"/>
                <a:cs typeface="Helvetica Neue"/>
              </a:defRPr>
            </a:lvl6pPr>
            <a:lvl7pPr>
              <a:defRPr sz="1425" b="0">
                <a:solidFill>
                  <a:srgbClr val="586C7C"/>
                </a:solidFill>
                <a:latin typeface="Helvetica Neue"/>
                <a:ea typeface="Helvetica Neue"/>
                <a:cs typeface="Helvetica Neue"/>
              </a:defRPr>
            </a:lvl7pPr>
            <a:lvl8pPr>
              <a:defRPr sz="1425" b="0">
                <a:solidFill>
                  <a:srgbClr val="586C7C"/>
                </a:solidFill>
                <a:latin typeface="Helvetica Neue"/>
                <a:ea typeface="Helvetica Neue"/>
                <a:cs typeface="Helvetica Neue"/>
              </a:defRPr>
            </a:lvl8pPr>
            <a:lvl9pPr>
              <a:defRPr sz="1425" b="0">
                <a:solidFill>
                  <a:srgbClr val="586C7C"/>
                </a:solidFill>
                <a:latin typeface="Helvetica Neue"/>
                <a:ea typeface="Helvetica Neue"/>
                <a:cs typeface="Helvetica Neue"/>
              </a:defRPr>
            </a:lvl9pPr>
          </a:lstStyle>
          <a:p xmlns:a="http://schemas.openxmlformats.org/drawingml/2006/main">
            <a:pPr>
              <a:defRPr sz="1425" b="0">
                <a:solidFill>
                  <a:srgbClr val="586C7C"/>
                </a:solidFill>
                <a:latin typeface="Helvetica Neue"/>
                <a:ea typeface="Helvetica Neue"/>
                <a:cs typeface="Helvetica Neue"/>
              </a:defRPr>
            </a:pPr>
            <a:r>
              <a:rPr sz="1425" b="0">
                <a:solidFill>
                  <a:srgbClr val="586C7C"/>
                </a:solidFill>
                <a:latin typeface="Helvetica Neue"/>
                <a:ea typeface="Helvetica Neue"/>
                <a:cs typeface="Helvetica Neue"/>
              </a:rPr>
              <a:t>Top 1   B00BLNL7G6</a:t>
            </a:r>
          </a:p>
        </p:txBody>
      </p:sp>
      <p:sp>
        <p:nvSpPr>
          <p:cNvPr id="15" name="">
            <a:extLst xmlns:a="http://schemas.openxmlformats.org/drawingml/2006/main">
              <a:ext uri="{FF2B5EF4-FFF2-40B4-BE49-F238E27FC236}">
                <a16:creationId xmlns:a16="http://schemas.microsoft.com/office/drawing/2014/main" id="{32A0C42E-03EF-4BC2-980E-CB37424F0C4C}"/>
              </a:ext>
            </a:extLst>
          </p:cNvPr>
          <p:cNvSpPr>
            <a:spLocks xmlns:a="http://schemas.openxmlformats.org/drawingml/2006/main" noGrp="1"/>
          </p:cNvSpPr>
          <p:nvPr/>
        </p:nvSpPr>
        <p:spPr>
          <a:xfrm xmlns:a="http://schemas.openxmlformats.org/drawingml/2006/main">
            <a:off x="3400425" y="4010025"/>
            <a:ext cx="2533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43C"/>
                </a:solidFill>
                <a:latin typeface="Helvetica Neue"/>
                <a:ea typeface="Helvetica Neue"/>
                <a:cs typeface="Helvetica Neue"/>
              </a:defRPr>
            </a:defPPr>
            <a:lvl1pPr>
              <a:defRPr sz="1800" b="1">
                <a:solidFill>
                  <a:srgbClr val="17243C"/>
                </a:solidFill>
                <a:latin typeface="Helvetica Neue"/>
                <a:ea typeface="Helvetica Neue"/>
                <a:cs typeface="Helvetica Neue"/>
              </a:defRPr>
            </a:lvl1pPr>
            <a:lvl2pPr>
              <a:defRPr sz="1800" b="1">
                <a:solidFill>
                  <a:srgbClr val="17243C"/>
                </a:solidFill>
                <a:latin typeface="Helvetica Neue"/>
                <a:ea typeface="Helvetica Neue"/>
                <a:cs typeface="Helvetica Neue"/>
              </a:defRPr>
            </a:lvl2pPr>
            <a:lvl3pPr>
              <a:defRPr sz="1800" b="1">
                <a:solidFill>
                  <a:srgbClr val="17243C"/>
                </a:solidFill>
                <a:latin typeface="Helvetica Neue"/>
                <a:ea typeface="Helvetica Neue"/>
                <a:cs typeface="Helvetica Neue"/>
              </a:defRPr>
            </a:lvl3pPr>
            <a:lvl4pPr>
              <a:defRPr sz="1800" b="1">
                <a:solidFill>
                  <a:srgbClr val="17243C"/>
                </a:solidFill>
                <a:latin typeface="Helvetica Neue"/>
                <a:ea typeface="Helvetica Neue"/>
                <a:cs typeface="Helvetica Neue"/>
              </a:defRPr>
            </a:lvl4pPr>
            <a:lvl5pPr>
              <a:defRPr sz="1800" b="1">
                <a:solidFill>
                  <a:srgbClr val="17243C"/>
                </a:solidFill>
                <a:latin typeface="Helvetica Neue"/>
                <a:ea typeface="Helvetica Neue"/>
                <a:cs typeface="Helvetica Neue"/>
              </a:defRPr>
            </a:lvl5pPr>
            <a:lvl6pPr>
              <a:defRPr sz="1800" b="1">
                <a:solidFill>
                  <a:srgbClr val="17243C"/>
                </a:solidFill>
                <a:latin typeface="Helvetica Neue"/>
                <a:ea typeface="Helvetica Neue"/>
                <a:cs typeface="Helvetica Neue"/>
              </a:defRPr>
            </a:lvl6pPr>
            <a:lvl7pPr>
              <a:defRPr sz="1800" b="1">
                <a:solidFill>
                  <a:srgbClr val="17243C"/>
                </a:solidFill>
                <a:latin typeface="Helvetica Neue"/>
                <a:ea typeface="Helvetica Neue"/>
                <a:cs typeface="Helvetica Neue"/>
              </a:defRPr>
            </a:lvl7pPr>
            <a:lvl8pPr>
              <a:defRPr sz="1800" b="1">
                <a:solidFill>
                  <a:srgbClr val="17243C"/>
                </a:solidFill>
                <a:latin typeface="Helvetica Neue"/>
                <a:ea typeface="Helvetica Neue"/>
                <a:cs typeface="Helvetica Neue"/>
              </a:defRPr>
            </a:lvl8pPr>
            <a:lvl9pPr>
              <a:defRPr sz="1800" b="1">
                <a:solidFill>
                  <a:srgbClr val="17243C"/>
                </a:solidFill>
                <a:latin typeface="Helvetica Neue"/>
                <a:ea typeface="Helvetica Neue"/>
                <a:cs typeface="Helvetica Neue"/>
              </a:defRPr>
            </a:lvl9pPr>
          </a:lstStyle>
          <a:p xmlns:a="http://schemas.openxmlformats.org/drawingml/2006/main">
            <a:pPr>
              <a:defRPr sz="1800" b="1">
                <a:solidFill>
                  <a:srgbClr val="17243C"/>
                </a:solidFill>
                <a:latin typeface="Helvetica Neue"/>
                <a:ea typeface="Helvetica Neue"/>
                <a:cs typeface="Helvetica Neue"/>
              </a:defRPr>
            </a:pPr>
            <a:r>
              <a:rPr sz="1800" b="1">
                <a:solidFill>
                  <a:srgbClr val="17243C"/>
                </a:solidFill>
                <a:latin typeface="Helvetica Neue"/>
                <a:ea typeface="Helvetica Neue"/>
                <a:cs typeface="Helvetica Neue"/>
              </a:rPr>
              <a:t>Text only</a:t>
            </a:r>
          </a:p>
        </p:txBody>
      </p:sp>
      <p:sp>
        <p:nvSpPr>
          <p:cNvPr id="16" name="">
            <a:extLst xmlns:a="http://schemas.openxmlformats.org/drawingml/2006/main">
              <a:ext uri="{FF2B5EF4-FFF2-40B4-BE49-F238E27FC236}">
                <a16:creationId xmlns:a16="http://schemas.microsoft.com/office/drawing/2014/main" id="{8CBD1D3D-0BB7-4892-B0B8-E258938F69DE}"/>
              </a:ext>
            </a:extLst>
          </p:cNvPr>
          <p:cNvSpPr>
            <a:spLocks xmlns:a="http://schemas.openxmlformats.org/drawingml/2006/main" noGrp="1"/>
          </p:cNvSpPr>
          <p:nvPr/>
        </p:nvSpPr>
        <p:spPr>
          <a:xfrm xmlns:a="http://schemas.openxmlformats.org/drawingml/2006/main">
            <a:off x="3400425" y="4343400"/>
            <a:ext cx="2533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C7C"/>
                </a:solidFill>
                <a:latin typeface="Helvetica Neue"/>
                <a:ea typeface="Helvetica Neue"/>
                <a:cs typeface="Helvetica Neue"/>
              </a:defRPr>
            </a:defPPr>
            <a:lvl1pPr>
              <a:defRPr sz="1575" b="0">
                <a:solidFill>
                  <a:srgbClr val="586C7C"/>
                </a:solidFill>
                <a:latin typeface="Helvetica Neue"/>
                <a:ea typeface="Helvetica Neue"/>
                <a:cs typeface="Helvetica Neue"/>
              </a:defRPr>
            </a:lvl1pPr>
            <a:lvl2pPr>
              <a:defRPr sz="1575" b="0">
                <a:solidFill>
                  <a:srgbClr val="586C7C"/>
                </a:solidFill>
                <a:latin typeface="Helvetica Neue"/>
                <a:ea typeface="Helvetica Neue"/>
                <a:cs typeface="Helvetica Neue"/>
              </a:defRPr>
            </a:lvl2pPr>
            <a:lvl3pPr>
              <a:defRPr sz="1575" b="0">
                <a:solidFill>
                  <a:srgbClr val="586C7C"/>
                </a:solidFill>
                <a:latin typeface="Helvetica Neue"/>
                <a:ea typeface="Helvetica Neue"/>
                <a:cs typeface="Helvetica Neue"/>
              </a:defRPr>
            </a:lvl3pPr>
            <a:lvl4pPr>
              <a:defRPr sz="1575" b="0">
                <a:solidFill>
                  <a:srgbClr val="586C7C"/>
                </a:solidFill>
                <a:latin typeface="Helvetica Neue"/>
                <a:ea typeface="Helvetica Neue"/>
                <a:cs typeface="Helvetica Neue"/>
              </a:defRPr>
            </a:lvl4pPr>
            <a:lvl5pPr>
              <a:defRPr sz="1575" b="0">
                <a:solidFill>
                  <a:srgbClr val="586C7C"/>
                </a:solidFill>
                <a:latin typeface="Helvetica Neue"/>
                <a:ea typeface="Helvetica Neue"/>
                <a:cs typeface="Helvetica Neue"/>
              </a:defRPr>
            </a:lvl5pPr>
            <a:lvl6pPr>
              <a:defRPr sz="1575" b="0">
                <a:solidFill>
                  <a:srgbClr val="586C7C"/>
                </a:solidFill>
                <a:latin typeface="Helvetica Neue"/>
                <a:ea typeface="Helvetica Neue"/>
                <a:cs typeface="Helvetica Neue"/>
              </a:defRPr>
            </a:lvl6pPr>
            <a:lvl7pPr>
              <a:defRPr sz="1575" b="0">
                <a:solidFill>
                  <a:srgbClr val="586C7C"/>
                </a:solidFill>
                <a:latin typeface="Helvetica Neue"/>
                <a:ea typeface="Helvetica Neue"/>
                <a:cs typeface="Helvetica Neue"/>
              </a:defRPr>
            </a:lvl7pPr>
            <a:lvl8pPr>
              <a:defRPr sz="1575" b="0">
                <a:solidFill>
                  <a:srgbClr val="586C7C"/>
                </a:solidFill>
                <a:latin typeface="Helvetica Neue"/>
                <a:ea typeface="Helvetica Neue"/>
                <a:cs typeface="Helvetica Neue"/>
              </a:defRPr>
            </a:lvl8pPr>
            <a:lvl9pPr>
              <a:defRPr sz="1575" b="0">
                <a:solidFill>
                  <a:srgbClr val="586C7C"/>
                </a:solidFill>
                <a:latin typeface="Helvetica Neue"/>
                <a:ea typeface="Helvetica Neue"/>
                <a:cs typeface="Helvetica Neue"/>
              </a:defRPr>
            </a:lvl9pPr>
          </a:lstStyle>
          <a:p xmlns:a="http://schemas.openxmlformats.org/drawingml/2006/main">
            <a:pPr>
              <a:defRPr sz="1575" b="0">
                <a:solidFill>
                  <a:srgbClr val="586C7C"/>
                </a:solidFill>
                <a:latin typeface="Helvetica Neue"/>
                <a:ea typeface="Helvetica Neue"/>
                <a:cs typeface="Helvetica Neue"/>
              </a:defRPr>
            </a:pPr>
            <a:r>
              <a:rPr sz="1575" b="0">
                <a:solidFill>
                  <a:srgbClr val="586C7C"/>
                </a:solidFill>
                <a:latin typeface="Helvetica Neue"/>
                <a:ea typeface="Helvetica Neue"/>
                <a:cs typeface="Helvetica Neue"/>
              </a:rPr>
              <a:t>Target rank 2</a:t>
            </a:r>
          </a:p>
        </p:txBody>
      </p:sp>
      <p:pic>
        <p:nvPicPr>
          <p:cNvPr id="17" name="">
            <a:extLst xmlns:a="http://schemas.openxmlformats.org/drawingml/2006/main">
              <a:ext uri="{FF2B5EF4-FFF2-40B4-BE49-F238E27FC236}">
                <a16:creationId xmlns:a16="http://schemas.microsoft.com/office/drawing/2014/main" id="{8E329130-1200-4E28-BE52-E5E0AF662B15}"/>
              </a:ext>
            </a:extLst>
          </p:cNvPr>
          <p:cNvPicPr>
            <a:picLocks xmlns:a="http://schemas.openxmlformats.org/drawingml/2006/main" noChangeAspect="1"/>
          </p:cNvPicPr>
          <p:nvPr/>
        </p:nvPicPr>
        <p:blipFill>
          <a:blip xmlns:r="http://schemas.openxmlformats.org/officeDocument/2006/relationships" xmlns:a="http://schemas.openxmlformats.org/drawingml/2006/main" r:embed="R93f14e5661ea41c5"/>
          <a:stretch xmlns:a="http://schemas.openxmlformats.org/drawingml/2006/main"/>
        </p:blipFill>
        <p:spPr>
          <a:xfrm xmlns:a="http://schemas.openxmlformats.org/drawingml/2006/main">
            <a:off x="4222465" y="4705350"/>
            <a:ext cx="527621" cy="13811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9E80964A-D645-4A95-ADD8-F921617884AA}"/>
              </a:ext>
            </a:extLst>
          </p:cNvPr>
          <p:cNvSpPr>
            <a:spLocks xmlns:a="http://schemas.openxmlformats.org/drawingml/2006/main" noGrp="1"/>
          </p:cNvSpPr>
          <p:nvPr/>
        </p:nvSpPr>
        <p:spPr>
          <a:xfrm xmlns:a="http://schemas.openxmlformats.org/drawingml/2006/main">
            <a:off x="3400425" y="6134100"/>
            <a:ext cx="2533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C7C"/>
                </a:solidFill>
                <a:latin typeface="Helvetica Neue"/>
                <a:ea typeface="Helvetica Neue"/>
                <a:cs typeface="Helvetica Neue"/>
              </a:defRPr>
            </a:defPPr>
            <a:lvl1pPr>
              <a:defRPr sz="1425" b="0">
                <a:solidFill>
                  <a:srgbClr val="586C7C"/>
                </a:solidFill>
                <a:latin typeface="Helvetica Neue"/>
                <a:ea typeface="Helvetica Neue"/>
                <a:cs typeface="Helvetica Neue"/>
              </a:defRPr>
            </a:lvl1pPr>
            <a:lvl2pPr>
              <a:defRPr sz="1425" b="0">
                <a:solidFill>
                  <a:srgbClr val="586C7C"/>
                </a:solidFill>
                <a:latin typeface="Helvetica Neue"/>
                <a:ea typeface="Helvetica Neue"/>
                <a:cs typeface="Helvetica Neue"/>
              </a:defRPr>
            </a:lvl2pPr>
            <a:lvl3pPr>
              <a:defRPr sz="1425" b="0">
                <a:solidFill>
                  <a:srgbClr val="586C7C"/>
                </a:solidFill>
                <a:latin typeface="Helvetica Neue"/>
                <a:ea typeface="Helvetica Neue"/>
                <a:cs typeface="Helvetica Neue"/>
              </a:defRPr>
            </a:lvl3pPr>
            <a:lvl4pPr>
              <a:defRPr sz="1425" b="0">
                <a:solidFill>
                  <a:srgbClr val="586C7C"/>
                </a:solidFill>
                <a:latin typeface="Helvetica Neue"/>
                <a:ea typeface="Helvetica Neue"/>
                <a:cs typeface="Helvetica Neue"/>
              </a:defRPr>
            </a:lvl4pPr>
            <a:lvl5pPr>
              <a:defRPr sz="1425" b="0">
                <a:solidFill>
                  <a:srgbClr val="586C7C"/>
                </a:solidFill>
                <a:latin typeface="Helvetica Neue"/>
                <a:ea typeface="Helvetica Neue"/>
                <a:cs typeface="Helvetica Neue"/>
              </a:defRPr>
            </a:lvl5pPr>
            <a:lvl6pPr>
              <a:defRPr sz="1425" b="0">
                <a:solidFill>
                  <a:srgbClr val="586C7C"/>
                </a:solidFill>
                <a:latin typeface="Helvetica Neue"/>
                <a:ea typeface="Helvetica Neue"/>
                <a:cs typeface="Helvetica Neue"/>
              </a:defRPr>
            </a:lvl6pPr>
            <a:lvl7pPr>
              <a:defRPr sz="1425" b="0">
                <a:solidFill>
                  <a:srgbClr val="586C7C"/>
                </a:solidFill>
                <a:latin typeface="Helvetica Neue"/>
                <a:ea typeface="Helvetica Neue"/>
                <a:cs typeface="Helvetica Neue"/>
              </a:defRPr>
            </a:lvl7pPr>
            <a:lvl8pPr>
              <a:defRPr sz="1425" b="0">
                <a:solidFill>
                  <a:srgbClr val="586C7C"/>
                </a:solidFill>
                <a:latin typeface="Helvetica Neue"/>
                <a:ea typeface="Helvetica Neue"/>
                <a:cs typeface="Helvetica Neue"/>
              </a:defRPr>
            </a:lvl8pPr>
            <a:lvl9pPr>
              <a:defRPr sz="1425" b="0">
                <a:solidFill>
                  <a:srgbClr val="586C7C"/>
                </a:solidFill>
                <a:latin typeface="Helvetica Neue"/>
                <a:ea typeface="Helvetica Neue"/>
                <a:cs typeface="Helvetica Neue"/>
              </a:defRPr>
            </a:lvl9pPr>
          </a:lstStyle>
          <a:p xmlns:a="http://schemas.openxmlformats.org/drawingml/2006/main">
            <a:pPr>
              <a:defRPr sz="1425" b="0">
                <a:solidFill>
                  <a:srgbClr val="586C7C"/>
                </a:solidFill>
                <a:latin typeface="Helvetica Neue"/>
                <a:ea typeface="Helvetica Neue"/>
                <a:cs typeface="Helvetica Neue"/>
              </a:defRPr>
            </a:pPr>
            <a:r>
              <a:rPr sz="1425" b="0">
                <a:solidFill>
                  <a:srgbClr val="586C7C"/>
                </a:solidFill>
                <a:latin typeface="Helvetica Neue"/>
                <a:ea typeface="Helvetica Neue"/>
                <a:cs typeface="Helvetica Neue"/>
              </a:rPr>
              <a:t>Top 1   B006X6XGT2</a:t>
            </a:r>
          </a:p>
        </p:txBody>
      </p:sp>
      <p:sp>
        <p:nvSpPr>
          <p:cNvPr id="19" name="">
            <a:extLst xmlns:a="http://schemas.openxmlformats.org/drawingml/2006/main">
              <a:ext uri="{FF2B5EF4-FFF2-40B4-BE49-F238E27FC236}">
                <a16:creationId xmlns:a16="http://schemas.microsoft.com/office/drawing/2014/main" id="{BB2A37F9-206E-43BA-A045-8342A3BE5CFA}"/>
              </a:ext>
            </a:extLst>
          </p:cNvPr>
          <p:cNvSpPr>
            <a:spLocks xmlns:a="http://schemas.openxmlformats.org/drawingml/2006/main" noGrp="1"/>
          </p:cNvSpPr>
          <p:nvPr/>
        </p:nvSpPr>
        <p:spPr>
          <a:xfrm xmlns:a="http://schemas.openxmlformats.org/drawingml/2006/main">
            <a:off x="6172200" y="4010025"/>
            <a:ext cx="2533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43C"/>
                </a:solidFill>
                <a:latin typeface="Helvetica Neue"/>
                <a:ea typeface="Helvetica Neue"/>
                <a:cs typeface="Helvetica Neue"/>
              </a:defRPr>
            </a:defPPr>
            <a:lvl1pPr>
              <a:defRPr sz="1800" b="1">
                <a:solidFill>
                  <a:srgbClr val="17243C"/>
                </a:solidFill>
                <a:latin typeface="Helvetica Neue"/>
                <a:ea typeface="Helvetica Neue"/>
                <a:cs typeface="Helvetica Neue"/>
              </a:defRPr>
            </a:lvl1pPr>
            <a:lvl2pPr>
              <a:defRPr sz="1800" b="1">
                <a:solidFill>
                  <a:srgbClr val="17243C"/>
                </a:solidFill>
                <a:latin typeface="Helvetica Neue"/>
                <a:ea typeface="Helvetica Neue"/>
                <a:cs typeface="Helvetica Neue"/>
              </a:defRPr>
            </a:lvl2pPr>
            <a:lvl3pPr>
              <a:defRPr sz="1800" b="1">
                <a:solidFill>
                  <a:srgbClr val="17243C"/>
                </a:solidFill>
                <a:latin typeface="Helvetica Neue"/>
                <a:ea typeface="Helvetica Neue"/>
                <a:cs typeface="Helvetica Neue"/>
              </a:defRPr>
            </a:lvl3pPr>
            <a:lvl4pPr>
              <a:defRPr sz="1800" b="1">
                <a:solidFill>
                  <a:srgbClr val="17243C"/>
                </a:solidFill>
                <a:latin typeface="Helvetica Neue"/>
                <a:ea typeface="Helvetica Neue"/>
                <a:cs typeface="Helvetica Neue"/>
              </a:defRPr>
            </a:lvl4pPr>
            <a:lvl5pPr>
              <a:defRPr sz="1800" b="1">
                <a:solidFill>
                  <a:srgbClr val="17243C"/>
                </a:solidFill>
                <a:latin typeface="Helvetica Neue"/>
                <a:ea typeface="Helvetica Neue"/>
                <a:cs typeface="Helvetica Neue"/>
              </a:defRPr>
            </a:lvl5pPr>
            <a:lvl6pPr>
              <a:defRPr sz="1800" b="1">
                <a:solidFill>
                  <a:srgbClr val="17243C"/>
                </a:solidFill>
                <a:latin typeface="Helvetica Neue"/>
                <a:ea typeface="Helvetica Neue"/>
                <a:cs typeface="Helvetica Neue"/>
              </a:defRPr>
            </a:lvl6pPr>
            <a:lvl7pPr>
              <a:defRPr sz="1800" b="1">
                <a:solidFill>
                  <a:srgbClr val="17243C"/>
                </a:solidFill>
                <a:latin typeface="Helvetica Neue"/>
                <a:ea typeface="Helvetica Neue"/>
                <a:cs typeface="Helvetica Neue"/>
              </a:defRPr>
            </a:lvl7pPr>
            <a:lvl8pPr>
              <a:defRPr sz="1800" b="1">
                <a:solidFill>
                  <a:srgbClr val="17243C"/>
                </a:solidFill>
                <a:latin typeface="Helvetica Neue"/>
                <a:ea typeface="Helvetica Neue"/>
                <a:cs typeface="Helvetica Neue"/>
              </a:defRPr>
            </a:lvl8pPr>
            <a:lvl9pPr>
              <a:defRPr sz="1800" b="1">
                <a:solidFill>
                  <a:srgbClr val="17243C"/>
                </a:solidFill>
                <a:latin typeface="Helvetica Neue"/>
                <a:ea typeface="Helvetica Neue"/>
                <a:cs typeface="Helvetica Neue"/>
              </a:defRPr>
            </a:lvl9pPr>
          </a:lstStyle>
          <a:p xmlns:a="http://schemas.openxmlformats.org/drawingml/2006/main">
            <a:pPr>
              <a:defRPr sz="1800" b="1">
                <a:solidFill>
                  <a:srgbClr val="17243C"/>
                </a:solidFill>
                <a:latin typeface="Helvetica Neue"/>
                <a:ea typeface="Helvetica Neue"/>
                <a:cs typeface="Helvetica Neue"/>
              </a:defRPr>
            </a:pPr>
            <a:r>
              <a:rPr sz="1800" b="1">
                <a:solidFill>
                  <a:srgbClr val="17243C"/>
                </a:solidFill>
                <a:latin typeface="Helvetica Neue"/>
                <a:ea typeface="Helvetica Neue"/>
                <a:cs typeface="Helvetica Neue"/>
              </a:rPr>
              <a:t>Fixed fusion</a:t>
            </a:r>
          </a:p>
        </p:txBody>
      </p:sp>
      <p:sp>
        <p:nvSpPr>
          <p:cNvPr id="20" name="">
            <a:extLst xmlns:a="http://schemas.openxmlformats.org/drawingml/2006/main">
              <a:ext uri="{FF2B5EF4-FFF2-40B4-BE49-F238E27FC236}">
                <a16:creationId xmlns:a16="http://schemas.microsoft.com/office/drawing/2014/main" id="{B30DB2A9-57F2-484C-AB7A-894E6DAB672A}"/>
              </a:ext>
            </a:extLst>
          </p:cNvPr>
          <p:cNvSpPr>
            <a:spLocks xmlns:a="http://schemas.openxmlformats.org/drawingml/2006/main" noGrp="1"/>
          </p:cNvSpPr>
          <p:nvPr/>
        </p:nvSpPr>
        <p:spPr>
          <a:xfrm xmlns:a="http://schemas.openxmlformats.org/drawingml/2006/main">
            <a:off x="6172200" y="4343400"/>
            <a:ext cx="2533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C7C"/>
                </a:solidFill>
                <a:latin typeface="Helvetica Neue"/>
                <a:ea typeface="Helvetica Neue"/>
                <a:cs typeface="Helvetica Neue"/>
              </a:defRPr>
            </a:defPPr>
            <a:lvl1pPr>
              <a:defRPr sz="1575" b="0">
                <a:solidFill>
                  <a:srgbClr val="586C7C"/>
                </a:solidFill>
                <a:latin typeface="Helvetica Neue"/>
                <a:ea typeface="Helvetica Neue"/>
                <a:cs typeface="Helvetica Neue"/>
              </a:defRPr>
            </a:lvl1pPr>
            <a:lvl2pPr>
              <a:defRPr sz="1575" b="0">
                <a:solidFill>
                  <a:srgbClr val="586C7C"/>
                </a:solidFill>
                <a:latin typeface="Helvetica Neue"/>
                <a:ea typeface="Helvetica Neue"/>
                <a:cs typeface="Helvetica Neue"/>
              </a:defRPr>
            </a:lvl2pPr>
            <a:lvl3pPr>
              <a:defRPr sz="1575" b="0">
                <a:solidFill>
                  <a:srgbClr val="586C7C"/>
                </a:solidFill>
                <a:latin typeface="Helvetica Neue"/>
                <a:ea typeface="Helvetica Neue"/>
                <a:cs typeface="Helvetica Neue"/>
              </a:defRPr>
            </a:lvl3pPr>
            <a:lvl4pPr>
              <a:defRPr sz="1575" b="0">
                <a:solidFill>
                  <a:srgbClr val="586C7C"/>
                </a:solidFill>
                <a:latin typeface="Helvetica Neue"/>
                <a:ea typeface="Helvetica Neue"/>
                <a:cs typeface="Helvetica Neue"/>
              </a:defRPr>
            </a:lvl4pPr>
            <a:lvl5pPr>
              <a:defRPr sz="1575" b="0">
                <a:solidFill>
                  <a:srgbClr val="586C7C"/>
                </a:solidFill>
                <a:latin typeface="Helvetica Neue"/>
                <a:ea typeface="Helvetica Neue"/>
                <a:cs typeface="Helvetica Neue"/>
              </a:defRPr>
            </a:lvl5pPr>
            <a:lvl6pPr>
              <a:defRPr sz="1575" b="0">
                <a:solidFill>
                  <a:srgbClr val="586C7C"/>
                </a:solidFill>
                <a:latin typeface="Helvetica Neue"/>
                <a:ea typeface="Helvetica Neue"/>
                <a:cs typeface="Helvetica Neue"/>
              </a:defRPr>
            </a:lvl6pPr>
            <a:lvl7pPr>
              <a:defRPr sz="1575" b="0">
                <a:solidFill>
                  <a:srgbClr val="586C7C"/>
                </a:solidFill>
                <a:latin typeface="Helvetica Neue"/>
                <a:ea typeface="Helvetica Neue"/>
                <a:cs typeface="Helvetica Neue"/>
              </a:defRPr>
            </a:lvl7pPr>
            <a:lvl8pPr>
              <a:defRPr sz="1575" b="0">
                <a:solidFill>
                  <a:srgbClr val="586C7C"/>
                </a:solidFill>
                <a:latin typeface="Helvetica Neue"/>
                <a:ea typeface="Helvetica Neue"/>
                <a:cs typeface="Helvetica Neue"/>
              </a:defRPr>
            </a:lvl8pPr>
            <a:lvl9pPr>
              <a:defRPr sz="1575" b="0">
                <a:solidFill>
                  <a:srgbClr val="586C7C"/>
                </a:solidFill>
                <a:latin typeface="Helvetica Neue"/>
                <a:ea typeface="Helvetica Neue"/>
                <a:cs typeface="Helvetica Neue"/>
              </a:defRPr>
            </a:lvl9pPr>
          </a:lstStyle>
          <a:p xmlns:a="http://schemas.openxmlformats.org/drawingml/2006/main">
            <a:pPr>
              <a:defRPr sz="1575" b="0">
                <a:solidFill>
                  <a:srgbClr val="586C7C"/>
                </a:solidFill>
                <a:latin typeface="Helvetica Neue"/>
                <a:ea typeface="Helvetica Neue"/>
                <a:cs typeface="Helvetica Neue"/>
              </a:defRPr>
            </a:pPr>
            <a:r>
              <a:rPr sz="1575" b="0">
                <a:solidFill>
                  <a:srgbClr val="586C7C"/>
                </a:solidFill>
                <a:latin typeface="Helvetica Neue"/>
                <a:ea typeface="Helvetica Neue"/>
                <a:cs typeface="Helvetica Neue"/>
              </a:rPr>
              <a:t>Target rank 24</a:t>
            </a:r>
          </a:p>
        </p:txBody>
      </p:sp>
      <p:pic>
        <p:nvPicPr>
          <p:cNvPr id="21" name="">
            <a:extLst xmlns:a="http://schemas.openxmlformats.org/drawingml/2006/main">
              <a:ext uri="{FF2B5EF4-FFF2-40B4-BE49-F238E27FC236}">
                <a16:creationId xmlns:a16="http://schemas.microsoft.com/office/drawing/2014/main" id="{EF11B761-F62E-48DB-9049-F8B54E145058}"/>
              </a:ext>
            </a:extLst>
          </p:cNvPr>
          <p:cNvPicPr>
            <a:picLocks xmlns:a="http://schemas.openxmlformats.org/drawingml/2006/main" noChangeAspect="1"/>
          </p:cNvPicPr>
          <p:nvPr/>
        </p:nvPicPr>
        <p:blipFill>
          <a:blip xmlns:r="http://schemas.openxmlformats.org/officeDocument/2006/relationships" xmlns:a="http://schemas.openxmlformats.org/drawingml/2006/main" r:embed="Rb16a4b99398e4bbc"/>
          <a:stretch xmlns:a="http://schemas.openxmlformats.org/drawingml/2006/main"/>
        </p:blipFill>
        <p:spPr>
          <a:xfrm xmlns:a="http://schemas.openxmlformats.org/drawingml/2006/main">
            <a:off x="6726130" y="4705350"/>
            <a:ext cx="1063840" cy="138112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B87E723-EA49-4002-A0B3-2C209CE7B551}"/>
              </a:ext>
            </a:extLst>
          </p:cNvPr>
          <p:cNvSpPr>
            <a:spLocks xmlns:a="http://schemas.openxmlformats.org/drawingml/2006/main" noGrp="1"/>
          </p:cNvSpPr>
          <p:nvPr/>
        </p:nvSpPr>
        <p:spPr>
          <a:xfrm xmlns:a="http://schemas.openxmlformats.org/drawingml/2006/main">
            <a:off x="6172200" y="6134100"/>
            <a:ext cx="2533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C7C"/>
                </a:solidFill>
                <a:latin typeface="Helvetica Neue"/>
                <a:ea typeface="Helvetica Neue"/>
                <a:cs typeface="Helvetica Neue"/>
              </a:defRPr>
            </a:defPPr>
            <a:lvl1pPr>
              <a:defRPr sz="1425" b="0">
                <a:solidFill>
                  <a:srgbClr val="586C7C"/>
                </a:solidFill>
                <a:latin typeface="Helvetica Neue"/>
                <a:ea typeface="Helvetica Neue"/>
                <a:cs typeface="Helvetica Neue"/>
              </a:defRPr>
            </a:lvl1pPr>
            <a:lvl2pPr>
              <a:defRPr sz="1425" b="0">
                <a:solidFill>
                  <a:srgbClr val="586C7C"/>
                </a:solidFill>
                <a:latin typeface="Helvetica Neue"/>
                <a:ea typeface="Helvetica Neue"/>
                <a:cs typeface="Helvetica Neue"/>
              </a:defRPr>
            </a:lvl2pPr>
            <a:lvl3pPr>
              <a:defRPr sz="1425" b="0">
                <a:solidFill>
                  <a:srgbClr val="586C7C"/>
                </a:solidFill>
                <a:latin typeface="Helvetica Neue"/>
                <a:ea typeface="Helvetica Neue"/>
                <a:cs typeface="Helvetica Neue"/>
              </a:defRPr>
            </a:lvl3pPr>
            <a:lvl4pPr>
              <a:defRPr sz="1425" b="0">
                <a:solidFill>
                  <a:srgbClr val="586C7C"/>
                </a:solidFill>
                <a:latin typeface="Helvetica Neue"/>
                <a:ea typeface="Helvetica Neue"/>
                <a:cs typeface="Helvetica Neue"/>
              </a:defRPr>
            </a:lvl4pPr>
            <a:lvl5pPr>
              <a:defRPr sz="1425" b="0">
                <a:solidFill>
                  <a:srgbClr val="586C7C"/>
                </a:solidFill>
                <a:latin typeface="Helvetica Neue"/>
                <a:ea typeface="Helvetica Neue"/>
                <a:cs typeface="Helvetica Neue"/>
              </a:defRPr>
            </a:lvl5pPr>
            <a:lvl6pPr>
              <a:defRPr sz="1425" b="0">
                <a:solidFill>
                  <a:srgbClr val="586C7C"/>
                </a:solidFill>
                <a:latin typeface="Helvetica Neue"/>
                <a:ea typeface="Helvetica Neue"/>
                <a:cs typeface="Helvetica Neue"/>
              </a:defRPr>
            </a:lvl6pPr>
            <a:lvl7pPr>
              <a:defRPr sz="1425" b="0">
                <a:solidFill>
                  <a:srgbClr val="586C7C"/>
                </a:solidFill>
                <a:latin typeface="Helvetica Neue"/>
                <a:ea typeface="Helvetica Neue"/>
                <a:cs typeface="Helvetica Neue"/>
              </a:defRPr>
            </a:lvl7pPr>
            <a:lvl8pPr>
              <a:defRPr sz="1425" b="0">
                <a:solidFill>
                  <a:srgbClr val="586C7C"/>
                </a:solidFill>
                <a:latin typeface="Helvetica Neue"/>
                <a:ea typeface="Helvetica Neue"/>
                <a:cs typeface="Helvetica Neue"/>
              </a:defRPr>
            </a:lvl8pPr>
            <a:lvl9pPr>
              <a:defRPr sz="1425" b="0">
                <a:solidFill>
                  <a:srgbClr val="586C7C"/>
                </a:solidFill>
                <a:latin typeface="Helvetica Neue"/>
                <a:ea typeface="Helvetica Neue"/>
                <a:cs typeface="Helvetica Neue"/>
              </a:defRPr>
            </a:lvl9pPr>
          </a:lstStyle>
          <a:p xmlns:a="http://schemas.openxmlformats.org/drawingml/2006/main">
            <a:pPr>
              <a:defRPr sz="1425" b="0">
                <a:solidFill>
                  <a:srgbClr val="586C7C"/>
                </a:solidFill>
                <a:latin typeface="Helvetica Neue"/>
                <a:ea typeface="Helvetica Neue"/>
                <a:cs typeface="Helvetica Neue"/>
              </a:defRPr>
            </a:pPr>
            <a:r>
              <a:rPr sz="1425" b="0">
                <a:solidFill>
                  <a:srgbClr val="586C7C"/>
                </a:solidFill>
                <a:latin typeface="Helvetica Neue"/>
                <a:ea typeface="Helvetica Neue"/>
                <a:cs typeface="Helvetica Neue"/>
              </a:rPr>
              <a:t>Top 1   B00ATPE8CW</a:t>
            </a:r>
          </a:p>
        </p:txBody>
      </p:sp>
      <p:sp>
        <p:nvSpPr>
          <p:cNvPr id="23" name="">
            <a:extLst xmlns:a="http://schemas.openxmlformats.org/drawingml/2006/main">
              <a:ext uri="{FF2B5EF4-FFF2-40B4-BE49-F238E27FC236}">
                <a16:creationId xmlns:a16="http://schemas.microsoft.com/office/drawing/2014/main" id="{4FB2EFAB-5CDA-4785-BD00-D06FB4111C69}"/>
              </a:ext>
            </a:extLst>
          </p:cNvPr>
          <p:cNvSpPr>
            <a:spLocks xmlns:a="http://schemas.openxmlformats.org/drawingml/2006/main" noGrp="1"/>
          </p:cNvSpPr>
          <p:nvPr/>
        </p:nvSpPr>
        <p:spPr>
          <a:xfrm xmlns:a="http://schemas.openxmlformats.org/drawingml/2006/main">
            <a:off x="8943975" y="4010025"/>
            <a:ext cx="2533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43C"/>
                </a:solidFill>
                <a:latin typeface="Helvetica Neue"/>
                <a:ea typeface="Helvetica Neue"/>
                <a:cs typeface="Helvetica Neue"/>
              </a:defRPr>
            </a:defPPr>
            <a:lvl1pPr>
              <a:defRPr sz="1800" b="1">
                <a:solidFill>
                  <a:srgbClr val="17243C"/>
                </a:solidFill>
                <a:latin typeface="Helvetica Neue"/>
                <a:ea typeface="Helvetica Neue"/>
                <a:cs typeface="Helvetica Neue"/>
              </a:defRPr>
            </a:lvl1pPr>
            <a:lvl2pPr>
              <a:defRPr sz="1800" b="1">
                <a:solidFill>
                  <a:srgbClr val="17243C"/>
                </a:solidFill>
                <a:latin typeface="Helvetica Neue"/>
                <a:ea typeface="Helvetica Neue"/>
                <a:cs typeface="Helvetica Neue"/>
              </a:defRPr>
            </a:lvl2pPr>
            <a:lvl3pPr>
              <a:defRPr sz="1800" b="1">
                <a:solidFill>
                  <a:srgbClr val="17243C"/>
                </a:solidFill>
                <a:latin typeface="Helvetica Neue"/>
                <a:ea typeface="Helvetica Neue"/>
                <a:cs typeface="Helvetica Neue"/>
              </a:defRPr>
            </a:lvl3pPr>
            <a:lvl4pPr>
              <a:defRPr sz="1800" b="1">
                <a:solidFill>
                  <a:srgbClr val="17243C"/>
                </a:solidFill>
                <a:latin typeface="Helvetica Neue"/>
                <a:ea typeface="Helvetica Neue"/>
                <a:cs typeface="Helvetica Neue"/>
              </a:defRPr>
            </a:lvl4pPr>
            <a:lvl5pPr>
              <a:defRPr sz="1800" b="1">
                <a:solidFill>
                  <a:srgbClr val="17243C"/>
                </a:solidFill>
                <a:latin typeface="Helvetica Neue"/>
                <a:ea typeface="Helvetica Neue"/>
                <a:cs typeface="Helvetica Neue"/>
              </a:defRPr>
            </a:lvl5pPr>
            <a:lvl6pPr>
              <a:defRPr sz="1800" b="1">
                <a:solidFill>
                  <a:srgbClr val="17243C"/>
                </a:solidFill>
                <a:latin typeface="Helvetica Neue"/>
                <a:ea typeface="Helvetica Neue"/>
                <a:cs typeface="Helvetica Neue"/>
              </a:defRPr>
            </a:lvl6pPr>
            <a:lvl7pPr>
              <a:defRPr sz="1800" b="1">
                <a:solidFill>
                  <a:srgbClr val="17243C"/>
                </a:solidFill>
                <a:latin typeface="Helvetica Neue"/>
                <a:ea typeface="Helvetica Neue"/>
                <a:cs typeface="Helvetica Neue"/>
              </a:defRPr>
            </a:lvl7pPr>
            <a:lvl8pPr>
              <a:defRPr sz="1800" b="1">
                <a:solidFill>
                  <a:srgbClr val="17243C"/>
                </a:solidFill>
                <a:latin typeface="Helvetica Neue"/>
                <a:ea typeface="Helvetica Neue"/>
                <a:cs typeface="Helvetica Neue"/>
              </a:defRPr>
            </a:lvl8pPr>
            <a:lvl9pPr>
              <a:defRPr sz="1800" b="1">
                <a:solidFill>
                  <a:srgbClr val="17243C"/>
                </a:solidFill>
                <a:latin typeface="Helvetica Neue"/>
                <a:ea typeface="Helvetica Neue"/>
                <a:cs typeface="Helvetica Neue"/>
              </a:defRPr>
            </a:lvl9pPr>
          </a:lstStyle>
          <a:p xmlns:a="http://schemas.openxmlformats.org/drawingml/2006/main">
            <a:pPr>
              <a:defRPr sz="1800" b="1">
                <a:solidFill>
                  <a:srgbClr val="17243C"/>
                </a:solidFill>
                <a:latin typeface="Helvetica Neue"/>
                <a:ea typeface="Helvetica Neue"/>
                <a:cs typeface="Helvetica Neue"/>
              </a:defRPr>
            </a:pPr>
            <a:r>
              <a:rPr sz="1800" b="1">
                <a:solidFill>
                  <a:srgbClr val="17243C"/>
                </a:solidFill>
                <a:latin typeface="Helvetica Neue"/>
                <a:ea typeface="Helvetica Neue"/>
                <a:cs typeface="Helvetica Neue"/>
              </a:rPr>
              <a:t>Learned fusion</a:t>
            </a:r>
          </a:p>
        </p:txBody>
      </p:sp>
      <p:sp>
        <p:nvSpPr>
          <p:cNvPr id="24" name="">
            <a:extLst xmlns:a="http://schemas.openxmlformats.org/drawingml/2006/main">
              <a:ext uri="{FF2B5EF4-FFF2-40B4-BE49-F238E27FC236}">
                <a16:creationId xmlns:a16="http://schemas.microsoft.com/office/drawing/2014/main" id="{B518050E-6162-4C6D-A176-BDFBF9C2F0E3}"/>
              </a:ext>
            </a:extLst>
          </p:cNvPr>
          <p:cNvSpPr>
            <a:spLocks xmlns:a="http://schemas.openxmlformats.org/drawingml/2006/main" noGrp="1"/>
          </p:cNvSpPr>
          <p:nvPr/>
        </p:nvSpPr>
        <p:spPr>
          <a:xfrm xmlns:a="http://schemas.openxmlformats.org/drawingml/2006/main">
            <a:off x="8943975" y="4343400"/>
            <a:ext cx="2533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C7C"/>
                </a:solidFill>
                <a:latin typeface="Helvetica Neue"/>
                <a:ea typeface="Helvetica Neue"/>
                <a:cs typeface="Helvetica Neue"/>
              </a:defRPr>
            </a:defPPr>
            <a:lvl1pPr>
              <a:defRPr sz="1575" b="0">
                <a:solidFill>
                  <a:srgbClr val="586C7C"/>
                </a:solidFill>
                <a:latin typeface="Helvetica Neue"/>
                <a:ea typeface="Helvetica Neue"/>
                <a:cs typeface="Helvetica Neue"/>
              </a:defRPr>
            </a:lvl1pPr>
            <a:lvl2pPr>
              <a:defRPr sz="1575" b="0">
                <a:solidFill>
                  <a:srgbClr val="586C7C"/>
                </a:solidFill>
                <a:latin typeface="Helvetica Neue"/>
                <a:ea typeface="Helvetica Neue"/>
                <a:cs typeface="Helvetica Neue"/>
              </a:defRPr>
            </a:lvl2pPr>
            <a:lvl3pPr>
              <a:defRPr sz="1575" b="0">
                <a:solidFill>
                  <a:srgbClr val="586C7C"/>
                </a:solidFill>
                <a:latin typeface="Helvetica Neue"/>
                <a:ea typeface="Helvetica Neue"/>
                <a:cs typeface="Helvetica Neue"/>
              </a:defRPr>
            </a:lvl3pPr>
            <a:lvl4pPr>
              <a:defRPr sz="1575" b="0">
                <a:solidFill>
                  <a:srgbClr val="586C7C"/>
                </a:solidFill>
                <a:latin typeface="Helvetica Neue"/>
                <a:ea typeface="Helvetica Neue"/>
                <a:cs typeface="Helvetica Neue"/>
              </a:defRPr>
            </a:lvl4pPr>
            <a:lvl5pPr>
              <a:defRPr sz="1575" b="0">
                <a:solidFill>
                  <a:srgbClr val="586C7C"/>
                </a:solidFill>
                <a:latin typeface="Helvetica Neue"/>
                <a:ea typeface="Helvetica Neue"/>
                <a:cs typeface="Helvetica Neue"/>
              </a:defRPr>
            </a:lvl5pPr>
            <a:lvl6pPr>
              <a:defRPr sz="1575" b="0">
                <a:solidFill>
                  <a:srgbClr val="586C7C"/>
                </a:solidFill>
                <a:latin typeface="Helvetica Neue"/>
                <a:ea typeface="Helvetica Neue"/>
                <a:cs typeface="Helvetica Neue"/>
              </a:defRPr>
            </a:lvl6pPr>
            <a:lvl7pPr>
              <a:defRPr sz="1575" b="0">
                <a:solidFill>
                  <a:srgbClr val="586C7C"/>
                </a:solidFill>
                <a:latin typeface="Helvetica Neue"/>
                <a:ea typeface="Helvetica Neue"/>
                <a:cs typeface="Helvetica Neue"/>
              </a:defRPr>
            </a:lvl7pPr>
            <a:lvl8pPr>
              <a:defRPr sz="1575" b="0">
                <a:solidFill>
                  <a:srgbClr val="586C7C"/>
                </a:solidFill>
                <a:latin typeface="Helvetica Neue"/>
                <a:ea typeface="Helvetica Neue"/>
                <a:cs typeface="Helvetica Neue"/>
              </a:defRPr>
            </a:lvl8pPr>
            <a:lvl9pPr>
              <a:defRPr sz="1575" b="0">
                <a:solidFill>
                  <a:srgbClr val="586C7C"/>
                </a:solidFill>
                <a:latin typeface="Helvetica Neue"/>
                <a:ea typeface="Helvetica Neue"/>
                <a:cs typeface="Helvetica Neue"/>
              </a:defRPr>
            </a:lvl9pPr>
          </a:lstStyle>
          <a:p xmlns:a="http://schemas.openxmlformats.org/drawingml/2006/main">
            <a:pPr>
              <a:defRPr sz="1575" b="0">
                <a:solidFill>
                  <a:srgbClr val="586C7C"/>
                </a:solidFill>
                <a:latin typeface="Helvetica Neue"/>
                <a:ea typeface="Helvetica Neue"/>
                <a:cs typeface="Helvetica Neue"/>
              </a:defRPr>
            </a:pPr>
            <a:r>
              <a:rPr sz="1575" b="0">
                <a:solidFill>
                  <a:srgbClr val="586C7C"/>
                </a:solidFill>
                <a:latin typeface="Helvetica Neue"/>
                <a:ea typeface="Helvetica Neue"/>
                <a:cs typeface="Helvetica Neue"/>
              </a:rPr>
              <a:t>Target rank 1</a:t>
            </a:r>
          </a:p>
        </p:txBody>
      </p:sp>
      <p:pic>
        <p:nvPicPr>
          <p:cNvPr id="25" name="">
            <a:extLst xmlns:a="http://schemas.openxmlformats.org/drawingml/2006/main">
              <a:ext uri="{FF2B5EF4-FFF2-40B4-BE49-F238E27FC236}">
                <a16:creationId xmlns:a16="http://schemas.microsoft.com/office/drawing/2014/main" id="{BC586AC4-5B1A-42C3-9B59-3A6CCE5405E9}"/>
              </a:ext>
            </a:extLst>
          </p:cNvPr>
          <p:cNvPicPr>
            <a:picLocks xmlns:a="http://schemas.openxmlformats.org/drawingml/2006/main" noChangeAspect="1"/>
          </p:cNvPicPr>
          <p:nvPr/>
        </p:nvPicPr>
        <p:blipFill>
          <a:blip xmlns:r="http://schemas.openxmlformats.org/officeDocument/2006/relationships" xmlns:a="http://schemas.openxmlformats.org/drawingml/2006/main" r:embed="R39ca2033ef194b3e"/>
          <a:stretch xmlns:a="http://schemas.openxmlformats.org/drawingml/2006/main"/>
        </p:blipFill>
        <p:spPr>
          <a:xfrm xmlns:a="http://schemas.openxmlformats.org/drawingml/2006/main">
            <a:off x="9722563" y="4705350"/>
            <a:ext cx="614523" cy="1381125"/>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0E42AF89-B396-46C4-9F54-9011F3316860}"/>
              </a:ext>
            </a:extLst>
          </p:cNvPr>
          <p:cNvSpPr>
            <a:spLocks xmlns:a="http://schemas.openxmlformats.org/drawingml/2006/main" noGrp="1"/>
          </p:cNvSpPr>
          <p:nvPr/>
        </p:nvSpPr>
        <p:spPr>
          <a:xfrm xmlns:a="http://schemas.openxmlformats.org/drawingml/2006/main">
            <a:off x="8943975" y="6134100"/>
            <a:ext cx="2533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C7C"/>
                </a:solidFill>
                <a:latin typeface="Helvetica Neue"/>
                <a:ea typeface="Helvetica Neue"/>
                <a:cs typeface="Helvetica Neue"/>
              </a:defRPr>
            </a:defPPr>
            <a:lvl1pPr>
              <a:defRPr sz="1425" b="0">
                <a:solidFill>
                  <a:srgbClr val="586C7C"/>
                </a:solidFill>
                <a:latin typeface="Helvetica Neue"/>
                <a:ea typeface="Helvetica Neue"/>
                <a:cs typeface="Helvetica Neue"/>
              </a:defRPr>
            </a:lvl1pPr>
            <a:lvl2pPr>
              <a:defRPr sz="1425" b="0">
                <a:solidFill>
                  <a:srgbClr val="586C7C"/>
                </a:solidFill>
                <a:latin typeface="Helvetica Neue"/>
                <a:ea typeface="Helvetica Neue"/>
                <a:cs typeface="Helvetica Neue"/>
              </a:defRPr>
            </a:lvl2pPr>
            <a:lvl3pPr>
              <a:defRPr sz="1425" b="0">
                <a:solidFill>
                  <a:srgbClr val="586C7C"/>
                </a:solidFill>
                <a:latin typeface="Helvetica Neue"/>
                <a:ea typeface="Helvetica Neue"/>
                <a:cs typeface="Helvetica Neue"/>
              </a:defRPr>
            </a:lvl3pPr>
            <a:lvl4pPr>
              <a:defRPr sz="1425" b="0">
                <a:solidFill>
                  <a:srgbClr val="586C7C"/>
                </a:solidFill>
                <a:latin typeface="Helvetica Neue"/>
                <a:ea typeface="Helvetica Neue"/>
                <a:cs typeface="Helvetica Neue"/>
              </a:defRPr>
            </a:lvl4pPr>
            <a:lvl5pPr>
              <a:defRPr sz="1425" b="0">
                <a:solidFill>
                  <a:srgbClr val="586C7C"/>
                </a:solidFill>
                <a:latin typeface="Helvetica Neue"/>
                <a:ea typeface="Helvetica Neue"/>
                <a:cs typeface="Helvetica Neue"/>
              </a:defRPr>
            </a:lvl5pPr>
            <a:lvl6pPr>
              <a:defRPr sz="1425" b="0">
                <a:solidFill>
                  <a:srgbClr val="586C7C"/>
                </a:solidFill>
                <a:latin typeface="Helvetica Neue"/>
                <a:ea typeface="Helvetica Neue"/>
                <a:cs typeface="Helvetica Neue"/>
              </a:defRPr>
            </a:lvl6pPr>
            <a:lvl7pPr>
              <a:defRPr sz="1425" b="0">
                <a:solidFill>
                  <a:srgbClr val="586C7C"/>
                </a:solidFill>
                <a:latin typeface="Helvetica Neue"/>
                <a:ea typeface="Helvetica Neue"/>
                <a:cs typeface="Helvetica Neue"/>
              </a:defRPr>
            </a:lvl7pPr>
            <a:lvl8pPr>
              <a:defRPr sz="1425" b="0">
                <a:solidFill>
                  <a:srgbClr val="586C7C"/>
                </a:solidFill>
                <a:latin typeface="Helvetica Neue"/>
                <a:ea typeface="Helvetica Neue"/>
                <a:cs typeface="Helvetica Neue"/>
              </a:defRPr>
            </a:lvl8pPr>
            <a:lvl9pPr>
              <a:defRPr sz="1425" b="0">
                <a:solidFill>
                  <a:srgbClr val="586C7C"/>
                </a:solidFill>
                <a:latin typeface="Helvetica Neue"/>
                <a:ea typeface="Helvetica Neue"/>
                <a:cs typeface="Helvetica Neue"/>
              </a:defRPr>
            </a:lvl9pPr>
          </a:lstStyle>
          <a:p xmlns:a="http://schemas.openxmlformats.org/drawingml/2006/main">
            <a:pPr>
              <a:defRPr sz="1425" b="0">
                <a:solidFill>
                  <a:srgbClr val="586C7C"/>
                </a:solidFill>
                <a:latin typeface="Helvetica Neue"/>
                <a:ea typeface="Helvetica Neue"/>
                <a:cs typeface="Helvetica Neue"/>
              </a:defRPr>
            </a:pPr>
            <a:r>
              <a:rPr sz="1425" b="0">
                <a:solidFill>
                  <a:srgbClr val="586C7C"/>
                </a:solidFill>
                <a:latin typeface="Helvetica Neue"/>
                <a:ea typeface="Helvetica Neue"/>
                <a:cs typeface="Helvetica Neue"/>
              </a:rPr>
              <a:t>Top 1   B00CFL3FDQ</a:t>
            </a:r>
          </a:p>
        </p:txBody>
      </p:sp>
    </p:spTree>
    <p:extLst>
      <p:ext uri="{BB962C8B-B14F-4D97-AF65-F5344CB8AC3E}">
        <p14:creationId xmlns:p14="http://schemas.microsoft.com/office/powerpoint/2010/main" val="469512497"/>
      </p:ext>
    </p:extLst>
  </p:cSld>
</p:sld>
</file>

<file path=ppt/slides/slide3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FD7C83-77A3-4961-AD23-094E2EE43C55}"/>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History length and recommendation exposure</a:t>
            </a:r>
          </a:p>
        </p:txBody>
      </p:sp>
      <p:sp>
        <p:nvSpPr>
          <p:cNvPr id="2" name="">
            <a:extLst xmlns:a="http://schemas.openxmlformats.org/drawingml/2006/main">
              <a:ext uri="{FF2B5EF4-FFF2-40B4-BE49-F238E27FC236}">
                <a16:creationId xmlns:a16="http://schemas.microsoft.com/office/drawing/2014/main" id="{551D0263-F061-4BF6-9B7D-404A0668BC03}"/>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Clothing, fixed seed42 checkpoints. 1,000 users and 1,865 test targets.</a:t>
            </a:r>
          </a:p>
        </p:txBody>
      </p:sp>
      <p:sp>
        <p:nvSpPr>
          <p:cNvPr id="3" name="">
            <a:extLst xmlns:a="http://schemas.openxmlformats.org/drawingml/2006/main">
              <a:ext uri="{FF2B5EF4-FFF2-40B4-BE49-F238E27FC236}">
                <a16:creationId xmlns:a16="http://schemas.microsoft.com/office/drawing/2014/main" id="{C55D170A-72DC-4D6F-8A7D-6434B958EF92}"/>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32</a:t>
            </a:r>
          </a:p>
        </p:txBody>
      </p:sp>
      <p:graphicFrame>
        <p:nvGraphicFramePr>
          <p:cNvPr id="4" name="Chart">
            <a:extLst xmlns:a="http://schemas.openxmlformats.org/drawingml/2006/main">
              <a:ext uri="{FF2B5EF4-FFF2-40B4-BE49-F238E27FC236}">
                <a16:creationId xmlns:a16="http://schemas.microsoft.com/office/drawing/2014/main" id="{8CA05D93-E39B-490F-B0D8-5754D8A1CDF9}"/>
              </a:ext>
            </a:extLst>
          </p:cNvPr>
          <p:cNvGraphicFramePr/>
          <p:nvPr/>
        </p:nvGraphicFramePr>
        <p:xfrm>
          <a:off xmlns:a="http://schemas.openxmlformats.org/drawingml/2006/main" x="609600" y="1857375"/>
          <a:ext xmlns:a="http://schemas.openxmlformats.org/drawingml/2006/main" cx="5334000" cy="3381375"/>
        </p:xfrm>
        <a:graphic xmlns:a="http://schemas.openxmlformats.org/drawingml/2006/main">
          <a:graphicData uri="http://schemas.openxmlformats.org/drawingml/2006/chart">
            <c:chart xmlns:r="http://schemas.openxmlformats.org/officeDocument/2006/relationships" xmlns:c="http://schemas.openxmlformats.org/drawingml/2006/chart" r:id="R6d779330d8ab4956"/>
          </a:graphicData>
        </a:graphic>
      </p:graphicFrame>
      <p:graphicFrame>
        <p:nvGraphicFramePr>
          <p:cNvPr id="5" name="Chart">
            <a:extLst xmlns:a="http://schemas.openxmlformats.org/drawingml/2006/main">
              <a:ext uri="{FF2B5EF4-FFF2-40B4-BE49-F238E27FC236}">
                <a16:creationId xmlns:a16="http://schemas.microsoft.com/office/drawing/2014/main" id="{FF2480B5-13DB-45FD-BF05-4DC3C6843A56}"/>
              </a:ext>
            </a:extLst>
          </p:cNvPr>
          <p:cNvGraphicFramePr/>
          <p:nvPr/>
        </p:nvGraphicFramePr>
        <p:xfrm>
          <a:off xmlns:a="http://schemas.openxmlformats.org/drawingml/2006/main" x="6362700" y="1857375"/>
          <a:ext xmlns:a="http://schemas.openxmlformats.org/drawingml/2006/main" cx="5219700" cy="3381375"/>
        </p:xfrm>
        <a:graphic xmlns:a="http://schemas.openxmlformats.org/drawingml/2006/main">
          <a:graphicData uri="http://schemas.openxmlformats.org/drawingml/2006/chart">
            <c:chart xmlns:r="http://schemas.openxmlformats.org/officeDocument/2006/relationships" xmlns:c="http://schemas.openxmlformats.org/drawingml/2006/chart" r:id="R92b3d8d46c6b409e"/>
          </a:graphicData>
        </a:graphic>
      </p:graphicFrame>
      <p:sp>
        <p:nvSpPr>
          <p:cNvPr id="6" name="">
            <a:extLst xmlns:a="http://schemas.openxmlformats.org/drawingml/2006/main">
              <a:ext uri="{FF2B5EF4-FFF2-40B4-BE49-F238E27FC236}">
                <a16:creationId xmlns:a16="http://schemas.microsoft.com/office/drawing/2014/main" id="{469A028A-DE18-4E26-ABB3-100A8015AD61}"/>
              </a:ext>
            </a:extLst>
          </p:cNvPr>
          <p:cNvSpPr>
            <a:spLocks xmlns:a="http://schemas.openxmlformats.org/drawingml/2006/main" noGrp="1"/>
          </p:cNvSpPr>
          <p:nvPr/>
        </p:nvSpPr>
        <p:spPr>
          <a:xfrm xmlns:a="http://schemas.openxmlformats.org/drawingml/2006/main">
            <a:off x="628650" y="563880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History truncation changes model input. Every earlier positive remains excluded from candidates.</a:t>
            </a:r>
          </a:p>
        </p:txBody>
      </p:sp>
      <p:sp>
        <p:nvSpPr>
          <p:cNvPr id="7" name="">
            <a:extLst xmlns:a="http://schemas.openxmlformats.org/drawingml/2006/main">
              <a:ext uri="{FF2B5EF4-FFF2-40B4-BE49-F238E27FC236}">
                <a16:creationId xmlns:a16="http://schemas.microsoft.com/office/drawing/2014/main" id="{C3D6FA59-52E9-40CB-B2E1-DE3C65D7DB47}"/>
              </a:ext>
            </a:extLst>
          </p:cNvPr>
          <p:cNvSpPr>
            <a:spLocks xmlns:a="http://schemas.openxmlformats.org/drawingml/2006/main" noGrp="1"/>
          </p:cNvSpPr>
          <p:nvPr/>
        </p:nvSpPr>
        <p:spPr>
          <a:xfrm xmlns:a="http://schemas.openxmlformats.org/drawingml/2006/main">
            <a:off x="628650" y="6162675"/>
            <a:ext cx="10839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Coverage measures exposure across this cohort. It does not measure satisfaction or a training-seed effect.</a:t>
            </a:r>
          </a:p>
        </p:txBody>
      </p:sp>
    </p:spTree>
    <p:extLst>
      <p:ext uri="{BB962C8B-B14F-4D97-AF65-F5344CB8AC3E}">
        <p14:creationId xmlns:p14="http://schemas.microsoft.com/office/powerpoint/2010/main" val="1487975103"/>
      </p:ext>
    </p:extLst>
  </p:cSld>
</p:sld>
</file>

<file path=ppt/slides/slide3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2AF826F-0997-44F2-9FEF-7C792DE4D34F}"/>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Local M4 CPU inference and ranking cost</a:t>
            </a:r>
          </a:p>
        </p:txBody>
      </p:sp>
      <p:sp>
        <p:nvSpPr>
          <p:cNvPr id="2" name="">
            <a:extLst xmlns:a="http://schemas.openxmlformats.org/drawingml/2006/main">
              <a:ext uri="{FF2B5EF4-FFF2-40B4-BE49-F238E27FC236}">
                <a16:creationId xmlns:a16="http://schemas.microsoft.com/office/drawing/2014/main" id="{E0AFB06A-EE12-4D95-8073-C92B312CE5B3}"/>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22,491 Clothing products, 12 paired repeats, 4 Torch threads</a:t>
            </a:r>
          </a:p>
        </p:txBody>
      </p:sp>
      <p:sp>
        <p:nvSpPr>
          <p:cNvPr id="3" name="">
            <a:extLst xmlns:a="http://schemas.openxmlformats.org/drawingml/2006/main">
              <a:ext uri="{FF2B5EF4-FFF2-40B4-BE49-F238E27FC236}">
                <a16:creationId xmlns:a16="http://schemas.microsoft.com/office/drawing/2014/main" id="{5A03E9B3-4787-4655-B071-462695D92818}"/>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33</a:t>
            </a:r>
          </a:p>
        </p:txBody>
      </p:sp>
      <p:graphicFrame>
        <p:nvGraphicFramePr>
          <p:cNvPr id="4" name="Chart">
            <a:extLst xmlns:a="http://schemas.openxmlformats.org/drawingml/2006/main">
              <a:ext uri="{FF2B5EF4-FFF2-40B4-BE49-F238E27FC236}">
                <a16:creationId xmlns:a16="http://schemas.microsoft.com/office/drawing/2014/main" id="{6F5FCF42-3A8A-4424-89D4-BDA5A30A0D12}"/>
              </a:ext>
            </a:extLst>
          </p:cNvPr>
          <p:cNvGraphicFramePr/>
          <p:nvPr/>
        </p:nvGraphicFramePr>
        <p:xfrm>
          <a:off xmlns:a="http://schemas.openxmlformats.org/drawingml/2006/main" x="609600" y="1809750"/>
          <a:ext xmlns:a="http://schemas.openxmlformats.org/drawingml/2006/main" cx="7334250" cy="3476625"/>
        </p:xfrm>
        <a:graphic xmlns:a="http://schemas.openxmlformats.org/drawingml/2006/main">
          <a:graphicData uri="http://schemas.openxmlformats.org/drawingml/2006/chart">
            <c:chart xmlns:r="http://schemas.openxmlformats.org/officeDocument/2006/relationships" xmlns:c="http://schemas.openxmlformats.org/drawingml/2006/chart" r:id="R9df7534252d64842"/>
          </a:graphicData>
        </a:graphic>
      </p:graphicFrame>
      <p:sp>
        <p:nvSpPr>
          <p:cNvPr id="5" name="">
            <a:extLst xmlns:a="http://schemas.openxmlformats.org/drawingml/2006/main">
              <a:ext uri="{FF2B5EF4-FFF2-40B4-BE49-F238E27FC236}">
                <a16:creationId xmlns:a16="http://schemas.microsoft.com/office/drawing/2014/main" id="{532F4A77-A806-4EE8-A57A-55FE8F337467}"/>
              </a:ext>
            </a:extLst>
          </p:cNvPr>
          <p:cNvSpPr>
            <a:spLocks xmlns:a="http://schemas.openxmlformats.org/drawingml/2006/main" noGrp="1"/>
          </p:cNvSpPr>
          <p:nvPr/>
        </p:nvSpPr>
        <p:spPr>
          <a:xfrm xmlns:a="http://schemas.openxmlformats.org/drawingml/2006/main">
            <a:off x="8343900" y="1971675"/>
            <a:ext cx="321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43C"/>
                </a:solidFill>
                <a:latin typeface="Helvetica Neue"/>
                <a:ea typeface="Helvetica Neue"/>
                <a:cs typeface="Helvetica Neue"/>
              </a:defRPr>
            </a:defPPr>
            <a:lvl1pPr>
              <a:defRPr sz="1650" b="1">
                <a:solidFill>
                  <a:srgbClr val="17243C"/>
                </a:solidFill>
                <a:latin typeface="Helvetica Neue"/>
                <a:ea typeface="Helvetica Neue"/>
                <a:cs typeface="Helvetica Neue"/>
              </a:defRPr>
            </a:lvl1pPr>
            <a:lvl2pPr>
              <a:defRPr sz="1650" b="1">
                <a:solidFill>
                  <a:srgbClr val="17243C"/>
                </a:solidFill>
                <a:latin typeface="Helvetica Neue"/>
                <a:ea typeface="Helvetica Neue"/>
                <a:cs typeface="Helvetica Neue"/>
              </a:defRPr>
            </a:lvl2pPr>
            <a:lvl3pPr>
              <a:defRPr sz="1650" b="1">
                <a:solidFill>
                  <a:srgbClr val="17243C"/>
                </a:solidFill>
                <a:latin typeface="Helvetica Neue"/>
                <a:ea typeface="Helvetica Neue"/>
                <a:cs typeface="Helvetica Neue"/>
              </a:defRPr>
            </a:lvl3pPr>
            <a:lvl4pPr>
              <a:defRPr sz="1650" b="1">
                <a:solidFill>
                  <a:srgbClr val="17243C"/>
                </a:solidFill>
                <a:latin typeface="Helvetica Neue"/>
                <a:ea typeface="Helvetica Neue"/>
                <a:cs typeface="Helvetica Neue"/>
              </a:defRPr>
            </a:lvl4pPr>
            <a:lvl5pPr>
              <a:defRPr sz="1650" b="1">
                <a:solidFill>
                  <a:srgbClr val="17243C"/>
                </a:solidFill>
                <a:latin typeface="Helvetica Neue"/>
                <a:ea typeface="Helvetica Neue"/>
                <a:cs typeface="Helvetica Neue"/>
              </a:defRPr>
            </a:lvl5pPr>
            <a:lvl6pPr>
              <a:defRPr sz="1650" b="1">
                <a:solidFill>
                  <a:srgbClr val="17243C"/>
                </a:solidFill>
                <a:latin typeface="Helvetica Neue"/>
                <a:ea typeface="Helvetica Neue"/>
                <a:cs typeface="Helvetica Neue"/>
              </a:defRPr>
            </a:lvl6pPr>
            <a:lvl7pPr>
              <a:defRPr sz="1650" b="1">
                <a:solidFill>
                  <a:srgbClr val="17243C"/>
                </a:solidFill>
                <a:latin typeface="Helvetica Neue"/>
                <a:ea typeface="Helvetica Neue"/>
                <a:cs typeface="Helvetica Neue"/>
              </a:defRPr>
            </a:lvl7pPr>
            <a:lvl8pPr>
              <a:defRPr sz="1650" b="1">
                <a:solidFill>
                  <a:srgbClr val="17243C"/>
                </a:solidFill>
                <a:latin typeface="Helvetica Neue"/>
                <a:ea typeface="Helvetica Neue"/>
                <a:cs typeface="Helvetica Neue"/>
              </a:defRPr>
            </a:lvl8pPr>
            <a:lvl9pPr>
              <a:defRPr sz="1650" b="1">
                <a:solidFill>
                  <a:srgbClr val="17243C"/>
                </a:solidFill>
                <a:latin typeface="Helvetica Neue"/>
                <a:ea typeface="Helvetica Neue"/>
                <a:cs typeface="Helvetica Neue"/>
              </a:defRPr>
            </a:lvl9pPr>
          </a:lstStyle>
          <a:p xmlns:a="http://schemas.openxmlformats.org/drawingml/2006/main">
            <a:pPr>
              <a:defRPr sz="1650" b="1">
                <a:solidFill>
                  <a:srgbClr val="17243C"/>
                </a:solidFill>
                <a:latin typeface="Helvetica Neue"/>
                <a:ea typeface="Helvetica Neue"/>
                <a:cs typeface="Helvetica Neue"/>
              </a:defRPr>
            </a:pPr>
            <a:r>
              <a:rPr sz="1650" b="1">
                <a:solidFill>
                  <a:srgbClr val="17243C"/>
                </a:solidFill>
                <a:latin typeface="Helvetica Neue"/>
                <a:ea typeface="Helvetica Neue"/>
                <a:cs typeface="Helvetica Neue"/>
              </a:rPr>
              <a:t>First three text encoders</a:t>
            </a:r>
          </a:p>
        </p:txBody>
      </p:sp>
      <p:sp>
        <p:nvSpPr>
          <p:cNvPr id="6" name="">
            <a:extLst xmlns:a="http://schemas.openxmlformats.org/drawingml/2006/main">
              <a:ext uri="{FF2B5EF4-FFF2-40B4-BE49-F238E27FC236}">
                <a16:creationId xmlns:a16="http://schemas.microsoft.com/office/drawing/2014/main" id="{A9D00D71-DAE7-4637-A1B6-E75559E12C38}"/>
              </a:ext>
            </a:extLst>
          </p:cNvPr>
          <p:cNvSpPr>
            <a:spLocks xmlns:a="http://schemas.openxmlformats.org/drawingml/2006/main" noGrp="1"/>
          </p:cNvSpPr>
          <p:nvPr/>
        </p:nvSpPr>
        <p:spPr>
          <a:xfrm xmlns:a="http://schemas.openxmlformats.org/drawingml/2006/main">
            <a:off x="8343900" y="2314575"/>
            <a:ext cx="321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243C"/>
                </a:solidFill>
                <a:latin typeface="Helvetica Neue"/>
                <a:ea typeface="Helvetica Neue"/>
                <a:cs typeface="Helvetica Neue"/>
              </a:defRPr>
            </a:defPPr>
            <a:lvl1pPr>
              <a:defRPr sz="2400" b="1">
                <a:solidFill>
                  <a:srgbClr val="17243C"/>
                </a:solidFill>
                <a:latin typeface="Helvetica Neue"/>
                <a:ea typeface="Helvetica Neue"/>
                <a:cs typeface="Helvetica Neue"/>
              </a:defRPr>
            </a:lvl1pPr>
            <a:lvl2pPr>
              <a:defRPr sz="2400" b="1">
                <a:solidFill>
                  <a:srgbClr val="17243C"/>
                </a:solidFill>
                <a:latin typeface="Helvetica Neue"/>
                <a:ea typeface="Helvetica Neue"/>
                <a:cs typeface="Helvetica Neue"/>
              </a:defRPr>
            </a:lvl2pPr>
            <a:lvl3pPr>
              <a:defRPr sz="2400" b="1">
                <a:solidFill>
                  <a:srgbClr val="17243C"/>
                </a:solidFill>
                <a:latin typeface="Helvetica Neue"/>
                <a:ea typeface="Helvetica Neue"/>
                <a:cs typeface="Helvetica Neue"/>
              </a:defRPr>
            </a:lvl3pPr>
            <a:lvl4pPr>
              <a:defRPr sz="2400" b="1">
                <a:solidFill>
                  <a:srgbClr val="17243C"/>
                </a:solidFill>
                <a:latin typeface="Helvetica Neue"/>
                <a:ea typeface="Helvetica Neue"/>
                <a:cs typeface="Helvetica Neue"/>
              </a:defRPr>
            </a:lvl4pPr>
            <a:lvl5pPr>
              <a:defRPr sz="2400" b="1">
                <a:solidFill>
                  <a:srgbClr val="17243C"/>
                </a:solidFill>
                <a:latin typeface="Helvetica Neue"/>
                <a:ea typeface="Helvetica Neue"/>
                <a:cs typeface="Helvetica Neue"/>
              </a:defRPr>
            </a:lvl5pPr>
            <a:lvl6pPr>
              <a:defRPr sz="2400" b="1">
                <a:solidFill>
                  <a:srgbClr val="17243C"/>
                </a:solidFill>
                <a:latin typeface="Helvetica Neue"/>
                <a:ea typeface="Helvetica Neue"/>
                <a:cs typeface="Helvetica Neue"/>
              </a:defRPr>
            </a:lvl6pPr>
            <a:lvl7pPr>
              <a:defRPr sz="2400" b="1">
                <a:solidFill>
                  <a:srgbClr val="17243C"/>
                </a:solidFill>
                <a:latin typeface="Helvetica Neue"/>
                <a:ea typeface="Helvetica Neue"/>
                <a:cs typeface="Helvetica Neue"/>
              </a:defRPr>
            </a:lvl7pPr>
            <a:lvl8pPr>
              <a:defRPr sz="2400" b="1">
                <a:solidFill>
                  <a:srgbClr val="17243C"/>
                </a:solidFill>
                <a:latin typeface="Helvetica Neue"/>
                <a:ea typeface="Helvetica Neue"/>
                <a:cs typeface="Helvetica Neue"/>
              </a:defRPr>
            </a:lvl8pPr>
            <a:lvl9pPr>
              <a:defRPr sz="2400" b="1">
                <a:solidFill>
                  <a:srgbClr val="17243C"/>
                </a:solidFill>
                <a:latin typeface="Helvetica Neue"/>
                <a:ea typeface="Helvetica Neue"/>
                <a:cs typeface="Helvetica Neue"/>
              </a:defRPr>
            </a:lvl9pPr>
          </a:lstStyle>
          <a:p xmlns:a="http://schemas.openxmlformats.org/drawingml/2006/main">
            <a:pPr>
              <a:defRPr sz="2400" b="1">
                <a:solidFill>
                  <a:srgbClr val="17243C"/>
                </a:solidFill>
                <a:latin typeface="Helvetica Neue"/>
                <a:ea typeface="Helvetica Neue"/>
                <a:cs typeface="Helvetica Neue"/>
              </a:defRPr>
            </a:pPr>
            <a:r>
              <a:rPr sz="2400" b="1">
                <a:solidFill>
                  <a:srgbClr val="17243C"/>
                </a:solidFill>
                <a:latin typeface="Helvetica Neue"/>
                <a:ea typeface="Helvetica Neue"/>
                <a:cs typeface="Helvetica Neue"/>
              </a:rPr>
              <a:t>6.82 s</a:t>
            </a:r>
          </a:p>
        </p:txBody>
      </p:sp>
      <p:sp>
        <p:nvSpPr>
          <p:cNvPr id="7" name="">
            <a:extLst xmlns:a="http://schemas.openxmlformats.org/drawingml/2006/main">
              <a:ext uri="{FF2B5EF4-FFF2-40B4-BE49-F238E27FC236}">
                <a16:creationId xmlns:a16="http://schemas.microsoft.com/office/drawing/2014/main" id="{1AFBDEB0-41CF-4B94-95ED-F1C9E4554B65}"/>
              </a:ext>
            </a:extLst>
          </p:cNvPr>
          <p:cNvSpPr>
            <a:spLocks xmlns:a="http://schemas.openxmlformats.org/drawingml/2006/main" noGrp="1"/>
          </p:cNvSpPr>
          <p:nvPr/>
        </p:nvSpPr>
        <p:spPr>
          <a:xfrm xmlns:a="http://schemas.openxmlformats.org/drawingml/2006/main">
            <a:off x="8343900" y="274320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C7C"/>
                </a:solidFill>
                <a:latin typeface="Helvetica Neue"/>
                <a:ea typeface="Helvetica Neue"/>
                <a:cs typeface="Helvetica Neue"/>
              </a:defRPr>
            </a:defPPr>
            <a:lvl1pPr>
              <a:defRPr sz="1350" b="0">
                <a:solidFill>
                  <a:srgbClr val="586C7C"/>
                </a:solidFill>
                <a:latin typeface="Helvetica Neue"/>
                <a:ea typeface="Helvetica Neue"/>
                <a:cs typeface="Helvetica Neue"/>
              </a:defRPr>
            </a:lvl1pPr>
            <a:lvl2pPr>
              <a:defRPr sz="1350" b="0">
                <a:solidFill>
                  <a:srgbClr val="586C7C"/>
                </a:solidFill>
                <a:latin typeface="Helvetica Neue"/>
                <a:ea typeface="Helvetica Neue"/>
                <a:cs typeface="Helvetica Neue"/>
              </a:defRPr>
            </a:lvl2pPr>
            <a:lvl3pPr>
              <a:defRPr sz="1350" b="0">
                <a:solidFill>
                  <a:srgbClr val="586C7C"/>
                </a:solidFill>
                <a:latin typeface="Helvetica Neue"/>
                <a:ea typeface="Helvetica Neue"/>
                <a:cs typeface="Helvetica Neue"/>
              </a:defRPr>
            </a:lvl3pPr>
            <a:lvl4pPr>
              <a:defRPr sz="1350" b="0">
                <a:solidFill>
                  <a:srgbClr val="586C7C"/>
                </a:solidFill>
                <a:latin typeface="Helvetica Neue"/>
                <a:ea typeface="Helvetica Neue"/>
                <a:cs typeface="Helvetica Neue"/>
              </a:defRPr>
            </a:lvl4pPr>
            <a:lvl5pPr>
              <a:defRPr sz="1350" b="0">
                <a:solidFill>
                  <a:srgbClr val="586C7C"/>
                </a:solidFill>
                <a:latin typeface="Helvetica Neue"/>
                <a:ea typeface="Helvetica Neue"/>
                <a:cs typeface="Helvetica Neue"/>
              </a:defRPr>
            </a:lvl5pPr>
            <a:lvl6pPr>
              <a:defRPr sz="1350" b="0">
                <a:solidFill>
                  <a:srgbClr val="586C7C"/>
                </a:solidFill>
                <a:latin typeface="Helvetica Neue"/>
                <a:ea typeface="Helvetica Neue"/>
                <a:cs typeface="Helvetica Neue"/>
              </a:defRPr>
            </a:lvl6pPr>
            <a:lvl7pPr>
              <a:defRPr sz="1350" b="0">
                <a:solidFill>
                  <a:srgbClr val="586C7C"/>
                </a:solidFill>
                <a:latin typeface="Helvetica Neue"/>
                <a:ea typeface="Helvetica Neue"/>
                <a:cs typeface="Helvetica Neue"/>
              </a:defRPr>
            </a:lvl7pPr>
            <a:lvl8pPr>
              <a:defRPr sz="1350" b="0">
                <a:solidFill>
                  <a:srgbClr val="586C7C"/>
                </a:solidFill>
                <a:latin typeface="Helvetica Neue"/>
                <a:ea typeface="Helvetica Neue"/>
                <a:cs typeface="Helvetica Neue"/>
              </a:defRPr>
            </a:lvl8pPr>
            <a:lvl9pPr>
              <a:defRPr sz="1350" b="0">
                <a:solidFill>
                  <a:srgbClr val="586C7C"/>
                </a:solidFill>
                <a:latin typeface="Helvetica Neue"/>
                <a:ea typeface="Helvetica Neue"/>
                <a:cs typeface="Helvetica Neue"/>
              </a:defRPr>
            </a:lvl9pPr>
          </a:lstStyle>
          <a:p xmlns:a="http://schemas.openxmlformats.org/drawingml/2006/main">
            <a:pPr>
              <a:defRPr sz="1350" b="0">
                <a:solidFill>
                  <a:srgbClr val="586C7C"/>
                </a:solidFill>
                <a:latin typeface="Helvetica Neue"/>
                <a:ea typeface="Helvetica Neue"/>
                <a:cs typeface="Helvetica Neue"/>
              </a:defRPr>
            </a:pPr>
            <a:r>
              <a:rPr sz="1350" b="0">
                <a:solidFill>
                  <a:srgbClr val="586C7C"/>
                </a:solidFill>
                <a:latin typeface="Helvetica Neue"/>
                <a:ea typeface="Helvetica Neue"/>
                <a:cs typeface="Helvetica Neue"/>
              </a:rPr>
              <a:t>One cold observation</a:t>
            </a:r>
          </a:p>
        </p:txBody>
      </p:sp>
      <p:sp>
        <p:nvSpPr>
          <p:cNvPr id="8" name="">
            <a:extLst xmlns:a="http://schemas.openxmlformats.org/drawingml/2006/main">
              <a:ext uri="{FF2B5EF4-FFF2-40B4-BE49-F238E27FC236}">
                <a16:creationId xmlns:a16="http://schemas.microsoft.com/office/drawing/2014/main" id="{E5187A9F-6A54-4080-A8DA-2C02039C16FF}"/>
              </a:ext>
            </a:extLst>
          </p:cNvPr>
          <p:cNvSpPr>
            <a:spLocks xmlns:a="http://schemas.openxmlformats.org/drawingml/2006/main" noGrp="1"/>
          </p:cNvSpPr>
          <p:nvPr/>
        </p:nvSpPr>
        <p:spPr>
          <a:xfrm xmlns:a="http://schemas.openxmlformats.org/drawingml/2006/main">
            <a:off x="8343900" y="3114675"/>
            <a:ext cx="321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43C"/>
                </a:solidFill>
                <a:latin typeface="Helvetica Neue"/>
                <a:ea typeface="Helvetica Neue"/>
                <a:cs typeface="Helvetica Neue"/>
              </a:defRPr>
            </a:defPPr>
            <a:lvl1pPr>
              <a:defRPr sz="1650" b="1">
                <a:solidFill>
                  <a:srgbClr val="17243C"/>
                </a:solidFill>
                <a:latin typeface="Helvetica Neue"/>
                <a:ea typeface="Helvetica Neue"/>
                <a:cs typeface="Helvetica Neue"/>
              </a:defRPr>
            </a:lvl1pPr>
            <a:lvl2pPr>
              <a:defRPr sz="1650" b="1">
                <a:solidFill>
                  <a:srgbClr val="17243C"/>
                </a:solidFill>
                <a:latin typeface="Helvetica Neue"/>
                <a:ea typeface="Helvetica Neue"/>
                <a:cs typeface="Helvetica Neue"/>
              </a:defRPr>
            </a:lvl2pPr>
            <a:lvl3pPr>
              <a:defRPr sz="1650" b="1">
                <a:solidFill>
                  <a:srgbClr val="17243C"/>
                </a:solidFill>
                <a:latin typeface="Helvetica Neue"/>
                <a:ea typeface="Helvetica Neue"/>
                <a:cs typeface="Helvetica Neue"/>
              </a:defRPr>
            </a:lvl3pPr>
            <a:lvl4pPr>
              <a:defRPr sz="1650" b="1">
                <a:solidFill>
                  <a:srgbClr val="17243C"/>
                </a:solidFill>
                <a:latin typeface="Helvetica Neue"/>
                <a:ea typeface="Helvetica Neue"/>
                <a:cs typeface="Helvetica Neue"/>
              </a:defRPr>
            </a:lvl4pPr>
            <a:lvl5pPr>
              <a:defRPr sz="1650" b="1">
                <a:solidFill>
                  <a:srgbClr val="17243C"/>
                </a:solidFill>
                <a:latin typeface="Helvetica Neue"/>
                <a:ea typeface="Helvetica Neue"/>
                <a:cs typeface="Helvetica Neue"/>
              </a:defRPr>
            </a:lvl5pPr>
            <a:lvl6pPr>
              <a:defRPr sz="1650" b="1">
                <a:solidFill>
                  <a:srgbClr val="17243C"/>
                </a:solidFill>
                <a:latin typeface="Helvetica Neue"/>
                <a:ea typeface="Helvetica Neue"/>
                <a:cs typeface="Helvetica Neue"/>
              </a:defRPr>
            </a:lvl6pPr>
            <a:lvl7pPr>
              <a:defRPr sz="1650" b="1">
                <a:solidFill>
                  <a:srgbClr val="17243C"/>
                </a:solidFill>
                <a:latin typeface="Helvetica Neue"/>
                <a:ea typeface="Helvetica Neue"/>
                <a:cs typeface="Helvetica Neue"/>
              </a:defRPr>
            </a:lvl7pPr>
            <a:lvl8pPr>
              <a:defRPr sz="1650" b="1">
                <a:solidFill>
                  <a:srgbClr val="17243C"/>
                </a:solidFill>
                <a:latin typeface="Helvetica Neue"/>
                <a:ea typeface="Helvetica Neue"/>
                <a:cs typeface="Helvetica Neue"/>
              </a:defRPr>
            </a:lvl8pPr>
            <a:lvl9pPr>
              <a:defRPr sz="1650" b="1">
                <a:solidFill>
                  <a:srgbClr val="17243C"/>
                </a:solidFill>
                <a:latin typeface="Helvetica Neue"/>
                <a:ea typeface="Helvetica Neue"/>
                <a:cs typeface="Helvetica Neue"/>
              </a:defRPr>
            </a:lvl9pPr>
          </a:lstStyle>
          <a:p xmlns:a="http://schemas.openxmlformats.org/drawingml/2006/main">
            <a:pPr>
              <a:defRPr sz="1650" b="1">
                <a:solidFill>
                  <a:srgbClr val="17243C"/>
                </a:solidFill>
                <a:latin typeface="Helvetica Neue"/>
                <a:ea typeface="Helvetica Neue"/>
                <a:cs typeface="Helvetica Neue"/>
              </a:defRPr>
            </a:pPr>
            <a:r>
              <a:rPr sz="1650" b="1">
                <a:solidFill>
                  <a:srgbClr val="17243C"/>
                </a:solidFill>
                <a:latin typeface="Helvetica Neue"/>
                <a:ea typeface="Helvetica Neue"/>
                <a:cs typeface="Helvetica Neue"/>
              </a:rPr>
              <a:t>New text, three encoders</a:t>
            </a:r>
          </a:p>
        </p:txBody>
      </p:sp>
      <p:sp>
        <p:nvSpPr>
          <p:cNvPr id="9" name="">
            <a:extLst xmlns:a="http://schemas.openxmlformats.org/drawingml/2006/main">
              <a:ext uri="{FF2B5EF4-FFF2-40B4-BE49-F238E27FC236}">
                <a16:creationId xmlns:a16="http://schemas.microsoft.com/office/drawing/2014/main" id="{9A103A89-31C8-43CF-B9A6-CD30D26AF2A9}"/>
              </a:ext>
            </a:extLst>
          </p:cNvPr>
          <p:cNvSpPr>
            <a:spLocks xmlns:a="http://schemas.openxmlformats.org/drawingml/2006/main" noGrp="1"/>
          </p:cNvSpPr>
          <p:nvPr/>
        </p:nvSpPr>
        <p:spPr>
          <a:xfrm xmlns:a="http://schemas.openxmlformats.org/drawingml/2006/main">
            <a:off x="8343900" y="3457575"/>
            <a:ext cx="321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243C"/>
                </a:solidFill>
                <a:latin typeface="Helvetica Neue"/>
                <a:ea typeface="Helvetica Neue"/>
                <a:cs typeface="Helvetica Neue"/>
              </a:defRPr>
            </a:defPPr>
            <a:lvl1pPr>
              <a:defRPr sz="2400" b="1">
                <a:solidFill>
                  <a:srgbClr val="17243C"/>
                </a:solidFill>
                <a:latin typeface="Helvetica Neue"/>
                <a:ea typeface="Helvetica Neue"/>
                <a:cs typeface="Helvetica Neue"/>
              </a:defRPr>
            </a:lvl1pPr>
            <a:lvl2pPr>
              <a:defRPr sz="2400" b="1">
                <a:solidFill>
                  <a:srgbClr val="17243C"/>
                </a:solidFill>
                <a:latin typeface="Helvetica Neue"/>
                <a:ea typeface="Helvetica Neue"/>
                <a:cs typeface="Helvetica Neue"/>
              </a:defRPr>
            </a:lvl2pPr>
            <a:lvl3pPr>
              <a:defRPr sz="2400" b="1">
                <a:solidFill>
                  <a:srgbClr val="17243C"/>
                </a:solidFill>
                <a:latin typeface="Helvetica Neue"/>
                <a:ea typeface="Helvetica Neue"/>
                <a:cs typeface="Helvetica Neue"/>
              </a:defRPr>
            </a:lvl3pPr>
            <a:lvl4pPr>
              <a:defRPr sz="2400" b="1">
                <a:solidFill>
                  <a:srgbClr val="17243C"/>
                </a:solidFill>
                <a:latin typeface="Helvetica Neue"/>
                <a:ea typeface="Helvetica Neue"/>
                <a:cs typeface="Helvetica Neue"/>
              </a:defRPr>
            </a:lvl4pPr>
            <a:lvl5pPr>
              <a:defRPr sz="2400" b="1">
                <a:solidFill>
                  <a:srgbClr val="17243C"/>
                </a:solidFill>
                <a:latin typeface="Helvetica Neue"/>
                <a:ea typeface="Helvetica Neue"/>
                <a:cs typeface="Helvetica Neue"/>
              </a:defRPr>
            </a:lvl5pPr>
            <a:lvl6pPr>
              <a:defRPr sz="2400" b="1">
                <a:solidFill>
                  <a:srgbClr val="17243C"/>
                </a:solidFill>
                <a:latin typeface="Helvetica Neue"/>
                <a:ea typeface="Helvetica Neue"/>
                <a:cs typeface="Helvetica Neue"/>
              </a:defRPr>
            </a:lvl6pPr>
            <a:lvl7pPr>
              <a:defRPr sz="2400" b="1">
                <a:solidFill>
                  <a:srgbClr val="17243C"/>
                </a:solidFill>
                <a:latin typeface="Helvetica Neue"/>
                <a:ea typeface="Helvetica Neue"/>
                <a:cs typeface="Helvetica Neue"/>
              </a:defRPr>
            </a:lvl7pPr>
            <a:lvl8pPr>
              <a:defRPr sz="2400" b="1">
                <a:solidFill>
                  <a:srgbClr val="17243C"/>
                </a:solidFill>
                <a:latin typeface="Helvetica Neue"/>
                <a:ea typeface="Helvetica Neue"/>
                <a:cs typeface="Helvetica Neue"/>
              </a:defRPr>
            </a:lvl8pPr>
            <a:lvl9pPr>
              <a:defRPr sz="2400" b="1">
                <a:solidFill>
                  <a:srgbClr val="17243C"/>
                </a:solidFill>
                <a:latin typeface="Helvetica Neue"/>
                <a:ea typeface="Helvetica Neue"/>
                <a:cs typeface="Helvetica Neue"/>
              </a:defRPr>
            </a:lvl9pPr>
          </a:lstStyle>
          <a:p xmlns:a="http://schemas.openxmlformats.org/drawingml/2006/main">
            <a:pPr>
              <a:defRPr sz="2400" b="1">
                <a:solidFill>
                  <a:srgbClr val="17243C"/>
                </a:solidFill>
                <a:latin typeface="Helvetica Neue"/>
                <a:ea typeface="Helvetica Neue"/>
                <a:cs typeface="Helvetica Neue"/>
              </a:defRPr>
            </a:pPr>
            <a:r>
              <a:rPr sz="2400" b="1">
                <a:solidFill>
                  <a:srgbClr val="17243C"/>
                </a:solidFill>
                <a:latin typeface="Helvetica Neue"/>
                <a:ea typeface="Helvetica Neue"/>
                <a:cs typeface="Helvetica Neue"/>
              </a:rPr>
              <a:t>231.185 ms</a:t>
            </a:r>
          </a:p>
        </p:txBody>
      </p:sp>
      <p:sp>
        <p:nvSpPr>
          <p:cNvPr id="10" name="">
            <a:extLst xmlns:a="http://schemas.openxmlformats.org/drawingml/2006/main">
              <a:ext uri="{FF2B5EF4-FFF2-40B4-BE49-F238E27FC236}">
                <a16:creationId xmlns:a16="http://schemas.microsoft.com/office/drawing/2014/main" id="{027CF879-00E2-4745-B754-BBAFC2B034C4}"/>
              </a:ext>
            </a:extLst>
          </p:cNvPr>
          <p:cNvSpPr>
            <a:spLocks xmlns:a="http://schemas.openxmlformats.org/drawingml/2006/main" noGrp="1"/>
          </p:cNvSpPr>
          <p:nvPr/>
        </p:nvSpPr>
        <p:spPr>
          <a:xfrm xmlns:a="http://schemas.openxmlformats.org/drawingml/2006/main">
            <a:off x="8343900" y="388620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C7C"/>
                </a:solidFill>
                <a:latin typeface="Helvetica Neue"/>
                <a:ea typeface="Helvetica Neue"/>
                <a:cs typeface="Helvetica Neue"/>
              </a:defRPr>
            </a:defPPr>
            <a:lvl1pPr>
              <a:defRPr sz="1350" b="0">
                <a:solidFill>
                  <a:srgbClr val="586C7C"/>
                </a:solidFill>
                <a:latin typeface="Helvetica Neue"/>
                <a:ea typeface="Helvetica Neue"/>
                <a:cs typeface="Helvetica Neue"/>
              </a:defRPr>
            </a:lvl1pPr>
            <a:lvl2pPr>
              <a:defRPr sz="1350" b="0">
                <a:solidFill>
                  <a:srgbClr val="586C7C"/>
                </a:solidFill>
                <a:latin typeface="Helvetica Neue"/>
                <a:ea typeface="Helvetica Neue"/>
                <a:cs typeface="Helvetica Neue"/>
              </a:defRPr>
            </a:lvl2pPr>
            <a:lvl3pPr>
              <a:defRPr sz="1350" b="0">
                <a:solidFill>
                  <a:srgbClr val="586C7C"/>
                </a:solidFill>
                <a:latin typeface="Helvetica Neue"/>
                <a:ea typeface="Helvetica Neue"/>
                <a:cs typeface="Helvetica Neue"/>
              </a:defRPr>
            </a:lvl3pPr>
            <a:lvl4pPr>
              <a:defRPr sz="1350" b="0">
                <a:solidFill>
                  <a:srgbClr val="586C7C"/>
                </a:solidFill>
                <a:latin typeface="Helvetica Neue"/>
                <a:ea typeface="Helvetica Neue"/>
                <a:cs typeface="Helvetica Neue"/>
              </a:defRPr>
            </a:lvl4pPr>
            <a:lvl5pPr>
              <a:defRPr sz="1350" b="0">
                <a:solidFill>
                  <a:srgbClr val="586C7C"/>
                </a:solidFill>
                <a:latin typeface="Helvetica Neue"/>
                <a:ea typeface="Helvetica Neue"/>
                <a:cs typeface="Helvetica Neue"/>
              </a:defRPr>
            </a:lvl5pPr>
            <a:lvl6pPr>
              <a:defRPr sz="1350" b="0">
                <a:solidFill>
                  <a:srgbClr val="586C7C"/>
                </a:solidFill>
                <a:latin typeface="Helvetica Neue"/>
                <a:ea typeface="Helvetica Neue"/>
                <a:cs typeface="Helvetica Neue"/>
              </a:defRPr>
            </a:lvl6pPr>
            <a:lvl7pPr>
              <a:defRPr sz="1350" b="0">
                <a:solidFill>
                  <a:srgbClr val="586C7C"/>
                </a:solidFill>
                <a:latin typeface="Helvetica Neue"/>
                <a:ea typeface="Helvetica Neue"/>
                <a:cs typeface="Helvetica Neue"/>
              </a:defRPr>
            </a:lvl7pPr>
            <a:lvl8pPr>
              <a:defRPr sz="1350" b="0">
                <a:solidFill>
                  <a:srgbClr val="586C7C"/>
                </a:solidFill>
                <a:latin typeface="Helvetica Neue"/>
                <a:ea typeface="Helvetica Neue"/>
                <a:cs typeface="Helvetica Neue"/>
              </a:defRPr>
            </a:lvl8pPr>
            <a:lvl9pPr>
              <a:defRPr sz="1350" b="0">
                <a:solidFill>
                  <a:srgbClr val="586C7C"/>
                </a:solidFill>
                <a:latin typeface="Helvetica Neue"/>
                <a:ea typeface="Helvetica Neue"/>
                <a:cs typeface="Helvetica Neue"/>
              </a:defRPr>
            </a:lvl9pPr>
          </a:lstStyle>
          <a:p xmlns:a="http://schemas.openxmlformats.org/drawingml/2006/main">
            <a:pPr>
              <a:defRPr sz="1350" b="0">
                <a:solidFill>
                  <a:srgbClr val="586C7C"/>
                </a:solidFill>
                <a:latin typeface="Helvetica Neue"/>
                <a:ea typeface="Helvetica Neue"/>
                <a:cs typeface="Helvetica Neue"/>
              </a:defRPr>
            </a:pPr>
            <a:r>
              <a:rPr sz="1350" b="0">
                <a:solidFill>
                  <a:srgbClr val="586C7C"/>
                </a:solidFill>
                <a:latin typeface="Helvetica Neue"/>
                <a:ea typeface="Helvetica Neue"/>
                <a:cs typeface="Helvetica Neue"/>
              </a:rPr>
              <a:t>Median of distinct requests</a:t>
            </a:r>
          </a:p>
        </p:txBody>
      </p:sp>
      <p:sp>
        <p:nvSpPr>
          <p:cNvPr id="11" name="">
            <a:extLst xmlns:a="http://schemas.openxmlformats.org/drawingml/2006/main">
              <a:ext uri="{FF2B5EF4-FFF2-40B4-BE49-F238E27FC236}">
                <a16:creationId xmlns:a16="http://schemas.microsoft.com/office/drawing/2014/main" id="{00C7646F-DCC6-423C-85D3-61FE980316AA}"/>
              </a:ext>
            </a:extLst>
          </p:cNvPr>
          <p:cNvSpPr>
            <a:spLocks xmlns:a="http://schemas.openxmlformats.org/drawingml/2006/main" noGrp="1"/>
          </p:cNvSpPr>
          <p:nvPr/>
        </p:nvSpPr>
        <p:spPr>
          <a:xfrm xmlns:a="http://schemas.openxmlformats.org/drawingml/2006/main">
            <a:off x="8343900" y="4257675"/>
            <a:ext cx="3219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43C"/>
                </a:solidFill>
                <a:latin typeface="Helvetica Neue"/>
                <a:ea typeface="Helvetica Neue"/>
                <a:cs typeface="Helvetica Neue"/>
              </a:defRPr>
            </a:defPPr>
            <a:lvl1pPr>
              <a:defRPr sz="1650" b="1">
                <a:solidFill>
                  <a:srgbClr val="17243C"/>
                </a:solidFill>
                <a:latin typeface="Helvetica Neue"/>
                <a:ea typeface="Helvetica Neue"/>
                <a:cs typeface="Helvetica Neue"/>
              </a:defRPr>
            </a:lvl1pPr>
            <a:lvl2pPr>
              <a:defRPr sz="1650" b="1">
                <a:solidFill>
                  <a:srgbClr val="17243C"/>
                </a:solidFill>
                <a:latin typeface="Helvetica Neue"/>
                <a:ea typeface="Helvetica Neue"/>
                <a:cs typeface="Helvetica Neue"/>
              </a:defRPr>
            </a:lvl2pPr>
            <a:lvl3pPr>
              <a:defRPr sz="1650" b="1">
                <a:solidFill>
                  <a:srgbClr val="17243C"/>
                </a:solidFill>
                <a:latin typeface="Helvetica Neue"/>
                <a:ea typeface="Helvetica Neue"/>
                <a:cs typeface="Helvetica Neue"/>
              </a:defRPr>
            </a:lvl3pPr>
            <a:lvl4pPr>
              <a:defRPr sz="1650" b="1">
                <a:solidFill>
                  <a:srgbClr val="17243C"/>
                </a:solidFill>
                <a:latin typeface="Helvetica Neue"/>
                <a:ea typeface="Helvetica Neue"/>
                <a:cs typeface="Helvetica Neue"/>
              </a:defRPr>
            </a:lvl4pPr>
            <a:lvl5pPr>
              <a:defRPr sz="1650" b="1">
                <a:solidFill>
                  <a:srgbClr val="17243C"/>
                </a:solidFill>
                <a:latin typeface="Helvetica Neue"/>
                <a:ea typeface="Helvetica Neue"/>
                <a:cs typeface="Helvetica Neue"/>
              </a:defRPr>
            </a:lvl5pPr>
            <a:lvl6pPr>
              <a:defRPr sz="1650" b="1">
                <a:solidFill>
                  <a:srgbClr val="17243C"/>
                </a:solidFill>
                <a:latin typeface="Helvetica Neue"/>
                <a:ea typeface="Helvetica Neue"/>
                <a:cs typeface="Helvetica Neue"/>
              </a:defRPr>
            </a:lvl6pPr>
            <a:lvl7pPr>
              <a:defRPr sz="1650" b="1">
                <a:solidFill>
                  <a:srgbClr val="17243C"/>
                </a:solidFill>
                <a:latin typeface="Helvetica Neue"/>
                <a:ea typeface="Helvetica Neue"/>
                <a:cs typeface="Helvetica Neue"/>
              </a:defRPr>
            </a:lvl7pPr>
            <a:lvl8pPr>
              <a:defRPr sz="1650" b="1">
                <a:solidFill>
                  <a:srgbClr val="17243C"/>
                </a:solidFill>
                <a:latin typeface="Helvetica Neue"/>
                <a:ea typeface="Helvetica Neue"/>
                <a:cs typeface="Helvetica Neue"/>
              </a:defRPr>
            </a:lvl8pPr>
            <a:lvl9pPr>
              <a:defRPr sz="1650" b="1">
                <a:solidFill>
                  <a:srgbClr val="17243C"/>
                </a:solidFill>
                <a:latin typeface="Helvetica Neue"/>
                <a:ea typeface="Helvetica Neue"/>
                <a:cs typeface="Helvetica Neue"/>
              </a:defRPr>
            </a:lvl9pPr>
          </a:lstStyle>
          <a:p xmlns:a="http://schemas.openxmlformats.org/drawingml/2006/main">
            <a:pPr>
              <a:defRPr sz="1650" b="1">
                <a:solidFill>
                  <a:srgbClr val="17243C"/>
                </a:solidFill>
                <a:latin typeface="Helvetica Neue"/>
                <a:ea typeface="Helvetica Neue"/>
                <a:cs typeface="Helvetica Neue"/>
              </a:defRPr>
            </a:pPr>
            <a:r>
              <a:rPr sz="1650" b="1">
                <a:solidFill>
                  <a:srgbClr val="17243C"/>
                </a:solidFill>
                <a:latin typeface="Helvetica Neue"/>
                <a:ea typeface="Helvetica Neue"/>
                <a:cs typeface="Helvetica Neue"/>
              </a:rPr>
              <a:t>Exact text embedding cache</a:t>
            </a:r>
          </a:p>
        </p:txBody>
      </p:sp>
      <p:sp>
        <p:nvSpPr>
          <p:cNvPr id="12" name="">
            <a:extLst xmlns:a="http://schemas.openxmlformats.org/drawingml/2006/main">
              <a:ext uri="{FF2B5EF4-FFF2-40B4-BE49-F238E27FC236}">
                <a16:creationId xmlns:a16="http://schemas.microsoft.com/office/drawing/2014/main" id="{AEE6529B-A9E6-4349-A8D7-9E5B9260AA6B}"/>
              </a:ext>
            </a:extLst>
          </p:cNvPr>
          <p:cNvSpPr>
            <a:spLocks xmlns:a="http://schemas.openxmlformats.org/drawingml/2006/main" noGrp="1"/>
          </p:cNvSpPr>
          <p:nvPr/>
        </p:nvSpPr>
        <p:spPr>
          <a:xfrm xmlns:a="http://schemas.openxmlformats.org/drawingml/2006/main">
            <a:off x="8343900" y="4600575"/>
            <a:ext cx="321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243C"/>
                </a:solidFill>
                <a:latin typeface="Helvetica Neue"/>
                <a:ea typeface="Helvetica Neue"/>
                <a:cs typeface="Helvetica Neue"/>
              </a:defRPr>
            </a:defPPr>
            <a:lvl1pPr>
              <a:defRPr sz="2400" b="1">
                <a:solidFill>
                  <a:srgbClr val="17243C"/>
                </a:solidFill>
                <a:latin typeface="Helvetica Neue"/>
                <a:ea typeface="Helvetica Neue"/>
                <a:cs typeface="Helvetica Neue"/>
              </a:defRPr>
            </a:lvl1pPr>
            <a:lvl2pPr>
              <a:defRPr sz="2400" b="1">
                <a:solidFill>
                  <a:srgbClr val="17243C"/>
                </a:solidFill>
                <a:latin typeface="Helvetica Neue"/>
                <a:ea typeface="Helvetica Neue"/>
                <a:cs typeface="Helvetica Neue"/>
              </a:defRPr>
            </a:lvl2pPr>
            <a:lvl3pPr>
              <a:defRPr sz="2400" b="1">
                <a:solidFill>
                  <a:srgbClr val="17243C"/>
                </a:solidFill>
                <a:latin typeface="Helvetica Neue"/>
                <a:ea typeface="Helvetica Neue"/>
                <a:cs typeface="Helvetica Neue"/>
              </a:defRPr>
            </a:lvl3pPr>
            <a:lvl4pPr>
              <a:defRPr sz="2400" b="1">
                <a:solidFill>
                  <a:srgbClr val="17243C"/>
                </a:solidFill>
                <a:latin typeface="Helvetica Neue"/>
                <a:ea typeface="Helvetica Neue"/>
                <a:cs typeface="Helvetica Neue"/>
              </a:defRPr>
            </a:lvl4pPr>
            <a:lvl5pPr>
              <a:defRPr sz="2400" b="1">
                <a:solidFill>
                  <a:srgbClr val="17243C"/>
                </a:solidFill>
                <a:latin typeface="Helvetica Neue"/>
                <a:ea typeface="Helvetica Neue"/>
                <a:cs typeface="Helvetica Neue"/>
              </a:defRPr>
            </a:lvl5pPr>
            <a:lvl6pPr>
              <a:defRPr sz="2400" b="1">
                <a:solidFill>
                  <a:srgbClr val="17243C"/>
                </a:solidFill>
                <a:latin typeface="Helvetica Neue"/>
                <a:ea typeface="Helvetica Neue"/>
                <a:cs typeface="Helvetica Neue"/>
              </a:defRPr>
            </a:lvl6pPr>
            <a:lvl7pPr>
              <a:defRPr sz="2400" b="1">
                <a:solidFill>
                  <a:srgbClr val="17243C"/>
                </a:solidFill>
                <a:latin typeface="Helvetica Neue"/>
                <a:ea typeface="Helvetica Neue"/>
                <a:cs typeface="Helvetica Neue"/>
              </a:defRPr>
            </a:lvl7pPr>
            <a:lvl8pPr>
              <a:defRPr sz="2400" b="1">
                <a:solidFill>
                  <a:srgbClr val="17243C"/>
                </a:solidFill>
                <a:latin typeface="Helvetica Neue"/>
                <a:ea typeface="Helvetica Neue"/>
                <a:cs typeface="Helvetica Neue"/>
              </a:defRPr>
            </a:lvl8pPr>
            <a:lvl9pPr>
              <a:defRPr sz="2400" b="1">
                <a:solidFill>
                  <a:srgbClr val="17243C"/>
                </a:solidFill>
                <a:latin typeface="Helvetica Neue"/>
                <a:ea typeface="Helvetica Neue"/>
                <a:cs typeface="Helvetica Neue"/>
              </a:defRPr>
            </a:lvl9pPr>
          </a:lstStyle>
          <a:p xmlns:a="http://schemas.openxmlformats.org/drawingml/2006/main">
            <a:pPr>
              <a:defRPr sz="2400" b="1">
                <a:solidFill>
                  <a:srgbClr val="17243C"/>
                </a:solidFill>
                <a:latin typeface="Helvetica Neue"/>
                <a:ea typeface="Helvetica Neue"/>
                <a:cs typeface="Helvetica Neue"/>
              </a:defRPr>
            </a:pPr>
            <a:r>
              <a:rPr sz="2400" b="1">
                <a:solidFill>
                  <a:srgbClr val="17243C"/>
                </a:solidFill>
                <a:latin typeface="Helvetica Neue"/>
                <a:ea typeface="Helvetica Neue"/>
                <a:cs typeface="Helvetica Neue"/>
              </a:rPr>
              <a:t>1.799 ms</a:t>
            </a:r>
          </a:p>
        </p:txBody>
      </p:sp>
      <p:sp>
        <p:nvSpPr>
          <p:cNvPr id="13" name="">
            <a:extLst xmlns:a="http://schemas.openxmlformats.org/drawingml/2006/main">
              <a:ext uri="{FF2B5EF4-FFF2-40B4-BE49-F238E27FC236}">
                <a16:creationId xmlns:a16="http://schemas.microsoft.com/office/drawing/2014/main" id="{EA410E90-4050-4F8B-9173-9A515D97074A}"/>
              </a:ext>
            </a:extLst>
          </p:cNvPr>
          <p:cNvSpPr>
            <a:spLocks xmlns:a="http://schemas.openxmlformats.org/drawingml/2006/main" noGrp="1"/>
          </p:cNvSpPr>
          <p:nvPr/>
        </p:nvSpPr>
        <p:spPr>
          <a:xfrm xmlns:a="http://schemas.openxmlformats.org/drawingml/2006/main">
            <a:off x="8343900" y="5029200"/>
            <a:ext cx="321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C7C"/>
                </a:solidFill>
                <a:latin typeface="Helvetica Neue"/>
                <a:ea typeface="Helvetica Neue"/>
                <a:cs typeface="Helvetica Neue"/>
              </a:defRPr>
            </a:defPPr>
            <a:lvl1pPr>
              <a:defRPr sz="1350" b="0">
                <a:solidFill>
                  <a:srgbClr val="586C7C"/>
                </a:solidFill>
                <a:latin typeface="Helvetica Neue"/>
                <a:ea typeface="Helvetica Neue"/>
                <a:cs typeface="Helvetica Neue"/>
              </a:defRPr>
            </a:lvl1pPr>
            <a:lvl2pPr>
              <a:defRPr sz="1350" b="0">
                <a:solidFill>
                  <a:srgbClr val="586C7C"/>
                </a:solidFill>
                <a:latin typeface="Helvetica Neue"/>
                <a:ea typeface="Helvetica Neue"/>
                <a:cs typeface="Helvetica Neue"/>
              </a:defRPr>
            </a:lvl2pPr>
            <a:lvl3pPr>
              <a:defRPr sz="1350" b="0">
                <a:solidFill>
                  <a:srgbClr val="586C7C"/>
                </a:solidFill>
                <a:latin typeface="Helvetica Neue"/>
                <a:ea typeface="Helvetica Neue"/>
                <a:cs typeface="Helvetica Neue"/>
              </a:defRPr>
            </a:lvl3pPr>
            <a:lvl4pPr>
              <a:defRPr sz="1350" b="0">
                <a:solidFill>
                  <a:srgbClr val="586C7C"/>
                </a:solidFill>
                <a:latin typeface="Helvetica Neue"/>
                <a:ea typeface="Helvetica Neue"/>
                <a:cs typeface="Helvetica Neue"/>
              </a:defRPr>
            </a:lvl4pPr>
            <a:lvl5pPr>
              <a:defRPr sz="1350" b="0">
                <a:solidFill>
                  <a:srgbClr val="586C7C"/>
                </a:solidFill>
                <a:latin typeface="Helvetica Neue"/>
                <a:ea typeface="Helvetica Neue"/>
                <a:cs typeface="Helvetica Neue"/>
              </a:defRPr>
            </a:lvl5pPr>
            <a:lvl6pPr>
              <a:defRPr sz="1350" b="0">
                <a:solidFill>
                  <a:srgbClr val="586C7C"/>
                </a:solidFill>
                <a:latin typeface="Helvetica Neue"/>
                <a:ea typeface="Helvetica Neue"/>
                <a:cs typeface="Helvetica Neue"/>
              </a:defRPr>
            </a:lvl6pPr>
            <a:lvl7pPr>
              <a:defRPr sz="1350" b="0">
                <a:solidFill>
                  <a:srgbClr val="586C7C"/>
                </a:solidFill>
                <a:latin typeface="Helvetica Neue"/>
                <a:ea typeface="Helvetica Neue"/>
                <a:cs typeface="Helvetica Neue"/>
              </a:defRPr>
            </a:lvl7pPr>
            <a:lvl8pPr>
              <a:defRPr sz="1350" b="0">
                <a:solidFill>
                  <a:srgbClr val="586C7C"/>
                </a:solidFill>
                <a:latin typeface="Helvetica Neue"/>
                <a:ea typeface="Helvetica Neue"/>
                <a:cs typeface="Helvetica Neue"/>
              </a:defRPr>
            </a:lvl8pPr>
            <a:lvl9pPr>
              <a:defRPr sz="1350" b="0">
                <a:solidFill>
                  <a:srgbClr val="586C7C"/>
                </a:solidFill>
                <a:latin typeface="Helvetica Neue"/>
                <a:ea typeface="Helvetica Neue"/>
                <a:cs typeface="Helvetica Neue"/>
              </a:defRPr>
            </a:lvl9pPr>
          </a:lstStyle>
          <a:p xmlns:a="http://schemas.openxmlformats.org/drawingml/2006/main">
            <a:pPr>
              <a:defRPr sz="1350" b="0">
                <a:solidFill>
                  <a:srgbClr val="586C7C"/>
                </a:solidFill>
                <a:latin typeface="Helvetica Neue"/>
                <a:ea typeface="Helvetica Neue"/>
                <a:cs typeface="Helvetica Neue"/>
              </a:defRPr>
            </a:pPr>
            <a:r>
              <a:rPr sz="1350" b="0">
                <a:solidFill>
                  <a:srgbClr val="586C7C"/>
                </a:solidFill>
                <a:latin typeface="Helvetica Neue"/>
                <a:ea typeface="Helvetica Neue"/>
                <a:cs typeface="Helvetica Neue"/>
              </a:rPr>
              <a:t>Median of exact repeats</a:t>
            </a:r>
          </a:p>
        </p:txBody>
      </p:sp>
      <p:sp>
        <p:nvSpPr>
          <p:cNvPr id="14" name="">
            <a:extLst xmlns:a="http://schemas.openxmlformats.org/drawingml/2006/main">
              <a:ext uri="{FF2B5EF4-FFF2-40B4-BE49-F238E27FC236}">
                <a16:creationId xmlns:a16="http://schemas.microsoft.com/office/drawing/2014/main" id="{624D9381-7E8E-4EE7-AE43-1D9F60D82389}"/>
              </a:ext>
            </a:extLst>
          </p:cNvPr>
          <p:cNvSpPr>
            <a:spLocks xmlns:a="http://schemas.openxmlformats.org/drawingml/2006/main" noGrp="1"/>
          </p:cNvSpPr>
          <p:nvPr/>
        </p:nvSpPr>
        <p:spPr>
          <a:xfrm xmlns:a="http://schemas.openxmlformats.org/drawingml/2006/main">
            <a:off x="628650" y="5657850"/>
            <a:ext cx="108394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Full engine: new-request median 367.4 ms. Exact-repeat median 137.054 ms.</a:t>
            </a:r>
          </a:p>
        </p:txBody>
      </p:sp>
      <p:sp>
        <p:nvSpPr>
          <p:cNvPr id="15" name="">
            <a:extLst xmlns:a="http://schemas.openxmlformats.org/drawingml/2006/main">
              <a:ext uri="{FF2B5EF4-FFF2-40B4-BE49-F238E27FC236}">
                <a16:creationId xmlns:a16="http://schemas.microsoft.com/office/drawing/2014/main" id="{ADC73FC4-9C98-4568-B58C-091C7DC024DD}"/>
              </a:ext>
            </a:extLst>
          </p:cNvPr>
          <p:cNvSpPr>
            <a:spLocks xmlns:a="http://schemas.openxmlformats.org/drawingml/2006/main" noGrp="1"/>
          </p:cNvSpPr>
          <p:nvPr/>
        </p:nvSpPr>
        <p:spPr>
          <a:xfrm xmlns:a="http://schemas.openxmlformats.org/drawingml/2006/main">
            <a:off x="628650" y="6067425"/>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Before/after compares the CPU ranking stage only. All complete returned rows match the baseline.</a:t>
            </a:r>
          </a:p>
        </p:txBody>
      </p:sp>
    </p:spTree>
    <p:extLst>
      <p:ext uri="{BB962C8B-B14F-4D97-AF65-F5344CB8AC3E}">
        <p14:creationId xmlns:p14="http://schemas.microsoft.com/office/powerpoint/2010/main" val="1032316157"/>
      </p:ext>
    </p:extLst>
  </p:cSld>
</p:sld>
</file>

<file path=ppt/slides/slide3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6A29B9-AF08-46B0-9930-E7FFB787346A}"/>
              </a:ext>
            </a:extLst>
          </p:cNvPr>
          <p:cNvSpPr>
            <a:spLocks xmlns:a="http://schemas.openxmlformats.org/drawingml/2006/main" noGrp="1"/>
          </p:cNvSpPr>
          <p:nvPr/>
        </p:nvSpPr>
        <p:spPr>
          <a:xfrm xmlns:a="http://schemas.openxmlformats.org/drawingml/2006/main">
            <a:off x="609600" y="361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243C"/>
                </a:solidFill>
                <a:latin typeface="Helvetica Neue"/>
                <a:ea typeface="Helvetica Neue"/>
                <a:cs typeface="Helvetica Neue"/>
              </a:defRPr>
            </a:defPPr>
            <a:lvl1pPr>
              <a:defRPr sz="3075" b="1">
                <a:solidFill>
                  <a:srgbClr val="17243C"/>
                </a:solidFill>
                <a:latin typeface="Helvetica Neue"/>
                <a:ea typeface="Helvetica Neue"/>
                <a:cs typeface="Helvetica Neue"/>
              </a:defRPr>
            </a:lvl1pPr>
            <a:lvl2pPr>
              <a:defRPr sz="3075" b="1">
                <a:solidFill>
                  <a:srgbClr val="17243C"/>
                </a:solidFill>
                <a:latin typeface="Helvetica Neue"/>
                <a:ea typeface="Helvetica Neue"/>
                <a:cs typeface="Helvetica Neue"/>
              </a:defRPr>
            </a:lvl2pPr>
            <a:lvl3pPr>
              <a:defRPr sz="3075" b="1">
                <a:solidFill>
                  <a:srgbClr val="17243C"/>
                </a:solidFill>
                <a:latin typeface="Helvetica Neue"/>
                <a:ea typeface="Helvetica Neue"/>
                <a:cs typeface="Helvetica Neue"/>
              </a:defRPr>
            </a:lvl3pPr>
            <a:lvl4pPr>
              <a:defRPr sz="3075" b="1">
                <a:solidFill>
                  <a:srgbClr val="17243C"/>
                </a:solidFill>
                <a:latin typeface="Helvetica Neue"/>
                <a:ea typeface="Helvetica Neue"/>
                <a:cs typeface="Helvetica Neue"/>
              </a:defRPr>
            </a:lvl4pPr>
            <a:lvl5pPr>
              <a:defRPr sz="3075" b="1">
                <a:solidFill>
                  <a:srgbClr val="17243C"/>
                </a:solidFill>
                <a:latin typeface="Helvetica Neue"/>
                <a:ea typeface="Helvetica Neue"/>
                <a:cs typeface="Helvetica Neue"/>
              </a:defRPr>
            </a:lvl5pPr>
            <a:lvl6pPr>
              <a:defRPr sz="3075" b="1">
                <a:solidFill>
                  <a:srgbClr val="17243C"/>
                </a:solidFill>
                <a:latin typeface="Helvetica Neue"/>
                <a:ea typeface="Helvetica Neue"/>
                <a:cs typeface="Helvetica Neue"/>
              </a:defRPr>
            </a:lvl6pPr>
            <a:lvl7pPr>
              <a:defRPr sz="3075" b="1">
                <a:solidFill>
                  <a:srgbClr val="17243C"/>
                </a:solidFill>
                <a:latin typeface="Helvetica Neue"/>
                <a:ea typeface="Helvetica Neue"/>
                <a:cs typeface="Helvetica Neue"/>
              </a:defRPr>
            </a:lvl7pPr>
            <a:lvl8pPr>
              <a:defRPr sz="3075" b="1">
                <a:solidFill>
                  <a:srgbClr val="17243C"/>
                </a:solidFill>
                <a:latin typeface="Helvetica Neue"/>
                <a:ea typeface="Helvetica Neue"/>
                <a:cs typeface="Helvetica Neue"/>
              </a:defRPr>
            </a:lvl8pPr>
            <a:lvl9pPr>
              <a:defRPr sz="3075" b="1">
                <a:solidFill>
                  <a:srgbClr val="17243C"/>
                </a:solidFill>
                <a:latin typeface="Helvetica Neue"/>
                <a:ea typeface="Helvetica Neue"/>
                <a:cs typeface="Helvetica Neue"/>
              </a:defRPr>
            </a:lvl9pPr>
          </a:lstStyle>
          <a:p xmlns:a="http://schemas.openxmlformats.org/drawingml/2006/main">
            <a:pPr>
              <a:defRPr sz="3075" b="1">
                <a:solidFill>
                  <a:srgbClr val="17243C"/>
                </a:solidFill>
                <a:latin typeface="Helvetica Neue"/>
                <a:ea typeface="Helvetica Neue"/>
                <a:cs typeface="Helvetica Neue"/>
              </a:defRPr>
            </a:pPr>
            <a:r>
              <a:rPr sz="3075" b="1">
                <a:solidFill>
                  <a:srgbClr val="17243C"/>
                </a:solidFill>
                <a:latin typeface="Helvetica Neue"/>
                <a:ea typeface="Helvetica Neue"/>
                <a:cs typeface="Helvetica Neue"/>
              </a:rPr>
              <a:t>Benchmark lab and reproducibility</a:t>
            </a:r>
          </a:p>
        </p:txBody>
      </p:sp>
      <p:sp>
        <p:nvSpPr>
          <p:cNvPr id="2" name="">
            <a:extLst xmlns:a="http://schemas.openxmlformats.org/drawingml/2006/main">
              <a:ext uri="{FF2B5EF4-FFF2-40B4-BE49-F238E27FC236}">
                <a16:creationId xmlns:a16="http://schemas.microsoft.com/office/drawing/2014/main" id="{ED05C9B7-F36A-4A56-9EC4-562BF04691F5}"/>
              </a:ext>
            </a:extLst>
          </p:cNvPr>
          <p:cNvSpPr>
            <a:spLocks xmlns:a="http://schemas.openxmlformats.org/drawingml/2006/main" noGrp="1"/>
          </p:cNvSpPr>
          <p:nvPr/>
        </p:nvSpPr>
        <p:spPr>
          <a:xfrm xmlns:a="http://schemas.openxmlformats.org/drawingml/2006/main">
            <a:off x="628650" y="1057275"/>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C7C"/>
                </a:solidFill>
                <a:latin typeface="Helvetica Neue"/>
                <a:ea typeface="Helvetica Neue"/>
                <a:cs typeface="Helvetica Neue"/>
              </a:defRPr>
            </a:defPPr>
            <a:lvl1pPr>
              <a:defRPr sz="1800" b="0">
                <a:solidFill>
                  <a:srgbClr val="586C7C"/>
                </a:solidFill>
                <a:latin typeface="Helvetica Neue"/>
                <a:ea typeface="Helvetica Neue"/>
                <a:cs typeface="Helvetica Neue"/>
              </a:defRPr>
            </a:lvl1pPr>
            <a:lvl2pPr>
              <a:defRPr sz="1800" b="0">
                <a:solidFill>
                  <a:srgbClr val="586C7C"/>
                </a:solidFill>
                <a:latin typeface="Helvetica Neue"/>
                <a:ea typeface="Helvetica Neue"/>
                <a:cs typeface="Helvetica Neue"/>
              </a:defRPr>
            </a:lvl2pPr>
            <a:lvl3pPr>
              <a:defRPr sz="1800" b="0">
                <a:solidFill>
                  <a:srgbClr val="586C7C"/>
                </a:solidFill>
                <a:latin typeface="Helvetica Neue"/>
                <a:ea typeface="Helvetica Neue"/>
                <a:cs typeface="Helvetica Neue"/>
              </a:defRPr>
            </a:lvl3pPr>
            <a:lvl4pPr>
              <a:defRPr sz="1800" b="0">
                <a:solidFill>
                  <a:srgbClr val="586C7C"/>
                </a:solidFill>
                <a:latin typeface="Helvetica Neue"/>
                <a:ea typeface="Helvetica Neue"/>
                <a:cs typeface="Helvetica Neue"/>
              </a:defRPr>
            </a:lvl4pPr>
            <a:lvl5pPr>
              <a:defRPr sz="1800" b="0">
                <a:solidFill>
                  <a:srgbClr val="586C7C"/>
                </a:solidFill>
                <a:latin typeface="Helvetica Neue"/>
                <a:ea typeface="Helvetica Neue"/>
                <a:cs typeface="Helvetica Neue"/>
              </a:defRPr>
            </a:lvl5pPr>
            <a:lvl6pPr>
              <a:defRPr sz="1800" b="0">
                <a:solidFill>
                  <a:srgbClr val="586C7C"/>
                </a:solidFill>
                <a:latin typeface="Helvetica Neue"/>
                <a:ea typeface="Helvetica Neue"/>
                <a:cs typeface="Helvetica Neue"/>
              </a:defRPr>
            </a:lvl6pPr>
            <a:lvl7pPr>
              <a:defRPr sz="1800" b="0">
                <a:solidFill>
                  <a:srgbClr val="586C7C"/>
                </a:solidFill>
                <a:latin typeface="Helvetica Neue"/>
                <a:ea typeface="Helvetica Neue"/>
                <a:cs typeface="Helvetica Neue"/>
              </a:defRPr>
            </a:lvl7pPr>
            <a:lvl8pPr>
              <a:defRPr sz="1800" b="0">
                <a:solidFill>
                  <a:srgbClr val="586C7C"/>
                </a:solidFill>
                <a:latin typeface="Helvetica Neue"/>
                <a:ea typeface="Helvetica Neue"/>
                <a:cs typeface="Helvetica Neue"/>
              </a:defRPr>
            </a:lvl8pPr>
            <a:lvl9pPr>
              <a:defRPr sz="1800" b="0">
                <a:solidFill>
                  <a:srgbClr val="586C7C"/>
                </a:solidFill>
                <a:latin typeface="Helvetica Neue"/>
                <a:ea typeface="Helvetica Neue"/>
                <a:cs typeface="Helvetica Neue"/>
              </a:defRPr>
            </a:lvl9pPr>
          </a:lstStyle>
          <a:p xmlns:a="http://schemas.openxmlformats.org/drawingml/2006/main">
            <a:pPr>
              <a:defRPr sz="1800" b="0">
                <a:solidFill>
                  <a:srgbClr val="586C7C"/>
                </a:solidFill>
                <a:latin typeface="Helvetica Neue"/>
                <a:ea typeface="Helvetica Neue"/>
                <a:cs typeface="Helvetica Neue"/>
              </a:defRPr>
            </a:pPr>
            <a:r>
              <a:rPr sz="1800" b="0">
                <a:solidFill>
                  <a:srgbClr val="586C7C"/>
                </a:solidFill>
                <a:latin typeface="Helvetica Neue"/>
                <a:ea typeface="Helvetica Neue"/>
                <a:cs typeface="Helvetica Neue"/>
              </a:rPr>
              <a:t>Measured evidence, actual local interaction and reproducible experiment entry points</a:t>
            </a:r>
          </a:p>
        </p:txBody>
      </p:sp>
      <p:sp>
        <p:nvSpPr>
          <p:cNvPr id="3" name="">
            <a:extLst xmlns:a="http://schemas.openxmlformats.org/drawingml/2006/main">
              <a:ext uri="{FF2B5EF4-FFF2-40B4-BE49-F238E27FC236}">
                <a16:creationId xmlns:a16="http://schemas.microsoft.com/office/drawing/2014/main" id="{02115477-D40F-4AA7-AFAA-01FBB9B3407F}"/>
              </a:ext>
            </a:extLst>
          </p:cNvPr>
          <p:cNvSpPr>
            <a:spLocks xmlns:a="http://schemas.openxmlformats.org/drawingml/2006/main" noGrp="1"/>
          </p:cNvSpPr>
          <p:nvPr/>
        </p:nvSpPr>
        <p:spPr>
          <a:xfrm xmlns:a="http://schemas.openxmlformats.org/drawingml/2006/main">
            <a:off x="11049000" y="6429375"/>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C7C"/>
                </a:solidFill>
                <a:latin typeface="Helvetica Neue"/>
                <a:ea typeface="Helvetica Neue"/>
                <a:cs typeface="Helvetica Neue"/>
              </a:defRPr>
            </a:defPPr>
            <a:lvl1pPr algn="r">
              <a:defRPr sz="1275" b="0">
                <a:solidFill>
                  <a:srgbClr val="586C7C"/>
                </a:solidFill>
                <a:latin typeface="Helvetica Neue"/>
                <a:ea typeface="Helvetica Neue"/>
                <a:cs typeface="Helvetica Neue"/>
              </a:defRPr>
            </a:lvl1pPr>
            <a:lvl2pPr algn="r">
              <a:defRPr sz="1275" b="0">
                <a:solidFill>
                  <a:srgbClr val="586C7C"/>
                </a:solidFill>
                <a:latin typeface="Helvetica Neue"/>
                <a:ea typeface="Helvetica Neue"/>
                <a:cs typeface="Helvetica Neue"/>
              </a:defRPr>
            </a:lvl2pPr>
            <a:lvl3pPr algn="r">
              <a:defRPr sz="1275" b="0">
                <a:solidFill>
                  <a:srgbClr val="586C7C"/>
                </a:solidFill>
                <a:latin typeface="Helvetica Neue"/>
                <a:ea typeface="Helvetica Neue"/>
                <a:cs typeface="Helvetica Neue"/>
              </a:defRPr>
            </a:lvl3pPr>
            <a:lvl4pPr algn="r">
              <a:defRPr sz="1275" b="0">
                <a:solidFill>
                  <a:srgbClr val="586C7C"/>
                </a:solidFill>
                <a:latin typeface="Helvetica Neue"/>
                <a:ea typeface="Helvetica Neue"/>
                <a:cs typeface="Helvetica Neue"/>
              </a:defRPr>
            </a:lvl4pPr>
            <a:lvl5pPr algn="r">
              <a:defRPr sz="1275" b="0">
                <a:solidFill>
                  <a:srgbClr val="586C7C"/>
                </a:solidFill>
                <a:latin typeface="Helvetica Neue"/>
                <a:ea typeface="Helvetica Neue"/>
                <a:cs typeface="Helvetica Neue"/>
              </a:defRPr>
            </a:lvl5pPr>
            <a:lvl6pPr algn="r">
              <a:defRPr sz="1275" b="0">
                <a:solidFill>
                  <a:srgbClr val="586C7C"/>
                </a:solidFill>
                <a:latin typeface="Helvetica Neue"/>
                <a:ea typeface="Helvetica Neue"/>
                <a:cs typeface="Helvetica Neue"/>
              </a:defRPr>
            </a:lvl6pPr>
            <a:lvl7pPr algn="r">
              <a:defRPr sz="1275" b="0">
                <a:solidFill>
                  <a:srgbClr val="586C7C"/>
                </a:solidFill>
                <a:latin typeface="Helvetica Neue"/>
                <a:ea typeface="Helvetica Neue"/>
                <a:cs typeface="Helvetica Neue"/>
              </a:defRPr>
            </a:lvl7pPr>
            <a:lvl8pPr algn="r">
              <a:defRPr sz="1275" b="0">
                <a:solidFill>
                  <a:srgbClr val="586C7C"/>
                </a:solidFill>
                <a:latin typeface="Helvetica Neue"/>
                <a:ea typeface="Helvetica Neue"/>
                <a:cs typeface="Helvetica Neue"/>
              </a:defRPr>
            </a:lvl8pPr>
            <a:lvl9pPr algn="r">
              <a:defRPr sz="1275" b="0">
                <a:solidFill>
                  <a:srgbClr val="586C7C"/>
                </a:solidFill>
                <a:latin typeface="Helvetica Neue"/>
                <a:ea typeface="Helvetica Neue"/>
                <a:cs typeface="Helvetica Neue"/>
              </a:defRPr>
            </a:lvl9pPr>
          </a:lstStyle>
          <a:p xmlns:a="http://schemas.openxmlformats.org/drawingml/2006/main">
            <a:pPr algn="r">
              <a:defRPr sz="1275" b="0">
                <a:solidFill>
                  <a:srgbClr val="586C7C"/>
                </a:solidFill>
                <a:latin typeface="Helvetica Neue"/>
                <a:ea typeface="Helvetica Neue"/>
                <a:cs typeface="Helvetica Neue"/>
              </a:defRPr>
            </a:pPr>
            <a:r>
              <a:rPr sz="1275" b="0">
                <a:solidFill>
                  <a:srgbClr val="586C7C"/>
                </a:solidFill>
                <a:latin typeface="Helvetica Neue"/>
                <a:ea typeface="Helvetica Neue"/>
                <a:cs typeface="Helvetica Neue"/>
              </a:rPr>
              <a:t>34</a:t>
            </a:r>
          </a:p>
        </p:txBody>
      </p:sp>
      <p:graphicFrame>
        <p:nvGraphicFramePr>
          <p:cNvPr id="4" name="">
            <a:extLst xmlns:a="http://schemas.openxmlformats.org/drawingml/2006/main">
              <a:ext uri="{FF2B5EF4-FFF2-40B4-BE49-F238E27FC236}">
                <a16:creationId xmlns:a16="http://schemas.microsoft.com/office/drawing/2014/main" id="{15A6ABA4-CE89-40E8-90CF-7F9E3818F8A3}"/>
              </a:ext>
            </a:extLst>
          </p:cNvPr>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2571750"/>
                <a:gridCol w="4210050"/>
                <a:gridCol w="4191000"/>
              </a:tblGrid>
              <a:tr h="742950">
                <a:tc>
                  <a:txBody>
                    <a:bodyPr/>
                    <a:lstStyle/>
                    <a:p>
                      <a:r>
                        <a:rPr sz="1650" b="1">
                          <a:solidFill>
                            <a:srgbClr val="FFFFFF"/>
                          </a:solidFill>
                          <a:latin typeface="Helvetica Neue"/>
                          <a:ea typeface="Helvetica Neue"/>
                          <a:cs typeface="Helvetica Neue"/>
                        </a:rPr>
                        <a:t>Benchmark lab view</a:t>
                      </a:r>
                    </a:p>
                  </a:txBody>
                  <a:tcPr marL="123825" marR="123825" marT="95250" marB="76200" anchor="t">
                    <a:lnL w="9525">
                      <a:solidFill>
                        <a:srgbClr val="DAE2EC"/>
                      </a:solidFill>
                      <a:prstDash val="solid"/>
                    </a:lnL>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c>
                  <a:txBody>
                    <a:bodyPr/>
                    <a:lstStyle/>
                    <a:p>
                      <a:r>
                        <a:rPr sz="1650" b="1">
                          <a:solidFill>
                            <a:srgbClr val="FFFFFF"/>
                          </a:solidFill>
                          <a:latin typeface="Helvetica Neue"/>
                          <a:ea typeface="Helvetica Neue"/>
                          <a:cs typeface="Helvetica Neue"/>
                        </a:rPr>
                        <a:t>What the interface exposes</a:t>
                      </a:r>
                    </a:p>
                  </a:txBody>
                  <a:tcPr marL="123825" marR="123825" marT="95250" marB="76200" anchor="t">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c>
                  <a:txBody>
                    <a:bodyPr/>
                    <a:lstStyle/>
                    <a:p>
                      <a:r>
                        <a:rPr sz="1650" b="1">
                          <a:solidFill>
                            <a:srgbClr val="FFFFFF"/>
                          </a:solidFill>
                          <a:latin typeface="Helvetica Neue"/>
                          <a:ea typeface="Helvetica Neue"/>
                          <a:cs typeface="Helvetica Neue"/>
                        </a:rPr>
                        <a:t>Reproduction script</a:t>
                      </a:r>
                    </a:p>
                  </a:txBody>
                  <a:tcPr marL="123825" marR="123825" marT="95250" marB="76200" anchor="t">
                    <a:lnR w="9525">
                      <a:solidFill>
                        <a:srgbClr val="DAE2EC"/>
                      </a:solidFill>
                      <a:prstDash val="solid"/>
                    </a:lnR>
                    <a:lnT w="9525">
                      <a:solidFill>
                        <a:srgbClr val="DAE2EC"/>
                      </a:solidFill>
                      <a:prstDash val="solid"/>
                    </a:lnT>
                    <a:lnB w="9525">
                      <a:solidFill>
                        <a:srgbClr val="DAE2EC"/>
                      </a:solidFill>
                      <a:prstDash val="solid"/>
                    </a:lnB>
                    <a:solidFill>
                      <a:srgbClr val="17243C"/>
                    </a:solidFill>
                  </a:tcPr>
                </a:tc>
              </a:tr>
              <a:tr h="742950">
                <a:tc>
                  <a:txBody>
                    <a:bodyPr/>
                    <a:lstStyle/>
                    <a:p>
                      <a:r>
                        <a:rPr sz="1650" b="0">
                          <a:solidFill>
                            <a:srgbClr val="17243C"/>
                          </a:solidFill>
                          <a:latin typeface="Helvetica Neue"/>
                          <a:ea typeface="Helvetica Neue"/>
                          <a:cs typeface="Helvetica Neue"/>
                        </a:rPr>
                        <a:t>Search relevance</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Official queries, graded labels, four rankings</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scripts/run_esci_benchmark.py</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42950">
                <a:tc>
                  <a:txBody>
                    <a:bodyPr/>
                    <a:lstStyle/>
                    <a:p>
                      <a:r>
                        <a:rPr sz="1650" b="0">
                          <a:solidFill>
                            <a:srgbClr val="17243C"/>
                          </a:solidFill>
                          <a:latin typeface="Helvetica Neue"/>
                          <a:ea typeface="Helvetica Neue"/>
                          <a:cs typeface="Helvetica Neue"/>
                        </a:rPr>
                        <a:t>Image + language</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Recorded targets and a real local custom text edit</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scripts/run_fashion_experiment.py</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42950">
                <a:tc>
                  <a:txBody>
                    <a:bodyPr/>
                    <a:lstStyle/>
                    <a:p>
                      <a:r>
                        <a:rPr sz="1650" b="0">
                          <a:solidFill>
                            <a:srgbClr val="17243C"/>
                          </a:solidFill>
                          <a:latin typeface="Helvetica Neue"/>
                          <a:ea typeface="Helvetica Neue"/>
                          <a:cs typeface="Helvetica Neue"/>
                        </a:rPr>
                        <a:t>Recommendation diagnostics</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History caps, popularity cohorts, exposure</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scripts/</a:t>
                      </a:r>
                    </a:p>
                    <a:p>
                      <a:r>
                        <a:rPr sz="1650" b="0">
                          <a:solidFill>
                            <a:srgbClr val="17243C"/>
                          </a:solidFill>
                          <a:latin typeface="Helvetica Neue"/>
                          <a:ea typeface="Helvetica Neue"/>
                          <a:cs typeface="Helvetica Neue"/>
                        </a:rPr>
                        <a:t>run_recommendation_diagnostics.py</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r h="742950">
                <a:tc>
                  <a:txBody>
                    <a:bodyPr/>
                    <a:lstStyle/>
                    <a:p>
                      <a:r>
                        <a:rPr sz="1650" b="0">
                          <a:solidFill>
                            <a:srgbClr val="17243C"/>
                          </a:solidFill>
                          <a:latin typeface="Helvetica Neue"/>
                          <a:ea typeface="Helvetica Neue"/>
                          <a:cs typeface="Helvetica Neue"/>
                        </a:rPr>
                        <a:t>Local performance</a:t>
                      </a:r>
                    </a:p>
                  </a:txBody>
                  <a:tcPr marL="123825" marR="123825" marT="95250" marB="76200" anchor="t">
                    <a:lnL w="9525">
                      <a:solidFill>
                        <a:srgbClr val="DAE2EC"/>
                      </a:solidFill>
                      <a:prstDash val="solid"/>
                    </a:lnL>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Measured cold/new/repeat cost, parity and samples</a:t>
                      </a:r>
                    </a:p>
                  </a:txBody>
                  <a:tcPr marL="123825" marR="123825" marT="95250" marB="76200" anchor="t">
                    <a:lnR w="9525">
                      <a:solidFill>
                        <a:srgbClr val="DAE2EC"/>
                      </a:solidFill>
                      <a:prstDash val="solid"/>
                    </a:lnR>
                    <a:lnB w="9525">
                      <a:solidFill>
                        <a:srgbClr val="DAE2EC"/>
                      </a:solidFill>
                      <a:prstDash val="solid"/>
                    </a:lnB>
                    <a:solidFill>
                      <a:srgbClr val="FFFFFF"/>
                    </a:solidFill>
                  </a:tcPr>
                </a:tc>
                <a:tc>
                  <a:txBody>
                    <a:bodyPr/>
                    <a:lstStyle/>
                    <a:p>
                      <a:r>
                        <a:rPr sz="1650" b="0">
                          <a:solidFill>
                            <a:srgbClr val="17243C"/>
                          </a:solidFill>
                          <a:latin typeface="Helvetica Neue"/>
                          <a:ea typeface="Helvetica Neue"/>
                          <a:cs typeface="Helvetica Neue"/>
                        </a:rPr>
                        <a:t>scripts/benchmark_studio.py</a:t>
                      </a:r>
                    </a:p>
                  </a:txBody>
                  <a:tcPr marL="123825" marR="123825" marT="95250" marB="76200" anchor="t">
                    <a:lnR w="9525">
                      <a:solidFill>
                        <a:srgbClr val="DAE2EC"/>
                      </a:solidFill>
                      <a:prstDash val="solid"/>
                    </a:lnR>
                    <a:lnB w="9525">
                      <a:solidFill>
                        <a:srgbClr val="DAE2EC"/>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BDCA64A-8CE9-444F-9499-F9B83843F3FF}"/>
              </a:ext>
            </a:extLst>
          </p:cNvPr>
          <p:cNvSpPr>
            <a:spLocks xmlns:a="http://schemas.openxmlformats.org/drawingml/2006/main" noGrp="1"/>
          </p:cNvSpPr>
          <p:nvPr/>
        </p:nvSpPr>
        <p:spPr>
          <a:xfrm xmlns:a="http://schemas.openxmlformats.org/drawingml/2006/main">
            <a:off x="628650" y="55626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C7C"/>
                </a:solidFill>
                <a:latin typeface="Helvetica Neue"/>
                <a:ea typeface="Helvetica Neue"/>
                <a:cs typeface="Helvetica Neue"/>
              </a:defRPr>
            </a:defPPr>
            <a:lvl1pPr>
              <a:defRPr sz="1725" b="0">
                <a:solidFill>
                  <a:srgbClr val="586C7C"/>
                </a:solidFill>
                <a:latin typeface="Helvetica Neue"/>
                <a:ea typeface="Helvetica Neue"/>
                <a:cs typeface="Helvetica Neue"/>
              </a:defRPr>
            </a:lvl1pPr>
            <a:lvl2pPr>
              <a:defRPr sz="1725" b="0">
                <a:solidFill>
                  <a:srgbClr val="586C7C"/>
                </a:solidFill>
                <a:latin typeface="Helvetica Neue"/>
                <a:ea typeface="Helvetica Neue"/>
                <a:cs typeface="Helvetica Neue"/>
              </a:defRPr>
            </a:lvl2pPr>
            <a:lvl3pPr>
              <a:defRPr sz="1725" b="0">
                <a:solidFill>
                  <a:srgbClr val="586C7C"/>
                </a:solidFill>
                <a:latin typeface="Helvetica Neue"/>
                <a:ea typeface="Helvetica Neue"/>
                <a:cs typeface="Helvetica Neue"/>
              </a:defRPr>
            </a:lvl3pPr>
            <a:lvl4pPr>
              <a:defRPr sz="1725" b="0">
                <a:solidFill>
                  <a:srgbClr val="586C7C"/>
                </a:solidFill>
                <a:latin typeface="Helvetica Neue"/>
                <a:ea typeface="Helvetica Neue"/>
                <a:cs typeface="Helvetica Neue"/>
              </a:defRPr>
            </a:lvl4pPr>
            <a:lvl5pPr>
              <a:defRPr sz="1725" b="0">
                <a:solidFill>
                  <a:srgbClr val="586C7C"/>
                </a:solidFill>
                <a:latin typeface="Helvetica Neue"/>
                <a:ea typeface="Helvetica Neue"/>
                <a:cs typeface="Helvetica Neue"/>
              </a:defRPr>
            </a:lvl5pPr>
            <a:lvl6pPr>
              <a:defRPr sz="1725" b="0">
                <a:solidFill>
                  <a:srgbClr val="586C7C"/>
                </a:solidFill>
                <a:latin typeface="Helvetica Neue"/>
                <a:ea typeface="Helvetica Neue"/>
                <a:cs typeface="Helvetica Neue"/>
              </a:defRPr>
            </a:lvl6pPr>
            <a:lvl7pPr>
              <a:defRPr sz="1725" b="0">
                <a:solidFill>
                  <a:srgbClr val="586C7C"/>
                </a:solidFill>
                <a:latin typeface="Helvetica Neue"/>
                <a:ea typeface="Helvetica Neue"/>
                <a:cs typeface="Helvetica Neue"/>
              </a:defRPr>
            </a:lvl7pPr>
            <a:lvl8pPr>
              <a:defRPr sz="1725" b="0">
                <a:solidFill>
                  <a:srgbClr val="586C7C"/>
                </a:solidFill>
                <a:latin typeface="Helvetica Neue"/>
                <a:ea typeface="Helvetica Neue"/>
                <a:cs typeface="Helvetica Neue"/>
              </a:defRPr>
            </a:lvl8pPr>
            <a:lvl9pPr>
              <a:defRPr sz="1725" b="0">
                <a:solidFill>
                  <a:srgbClr val="586C7C"/>
                </a:solidFill>
                <a:latin typeface="Helvetica Neue"/>
                <a:ea typeface="Helvetica Neue"/>
                <a:cs typeface="Helvetica Neue"/>
              </a:defRPr>
            </a:lvl9pPr>
          </a:lstStyle>
          <a:p xmlns:a="http://schemas.openxmlformats.org/drawingml/2006/main">
            <a:pPr>
              <a:defRPr sz="1725" b="0">
                <a:solidFill>
                  <a:srgbClr val="586C7C"/>
                </a:solidFill>
                <a:latin typeface="Helvetica Neue"/>
                <a:ea typeface="Helvetica Neue"/>
                <a:cs typeface="Helvetica Neue"/>
              </a:defRPr>
            </a:pPr>
            <a:r>
              <a:rPr sz="1725" b="0">
                <a:solidFill>
                  <a:srgbClr val="586C7C"/>
                </a:solidFill>
                <a:latin typeface="Helvetica Neue"/>
                <a:ea typeface="Helvetica Neue"/>
                <a:cs typeface="Helvetica Neue"/>
              </a:rPr>
              <a:t>Runtime assets and trained heads are versioned in Git. Local preparation reconstructs the selected data.</a:t>
            </a:r>
          </a:p>
        </p:txBody>
      </p:sp>
      <p:sp>
        <p:nvSpPr>
          <p:cNvPr id="6" name="">
            <a:extLst xmlns:a="http://schemas.openxmlformats.org/drawingml/2006/main">
              <a:ext uri="{FF2B5EF4-FFF2-40B4-BE49-F238E27FC236}">
                <a16:creationId xmlns:a16="http://schemas.microsoft.com/office/drawing/2014/main" id="{CD877D1D-B40E-465E-91E3-ABD23865DCA3}"/>
              </a:ext>
            </a:extLst>
          </p:cNvPr>
          <p:cNvSpPr>
            <a:spLocks xmlns:a="http://schemas.openxmlformats.org/drawingml/2006/main" noGrp="1"/>
          </p:cNvSpPr>
          <p:nvPr/>
        </p:nvSpPr>
        <p:spPr>
          <a:xfrm xmlns:a="http://schemas.openxmlformats.org/drawingml/2006/main">
            <a:off x="628650" y="6134100"/>
            <a:ext cx="1083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C7C"/>
                </a:solidFill>
                <a:latin typeface="Helvetica Neue"/>
                <a:ea typeface="Helvetica Neue"/>
                <a:cs typeface="Helvetica Neue"/>
              </a:defRPr>
            </a:defPPr>
            <a:lvl1pPr>
              <a:defRPr sz="1650" b="0">
                <a:solidFill>
                  <a:srgbClr val="586C7C"/>
                </a:solidFill>
                <a:latin typeface="Helvetica Neue"/>
                <a:ea typeface="Helvetica Neue"/>
                <a:cs typeface="Helvetica Neue"/>
              </a:defRPr>
            </a:lvl1pPr>
            <a:lvl2pPr>
              <a:defRPr sz="1650" b="0">
                <a:solidFill>
                  <a:srgbClr val="586C7C"/>
                </a:solidFill>
                <a:latin typeface="Helvetica Neue"/>
                <a:ea typeface="Helvetica Neue"/>
                <a:cs typeface="Helvetica Neue"/>
              </a:defRPr>
            </a:lvl2pPr>
            <a:lvl3pPr>
              <a:defRPr sz="1650" b="0">
                <a:solidFill>
                  <a:srgbClr val="586C7C"/>
                </a:solidFill>
                <a:latin typeface="Helvetica Neue"/>
                <a:ea typeface="Helvetica Neue"/>
                <a:cs typeface="Helvetica Neue"/>
              </a:defRPr>
            </a:lvl3pPr>
            <a:lvl4pPr>
              <a:defRPr sz="1650" b="0">
                <a:solidFill>
                  <a:srgbClr val="586C7C"/>
                </a:solidFill>
                <a:latin typeface="Helvetica Neue"/>
                <a:ea typeface="Helvetica Neue"/>
                <a:cs typeface="Helvetica Neue"/>
              </a:defRPr>
            </a:lvl4pPr>
            <a:lvl5pPr>
              <a:defRPr sz="1650" b="0">
                <a:solidFill>
                  <a:srgbClr val="586C7C"/>
                </a:solidFill>
                <a:latin typeface="Helvetica Neue"/>
                <a:ea typeface="Helvetica Neue"/>
                <a:cs typeface="Helvetica Neue"/>
              </a:defRPr>
            </a:lvl5pPr>
            <a:lvl6pPr>
              <a:defRPr sz="1650" b="0">
                <a:solidFill>
                  <a:srgbClr val="586C7C"/>
                </a:solidFill>
                <a:latin typeface="Helvetica Neue"/>
                <a:ea typeface="Helvetica Neue"/>
                <a:cs typeface="Helvetica Neue"/>
              </a:defRPr>
            </a:lvl6pPr>
            <a:lvl7pPr>
              <a:defRPr sz="1650" b="0">
                <a:solidFill>
                  <a:srgbClr val="586C7C"/>
                </a:solidFill>
                <a:latin typeface="Helvetica Neue"/>
                <a:ea typeface="Helvetica Neue"/>
                <a:cs typeface="Helvetica Neue"/>
              </a:defRPr>
            </a:lvl7pPr>
            <a:lvl8pPr>
              <a:defRPr sz="1650" b="0">
                <a:solidFill>
                  <a:srgbClr val="586C7C"/>
                </a:solidFill>
                <a:latin typeface="Helvetica Neue"/>
                <a:ea typeface="Helvetica Neue"/>
                <a:cs typeface="Helvetica Neue"/>
              </a:defRPr>
            </a:lvl8pPr>
            <a:lvl9pPr>
              <a:defRPr sz="1650" b="0">
                <a:solidFill>
                  <a:srgbClr val="586C7C"/>
                </a:solidFill>
                <a:latin typeface="Helvetica Neue"/>
                <a:ea typeface="Helvetica Neue"/>
                <a:cs typeface="Helvetica Neue"/>
              </a:defRPr>
            </a:lvl9pPr>
          </a:lstStyle>
          <a:p xmlns:a="http://schemas.openxmlformats.org/drawingml/2006/main">
            <a:pPr>
              <a:defRPr sz="1650" b="0">
                <a:solidFill>
                  <a:srgbClr val="586C7C"/>
                </a:solidFill>
                <a:latin typeface="Helvetica Neue"/>
                <a:ea typeface="Helvetica Neue"/>
                <a:cs typeface="Helvetica Neue"/>
              </a:defRPr>
            </a:pPr>
            <a:r>
              <a:rPr sz="1650" b="0">
                <a:solidFill>
                  <a:srgbClr val="586C7C"/>
                </a:solidFill>
                <a:latin typeface="Helvetica Neue"/>
                <a:ea typeface="Helvetica Neue"/>
                <a:cs typeface="Helvetica Neue"/>
              </a:rPr>
              <a:t>Official Qwen and CLIP base models require local preparation. Existing recorded views need no retraining.</a:t>
            </a:r>
          </a:p>
        </p:txBody>
      </p:sp>
    </p:spTree>
    <p:extLst>
      <p:ext uri="{BB962C8B-B14F-4D97-AF65-F5344CB8AC3E}">
        <p14:creationId xmlns:p14="http://schemas.microsoft.com/office/powerpoint/2010/main" val="1367716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34</ns0:Slides>
  <ns0:Notes>34</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2026-10-24T16:21:02.9320000Z</dcterms:created>
  <dcterms:modified xsi:type="dcterms:W3CDTF">2026-10-24T16:21:02.9320000Z</dcterms:modified>
</coreProperties>
</file>